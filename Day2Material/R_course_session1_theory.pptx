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igQKsR+mcvm/ScA1kQsZPQBpLi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Two sessions. Today: the basics of the language and how to get our data into R. Everything is hands-on: you will type every line yourselves.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demo: getwd(), list.files(). Make everyone set the working directory before going on, otherwise read.csv will fail in part 2.</a:t>
            </a:r>
            <a:endParaRPr/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them to compute BMI from weight and height themselves before showing anything: bmi &lt;- weight / height^2. Let them find that the name they choose is up to them.</a:t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Insist on the comma: patients[condition, ] means 'these rows, all columns'. Forgetting the comma is the most common error of the session.</a:t>
            </a:r>
            <a:endParaRPr/>
          </a:p>
        </p:txBody>
      </p:sp>
      <p:sp>
        <p:nvSpPr>
          <p:cNvPr id="416" name="Google Shape;41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 to right. The powder goes through a lab digestion, then ferments for 24 h with gut bacteria in six separate vessels - three conditions, two vessels each. The acids and the bacteria are measured once per vessel, so six numbers. The insulin is different: the liquid from each vessel was put on cells on three separate occasions, so eighteen numbers. That asymmetry is why the two files have different numbers of rows.</a:t>
            </a:r>
            <a:endParaRPr/>
          </a:p>
        </p:txBody>
      </p:sp>
      <p:sp>
        <p:nvSpPr>
          <p:cNvPr id="529" name="Google Shape;52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1417320"/>
            <a:ext cx="2377440" cy="475488"/>
          </a:xfrm>
          <a:prstGeom prst="roundRect">
            <a:avLst>
              <a:gd fmla="val 19231" name="adj"/>
            </a:avLst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685800" y="141732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85800" y="2103120"/>
            <a:ext cx="10817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Basic R Course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85800" y="3063240"/>
            <a:ext cx="9445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First steps: variables, vectors, data frames and reading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685800" y="3886200"/>
            <a:ext cx="2926080" cy="0"/>
          </a:xfrm>
          <a:prstGeom prst="straightConnector1">
            <a:avLst/>
          </a:prstGeom>
          <a:noFill/>
          <a:ln cap="flat" cmpd="sng" w="381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 txBox="1"/>
          <p:nvPr/>
        </p:nvSpPr>
        <p:spPr>
          <a:xfrm>
            <a:off x="685800" y="411480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No previous experience needed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What we will do today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85800" y="1463040"/>
            <a:ext cx="5225796" cy="3200400"/>
          </a:xfrm>
          <a:prstGeom prst="roundRect">
            <a:avLst>
              <a:gd fmla="val 1429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886968" y="162763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Part 1  -  The language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886968" y="1993392"/>
            <a:ext cx="4823460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working directory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 as a calculator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Variables and data types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Vectors and positions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Summary functions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Counting categories with table()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Data frames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Asking for help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277356" y="1463040"/>
            <a:ext cx="5225796" cy="320040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6478524" y="162763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Part 2  -  Our own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6478524" y="1993392"/>
            <a:ext cx="4823460" cy="248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experiment behind the data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How the experiment was run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Reading CSV files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Exploring a real table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taxonomy of the species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Saving results safely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85800" y="48920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Rule of the day: nothing is learned by watching. Type every line.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685800" y="2286000"/>
            <a:ext cx="914400" cy="9144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 txBox="1"/>
          <p:nvPr/>
        </p:nvSpPr>
        <p:spPr>
          <a:xfrm>
            <a:off x="68580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2011680" y="2240280"/>
            <a:ext cx="94914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First steps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2011680" y="3063240"/>
            <a:ext cx="94914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Where R is standing, and how to store things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BEFORE WE START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working directory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685800" y="132588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 is always standing in one folder. When you ask for a file, it looks there. This is the number one problem for beginners.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85800" y="1920240"/>
            <a:ext cx="5625023" cy="1232916"/>
          </a:xfrm>
          <a:prstGeom prst="roundRect">
            <a:avLst>
              <a:gd fmla="val 4450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886968" y="2084832"/>
            <a:ext cx="5222687" cy="903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getwd()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which folder am I in?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list.files()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what is in this folder?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setwd("C:/Users/me/r_course")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6743517" y="1920240"/>
            <a:ext cx="47596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Do it once, at the start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743517" y="2331720"/>
            <a:ext cx="310896" cy="310896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 txBox="1"/>
          <p:nvPr/>
        </p:nvSpPr>
        <p:spPr>
          <a:xfrm>
            <a:off x="6743517" y="23317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200717" y="2276856"/>
            <a:ext cx="43024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Decide your working folder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743517" y="2898648"/>
            <a:ext cx="310896" cy="310896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6743517" y="289864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200717" y="2843784"/>
            <a:ext cx="43024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File &gt; New File &gt; R Script, and save it there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743517" y="3465576"/>
            <a:ext cx="310896" cy="310896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6743517" y="34655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200717" y="3410712"/>
            <a:ext cx="43024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Session &gt; Set Working Directory &gt; To Source File Location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85800" y="4434840"/>
            <a:ext cx="10817352" cy="566928"/>
          </a:xfrm>
          <a:prstGeom prst="roundRect">
            <a:avLst>
              <a:gd fmla="val 8065" name="adj"/>
            </a:avLst>
          </a:prstGeom>
          <a:solidFill>
            <a:srgbClr val="FDF1EC"/>
          </a:solidFill>
          <a:ln cap="flat" cmpd="sng" w="9525">
            <a:solidFill>
              <a:srgbClr val="F3C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886968" y="4507992"/>
            <a:ext cx="1041501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C3A20"/>
                </a:solidFill>
                <a:latin typeface="Calibri"/>
                <a:ea typeface="Calibri"/>
                <a:cs typeface="Calibri"/>
                <a:sym typeface="Calibri"/>
              </a:rPr>
              <a:t>Windows paths: copying a path gives you backslashes.  WRONG "C:\Users\alba"   RIGHT "C:/Users/alba"  or  "C:\\Users\\alba"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GOOD HABITS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How we organise the folder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One working folder. The script sits loose in it, next to two subfolders.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85800" y="1828800"/>
            <a:ext cx="3361944" cy="1554480"/>
          </a:xfrm>
          <a:prstGeom prst="roundRect">
            <a:avLst>
              <a:gd fmla="val 294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886968" y="1993392"/>
            <a:ext cx="2959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session1.R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886968" y="2359152"/>
            <a:ext cx="2959608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Your script, directly in the working folder. The recipe of the analysis.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413504" y="1828800"/>
            <a:ext cx="3361944" cy="1554480"/>
          </a:xfrm>
          <a:prstGeom prst="roundRect">
            <a:avLst>
              <a:gd fmla="val 294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4614672" y="1993392"/>
            <a:ext cx="2959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input/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4614672" y="2359152"/>
            <a:ext cx="2959608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raw data as it arrived.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Read-only. Never modified.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8141208" y="1828800"/>
            <a:ext cx="3361944" cy="1554480"/>
          </a:xfrm>
          <a:prstGeom prst="roundRect">
            <a:avLst>
              <a:gd fmla="val 294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8342376" y="1993392"/>
            <a:ext cx="2959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output/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8342376" y="2359152"/>
            <a:ext cx="2959608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Everything R produces: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tables, figures, results.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85800" y="3657600"/>
            <a:ext cx="10817352" cy="1051560"/>
          </a:xfrm>
          <a:prstGeom prst="roundRect">
            <a:avLst>
              <a:gd fmla="val 5217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1051560" y="3794760"/>
            <a:ext cx="10085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Golden rule: the input files are NEVER modified.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051560" y="4178808"/>
            <a:ext cx="10085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If something goes wrong you can always start again from the original data.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685800" y="49834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Because the script sits in that folder, you can write "input/acids.csv" instead of the full path - and the script then works on any computer.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1. THE BASICS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R is a calculator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85800" y="1463040"/>
            <a:ext cx="4975982" cy="1617472"/>
          </a:xfrm>
          <a:prstGeom prst="roundRect">
            <a:avLst>
              <a:gd fmla="val 3392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886968" y="1627632"/>
            <a:ext cx="4573646" cy="128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2 + 2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10 /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3 ^ 2</a:t>
            </a:r>
            <a:r>
              <a:rPr b="0" i="0" lang="en-US" sz="15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power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sqrt(16)</a:t>
            </a:r>
            <a:r>
              <a:rPr b="0" i="0" lang="en-US" sz="15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square root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094476" y="1463040"/>
            <a:ext cx="2567178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6259068" y="1463040"/>
            <a:ext cx="223799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addition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935974" y="1463040"/>
            <a:ext cx="2567178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9100566" y="1463040"/>
            <a:ext cx="223799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subtraction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094476" y="2121408"/>
            <a:ext cx="2567178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6259068" y="2121408"/>
            <a:ext cx="223799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multiplication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935974" y="2121408"/>
            <a:ext cx="2567178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9100566" y="2121408"/>
            <a:ext cx="223799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division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094476" y="2779776"/>
            <a:ext cx="2567178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6259068" y="2779776"/>
            <a:ext cx="223799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power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935974" y="2779776"/>
            <a:ext cx="2567178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9100566" y="2779776"/>
            <a:ext cx="223799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%%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remainder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094476" y="3438144"/>
            <a:ext cx="2567178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6259068" y="3438144"/>
            <a:ext cx="223799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sqrt()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square root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935974" y="3438144"/>
            <a:ext cx="2567178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9100566" y="3438144"/>
            <a:ext cx="223799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round()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rounding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685800" y="448056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 follows the usual order of operations. Use brackets whenever you are not sure.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2. VARIABLES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Storing things in variables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685800" y="137160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The arrow  &lt;-  means "store this here".</a:t>
            </a:r>
            <a:r>
              <a:rPr b="0" i="1" lang="en-US" sz="15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Shortcut: Alt + minus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85800" y="1874520"/>
            <a:ext cx="5408676" cy="1309116"/>
          </a:xfrm>
          <a:prstGeom prst="roundRect">
            <a:avLst>
              <a:gd fmla="val 4191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886968" y="2039112"/>
            <a:ext cx="5006340" cy="979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weight &lt;- 70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height &lt;- 1.75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weight</a:t>
            </a:r>
            <a:r>
              <a:rPr b="0" i="0" lang="en-US" sz="15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shows its content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6527170" y="1874520"/>
            <a:ext cx="497598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Char char="▪"/>
            </a:pPr>
            <a:r>
              <a:rPr b="0" i="0" lang="en-US" sz="14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Names are case sensitive: Weight and weight are different objects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10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Char char="▪"/>
            </a:pPr>
            <a:r>
              <a:rPr b="0" i="0" lang="en-US" sz="14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Short names, no spaces, no accents, do not start with a number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10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Char char="▪"/>
            </a:pPr>
            <a:r>
              <a:rPr b="0" i="0" lang="en-US" sz="14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Re-assigning a name simply overwrites the old content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10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Char char="▪"/>
            </a:pPr>
            <a:r>
              <a:rPr b="0" i="0" lang="en-US" sz="14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The Environment pane lists everything you have created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85800" y="4343400"/>
            <a:ext cx="10817352" cy="566928"/>
          </a:xfrm>
          <a:prstGeom prst="roundRect">
            <a:avLst>
              <a:gd fmla="val 8065" name="adj"/>
            </a:avLst>
          </a:prstGeom>
          <a:solidFill>
            <a:srgbClr val="FDF1EC"/>
          </a:solidFill>
          <a:ln cap="flat" cmpd="sng" w="9525">
            <a:solidFill>
              <a:srgbClr val="F3C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886968" y="4416552"/>
            <a:ext cx="1041501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C3A20"/>
                </a:solidFill>
                <a:latin typeface="Calibri"/>
                <a:ea typeface="Calibri"/>
                <a:cs typeface="Calibri"/>
                <a:sym typeface="Calibri"/>
              </a:rPr>
              <a:t>Once a value is stored you can use the name anywhere a number would go - that is the whole point.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3.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Data types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Knowing the type of a value - or of a column - prevents most of the errors you will meet.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85800" y="1828800"/>
            <a:ext cx="3361944" cy="1600200"/>
          </a:xfrm>
          <a:prstGeom prst="roundRect">
            <a:avLst>
              <a:gd fmla="val 2857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886968" y="1993392"/>
            <a:ext cx="2959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numeric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886968" y="2359152"/>
            <a:ext cx="295960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Numbers, with or without decimals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70      1.75      -3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413504" y="1828800"/>
            <a:ext cx="3361944" cy="1600200"/>
          </a:xfrm>
          <a:prstGeom prst="roundRect">
            <a:avLst>
              <a:gd fmla="val 2857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4614672" y="1993392"/>
            <a:ext cx="2959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character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4614672" y="2359152"/>
            <a:ext cx="295960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Text, always in quotes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"Ana"      "control"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8141208" y="1828800"/>
            <a:ext cx="3361944" cy="1600200"/>
          </a:xfrm>
          <a:prstGeom prst="roundRect">
            <a:avLst>
              <a:gd fmla="val 2857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8342376" y="1993392"/>
            <a:ext cx="2959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logical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8342376" y="2359152"/>
            <a:ext cx="295960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Only two values, no quotes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TRUE      FALSE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85800" y="3703320"/>
            <a:ext cx="10817352" cy="1271016"/>
          </a:xfrm>
          <a:prstGeom prst="roundRect">
            <a:avLst>
              <a:gd fmla="val 4317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886968" y="3867912"/>
            <a:ext cx="10415016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class(70)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"numeric"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class("Ana")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"character"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class(TRUE)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"logical"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85800" y="5440680"/>
            <a:ext cx="10817352" cy="566928"/>
          </a:xfrm>
          <a:prstGeom prst="roundRect">
            <a:avLst>
              <a:gd fmla="val 8065" name="adj"/>
            </a:avLst>
          </a:prstGeom>
          <a:solidFill>
            <a:srgbClr val="FDF1EC"/>
          </a:solidFill>
          <a:ln cap="flat" cmpd="sng" w="9525">
            <a:solidFill>
              <a:srgbClr val="F3C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886968" y="5513832"/>
            <a:ext cx="1041501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C3A20"/>
                </a:solidFill>
                <a:latin typeface="Calibri"/>
                <a:ea typeface="Calibri"/>
                <a:cs typeface="Calibri"/>
                <a:sym typeface="Calibri"/>
              </a:rPr>
              <a:t>Trap: if you mix text and numbers in one object, EVERYTHING becomes character. c(1, 2, "three") is not numeric any more.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4. SEVERAL VALUES IN ONE VARIABLE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Vectors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 vector is an ordered series of values of the SAME type, built with c() - for "combine".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85800" y="1828800"/>
            <a:ext cx="5625023" cy="1862328"/>
          </a:xfrm>
          <a:prstGeom prst="roundRect">
            <a:avLst>
              <a:gd fmla="val 2946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886968" y="1993392"/>
            <a:ext cx="5222687" cy="1533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 &lt;- c(1, 2, 3, 4, 5)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names_list &lt;- c("Ana", "Luis")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1:5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shortcut for a sequence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10:15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length(numbers)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how many elements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6743517" y="1828800"/>
            <a:ext cx="47596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A vector, drawn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743517" y="2286000"/>
            <a:ext cx="658368" cy="640080"/>
          </a:xfrm>
          <a:prstGeom prst="roundRect">
            <a:avLst>
              <a:gd fmla="val 8571" name="adj"/>
            </a:avLst>
          </a:prstGeom>
          <a:solidFill>
            <a:srgbClr val="D8F3D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6743517" y="2286000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6743517" y="2962656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[1]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7511613" y="2286000"/>
            <a:ext cx="658368" cy="640080"/>
          </a:xfrm>
          <a:prstGeom prst="roundRect">
            <a:avLst>
              <a:gd fmla="val 8571" name="adj"/>
            </a:avLst>
          </a:prstGeom>
          <a:solidFill>
            <a:srgbClr val="D8F3D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7511613" y="2286000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511613" y="2962656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279709" y="2286000"/>
            <a:ext cx="658368" cy="640080"/>
          </a:xfrm>
          <a:prstGeom prst="roundRect">
            <a:avLst>
              <a:gd fmla="val 8571" name="adj"/>
            </a:avLst>
          </a:prstGeom>
          <a:solidFill>
            <a:srgbClr val="D8F3D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8279709" y="2286000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8279709" y="2962656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[3]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9047805" y="2286000"/>
            <a:ext cx="658368" cy="640080"/>
          </a:xfrm>
          <a:prstGeom prst="roundRect">
            <a:avLst>
              <a:gd fmla="val 8571" name="adj"/>
            </a:avLst>
          </a:prstGeom>
          <a:solidFill>
            <a:srgbClr val="D8F3D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9047805" y="2286000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9047805" y="2962656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[4]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9815901" y="2286000"/>
            <a:ext cx="658368" cy="640080"/>
          </a:xfrm>
          <a:prstGeom prst="roundRect">
            <a:avLst>
              <a:gd fmla="val 8571" name="adj"/>
            </a:avLst>
          </a:prstGeom>
          <a:solidFill>
            <a:srgbClr val="D8F3D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 txBox="1"/>
          <p:nvPr/>
        </p:nvSpPr>
        <p:spPr>
          <a:xfrm>
            <a:off x="9815901" y="2286000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9815901" y="2962656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[5]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6743517" y="3337560"/>
            <a:ext cx="47596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Positions start at 1 in R, not at 0.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685800" y="416052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Every column of a table is, underneath, a vector. Learn vectors and you have learned half of 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5. SQUARE BRACKETS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Pulling out elements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85800" y="1463040"/>
            <a:ext cx="5625023" cy="2157984"/>
          </a:xfrm>
          <a:prstGeom prst="roundRect">
            <a:avLst>
              <a:gd fmla="val 2542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886968" y="1627632"/>
            <a:ext cx="522268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numbers[1]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the first 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numbers[3]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the third 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numbers[2:4]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from 2nd to 4th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numbers[c(1, 5)]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the 1st and the 5th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numbers[-1]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ALL BUT the first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numbers[numbers &gt; 3]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by condition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743517" y="1600200"/>
            <a:ext cx="4759635" cy="868680"/>
          </a:xfrm>
          <a:prstGeom prst="roundRect">
            <a:avLst>
              <a:gd fmla="val 526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6944685" y="1764792"/>
            <a:ext cx="435729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[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6944685" y="2130552"/>
            <a:ext cx="4357299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Square brackets always mean "give me this part of the object"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743517" y="2651760"/>
            <a:ext cx="4759635" cy="868680"/>
          </a:xfrm>
          <a:prstGeom prst="roundRect">
            <a:avLst>
              <a:gd fmla="val 526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6944685" y="2816352"/>
            <a:ext cx="435729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6944685" y="3182112"/>
            <a:ext cx="4357299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 minus sign removes instead of selecting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743517" y="3703320"/>
            <a:ext cx="4759635" cy="868680"/>
          </a:xfrm>
          <a:prstGeom prst="roundRect">
            <a:avLst>
              <a:gd fmla="val 526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6944685" y="3867912"/>
            <a:ext cx="435729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condition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6944685" y="4233672"/>
            <a:ext cx="4357299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Selecting by condition is what filtering a table really 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685800" y="4754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This is the same logic we will use later to keep only the rows we are interested in.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6. VECTORISATION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Operating on the whole vector at once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You almost never need a loop. An operation applied to a vector is applied to every element.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85800" y="1828800"/>
            <a:ext cx="4975982" cy="1271016"/>
          </a:xfrm>
          <a:prstGeom prst="roundRect">
            <a:avLst>
              <a:gd fmla="val 4317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 txBox="1"/>
          <p:nvPr/>
        </p:nvSpPr>
        <p:spPr>
          <a:xfrm>
            <a:off x="886968" y="1993392"/>
            <a:ext cx="4573646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 + 5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adds 5 to EACH value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 *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 / 100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310823" y="1828800"/>
            <a:ext cx="548640" cy="502920"/>
          </a:xfrm>
          <a:prstGeom prst="roundRect">
            <a:avLst>
              <a:gd fmla="val 9091" name="adj"/>
            </a:avLst>
          </a:prstGeom>
          <a:solidFill>
            <a:srgbClr val="D8F3D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 txBox="1"/>
          <p:nvPr/>
        </p:nvSpPr>
        <p:spPr>
          <a:xfrm>
            <a:off x="6310823" y="18288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950903" y="1828800"/>
            <a:ext cx="548640" cy="502920"/>
          </a:xfrm>
          <a:prstGeom prst="roundRect">
            <a:avLst>
              <a:gd fmla="val 9091" name="adj"/>
            </a:avLst>
          </a:prstGeom>
          <a:solidFill>
            <a:srgbClr val="D8F3D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 txBox="1"/>
          <p:nvPr/>
        </p:nvSpPr>
        <p:spPr>
          <a:xfrm>
            <a:off x="6950903" y="18288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7590983" y="1828800"/>
            <a:ext cx="548640" cy="502920"/>
          </a:xfrm>
          <a:prstGeom prst="roundRect">
            <a:avLst>
              <a:gd fmla="val 9091" name="adj"/>
            </a:avLst>
          </a:prstGeom>
          <a:solidFill>
            <a:srgbClr val="D8F3D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 txBox="1"/>
          <p:nvPr/>
        </p:nvSpPr>
        <p:spPr>
          <a:xfrm>
            <a:off x="7590983" y="18288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8231063" y="1828800"/>
            <a:ext cx="548640" cy="502920"/>
          </a:xfrm>
          <a:prstGeom prst="roundRect">
            <a:avLst>
              <a:gd fmla="val 9091" name="adj"/>
            </a:avLst>
          </a:prstGeom>
          <a:solidFill>
            <a:srgbClr val="D8F3D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8231063" y="18288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871143" y="1828800"/>
            <a:ext cx="548640" cy="502920"/>
          </a:xfrm>
          <a:prstGeom prst="roundRect">
            <a:avLst>
              <a:gd fmla="val 9091" name="adj"/>
            </a:avLst>
          </a:prstGeom>
          <a:solidFill>
            <a:srgbClr val="D8F3D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8871143" y="18288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9648383" y="182880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E76F51"/>
                </a:solidFill>
                <a:latin typeface="Courier New"/>
                <a:ea typeface="Courier New"/>
                <a:cs typeface="Courier New"/>
                <a:sym typeface="Courier New"/>
              </a:rPr>
              <a:t>+ 5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7316663" y="2423160"/>
            <a:ext cx="365760" cy="4114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310823" y="2926080"/>
            <a:ext cx="548640" cy="502920"/>
          </a:xfrm>
          <a:prstGeom prst="roundRect">
            <a:avLst>
              <a:gd fmla="val 9091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6310823" y="292608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950903" y="2926080"/>
            <a:ext cx="548640" cy="502920"/>
          </a:xfrm>
          <a:prstGeom prst="roundRect">
            <a:avLst>
              <a:gd fmla="val 9091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6950903" y="292608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7590983" y="2926080"/>
            <a:ext cx="548640" cy="502920"/>
          </a:xfrm>
          <a:prstGeom prst="roundRect">
            <a:avLst>
              <a:gd fmla="val 9091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 txBox="1"/>
          <p:nvPr/>
        </p:nvSpPr>
        <p:spPr>
          <a:xfrm>
            <a:off x="7590983" y="292608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231063" y="2926080"/>
            <a:ext cx="548640" cy="502920"/>
          </a:xfrm>
          <a:prstGeom prst="roundRect">
            <a:avLst>
              <a:gd fmla="val 9091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8231063" y="292608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871143" y="2926080"/>
            <a:ext cx="548640" cy="502920"/>
          </a:xfrm>
          <a:prstGeom prst="roundRect">
            <a:avLst>
              <a:gd fmla="val 9091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8871143" y="292608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6310823" y="3566160"/>
            <a:ext cx="519232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vector keeps its length: one result per element.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685800" y="420624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Careful: this changes nothing unless you store it. numbers + 5 only prints the result; numbers &lt;- numbers + 5 replaces 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7. DESCRIBING A VECTOR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Summary functions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685800" y="1463040"/>
            <a:ext cx="5134356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868680" y="1463040"/>
            <a:ext cx="47685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mean(x)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the mean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6368796" y="1463040"/>
            <a:ext cx="5134356" cy="530352"/>
          </a:xfrm>
          <a:prstGeom prst="roundRect">
            <a:avLst>
              <a:gd fmla="val 8621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6551676" y="1463040"/>
            <a:ext cx="47685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sd(x)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standard deviation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85800" y="2121408"/>
            <a:ext cx="5134356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868680" y="2121408"/>
            <a:ext cx="47685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min(x)  max(x)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smallest and largest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6368796" y="2121408"/>
            <a:ext cx="5134356" cy="530352"/>
          </a:xfrm>
          <a:prstGeom prst="roundRect">
            <a:avLst>
              <a:gd fmla="val 8621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 txBox="1"/>
          <p:nvPr/>
        </p:nvSpPr>
        <p:spPr>
          <a:xfrm>
            <a:off x="6551676" y="2121408"/>
            <a:ext cx="47685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sum(x)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the total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85800" y="2779776"/>
            <a:ext cx="5134356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 txBox="1"/>
          <p:nvPr/>
        </p:nvSpPr>
        <p:spPr>
          <a:xfrm>
            <a:off x="868680" y="2779776"/>
            <a:ext cx="47685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length(x)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how many values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368796" y="2779776"/>
            <a:ext cx="5134356" cy="530352"/>
          </a:xfrm>
          <a:prstGeom prst="roundRect">
            <a:avLst>
              <a:gd fmla="val 8621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6551676" y="2779776"/>
            <a:ext cx="47685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round(x, 1)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round to 1 decimal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685800" y="3438144"/>
            <a:ext cx="5134356" cy="530352"/>
          </a:xfrm>
          <a:prstGeom prst="roundRect">
            <a:avLst>
              <a:gd fmla="val 862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868680" y="3438144"/>
            <a:ext cx="47685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median(x)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the median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368796" y="3438144"/>
            <a:ext cx="5134356" cy="530352"/>
          </a:xfrm>
          <a:prstGeom prst="roundRect">
            <a:avLst>
              <a:gd fmla="val 8621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 txBox="1"/>
          <p:nvPr/>
        </p:nvSpPr>
        <p:spPr>
          <a:xfrm>
            <a:off x="6551676" y="3438144"/>
            <a:ext cx="47685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summary(x)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everything at once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85800" y="4251960"/>
            <a:ext cx="10817352" cy="679704"/>
          </a:xfrm>
          <a:prstGeom prst="roundRect">
            <a:avLst>
              <a:gd fmla="val 8072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886968" y="4416552"/>
            <a:ext cx="10415016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round(mean(numbers), 1)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functions can be nested: the inside one runs first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685800" y="525780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summary() is the fastest way to see whether a variable looks reasonable.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fmla="val 16000" name="adj"/>
            </a:avLst>
          </a:prstGeom>
          <a:solidFill>
            <a:srgbClr val="E9C46A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Your first vector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685800" y="1828800"/>
            <a:ext cx="10817352" cy="2203704"/>
          </a:xfrm>
          <a:prstGeom prst="roundRect">
            <a:avLst>
              <a:gd fmla="val 207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1005840" y="2121408"/>
            <a:ext cx="10177272" cy="174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Create a vector called  marks  with the values 7, 8, 5, 9,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Compute its mean, rounded to 2 decimals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Compute its standard deviation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685800" y="4215384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85800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 txBox="1"/>
          <p:nvPr/>
        </p:nvSpPr>
        <p:spPr>
          <a:xfrm>
            <a:off x="685800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c()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685800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combine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2511552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2511552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 txBox="1"/>
          <p:nvPr/>
        </p:nvSpPr>
        <p:spPr>
          <a:xfrm>
            <a:off x="2511552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337304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 txBox="1"/>
          <p:nvPr/>
        </p:nvSpPr>
        <p:spPr>
          <a:xfrm>
            <a:off x="4337304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sd()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4337304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spread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6163056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 txBox="1"/>
          <p:nvPr/>
        </p:nvSpPr>
        <p:spPr>
          <a:xfrm>
            <a:off x="6163056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round()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6163056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rounding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7988808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7988808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length()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7988808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how many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9814560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9814560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summary()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9814560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8. LOGICAL 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Questions with a yes/no answer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 comparison does not give you a number: it gives TRUE or FALSE for every element.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685800" y="1828800"/>
            <a:ext cx="5625023" cy="1271016"/>
          </a:xfrm>
          <a:prstGeom prst="roundRect">
            <a:avLst>
              <a:gd fmla="val 4317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 txBox="1"/>
          <p:nvPr/>
        </p:nvSpPr>
        <p:spPr>
          <a:xfrm>
            <a:off x="886968" y="1993392"/>
            <a:ext cx="5222687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 &gt; 3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TRUE / FALSE for each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sum(numbers &gt; 3)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TRUE counts as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numbers[numbers &gt; 3]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keep only those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6743517" y="1828800"/>
            <a:ext cx="4759635" cy="512064"/>
          </a:xfrm>
          <a:prstGeom prst="roundRect">
            <a:avLst>
              <a:gd fmla="val 8929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 txBox="1"/>
          <p:nvPr/>
        </p:nvSpPr>
        <p:spPr>
          <a:xfrm>
            <a:off x="6908109" y="1828800"/>
            <a:ext cx="4430451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&gt;   &lt;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greater / smaller than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6743517" y="2450592"/>
            <a:ext cx="4759635" cy="512064"/>
          </a:xfrm>
          <a:prstGeom prst="roundRect">
            <a:avLst>
              <a:gd fmla="val 8929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 txBox="1"/>
          <p:nvPr/>
        </p:nvSpPr>
        <p:spPr>
          <a:xfrm>
            <a:off x="6908109" y="2450592"/>
            <a:ext cx="4430451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&gt;=  &lt;=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greater or equal / smaller or equal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6743517" y="3072384"/>
            <a:ext cx="4759635" cy="512064"/>
          </a:xfrm>
          <a:prstGeom prst="roundRect">
            <a:avLst>
              <a:gd fmla="val 8929" name="adj"/>
            </a:avLst>
          </a:prstGeom>
          <a:solidFill>
            <a:srgbClr val="D8F3DC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 txBox="1"/>
          <p:nvPr/>
        </p:nvSpPr>
        <p:spPr>
          <a:xfrm>
            <a:off x="6908109" y="3072384"/>
            <a:ext cx="4430451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IS EQUAL TO  (double equals!)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743517" y="3694176"/>
            <a:ext cx="4759635" cy="512064"/>
          </a:xfrm>
          <a:prstGeom prst="roundRect">
            <a:avLst>
              <a:gd fmla="val 8929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6908109" y="3694176"/>
            <a:ext cx="4430451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is different from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685800" y="4572000"/>
            <a:ext cx="10817352" cy="566928"/>
          </a:xfrm>
          <a:prstGeom prst="roundRect">
            <a:avLst>
              <a:gd fmla="val 8065" name="adj"/>
            </a:avLst>
          </a:prstGeom>
          <a:solidFill>
            <a:srgbClr val="FDF1EC"/>
          </a:solidFill>
          <a:ln cap="flat" cmpd="sng" w="9525">
            <a:solidFill>
              <a:srgbClr val="F3C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 txBox="1"/>
          <p:nvPr/>
        </p:nvSpPr>
        <p:spPr>
          <a:xfrm>
            <a:off x="886968" y="4645152"/>
            <a:ext cx="1041501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C3A20"/>
                </a:solidFill>
                <a:latin typeface="Calibri"/>
                <a:ea typeface="Calibri"/>
                <a:cs typeface="Calibri"/>
                <a:sym typeface="Calibri"/>
              </a:rPr>
              <a:t>The classic beginner error:  =  assigns a value,  ==  compares. To ask a question you always need two.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9. TABLE()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Counting categories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For text or group variables the mean makes no sense. What you want is a count.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685800" y="1828800"/>
            <a:ext cx="5949544" cy="2453640"/>
          </a:xfrm>
          <a:prstGeom prst="roundRect">
            <a:avLst>
              <a:gd fmla="val 2236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886968" y="1993392"/>
            <a:ext cx="5547208" cy="2124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sex   &lt;- c("M", "F", "F", "M", "F")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group &lt;- c("control", "treated", "control",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"treated", "control")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table(sex)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how many of each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table(group)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table(sex, group)</a:t>
            </a:r>
            <a:r>
              <a:rPr b="0" i="0" lang="en-US" sz="140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cross-tabulate two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7068038" y="1828800"/>
            <a:ext cx="4435114" cy="1371600"/>
          </a:xfrm>
          <a:prstGeom prst="roundRect">
            <a:avLst>
              <a:gd fmla="val 333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 txBox="1"/>
          <p:nvPr/>
        </p:nvSpPr>
        <p:spPr>
          <a:xfrm>
            <a:off x="7269206" y="1993392"/>
            <a:ext cx="403277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One variable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7269206" y="2359152"/>
            <a:ext cx="403277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Gives the number of times each value appears.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7068038" y="3337560"/>
            <a:ext cx="4435114" cy="1371600"/>
          </a:xfrm>
          <a:prstGeom prst="roundRect">
            <a:avLst>
              <a:gd fmla="val 333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7269206" y="3502152"/>
            <a:ext cx="403277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Two variables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 txBox="1"/>
          <p:nvPr/>
        </p:nvSpPr>
        <p:spPr>
          <a:xfrm>
            <a:off x="7269206" y="3867912"/>
            <a:ext cx="403277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Gives a contingency table: the combinations of both.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685800" y="502920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We will use this constantly to check that the experimental design is what we think it is.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fmla="val 16000" name="adj"/>
            </a:avLst>
          </a:prstGeom>
          <a:solidFill>
            <a:srgbClr val="E9C46A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Counting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685800" y="1828800"/>
            <a:ext cx="10817352" cy="1728216"/>
          </a:xfrm>
          <a:prstGeom prst="roundRect">
            <a:avLst>
              <a:gd fmla="val 2646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1005840" y="2121408"/>
            <a:ext cx="10177272" cy="1271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Create a vector  days  with: "monday", "tuesday", "monday", "monday", "tuesday", "wednesday"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Count how many times each day appears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685800" y="3739896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685800" y="4123944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685800" y="4197096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c()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685800" y="4507992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combine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2511552" y="4123944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2511552" y="4197096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table()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2511552" y="4507992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337304" y="4123944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 txBox="1"/>
          <p:nvPr/>
        </p:nvSpPr>
        <p:spPr>
          <a:xfrm>
            <a:off x="4337304" y="4197096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length()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4337304" y="4507992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how many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6163056" y="4123944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 txBox="1"/>
          <p:nvPr/>
        </p:nvSpPr>
        <p:spPr>
          <a:xfrm>
            <a:off x="6163056" y="4197096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class()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6163056" y="4507992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685800" y="5330952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"/>
          <p:cNvSpPr/>
          <p:nvPr/>
        </p:nvSpPr>
        <p:spPr>
          <a:xfrm>
            <a:off x="685800" y="2286000"/>
            <a:ext cx="914400" cy="9144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68580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2011680" y="2240280"/>
            <a:ext cx="94914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frames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2011680" y="3063240"/>
            <a:ext cx="94914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The table of R - what we will use from now 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10. THE 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What a data frame is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 txBox="1"/>
          <p:nvPr/>
        </p:nvSpPr>
        <p:spPr>
          <a:xfrm>
            <a:off x="685800" y="132588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 data frame is a set of vectors placed side by side as columns. Every column has ONE type; all of them must have the SAME length.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685800" y="1874520"/>
            <a:ext cx="5192329" cy="1798828"/>
          </a:xfrm>
          <a:prstGeom prst="roundRect">
            <a:avLst>
              <a:gd fmla="val 3050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886968" y="2039112"/>
            <a:ext cx="4789993" cy="1469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patients &lt;- data.frame(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name  = c("Ana", "Luis"),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age   = c(34, 45),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group = c("control", "treated")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418997" y="1874520"/>
            <a:ext cx="1694718" cy="457200"/>
          </a:xfrm>
          <a:prstGeom prst="rect">
            <a:avLst/>
          </a:prstGeom>
          <a:solidFill>
            <a:srgbClr val="1B433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 txBox="1"/>
          <p:nvPr/>
        </p:nvSpPr>
        <p:spPr>
          <a:xfrm>
            <a:off x="6418997" y="18745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8113715" y="1874520"/>
            <a:ext cx="1694718" cy="457200"/>
          </a:xfrm>
          <a:prstGeom prst="rect">
            <a:avLst/>
          </a:prstGeom>
          <a:solidFill>
            <a:srgbClr val="1B433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 txBox="1"/>
          <p:nvPr/>
        </p:nvSpPr>
        <p:spPr>
          <a:xfrm>
            <a:off x="8113715" y="18745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9808434" y="1874520"/>
            <a:ext cx="1694718" cy="457200"/>
          </a:xfrm>
          <a:prstGeom prst="rect">
            <a:avLst/>
          </a:prstGeom>
          <a:solidFill>
            <a:srgbClr val="1B433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 txBox="1"/>
          <p:nvPr/>
        </p:nvSpPr>
        <p:spPr>
          <a:xfrm>
            <a:off x="9808434" y="18745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6418997" y="2331720"/>
            <a:ext cx="1694718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 txBox="1"/>
          <p:nvPr/>
        </p:nvSpPr>
        <p:spPr>
          <a:xfrm>
            <a:off x="6418997" y="23317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8113715" y="2331720"/>
            <a:ext cx="1694718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8"/>
          <p:cNvSpPr txBox="1"/>
          <p:nvPr/>
        </p:nvSpPr>
        <p:spPr>
          <a:xfrm>
            <a:off x="8113715" y="23317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34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9808434" y="2331720"/>
            <a:ext cx="1694718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/>
          <p:cNvSpPr txBox="1"/>
          <p:nvPr/>
        </p:nvSpPr>
        <p:spPr>
          <a:xfrm>
            <a:off x="9808434" y="23317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6418997" y="2788920"/>
            <a:ext cx="1694718" cy="457200"/>
          </a:xfrm>
          <a:prstGeom prst="rect">
            <a:avLst/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"/>
          <p:cNvSpPr txBox="1"/>
          <p:nvPr/>
        </p:nvSpPr>
        <p:spPr>
          <a:xfrm>
            <a:off x="6418997" y="27889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Luis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8113715" y="2788920"/>
            <a:ext cx="1694718" cy="457200"/>
          </a:xfrm>
          <a:prstGeom prst="rect">
            <a:avLst/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8"/>
          <p:cNvSpPr txBox="1"/>
          <p:nvPr/>
        </p:nvSpPr>
        <p:spPr>
          <a:xfrm>
            <a:off x="8113715" y="27889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45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9808434" y="2788920"/>
            <a:ext cx="1694718" cy="457200"/>
          </a:xfrm>
          <a:prstGeom prst="rect">
            <a:avLst/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8"/>
          <p:cNvSpPr txBox="1"/>
          <p:nvPr/>
        </p:nvSpPr>
        <p:spPr>
          <a:xfrm>
            <a:off x="9808434" y="27889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treated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6418997" y="3246120"/>
            <a:ext cx="1694718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8"/>
          <p:cNvSpPr txBox="1"/>
          <p:nvPr/>
        </p:nvSpPr>
        <p:spPr>
          <a:xfrm>
            <a:off x="6418997" y="32461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Marta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8113715" y="3246120"/>
            <a:ext cx="1694718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8"/>
          <p:cNvSpPr txBox="1"/>
          <p:nvPr/>
        </p:nvSpPr>
        <p:spPr>
          <a:xfrm>
            <a:off x="8113715" y="32461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29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9808434" y="3246120"/>
            <a:ext cx="1694718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"/>
          <p:cNvSpPr txBox="1"/>
          <p:nvPr/>
        </p:nvSpPr>
        <p:spPr>
          <a:xfrm>
            <a:off x="9808434" y="3246120"/>
            <a:ext cx="1694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 txBox="1"/>
          <p:nvPr/>
        </p:nvSpPr>
        <p:spPr>
          <a:xfrm>
            <a:off x="6418997" y="3794760"/>
            <a:ext cx="50841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rows = samples          columns = variables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 txBox="1"/>
          <p:nvPr/>
        </p:nvSpPr>
        <p:spPr>
          <a:xfrm>
            <a:off x="685800" y="448056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Every table you read from a CSV file arrives as a data frame. Rows are the observations, columns are what you measured on them.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9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11. EXPLORING A DATA FRAME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Always LOOK before you analyse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685800" y="1463040"/>
            <a:ext cx="5134356" cy="566928"/>
          </a:xfrm>
          <a:prstGeom prst="roundRect">
            <a:avLst>
              <a:gd fmla="val 806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9"/>
          <p:cNvSpPr txBox="1"/>
          <p:nvPr/>
        </p:nvSpPr>
        <p:spPr>
          <a:xfrm>
            <a:off x="868680" y="1463040"/>
            <a:ext cx="47685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nrow()  ncol()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how many rows / columns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6368796" y="1463040"/>
            <a:ext cx="5134356" cy="566928"/>
          </a:xfrm>
          <a:prstGeom prst="roundRect">
            <a:avLst>
              <a:gd fmla="val 806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"/>
          <p:cNvSpPr txBox="1"/>
          <p:nvPr/>
        </p:nvSpPr>
        <p:spPr>
          <a:xfrm>
            <a:off x="6551676" y="1463040"/>
            <a:ext cx="47685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dim()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both at once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685800" y="2176272"/>
            <a:ext cx="5134356" cy="566928"/>
          </a:xfrm>
          <a:prstGeom prst="roundRect">
            <a:avLst>
              <a:gd fmla="val 806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"/>
          <p:cNvSpPr txBox="1"/>
          <p:nvPr/>
        </p:nvSpPr>
        <p:spPr>
          <a:xfrm>
            <a:off x="868680" y="2176272"/>
            <a:ext cx="47685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names()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the column names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6368796" y="2176272"/>
            <a:ext cx="5134356" cy="566928"/>
          </a:xfrm>
          <a:prstGeom prst="roundRect">
            <a:avLst>
              <a:gd fmla="val 806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"/>
          <p:cNvSpPr txBox="1"/>
          <p:nvPr/>
        </p:nvSpPr>
        <p:spPr>
          <a:xfrm>
            <a:off x="6551676" y="2176272"/>
            <a:ext cx="47685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str()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the type of every column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685800" y="2889504"/>
            <a:ext cx="5134356" cy="566928"/>
          </a:xfrm>
          <a:prstGeom prst="roundRect">
            <a:avLst>
              <a:gd fmla="val 806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9"/>
          <p:cNvSpPr txBox="1"/>
          <p:nvPr/>
        </p:nvSpPr>
        <p:spPr>
          <a:xfrm>
            <a:off x="868680" y="2889504"/>
            <a:ext cx="47685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head()  tail()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the first / last rows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6368796" y="2889504"/>
            <a:ext cx="5134356" cy="566928"/>
          </a:xfrm>
          <a:prstGeom prst="roundRect">
            <a:avLst>
              <a:gd fmla="val 806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9"/>
          <p:cNvSpPr txBox="1"/>
          <p:nvPr/>
        </p:nvSpPr>
        <p:spPr>
          <a:xfrm>
            <a:off x="6551676" y="2889504"/>
            <a:ext cx="47685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summary()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    a summary of each column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685800" y="3840480"/>
            <a:ext cx="10817352" cy="914400"/>
          </a:xfrm>
          <a:prstGeom prst="roundRect">
            <a:avLst>
              <a:gd fmla="val 6000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9"/>
          <p:cNvSpPr txBox="1"/>
          <p:nvPr/>
        </p:nvSpPr>
        <p:spPr>
          <a:xfrm>
            <a:off x="1051560" y="3977640"/>
            <a:ext cx="100858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str() is the most useful function of the day: it tells you whether your numbers really arrived as numbers.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 txBox="1"/>
          <p:nvPr/>
        </p:nvSpPr>
        <p:spPr>
          <a:xfrm>
            <a:off x="685800" y="502920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With a big table, never type its name alone: printing 190 rows floods the console. Use head(), dim() and str() instead.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0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12. $ AND [ROW, COLUMN]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Getting to the data inside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685800" y="1371600"/>
            <a:ext cx="52257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One column: the $ symbol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685800" y="1783080"/>
            <a:ext cx="5225796" cy="1251966"/>
          </a:xfrm>
          <a:prstGeom prst="roundRect">
            <a:avLst>
              <a:gd fmla="val 4382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886968" y="1947672"/>
            <a:ext cx="4823460" cy="92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patients$age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mean(patients$age)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table(patients$group)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6277356" y="1371600"/>
            <a:ext cx="52257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By position: [row, column]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6277356" y="1783080"/>
            <a:ext cx="5225796" cy="1251966"/>
          </a:xfrm>
          <a:prstGeom prst="roundRect">
            <a:avLst>
              <a:gd fmla="val 4382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0"/>
          <p:cNvSpPr txBox="1"/>
          <p:nvPr/>
        </p:nvSpPr>
        <p:spPr>
          <a:xfrm>
            <a:off x="6478524" y="1947672"/>
            <a:ext cx="4823460" cy="92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patients[1, ]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row 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patients[, 2]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column 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patients[1, 2]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one cell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 txBox="1"/>
          <p:nvPr/>
        </p:nvSpPr>
        <p:spPr>
          <a:xfrm>
            <a:off x="685800" y="324612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A column pulled out with $ is just a vector - so everything from the first part works on it.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 txBox="1"/>
          <p:nvPr/>
        </p:nvSpPr>
        <p:spPr>
          <a:xfrm>
            <a:off x="685800" y="3703320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Filtering rows, and adding a column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685800" y="4114800"/>
            <a:ext cx="10817352" cy="1251966"/>
          </a:xfrm>
          <a:prstGeom prst="roundRect">
            <a:avLst>
              <a:gd fmla="val 4382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0"/>
          <p:cNvSpPr txBox="1"/>
          <p:nvPr/>
        </p:nvSpPr>
        <p:spPr>
          <a:xfrm>
            <a:off x="886968" y="4279392"/>
            <a:ext cx="10415016" cy="92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patients[patients$age &gt; 40, ]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keep the rows where the condition is TRUE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patients[patients$group == "control", ]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note the comma before the bracket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patients$age_months &lt;- patients$age * 12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a new column, created on the spot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/>
          <p:nvPr/>
        </p:nvSpPr>
        <p:spPr>
          <a:xfrm>
            <a:off x="685800" y="457200"/>
            <a:ext cx="2468880" cy="457200"/>
          </a:xfrm>
          <a:prstGeom prst="roundRect">
            <a:avLst>
              <a:gd fmla="val 16000" name="adj"/>
            </a:avLst>
          </a:prstGeom>
          <a:solidFill>
            <a:srgbClr val="E9C46A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685800" y="4572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EXERCISES 3 &amp;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Working with a table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685800" y="1828800"/>
            <a:ext cx="5225796" cy="3108960"/>
          </a:xfrm>
          <a:prstGeom prst="roundRect">
            <a:avLst>
              <a:gd fmla="val 147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1"/>
          <p:cNvSpPr txBox="1"/>
          <p:nvPr/>
        </p:nvSpPr>
        <p:spPr>
          <a:xfrm>
            <a:off x="960120" y="2011680"/>
            <a:ext cx="46771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Exercise 3 - using  patients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960120" y="2468880"/>
            <a:ext cx="4677156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How many rows and columns does it have?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10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What is the mean age?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10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Keep only the rows of the "treated" group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6277356" y="1828800"/>
            <a:ext cx="5225796" cy="3108960"/>
          </a:xfrm>
          <a:prstGeom prst="roundRect">
            <a:avLst>
              <a:gd fmla="val 1471" name="adj"/>
            </a:avLst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1"/>
          <p:cNvSpPr txBox="1"/>
          <p:nvPr/>
        </p:nvSpPr>
        <p:spPr>
          <a:xfrm>
            <a:off x="6551676" y="2011680"/>
            <a:ext cx="46771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Exercise 4 - build  plants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1"/>
          <p:cNvSpPr txBox="1"/>
          <p:nvPr/>
        </p:nvSpPr>
        <p:spPr>
          <a:xfrm>
            <a:off x="6551676" y="2468880"/>
            <a:ext cx="46771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pot:     1, 2, 3, 4, 5, 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water:   "low","low","low","high","high","high"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height:  12, 15, 11, 22, 25, 20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6551676" y="3337560"/>
            <a:ext cx="4677156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Look at its structure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10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How many pots of each watering level?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10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Mean height of the "high" watering pots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 txBox="1"/>
          <p:nvPr/>
        </p:nvSpPr>
        <p:spPr>
          <a:xfrm>
            <a:off x="685800" y="5074920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685800" y="5413248"/>
            <a:ext cx="1232154" cy="658368"/>
          </a:xfrm>
          <a:prstGeom prst="roundRect">
            <a:avLst>
              <a:gd fmla="val 8333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1"/>
          <p:cNvSpPr txBox="1"/>
          <p:nvPr/>
        </p:nvSpPr>
        <p:spPr>
          <a:xfrm>
            <a:off x="685800" y="5468112"/>
            <a:ext cx="123215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data.frame()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1"/>
          <p:cNvSpPr txBox="1"/>
          <p:nvPr/>
        </p:nvSpPr>
        <p:spPr>
          <a:xfrm>
            <a:off x="685800" y="5760720"/>
            <a:ext cx="1232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build a 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2055114" y="5413248"/>
            <a:ext cx="1232154" cy="658368"/>
          </a:xfrm>
          <a:prstGeom prst="roundRect">
            <a:avLst>
              <a:gd fmla="val 8333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1"/>
          <p:cNvSpPr txBox="1"/>
          <p:nvPr/>
        </p:nvSpPr>
        <p:spPr>
          <a:xfrm>
            <a:off x="2055114" y="5468112"/>
            <a:ext cx="123215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str()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2055114" y="5760720"/>
            <a:ext cx="1232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3424428" y="5413248"/>
            <a:ext cx="1232154" cy="658368"/>
          </a:xfrm>
          <a:prstGeom prst="roundRect">
            <a:avLst>
              <a:gd fmla="val 8333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1"/>
          <p:cNvSpPr txBox="1"/>
          <p:nvPr/>
        </p:nvSpPr>
        <p:spPr>
          <a:xfrm>
            <a:off x="3424428" y="5468112"/>
            <a:ext cx="123215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dim()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3424428" y="5760720"/>
            <a:ext cx="1232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4793742" y="5413248"/>
            <a:ext cx="1232154" cy="658368"/>
          </a:xfrm>
          <a:prstGeom prst="roundRect">
            <a:avLst>
              <a:gd fmla="val 8333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1"/>
          <p:cNvSpPr txBox="1"/>
          <p:nvPr/>
        </p:nvSpPr>
        <p:spPr>
          <a:xfrm>
            <a:off x="4793742" y="5468112"/>
            <a:ext cx="123215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4793742" y="5760720"/>
            <a:ext cx="1232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6163056" y="5413248"/>
            <a:ext cx="1232154" cy="658368"/>
          </a:xfrm>
          <a:prstGeom prst="roundRect">
            <a:avLst>
              <a:gd fmla="val 8333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1"/>
          <p:cNvSpPr txBox="1"/>
          <p:nvPr/>
        </p:nvSpPr>
        <p:spPr>
          <a:xfrm>
            <a:off x="6163056" y="5468112"/>
            <a:ext cx="123215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table()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 txBox="1"/>
          <p:nvPr/>
        </p:nvSpPr>
        <p:spPr>
          <a:xfrm>
            <a:off x="6163056" y="5760720"/>
            <a:ext cx="1232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counts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7532370" y="5413248"/>
            <a:ext cx="1232154" cy="658368"/>
          </a:xfrm>
          <a:prstGeom prst="roundRect">
            <a:avLst>
              <a:gd fmla="val 8333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1"/>
          <p:cNvSpPr txBox="1"/>
          <p:nvPr/>
        </p:nvSpPr>
        <p:spPr>
          <a:xfrm>
            <a:off x="7532370" y="5468112"/>
            <a:ext cx="123215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7532370" y="5760720"/>
            <a:ext cx="1232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one column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8901684" y="5413248"/>
            <a:ext cx="1232154" cy="658368"/>
          </a:xfrm>
          <a:prstGeom prst="roundRect">
            <a:avLst>
              <a:gd fmla="val 8333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1"/>
          <p:cNvSpPr txBox="1"/>
          <p:nvPr/>
        </p:nvSpPr>
        <p:spPr>
          <a:xfrm>
            <a:off x="8901684" y="5468112"/>
            <a:ext cx="123215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[ ,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 txBox="1"/>
          <p:nvPr/>
        </p:nvSpPr>
        <p:spPr>
          <a:xfrm>
            <a:off x="8901684" y="5760720"/>
            <a:ext cx="1232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rows,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10270998" y="5413248"/>
            <a:ext cx="1232154" cy="658368"/>
          </a:xfrm>
          <a:prstGeom prst="roundRect">
            <a:avLst>
              <a:gd fmla="val 8333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1"/>
          <p:cNvSpPr txBox="1"/>
          <p:nvPr/>
        </p:nvSpPr>
        <p:spPr>
          <a:xfrm>
            <a:off x="10270998" y="5468112"/>
            <a:ext cx="123215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10270998" y="5760720"/>
            <a:ext cx="123215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is equal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685800" y="6291072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2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13. WHEN YOU GET STUCK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Asking for help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685800" y="1645920"/>
            <a:ext cx="3361944" cy="1828800"/>
          </a:xfrm>
          <a:prstGeom prst="roundRect">
            <a:avLst>
              <a:gd fmla="val 2500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2"/>
          <p:cNvSpPr txBox="1"/>
          <p:nvPr/>
        </p:nvSpPr>
        <p:spPr>
          <a:xfrm>
            <a:off x="886968" y="1810512"/>
            <a:ext cx="2959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?mean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 txBox="1"/>
          <p:nvPr/>
        </p:nvSpPr>
        <p:spPr>
          <a:xfrm>
            <a:off x="886968" y="2176272"/>
            <a:ext cx="295960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Opens the help page of a function: what it does, what arguments it takes, and examples at the bottom.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4413504" y="1645920"/>
            <a:ext cx="3361944" cy="1828800"/>
          </a:xfrm>
          <a:prstGeom prst="roundRect">
            <a:avLst>
              <a:gd fmla="val 2500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2"/>
          <p:cNvSpPr txBox="1"/>
          <p:nvPr/>
        </p:nvSpPr>
        <p:spPr>
          <a:xfrm>
            <a:off x="4614672" y="1810512"/>
            <a:ext cx="2959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help(round)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4614672" y="2176272"/>
            <a:ext cx="295960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Exactly the same thing, written as a function.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/>
          <p:nvPr/>
        </p:nvSpPr>
        <p:spPr>
          <a:xfrm>
            <a:off x="8141208" y="1645920"/>
            <a:ext cx="3361944" cy="1828800"/>
          </a:xfrm>
          <a:prstGeom prst="roundRect">
            <a:avLst>
              <a:gd fmla="val 2500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2"/>
          <p:cNvSpPr txBox="1"/>
          <p:nvPr/>
        </p:nvSpPr>
        <p:spPr>
          <a:xfrm>
            <a:off x="8342376" y="1810512"/>
            <a:ext cx="2959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Search online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 txBox="1"/>
          <p:nvPr/>
        </p:nvSpPr>
        <p:spPr>
          <a:xfrm>
            <a:off x="8342376" y="2176272"/>
            <a:ext cx="2959608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"how to ... in R" is what everybody does, always. There is no shame in it.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685800" y="3794760"/>
            <a:ext cx="10817352" cy="1188720"/>
          </a:xfrm>
          <a:prstGeom prst="roundRect">
            <a:avLst>
              <a:gd fmla="val 461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2"/>
          <p:cNvSpPr txBox="1"/>
          <p:nvPr/>
        </p:nvSpPr>
        <p:spPr>
          <a:xfrm>
            <a:off x="1005840" y="3931920"/>
            <a:ext cx="10177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Reading an error message is a skill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 txBox="1"/>
          <p:nvPr/>
        </p:nvSpPr>
        <p:spPr>
          <a:xfrm>
            <a:off x="1005840" y="4297680"/>
            <a:ext cx="101772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 tells you the object and the function that failed. "object not found" means a typo or something you never created. "could not find function" means a package is missing.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3"/>
          <p:cNvSpPr/>
          <p:nvPr/>
        </p:nvSpPr>
        <p:spPr>
          <a:xfrm>
            <a:off x="685800" y="2286000"/>
            <a:ext cx="914400" cy="9144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 txBox="1"/>
          <p:nvPr/>
        </p:nvSpPr>
        <p:spPr>
          <a:xfrm>
            <a:off x="68580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"/>
          <p:cNvSpPr txBox="1"/>
          <p:nvPr/>
        </p:nvSpPr>
        <p:spPr>
          <a:xfrm>
            <a:off x="2011680" y="2240280"/>
            <a:ext cx="94914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Our own data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3"/>
          <p:cNvSpPr txBox="1"/>
          <p:nvPr/>
        </p:nvSpPr>
        <p:spPr>
          <a:xfrm>
            <a:off x="2011680" y="3063240"/>
            <a:ext cx="94914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Part 2: the experiment, the files, and how to read them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4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THE STUDY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4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experiment behind the data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 txBox="1"/>
          <p:nvPr/>
        </p:nvSpPr>
        <p:spPr>
          <a:xfrm>
            <a:off x="685800" y="132588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Two food products - dairy fermentates in powder form - were tested to see whether they can help control blood glucose. Each product went through three stages.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685800" y="1920240"/>
            <a:ext cx="3300984" cy="2148840"/>
          </a:xfrm>
          <a:prstGeom prst="roundRect">
            <a:avLst>
              <a:gd fmla="val 255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4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4"/>
          <p:cNvSpPr txBox="1"/>
          <p:nvPr/>
        </p:nvSpPr>
        <p:spPr>
          <a:xfrm>
            <a:off x="914400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4"/>
          <p:cNvSpPr txBox="1"/>
          <p:nvPr/>
        </p:nvSpPr>
        <p:spPr>
          <a:xfrm>
            <a:off x="914400" y="2697480"/>
            <a:ext cx="2843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Artificial digestion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4"/>
          <p:cNvSpPr txBox="1"/>
          <p:nvPr/>
        </p:nvSpPr>
        <p:spPr>
          <a:xfrm>
            <a:off x="914400" y="3090672"/>
            <a:ext cx="28437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Mouth, stomach and intestine reproduced in the lab, to simulate what would happen if the product were eaten.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4069080" y="2788920"/>
            <a:ext cx="292608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4"/>
          <p:cNvSpPr/>
          <p:nvPr/>
        </p:nvSpPr>
        <p:spPr>
          <a:xfrm>
            <a:off x="4443984" y="1920240"/>
            <a:ext cx="3300984" cy="2148840"/>
          </a:xfrm>
          <a:prstGeom prst="roundRect">
            <a:avLst>
              <a:gd fmla="val 255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4"/>
          <p:cNvSpPr/>
          <p:nvPr/>
        </p:nvSpPr>
        <p:spPr>
          <a:xfrm>
            <a:off x="4672584" y="2121408"/>
            <a:ext cx="457200" cy="45720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4"/>
          <p:cNvSpPr txBox="1"/>
          <p:nvPr/>
        </p:nvSpPr>
        <p:spPr>
          <a:xfrm>
            <a:off x="4672584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4"/>
          <p:cNvSpPr txBox="1"/>
          <p:nvPr/>
        </p:nvSpPr>
        <p:spPr>
          <a:xfrm>
            <a:off x="4672584" y="2697480"/>
            <a:ext cx="2843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Fermentation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4"/>
          <p:cNvSpPr txBox="1"/>
          <p:nvPr/>
        </p:nvSpPr>
        <p:spPr>
          <a:xfrm>
            <a:off x="4672584" y="3090672"/>
            <a:ext cx="28437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24 h with human gut bacteria. They transform the product and release organic acids, mainly short chain fatty acids: butyric, propionic, acetic.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4"/>
          <p:cNvSpPr/>
          <p:nvPr/>
        </p:nvSpPr>
        <p:spPr>
          <a:xfrm>
            <a:off x="7827264" y="2788920"/>
            <a:ext cx="292608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4"/>
          <p:cNvSpPr/>
          <p:nvPr/>
        </p:nvSpPr>
        <p:spPr>
          <a:xfrm>
            <a:off x="8202168" y="1920240"/>
            <a:ext cx="3300984" cy="2148840"/>
          </a:xfrm>
          <a:prstGeom prst="roundRect">
            <a:avLst>
              <a:gd fmla="val 255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4"/>
          <p:cNvSpPr/>
          <p:nvPr/>
        </p:nvSpPr>
        <p:spPr>
          <a:xfrm>
            <a:off x="8430768" y="2121408"/>
            <a:ext cx="457200" cy="45720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4"/>
          <p:cNvSpPr txBox="1"/>
          <p:nvPr/>
        </p:nvSpPr>
        <p:spPr>
          <a:xfrm>
            <a:off x="843076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4"/>
          <p:cNvSpPr txBox="1"/>
          <p:nvPr/>
        </p:nvSpPr>
        <p:spPr>
          <a:xfrm>
            <a:off x="8430768" y="2697480"/>
            <a:ext cx="2843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Pancreatic cells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4"/>
          <p:cNvSpPr txBox="1"/>
          <p:nvPr/>
        </p:nvSpPr>
        <p:spPr>
          <a:xfrm>
            <a:off x="8430768" y="3090672"/>
            <a:ext cx="28437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resulting liquid is put in contact with human pancreatic cells and the insulin they release is measured.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4"/>
          <p:cNvSpPr/>
          <p:nvPr/>
        </p:nvSpPr>
        <p:spPr>
          <a:xfrm>
            <a:off x="685800" y="4343400"/>
            <a:ext cx="10817352" cy="868680"/>
          </a:xfrm>
          <a:prstGeom prst="roundRect">
            <a:avLst>
              <a:gd fmla="val 6316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4"/>
          <p:cNvSpPr txBox="1"/>
          <p:nvPr/>
        </p:nvSpPr>
        <p:spPr>
          <a:xfrm>
            <a:off x="1051560" y="4434840"/>
            <a:ext cx="10085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Hypothesis:  </a:t>
            </a: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a product makes the bacteria produce more butyric and propionic acid, the cells should release more insulin.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5"/>
          <p:cNvSpPr txBox="1"/>
          <p:nvPr/>
        </p:nvSpPr>
        <p:spPr>
          <a:xfrm>
            <a:off x="685800" y="320040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FROM POWDER TO INSULIN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 txBox="1"/>
          <p:nvPr/>
        </p:nvSpPr>
        <p:spPr>
          <a:xfrm>
            <a:off x="685800" y="566928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How the experiment was run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566928" y="1280160"/>
            <a:ext cx="2560320" cy="3200400"/>
          </a:xfrm>
          <a:prstGeom prst="roundRect">
            <a:avLst>
              <a:gd fmla="val 2143" name="adj"/>
            </a:avLst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5"/>
          <p:cNvSpPr txBox="1"/>
          <p:nvPr/>
        </p:nvSpPr>
        <p:spPr>
          <a:xfrm>
            <a:off x="749808" y="1417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product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5"/>
          <p:cNvSpPr txBox="1"/>
          <p:nvPr/>
        </p:nvSpPr>
        <p:spPr>
          <a:xfrm>
            <a:off x="749808" y="1737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Dairy fermentate, in powder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/>
          <p:nvPr/>
        </p:nvSpPr>
        <p:spPr>
          <a:xfrm>
            <a:off x="3163824" y="2697480"/>
            <a:ext cx="25603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5"/>
          <p:cNvSpPr/>
          <p:nvPr/>
        </p:nvSpPr>
        <p:spPr>
          <a:xfrm>
            <a:off x="3447288" y="1280160"/>
            <a:ext cx="2560320" cy="3200400"/>
          </a:xfrm>
          <a:prstGeom prst="roundRect">
            <a:avLst>
              <a:gd fmla="val 214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5"/>
          <p:cNvSpPr txBox="1"/>
          <p:nvPr/>
        </p:nvSpPr>
        <p:spPr>
          <a:xfrm>
            <a:off x="3630168" y="1417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1.  Artificial digestion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 txBox="1"/>
          <p:nvPr/>
        </p:nvSpPr>
        <p:spPr>
          <a:xfrm>
            <a:off x="3630168" y="1737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Reproduced in the lab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>
            <a:off x="6044184" y="2697480"/>
            <a:ext cx="25603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5"/>
          <p:cNvSpPr/>
          <p:nvPr/>
        </p:nvSpPr>
        <p:spPr>
          <a:xfrm>
            <a:off x="6327648" y="1280160"/>
            <a:ext cx="2560320" cy="3200400"/>
          </a:xfrm>
          <a:prstGeom prst="roundRect">
            <a:avLst>
              <a:gd fmla="val 214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5"/>
          <p:cNvSpPr txBox="1"/>
          <p:nvPr/>
        </p:nvSpPr>
        <p:spPr>
          <a:xfrm>
            <a:off x="6510528" y="1417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2.  Fermentation, 24 h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 txBox="1"/>
          <p:nvPr/>
        </p:nvSpPr>
        <p:spPr>
          <a:xfrm>
            <a:off x="6510528" y="1737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With human gut bacteria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8924544" y="2697480"/>
            <a:ext cx="25603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5"/>
          <p:cNvSpPr/>
          <p:nvPr/>
        </p:nvSpPr>
        <p:spPr>
          <a:xfrm>
            <a:off x="9208008" y="1280160"/>
            <a:ext cx="2560320" cy="3200400"/>
          </a:xfrm>
          <a:prstGeom prst="roundRect">
            <a:avLst>
              <a:gd fmla="val 214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5"/>
          <p:cNvSpPr txBox="1"/>
          <p:nvPr/>
        </p:nvSpPr>
        <p:spPr>
          <a:xfrm>
            <a:off x="9390888" y="1417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3.  Pancreatic cells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5"/>
          <p:cNvSpPr txBox="1"/>
          <p:nvPr/>
        </p:nvSpPr>
        <p:spPr>
          <a:xfrm>
            <a:off x="9390888" y="1737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Insulin released is measured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5"/>
          <p:cNvSpPr/>
          <p:nvPr/>
        </p:nvSpPr>
        <p:spPr>
          <a:xfrm>
            <a:off x="886968" y="2057400"/>
            <a:ext cx="548640" cy="777240"/>
          </a:xfrm>
          <a:prstGeom prst="can">
            <a:avLst>
              <a:gd fmla="val 25000" name="adj"/>
            </a:avLst>
          </a:prstGeom>
          <a:solidFill>
            <a:srgbClr val="5A6660"/>
          </a:solidFill>
          <a:ln cap="flat" cmpd="sng" w="12700">
            <a:solidFill>
              <a:srgbClr val="5A66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5"/>
          <p:cNvSpPr txBox="1"/>
          <p:nvPr/>
        </p:nvSpPr>
        <p:spPr>
          <a:xfrm>
            <a:off x="777240" y="288036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1572768" y="2057400"/>
            <a:ext cx="548640" cy="777240"/>
          </a:xfrm>
          <a:prstGeom prst="can">
            <a:avLst>
              <a:gd fmla="val 25000" name="adj"/>
            </a:avLst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5"/>
          <p:cNvSpPr txBox="1"/>
          <p:nvPr/>
        </p:nvSpPr>
        <p:spPr>
          <a:xfrm>
            <a:off x="1463040" y="288036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2258568" y="2057400"/>
            <a:ext cx="548640" cy="777240"/>
          </a:xfrm>
          <a:prstGeom prst="can">
            <a:avLst>
              <a:gd fmla="val 25000" name="adj"/>
            </a:avLst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5"/>
          <p:cNvSpPr txBox="1"/>
          <p:nvPr/>
        </p:nvSpPr>
        <p:spPr>
          <a:xfrm>
            <a:off x="2148840" y="288036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5"/>
          <p:cNvSpPr txBox="1"/>
          <p:nvPr/>
        </p:nvSpPr>
        <p:spPr>
          <a:xfrm>
            <a:off x="749808" y="32461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3 conditions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3950208" y="1965960"/>
            <a:ext cx="1554480" cy="384048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5"/>
          <p:cNvSpPr txBox="1"/>
          <p:nvPr/>
        </p:nvSpPr>
        <p:spPr>
          <a:xfrm>
            <a:off x="3950208" y="196596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Mouth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4654296" y="2368296"/>
            <a:ext cx="146304" cy="137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5"/>
          <p:cNvSpPr/>
          <p:nvPr/>
        </p:nvSpPr>
        <p:spPr>
          <a:xfrm>
            <a:off x="3950208" y="2514600"/>
            <a:ext cx="1554480" cy="384048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5"/>
          <p:cNvSpPr txBox="1"/>
          <p:nvPr/>
        </p:nvSpPr>
        <p:spPr>
          <a:xfrm>
            <a:off x="3950208" y="251460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Stomach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4654296" y="2916936"/>
            <a:ext cx="146304" cy="137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5"/>
          <p:cNvSpPr/>
          <p:nvPr/>
        </p:nvSpPr>
        <p:spPr>
          <a:xfrm>
            <a:off x="3950208" y="3063240"/>
            <a:ext cx="1554480" cy="384048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 txBox="1"/>
          <p:nvPr/>
        </p:nvSpPr>
        <p:spPr>
          <a:xfrm>
            <a:off x="3950208" y="306324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Intestine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5"/>
          <p:cNvSpPr txBox="1"/>
          <p:nvPr/>
        </p:nvSpPr>
        <p:spPr>
          <a:xfrm>
            <a:off x="3630168" y="3703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as if the product had been eaten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5"/>
          <p:cNvSpPr/>
          <p:nvPr/>
        </p:nvSpPr>
        <p:spPr>
          <a:xfrm>
            <a:off x="6583680" y="2011680"/>
            <a:ext cx="274320" cy="685800"/>
          </a:xfrm>
          <a:prstGeom prst="can">
            <a:avLst>
              <a:gd fmla="val 25000" name="adj"/>
            </a:avLst>
          </a:prstGeom>
          <a:solidFill>
            <a:srgbClr val="5A6660"/>
          </a:solidFill>
          <a:ln cap="flat" cmpd="sng" w="12700">
            <a:solidFill>
              <a:srgbClr val="5A66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5"/>
          <p:cNvSpPr/>
          <p:nvPr/>
        </p:nvSpPr>
        <p:spPr>
          <a:xfrm>
            <a:off x="6894576" y="2011680"/>
            <a:ext cx="274320" cy="685800"/>
          </a:xfrm>
          <a:prstGeom prst="can">
            <a:avLst>
              <a:gd fmla="val 25000" name="adj"/>
            </a:avLst>
          </a:prstGeom>
          <a:solidFill>
            <a:srgbClr val="5A6660"/>
          </a:solidFill>
          <a:ln cap="flat" cmpd="sng" w="12700">
            <a:solidFill>
              <a:srgbClr val="5A66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5"/>
          <p:cNvSpPr txBox="1"/>
          <p:nvPr/>
        </p:nvSpPr>
        <p:spPr>
          <a:xfrm>
            <a:off x="6492240" y="274320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5"/>
          <p:cNvSpPr txBox="1"/>
          <p:nvPr/>
        </p:nvSpPr>
        <p:spPr>
          <a:xfrm>
            <a:off x="6492240" y="2980944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R1  R2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5"/>
          <p:cNvSpPr/>
          <p:nvPr/>
        </p:nvSpPr>
        <p:spPr>
          <a:xfrm>
            <a:off x="7333488" y="2011680"/>
            <a:ext cx="274320" cy="685800"/>
          </a:xfrm>
          <a:prstGeom prst="can">
            <a:avLst>
              <a:gd fmla="val 25000" name="adj"/>
            </a:avLst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5"/>
          <p:cNvSpPr/>
          <p:nvPr/>
        </p:nvSpPr>
        <p:spPr>
          <a:xfrm>
            <a:off x="7644384" y="2011680"/>
            <a:ext cx="274320" cy="685800"/>
          </a:xfrm>
          <a:prstGeom prst="can">
            <a:avLst>
              <a:gd fmla="val 25000" name="adj"/>
            </a:avLst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5"/>
          <p:cNvSpPr txBox="1"/>
          <p:nvPr/>
        </p:nvSpPr>
        <p:spPr>
          <a:xfrm>
            <a:off x="7242048" y="274320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5"/>
          <p:cNvSpPr txBox="1"/>
          <p:nvPr/>
        </p:nvSpPr>
        <p:spPr>
          <a:xfrm>
            <a:off x="7242048" y="2980944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R1  R2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5"/>
          <p:cNvSpPr/>
          <p:nvPr/>
        </p:nvSpPr>
        <p:spPr>
          <a:xfrm>
            <a:off x="8083296" y="2011680"/>
            <a:ext cx="274320" cy="685800"/>
          </a:xfrm>
          <a:prstGeom prst="can">
            <a:avLst>
              <a:gd fmla="val 25000" name="adj"/>
            </a:avLst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5"/>
          <p:cNvSpPr/>
          <p:nvPr/>
        </p:nvSpPr>
        <p:spPr>
          <a:xfrm>
            <a:off x="8394192" y="2011680"/>
            <a:ext cx="274320" cy="685800"/>
          </a:xfrm>
          <a:prstGeom prst="can">
            <a:avLst>
              <a:gd fmla="val 25000" name="adj"/>
            </a:avLst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5"/>
          <p:cNvSpPr txBox="1"/>
          <p:nvPr/>
        </p:nvSpPr>
        <p:spPr>
          <a:xfrm>
            <a:off x="7991856" y="274320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 txBox="1"/>
          <p:nvPr/>
        </p:nvSpPr>
        <p:spPr>
          <a:xfrm>
            <a:off x="7991856" y="2980944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R1  R2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6556248" y="3310128"/>
            <a:ext cx="2103120" cy="384048"/>
          </a:xfrm>
          <a:prstGeom prst="roundRect">
            <a:avLst>
              <a:gd fmla="val 19048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5"/>
          <p:cNvSpPr txBox="1"/>
          <p:nvPr/>
        </p:nvSpPr>
        <p:spPr>
          <a:xfrm>
            <a:off x="6556248" y="331012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vessels in total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9528048" y="2011680"/>
            <a:ext cx="566928" cy="566928"/>
          </a:xfrm>
          <a:prstGeom prst="donut">
            <a:avLst>
              <a:gd fmla="val 25000" name="adj"/>
            </a:avLst>
          </a:prstGeom>
          <a:solidFill>
            <a:srgbClr val="E9C46A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5"/>
          <p:cNvSpPr txBox="1"/>
          <p:nvPr/>
        </p:nvSpPr>
        <p:spPr>
          <a:xfrm>
            <a:off x="9528048" y="20116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5"/>
          <p:cNvSpPr/>
          <p:nvPr/>
        </p:nvSpPr>
        <p:spPr>
          <a:xfrm>
            <a:off x="10213848" y="2011680"/>
            <a:ext cx="566928" cy="566928"/>
          </a:xfrm>
          <a:prstGeom prst="donut">
            <a:avLst>
              <a:gd fmla="val 25000" name="adj"/>
            </a:avLst>
          </a:prstGeom>
          <a:solidFill>
            <a:srgbClr val="E9C46A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5"/>
          <p:cNvSpPr txBox="1"/>
          <p:nvPr/>
        </p:nvSpPr>
        <p:spPr>
          <a:xfrm>
            <a:off x="10213848" y="20116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10899648" y="2011680"/>
            <a:ext cx="566928" cy="566928"/>
          </a:xfrm>
          <a:prstGeom prst="donut">
            <a:avLst>
              <a:gd fmla="val 25000" name="adj"/>
            </a:avLst>
          </a:prstGeom>
          <a:solidFill>
            <a:srgbClr val="E9C46A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5"/>
          <p:cNvSpPr txBox="1"/>
          <p:nvPr/>
        </p:nvSpPr>
        <p:spPr>
          <a:xfrm>
            <a:off x="10899648" y="20116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5"/>
          <p:cNvSpPr txBox="1"/>
          <p:nvPr/>
        </p:nvSpPr>
        <p:spPr>
          <a:xfrm>
            <a:off x="9390888" y="26974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3 separate occasions,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 different batch of cells each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9436608" y="3310128"/>
            <a:ext cx="2103120" cy="384048"/>
          </a:xfrm>
          <a:prstGeom prst="roundRect">
            <a:avLst>
              <a:gd fmla="val 19048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5"/>
          <p:cNvSpPr txBox="1"/>
          <p:nvPr/>
        </p:nvSpPr>
        <p:spPr>
          <a:xfrm>
            <a:off x="9436608" y="331012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x 3 = 18 measurements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685800" y="4709160"/>
            <a:ext cx="5225796" cy="914400"/>
          </a:xfrm>
          <a:prstGeom prst="roundRect">
            <a:avLst>
              <a:gd fmla="val 5000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5"/>
          <p:cNvSpPr txBox="1"/>
          <p:nvPr/>
        </p:nvSpPr>
        <p:spPr>
          <a:xfrm>
            <a:off x="886968" y="487375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Acids and bacteria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5"/>
          <p:cNvSpPr txBox="1"/>
          <p:nvPr/>
        </p:nvSpPr>
        <p:spPr>
          <a:xfrm>
            <a:off x="886968" y="5239512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Measured ONCE in each vessel.  6 vessels = 6 measurements.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6277356" y="4709160"/>
            <a:ext cx="5225796" cy="914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5"/>
          <p:cNvSpPr txBox="1"/>
          <p:nvPr/>
        </p:nvSpPr>
        <p:spPr>
          <a:xfrm>
            <a:off x="6478524" y="487375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Insulin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5"/>
          <p:cNvSpPr txBox="1"/>
          <p:nvPr/>
        </p:nvSpPr>
        <p:spPr>
          <a:xfrm>
            <a:off x="6478524" y="5239512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Measured 3 times per vessel.  6 x 3 = 18 measurements.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5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Careful: the 3 experiments are not 3 new fermentations. They are the same liquid measured three times. We will come back to what that means in the next session.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6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THE SAMPLES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6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design: 3 conditions, 2 replicates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685800" y="1463040"/>
            <a:ext cx="3361944" cy="1417320"/>
          </a:xfrm>
          <a:prstGeom prst="roundRect">
            <a:avLst>
              <a:gd fmla="val 387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6"/>
          <p:cNvSpPr txBox="1"/>
          <p:nvPr/>
        </p:nvSpPr>
        <p:spPr>
          <a:xfrm>
            <a:off x="914400" y="1627632"/>
            <a:ext cx="29047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5A6660"/>
                </a:solidFill>
                <a:latin typeface="Cambria"/>
                <a:ea typeface="Cambria"/>
                <a:cs typeface="Cambria"/>
                <a:sym typeface="Cambria"/>
              </a:rPr>
              <a:t>Control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6"/>
          <p:cNvSpPr txBox="1"/>
          <p:nvPr/>
        </p:nvSpPr>
        <p:spPr>
          <a:xfrm>
            <a:off x="914400" y="2057400"/>
            <a:ext cx="29047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bacteria with no product added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6"/>
          <p:cNvSpPr/>
          <p:nvPr/>
        </p:nvSpPr>
        <p:spPr>
          <a:xfrm>
            <a:off x="4413504" y="1463040"/>
            <a:ext cx="3361944" cy="1417320"/>
          </a:xfrm>
          <a:prstGeom prst="roundRect">
            <a:avLst>
              <a:gd fmla="val 387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6"/>
          <p:cNvSpPr txBox="1"/>
          <p:nvPr/>
        </p:nvSpPr>
        <p:spPr>
          <a:xfrm>
            <a:off x="4642104" y="1627632"/>
            <a:ext cx="29047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40916C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6"/>
          <p:cNvSpPr txBox="1"/>
          <p:nvPr/>
        </p:nvSpPr>
        <p:spPr>
          <a:xfrm>
            <a:off x="4642104" y="2057400"/>
            <a:ext cx="29047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product A - high in lactose, low in protein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6"/>
          <p:cNvSpPr/>
          <p:nvPr/>
        </p:nvSpPr>
        <p:spPr>
          <a:xfrm>
            <a:off x="8141208" y="1463040"/>
            <a:ext cx="3361944" cy="1417320"/>
          </a:xfrm>
          <a:prstGeom prst="roundRect">
            <a:avLst>
              <a:gd fmla="val 3871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6"/>
          <p:cNvSpPr txBox="1"/>
          <p:nvPr/>
        </p:nvSpPr>
        <p:spPr>
          <a:xfrm>
            <a:off x="8369808" y="1627632"/>
            <a:ext cx="29047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76F5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6"/>
          <p:cNvSpPr txBox="1"/>
          <p:nvPr/>
        </p:nvSpPr>
        <p:spPr>
          <a:xfrm>
            <a:off x="8369808" y="2057400"/>
            <a:ext cx="29047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product B - very high in protein, no lactose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6"/>
          <p:cNvSpPr txBox="1"/>
          <p:nvPr/>
        </p:nvSpPr>
        <p:spPr>
          <a:xfrm>
            <a:off x="685800" y="30632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Each condition was fermented in TWO independent vessels, R1 and R2: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685800" y="3520440"/>
            <a:ext cx="1688592" cy="548640"/>
          </a:xfrm>
          <a:prstGeom prst="roundRect">
            <a:avLst>
              <a:gd fmla="val 8333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6"/>
          <p:cNvSpPr txBox="1"/>
          <p:nvPr/>
        </p:nvSpPr>
        <p:spPr>
          <a:xfrm>
            <a:off x="685800" y="3520440"/>
            <a:ext cx="1688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Control_R1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2511552" y="3520440"/>
            <a:ext cx="1688592" cy="548640"/>
          </a:xfrm>
          <a:prstGeom prst="roundRect">
            <a:avLst>
              <a:gd fmla="val 8333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6"/>
          <p:cNvSpPr txBox="1"/>
          <p:nvPr/>
        </p:nvSpPr>
        <p:spPr>
          <a:xfrm>
            <a:off x="2511552" y="3520440"/>
            <a:ext cx="1688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Control_R2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4337304" y="3520440"/>
            <a:ext cx="1688592" cy="548640"/>
          </a:xfrm>
          <a:prstGeom prst="roundRect">
            <a:avLst>
              <a:gd fmla="val 8333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6"/>
          <p:cNvSpPr txBox="1"/>
          <p:nvPr/>
        </p:nvSpPr>
        <p:spPr>
          <a:xfrm>
            <a:off x="4337304" y="3520440"/>
            <a:ext cx="1688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A_R1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6163056" y="3520440"/>
            <a:ext cx="1688592" cy="548640"/>
          </a:xfrm>
          <a:prstGeom prst="roundRect">
            <a:avLst>
              <a:gd fmla="val 8333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6"/>
          <p:cNvSpPr txBox="1"/>
          <p:nvPr/>
        </p:nvSpPr>
        <p:spPr>
          <a:xfrm>
            <a:off x="6163056" y="3520440"/>
            <a:ext cx="1688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A_R2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6"/>
          <p:cNvSpPr/>
          <p:nvPr/>
        </p:nvSpPr>
        <p:spPr>
          <a:xfrm>
            <a:off x="7988808" y="3520440"/>
            <a:ext cx="1688592" cy="548640"/>
          </a:xfrm>
          <a:prstGeom prst="roundRect">
            <a:avLst>
              <a:gd fmla="val 8333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6"/>
          <p:cNvSpPr txBox="1"/>
          <p:nvPr/>
        </p:nvSpPr>
        <p:spPr>
          <a:xfrm>
            <a:off x="7988808" y="3520440"/>
            <a:ext cx="1688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B_R1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9814560" y="3520440"/>
            <a:ext cx="1688592" cy="548640"/>
          </a:xfrm>
          <a:prstGeom prst="roundRect">
            <a:avLst>
              <a:gd fmla="val 8333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6"/>
          <p:cNvSpPr txBox="1"/>
          <p:nvPr/>
        </p:nvSpPr>
        <p:spPr>
          <a:xfrm>
            <a:off x="9814560" y="3520440"/>
            <a:ext cx="1688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B_R2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6"/>
          <p:cNvSpPr txBox="1"/>
          <p:nvPr/>
        </p:nvSpPr>
        <p:spPr>
          <a:xfrm>
            <a:off x="685800" y="42062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6 samples in total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 txBox="1"/>
          <p:nvPr/>
        </p:nvSpPr>
        <p:spPr>
          <a:xfrm>
            <a:off x="685800" y="470916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The liquid from each vessel was then put on the cells on 3 separate occasions, with a different batch of cells each time - the "experiment" column. That gives 6 x 3 = 18 rows in the insulin file.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7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INPUT/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7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four files we will use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7"/>
          <p:cNvSpPr/>
          <p:nvPr/>
        </p:nvSpPr>
        <p:spPr>
          <a:xfrm>
            <a:off x="685800" y="1463040"/>
            <a:ext cx="10817352" cy="841248"/>
          </a:xfrm>
          <a:prstGeom prst="roundRect">
            <a:avLst>
              <a:gd fmla="val 543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7"/>
          <p:cNvSpPr txBox="1"/>
          <p:nvPr/>
        </p:nvSpPr>
        <p:spPr>
          <a:xfrm>
            <a:off x="960120" y="1508760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ourier New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acids.csv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7"/>
          <p:cNvSpPr txBox="1"/>
          <p:nvPr/>
        </p:nvSpPr>
        <p:spPr>
          <a:xfrm>
            <a:off x="3520440" y="1508760"/>
            <a:ext cx="7708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six organic acids measured in each sample, in ug/ml. One row per sample - 6 rows.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7"/>
          <p:cNvSpPr/>
          <p:nvPr/>
        </p:nvSpPr>
        <p:spPr>
          <a:xfrm>
            <a:off x="685800" y="2450592"/>
            <a:ext cx="10817352" cy="841248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7"/>
          <p:cNvSpPr txBox="1"/>
          <p:nvPr/>
        </p:nvSpPr>
        <p:spPr>
          <a:xfrm>
            <a:off x="960120" y="2496312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ourier New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insulin.csv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7"/>
          <p:cNvSpPr txBox="1"/>
          <p:nvPr/>
        </p:nvSpPr>
        <p:spPr>
          <a:xfrm>
            <a:off x="3520440" y="2496312"/>
            <a:ext cx="7708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Insulin released by the cells, in ng per million cells and hour. 6 samples x 3 experiments = 18 rows.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7"/>
          <p:cNvSpPr/>
          <p:nvPr/>
        </p:nvSpPr>
        <p:spPr>
          <a:xfrm>
            <a:off x="685800" y="3438144"/>
            <a:ext cx="10817352" cy="841248"/>
          </a:xfrm>
          <a:prstGeom prst="roundRect">
            <a:avLst>
              <a:gd fmla="val 543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7"/>
          <p:cNvSpPr txBox="1"/>
          <p:nvPr/>
        </p:nvSpPr>
        <p:spPr>
          <a:xfrm>
            <a:off x="960120" y="3483864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ourier New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abundance.csv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 txBox="1"/>
          <p:nvPr/>
        </p:nvSpPr>
        <p:spPr>
          <a:xfrm>
            <a:off x="3520440" y="3483864"/>
            <a:ext cx="7708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Which bacteria were present in each sample, as % of the total. All 190 species detected, one per row.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7"/>
          <p:cNvSpPr/>
          <p:nvPr/>
        </p:nvSpPr>
        <p:spPr>
          <a:xfrm>
            <a:off x="685800" y="4425696"/>
            <a:ext cx="10817352" cy="841248"/>
          </a:xfrm>
          <a:prstGeom prst="roundRect">
            <a:avLst>
              <a:gd fmla="val 5435" name="adj"/>
            </a:avLst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7"/>
          <p:cNvSpPr txBox="1"/>
          <p:nvPr/>
        </p:nvSpPr>
        <p:spPr>
          <a:xfrm>
            <a:off x="960120" y="4471416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ourier New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taxonomy.csv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7"/>
          <p:cNvSpPr txBox="1"/>
          <p:nvPr/>
        </p:nvSpPr>
        <p:spPr>
          <a:xfrm>
            <a:off x="3520440" y="4471416"/>
            <a:ext cx="7708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record card of each species: kingdom, phylum, class, order, family and genus. 190 rows.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7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abundance.csv and taxonomy.csv have their 190 rows in the SAME order, so the two tables can be matched up species by species.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8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14. READ.CSV()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Reading a CSV file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 CSV is a plain text file where the values are separated by commas. You can open it in Notepad.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685800" y="1828800"/>
            <a:ext cx="10817352" cy="1592072"/>
          </a:xfrm>
          <a:prstGeom prst="roundRect">
            <a:avLst>
              <a:gd fmla="val 3446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8"/>
          <p:cNvSpPr txBox="1"/>
          <p:nvPr/>
        </p:nvSpPr>
        <p:spPr>
          <a:xfrm>
            <a:off x="886968" y="1993392"/>
            <a:ext cx="10415016" cy="126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ourier New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acids     &lt;- read.csv("input/acids.csv")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ourier New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insulin   &lt;- read.csv("input/insulin.csv")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ourier New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abundance &lt;- read.csv("input/abundance.csv")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ourier New"/>
              <a:buNone/>
            </a:pPr>
            <a:r>
              <a:rPr b="1" i="0" lang="en-US" sz="15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taxonomy  &lt;- read.csv("input/taxonomy.csv")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685800" y="3337560"/>
            <a:ext cx="5225796" cy="1371600"/>
          </a:xfrm>
          <a:prstGeom prst="roundRect">
            <a:avLst>
              <a:gd fmla="val 333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8"/>
          <p:cNvSpPr txBox="1"/>
          <p:nvPr/>
        </p:nvSpPr>
        <p:spPr>
          <a:xfrm>
            <a:off x="886968" y="350215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Relative paths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8"/>
          <p:cNvSpPr txBox="1"/>
          <p:nvPr/>
        </p:nvSpPr>
        <p:spPr>
          <a:xfrm>
            <a:off x="886968" y="3867912"/>
            <a:ext cx="48234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"input/acids.csv" means: from the folder I am standing in, go into input. The script then works on any computer.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/>
          <p:nvPr/>
        </p:nvSpPr>
        <p:spPr>
          <a:xfrm>
            <a:off x="6277356" y="3337560"/>
            <a:ext cx="5225796" cy="13716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8"/>
          <p:cNvSpPr txBox="1"/>
          <p:nvPr/>
        </p:nvSpPr>
        <p:spPr>
          <a:xfrm>
            <a:off x="6478524" y="350215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Check it straight away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8"/>
          <p:cNvSpPr txBox="1"/>
          <p:nvPr/>
        </p:nvSpPr>
        <p:spPr>
          <a:xfrm>
            <a:off x="6478524" y="3867912"/>
            <a:ext cx="48234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str(), dim(), names(), summary(), and sum(is.na(x)) to see whether there are missing values.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8"/>
          <p:cNvSpPr/>
          <p:nvPr/>
        </p:nvSpPr>
        <p:spPr>
          <a:xfrm>
            <a:off x="685800" y="4937760"/>
            <a:ext cx="10817352" cy="566928"/>
          </a:xfrm>
          <a:prstGeom prst="roundRect">
            <a:avLst>
              <a:gd fmla="val 8065" name="adj"/>
            </a:avLst>
          </a:prstGeom>
          <a:solidFill>
            <a:srgbClr val="FDF1EC"/>
          </a:solidFill>
          <a:ln cap="flat" cmpd="sng" w="9525">
            <a:solidFill>
              <a:srgbClr val="F3C9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8"/>
          <p:cNvSpPr txBox="1"/>
          <p:nvPr/>
        </p:nvSpPr>
        <p:spPr>
          <a:xfrm>
            <a:off x="886968" y="5010912"/>
            <a:ext cx="1041501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C3A20"/>
                </a:solidFill>
                <a:latin typeface="Calibri"/>
                <a:ea typeface="Calibri"/>
                <a:cs typeface="Calibri"/>
                <a:sym typeface="Calibri"/>
              </a:rPr>
              <a:t>If read.csv fails with "cannot open file", 9 times out of 10 the working directory is wrong. Check getwd() first.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9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PUTTING NAMES IN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taxonomy table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9"/>
          <p:cNvSpPr txBox="1"/>
          <p:nvPr/>
        </p:nvSpPr>
        <p:spPr>
          <a:xfrm>
            <a:off x="685800" y="132588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abundance.csv tells you HOW MUCH of each species there is. taxonomy.csv tells you WHAT each species is: kingdom, phylum, class, order, family and genus.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685800" y="1874520"/>
            <a:ext cx="6274064" cy="2119884"/>
          </a:xfrm>
          <a:prstGeom prst="roundRect">
            <a:avLst>
              <a:gd fmla="val 2588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9"/>
          <p:cNvSpPr txBox="1"/>
          <p:nvPr/>
        </p:nvSpPr>
        <p:spPr>
          <a:xfrm>
            <a:off x="886968" y="2039112"/>
            <a:ext cx="5871728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head(taxonomy)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dim(taxonomy)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table(taxonomy$phylum)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species per phylum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taxonomy[taxonomy$genus ==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"Bifidobacterium", 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7392558" y="1874520"/>
            <a:ext cx="4110594" cy="1234440"/>
          </a:xfrm>
          <a:prstGeom prst="roundRect">
            <a:avLst>
              <a:gd fmla="val 3704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9"/>
          <p:cNvSpPr txBox="1"/>
          <p:nvPr/>
        </p:nvSpPr>
        <p:spPr>
          <a:xfrm>
            <a:off x="7593726" y="2039112"/>
            <a:ext cx="370825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Same order, 190 rows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9"/>
          <p:cNvSpPr txBox="1"/>
          <p:nvPr/>
        </p:nvSpPr>
        <p:spPr>
          <a:xfrm>
            <a:off x="7593726" y="2404872"/>
            <a:ext cx="3708258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Row 7 of taxonomy describes row 7 of abundance. That is what lets us join them.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7392558" y="3246120"/>
            <a:ext cx="4110594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9"/>
          <p:cNvSpPr txBox="1"/>
          <p:nvPr/>
        </p:nvSpPr>
        <p:spPr>
          <a:xfrm>
            <a:off x="7593726" y="3410712"/>
            <a:ext cx="370825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Nothing new to learn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9"/>
          <p:cNvSpPr txBox="1"/>
          <p:nvPr/>
        </p:nvSpPr>
        <p:spPr>
          <a:xfrm>
            <a:off x="7593726" y="3776472"/>
            <a:ext cx="3708258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table() and [ , ] are exactly the tools from the first part of the session.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 txBox="1"/>
          <p:nvPr/>
        </p:nvSpPr>
        <p:spPr>
          <a:xfrm>
            <a:off x="685800" y="493776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This is how a species-level result becomes a biological story: not "species X went up", but "the Bifidobacterium genus went up".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0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fmla="val 16000" name="adj"/>
            </a:avLst>
          </a:prstGeom>
          <a:solidFill>
            <a:srgbClr val="E9C46A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0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EXERCISES 5 &amp;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0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Exploring the real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0"/>
          <p:cNvSpPr/>
          <p:nvPr/>
        </p:nvSpPr>
        <p:spPr>
          <a:xfrm>
            <a:off x="685800" y="1828800"/>
            <a:ext cx="10817352" cy="2679192"/>
          </a:xfrm>
          <a:prstGeom prst="roundRect">
            <a:avLst>
              <a:gd fmla="val 1706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0"/>
          <p:cNvSpPr txBox="1"/>
          <p:nvPr/>
        </p:nvSpPr>
        <p:spPr>
          <a:xfrm>
            <a:off x="1005840" y="2121408"/>
            <a:ext cx="10177272" cy="2221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Pull out the  butyric  column of  acids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Compute the mean butyric acid of the 6 samples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Keep only the rows of product "B"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Which sample has the MOST butyric acid?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0"/>
          <p:cNvSpPr txBox="1"/>
          <p:nvPr/>
        </p:nvSpPr>
        <p:spPr>
          <a:xfrm>
            <a:off x="685800" y="4690872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685800" y="5074920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0"/>
          <p:cNvSpPr txBox="1"/>
          <p:nvPr/>
        </p:nvSpPr>
        <p:spPr>
          <a:xfrm>
            <a:off x="685800" y="5148072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0"/>
          <p:cNvSpPr txBox="1"/>
          <p:nvPr/>
        </p:nvSpPr>
        <p:spPr>
          <a:xfrm>
            <a:off x="685800" y="5458968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one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/>
          <p:nvPr/>
        </p:nvSpPr>
        <p:spPr>
          <a:xfrm>
            <a:off x="2511552" y="5074920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0"/>
          <p:cNvSpPr txBox="1"/>
          <p:nvPr/>
        </p:nvSpPr>
        <p:spPr>
          <a:xfrm>
            <a:off x="2511552" y="5148072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[ ,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 txBox="1"/>
          <p:nvPr/>
        </p:nvSpPr>
        <p:spPr>
          <a:xfrm>
            <a:off x="2511552" y="5458968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rows, columns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4337304" y="5074920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0"/>
          <p:cNvSpPr txBox="1"/>
          <p:nvPr/>
        </p:nvSpPr>
        <p:spPr>
          <a:xfrm>
            <a:off x="4337304" y="5148072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0"/>
          <p:cNvSpPr txBox="1"/>
          <p:nvPr/>
        </p:nvSpPr>
        <p:spPr>
          <a:xfrm>
            <a:off x="4337304" y="5458968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/>
          <p:nvPr/>
        </p:nvSpPr>
        <p:spPr>
          <a:xfrm>
            <a:off x="6163056" y="5074920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0"/>
          <p:cNvSpPr txBox="1"/>
          <p:nvPr/>
        </p:nvSpPr>
        <p:spPr>
          <a:xfrm>
            <a:off x="6163056" y="5148072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max()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0"/>
          <p:cNvSpPr txBox="1"/>
          <p:nvPr/>
        </p:nvSpPr>
        <p:spPr>
          <a:xfrm>
            <a:off x="6163056" y="5458968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0"/>
          <p:cNvSpPr/>
          <p:nvPr/>
        </p:nvSpPr>
        <p:spPr>
          <a:xfrm>
            <a:off x="7988808" y="5074920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0"/>
          <p:cNvSpPr txBox="1"/>
          <p:nvPr/>
        </p:nvSpPr>
        <p:spPr>
          <a:xfrm>
            <a:off x="7988808" y="5148072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0"/>
          <p:cNvSpPr txBox="1"/>
          <p:nvPr/>
        </p:nvSpPr>
        <p:spPr>
          <a:xfrm>
            <a:off x="7988808" y="5458968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is equal 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9814560" y="5074920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0"/>
          <p:cNvSpPr txBox="1"/>
          <p:nvPr/>
        </p:nvSpPr>
        <p:spPr>
          <a:xfrm>
            <a:off x="9814560" y="5148072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names()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0"/>
          <p:cNvSpPr txBox="1"/>
          <p:nvPr/>
        </p:nvSpPr>
        <p:spPr>
          <a:xfrm>
            <a:off x="9814560" y="5458968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column names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 txBox="1"/>
          <p:nvPr/>
        </p:nvSpPr>
        <p:spPr>
          <a:xfrm>
            <a:off x="685800" y="6281928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1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15. WRITE.CSV()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1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Saving your results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1"/>
          <p:cNvSpPr/>
          <p:nvPr/>
        </p:nvSpPr>
        <p:spPr>
          <a:xfrm>
            <a:off x="685800" y="1463040"/>
            <a:ext cx="10817352" cy="1251966"/>
          </a:xfrm>
          <a:prstGeom prst="roundRect">
            <a:avLst>
              <a:gd fmla="val 4382" name="adj"/>
            </a:avLst>
          </a:prstGeom>
          <a:solidFill>
            <a:srgbClr val="F1F4F2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1"/>
          <p:cNvSpPr txBox="1"/>
          <p:nvPr/>
        </p:nvSpPr>
        <p:spPr>
          <a:xfrm>
            <a:off x="886968" y="1627632"/>
            <a:ext cx="10415016" cy="92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only_B &lt;- acids[acids$product == "B", 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write.csv(only_B, "output/product_B_only.csv", row.names = FALSE)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list.files("output")</a:t>
            </a:r>
            <a:r>
              <a:rPr b="0" i="0" lang="en-US" sz="1350" u="none" cap="none" strike="noStrik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check it is really there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1"/>
          <p:cNvSpPr/>
          <p:nvPr/>
        </p:nvSpPr>
        <p:spPr>
          <a:xfrm>
            <a:off x="685800" y="3017520"/>
            <a:ext cx="5225796" cy="1371600"/>
          </a:xfrm>
          <a:prstGeom prst="roundRect">
            <a:avLst>
              <a:gd fmla="val 3333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1"/>
          <p:cNvSpPr txBox="1"/>
          <p:nvPr/>
        </p:nvSpPr>
        <p:spPr>
          <a:xfrm>
            <a:off x="886968" y="318211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row.names = FALSE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 txBox="1"/>
          <p:nvPr/>
        </p:nvSpPr>
        <p:spPr>
          <a:xfrm>
            <a:off x="886968" y="3547872"/>
            <a:ext cx="48234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Stops R from adding an extra first column with 1, 2, 3... Almost always what you want.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6277356" y="3017520"/>
            <a:ext cx="5225796" cy="13716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1"/>
          <p:cNvSpPr txBox="1"/>
          <p:nvPr/>
        </p:nvSpPr>
        <p:spPr>
          <a:xfrm>
            <a:off x="6478524" y="318211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Everything goes to output/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1"/>
          <p:cNvSpPr txBox="1"/>
          <p:nvPr/>
        </p:nvSpPr>
        <p:spPr>
          <a:xfrm>
            <a:off x="6478524" y="3547872"/>
            <a:ext cx="48234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Results are disposable: they can be regenerated by re-running the script. The raw data cannot.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685800" y="4663440"/>
            <a:ext cx="10817352" cy="777240"/>
          </a:xfrm>
          <a:prstGeom prst="roundRect">
            <a:avLst>
              <a:gd fmla="val 7059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1"/>
          <p:cNvSpPr txBox="1"/>
          <p:nvPr/>
        </p:nvSpPr>
        <p:spPr>
          <a:xfrm>
            <a:off x="1051560" y="4663440"/>
            <a:ext cx="100858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Never touch the input files.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2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fmla="val 16000" name="adj"/>
            </a:avLst>
          </a:prstGeom>
          <a:solidFill>
            <a:srgbClr val="E9C46A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2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2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Save your own file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2"/>
          <p:cNvSpPr/>
          <p:nvPr/>
        </p:nvSpPr>
        <p:spPr>
          <a:xfrm>
            <a:off x="685800" y="1828800"/>
            <a:ext cx="10817352" cy="2203704"/>
          </a:xfrm>
          <a:prstGeom prst="roundRect">
            <a:avLst>
              <a:gd fmla="val 2075" name="adj"/>
            </a:avLst>
          </a:prstGeom>
          <a:solidFill>
            <a:srgbClr val="EDF7EF"/>
          </a:solidFill>
          <a:ln cap="flat" cmpd="sng" w="9525">
            <a:solidFill>
              <a:srgbClr val="D6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2"/>
          <p:cNvSpPr txBox="1"/>
          <p:nvPr/>
        </p:nvSpPr>
        <p:spPr>
          <a:xfrm>
            <a:off x="1005840" y="2121408"/>
            <a:ext cx="10177272" cy="174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Keep only the Control rows of  acids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Save them in the output folder as  acids_control.csv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b="0" i="0" lang="en-US" sz="1600" u="none" cap="none" strike="noStrik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Check with list.files("output") that the file is really there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2"/>
          <p:cNvSpPr txBox="1"/>
          <p:nvPr/>
        </p:nvSpPr>
        <p:spPr>
          <a:xfrm>
            <a:off x="685800" y="4215384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2"/>
          <p:cNvSpPr/>
          <p:nvPr/>
        </p:nvSpPr>
        <p:spPr>
          <a:xfrm>
            <a:off x="685800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2"/>
          <p:cNvSpPr txBox="1"/>
          <p:nvPr/>
        </p:nvSpPr>
        <p:spPr>
          <a:xfrm>
            <a:off x="685800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2"/>
          <p:cNvSpPr txBox="1"/>
          <p:nvPr/>
        </p:nvSpPr>
        <p:spPr>
          <a:xfrm>
            <a:off x="685800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one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2"/>
          <p:cNvSpPr/>
          <p:nvPr/>
        </p:nvSpPr>
        <p:spPr>
          <a:xfrm>
            <a:off x="2511552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2"/>
          <p:cNvSpPr txBox="1"/>
          <p:nvPr/>
        </p:nvSpPr>
        <p:spPr>
          <a:xfrm>
            <a:off x="2511552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[ ,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 txBox="1"/>
          <p:nvPr/>
        </p:nvSpPr>
        <p:spPr>
          <a:xfrm>
            <a:off x="2511552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rows, columns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2"/>
          <p:cNvSpPr/>
          <p:nvPr/>
        </p:nvSpPr>
        <p:spPr>
          <a:xfrm>
            <a:off x="4337304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2"/>
          <p:cNvSpPr txBox="1"/>
          <p:nvPr/>
        </p:nvSpPr>
        <p:spPr>
          <a:xfrm>
            <a:off x="4337304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2"/>
          <p:cNvSpPr txBox="1"/>
          <p:nvPr/>
        </p:nvSpPr>
        <p:spPr>
          <a:xfrm>
            <a:off x="4337304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is equal 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2"/>
          <p:cNvSpPr/>
          <p:nvPr/>
        </p:nvSpPr>
        <p:spPr>
          <a:xfrm>
            <a:off x="6163056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2"/>
          <p:cNvSpPr txBox="1"/>
          <p:nvPr/>
        </p:nvSpPr>
        <p:spPr>
          <a:xfrm>
            <a:off x="6163056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write.csv()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2"/>
          <p:cNvSpPr txBox="1"/>
          <p:nvPr/>
        </p:nvSpPr>
        <p:spPr>
          <a:xfrm>
            <a:off x="6163056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2"/>
          <p:cNvSpPr/>
          <p:nvPr/>
        </p:nvSpPr>
        <p:spPr>
          <a:xfrm>
            <a:off x="7988808" y="4599432"/>
            <a:ext cx="1688592" cy="713232"/>
          </a:xfrm>
          <a:prstGeom prst="roundRect">
            <a:avLst>
              <a:gd fmla="val 7692" name="adj"/>
            </a:avLst>
          </a:prstGeom>
          <a:solidFill>
            <a:srgbClr val="F1F4F2"/>
          </a:solidFill>
          <a:ln cap="flat" cmpd="sng" w="9525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2"/>
          <p:cNvSpPr txBox="1"/>
          <p:nvPr/>
        </p:nvSpPr>
        <p:spPr>
          <a:xfrm>
            <a:off x="7988808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list.files()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2"/>
          <p:cNvSpPr txBox="1"/>
          <p:nvPr/>
        </p:nvSpPr>
        <p:spPr>
          <a:xfrm>
            <a:off x="7988808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2"/>
          <p:cNvSpPr txBox="1"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3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to take away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3"/>
          <p:cNvSpPr/>
          <p:nvPr/>
        </p:nvSpPr>
        <p:spPr>
          <a:xfrm>
            <a:off x="685800" y="1325880"/>
            <a:ext cx="5180076" cy="548640"/>
          </a:xfrm>
          <a:prstGeom prst="roundRect">
            <a:avLst>
              <a:gd fmla="val 8333" name="adj"/>
            </a:avLst>
          </a:prstGeom>
          <a:solidFill>
            <a:srgbClr val="24523E"/>
          </a:solidFill>
          <a:ln cap="flat" cmpd="sng" w="9525">
            <a:solidFill>
              <a:srgbClr val="2F6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3"/>
          <p:cNvSpPr txBox="1"/>
          <p:nvPr/>
        </p:nvSpPr>
        <p:spPr>
          <a:xfrm>
            <a:off x="886968" y="1325880"/>
            <a:ext cx="47777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b="0" i="0" lang="en-US" sz="13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store something in a variable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3"/>
          <p:cNvSpPr/>
          <p:nvPr/>
        </p:nvSpPr>
        <p:spPr>
          <a:xfrm>
            <a:off x="6323076" y="1325880"/>
            <a:ext cx="5180076" cy="548640"/>
          </a:xfrm>
          <a:prstGeom prst="roundRect">
            <a:avLst>
              <a:gd fmla="val 8333" name="adj"/>
            </a:avLst>
          </a:prstGeom>
          <a:solidFill>
            <a:srgbClr val="24523E"/>
          </a:solidFill>
          <a:ln cap="flat" cmpd="sng" w="9525">
            <a:solidFill>
              <a:srgbClr val="2F6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3"/>
          <p:cNvSpPr txBox="1"/>
          <p:nvPr/>
        </p:nvSpPr>
        <p:spPr>
          <a:xfrm>
            <a:off x="6524244" y="1325880"/>
            <a:ext cx="47777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c()</a:t>
            </a:r>
            <a:r>
              <a:rPr b="0" i="0" lang="en-US" sz="13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build a vector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3"/>
          <p:cNvSpPr/>
          <p:nvPr/>
        </p:nvSpPr>
        <p:spPr>
          <a:xfrm>
            <a:off x="685800" y="1984248"/>
            <a:ext cx="5180076" cy="548640"/>
          </a:xfrm>
          <a:prstGeom prst="roundRect">
            <a:avLst>
              <a:gd fmla="val 8333" name="adj"/>
            </a:avLst>
          </a:prstGeom>
          <a:solidFill>
            <a:srgbClr val="24523E"/>
          </a:solidFill>
          <a:ln cap="flat" cmpd="sng" w="9525">
            <a:solidFill>
              <a:srgbClr val="2F6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3"/>
          <p:cNvSpPr txBox="1"/>
          <p:nvPr/>
        </p:nvSpPr>
        <p:spPr>
          <a:xfrm>
            <a:off x="886968" y="1984248"/>
            <a:ext cx="47777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[ ]</a:t>
            </a:r>
            <a:r>
              <a:rPr b="0" i="0" lang="en-US" sz="13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positions, and conditions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3"/>
          <p:cNvSpPr/>
          <p:nvPr/>
        </p:nvSpPr>
        <p:spPr>
          <a:xfrm>
            <a:off x="6323076" y="1984248"/>
            <a:ext cx="5180076" cy="548640"/>
          </a:xfrm>
          <a:prstGeom prst="roundRect">
            <a:avLst>
              <a:gd fmla="val 8333" name="adj"/>
            </a:avLst>
          </a:prstGeom>
          <a:solidFill>
            <a:srgbClr val="24523E"/>
          </a:solidFill>
          <a:ln cap="flat" cmpd="sng" w="9525">
            <a:solidFill>
              <a:srgbClr val="2F6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3"/>
          <p:cNvSpPr txBox="1"/>
          <p:nvPr/>
        </p:nvSpPr>
        <p:spPr>
          <a:xfrm>
            <a:off x="6524244" y="1984248"/>
            <a:ext cx="47777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class()</a:t>
            </a:r>
            <a:r>
              <a:rPr b="0" i="0" lang="en-US" sz="13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what type of data it 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3"/>
          <p:cNvSpPr/>
          <p:nvPr/>
        </p:nvSpPr>
        <p:spPr>
          <a:xfrm>
            <a:off x="685800" y="2642616"/>
            <a:ext cx="5180076" cy="548640"/>
          </a:xfrm>
          <a:prstGeom prst="roundRect">
            <a:avLst>
              <a:gd fmla="val 8333" name="adj"/>
            </a:avLst>
          </a:prstGeom>
          <a:solidFill>
            <a:srgbClr val="24523E"/>
          </a:solidFill>
          <a:ln cap="flat" cmpd="sng" w="9525">
            <a:solidFill>
              <a:srgbClr val="2F6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3"/>
          <p:cNvSpPr txBox="1"/>
          <p:nvPr/>
        </p:nvSpPr>
        <p:spPr>
          <a:xfrm>
            <a:off x="886968" y="2642616"/>
            <a:ext cx="47777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table()</a:t>
            </a:r>
            <a:r>
              <a:rPr b="0" i="0" lang="en-US" sz="13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count categories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3"/>
          <p:cNvSpPr/>
          <p:nvPr/>
        </p:nvSpPr>
        <p:spPr>
          <a:xfrm>
            <a:off x="6323076" y="2642616"/>
            <a:ext cx="5180076" cy="548640"/>
          </a:xfrm>
          <a:prstGeom prst="roundRect">
            <a:avLst>
              <a:gd fmla="val 8333" name="adj"/>
            </a:avLst>
          </a:prstGeom>
          <a:solidFill>
            <a:srgbClr val="24523E"/>
          </a:solidFill>
          <a:ln cap="flat" cmpd="sng" w="9525">
            <a:solidFill>
              <a:srgbClr val="2F6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3"/>
          <p:cNvSpPr txBox="1"/>
          <p:nvPr/>
        </p:nvSpPr>
        <p:spPr>
          <a:xfrm>
            <a:off x="6524244" y="2642616"/>
            <a:ext cx="47777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data.frame</a:t>
            </a:r>
            <a:r>
              <a:rPr b="0" i="0" lang="en-US" sz="13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the table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3"/>
          <p:cNvSpPr/>
          <p:nvPr/>
        </p:nvSpPr>
        <p:spPr>
          <a:xfrm>
            <a:off x="685800" y="3300984"/>
            <a:ext cx="5180076" cy="548640"/>
          </a:xfrm>
          <a:prstGeom prst="roundRect">
            <a:avLst>
              <a:gd fmla="val 8333" name="adj"/>
            </a:avLst>
          </a:prstGeom>
          <a:solidFill>
            <a:srgbClr val="24523E"/>
          </a:solidFill>
          <a:ln cap="flat" cmpd="sng" w="9525">
            <a:solidFill>
              <a:srgbClr val="2F6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3"/>
          <p:cNvSpPr txBox="1"/>
          <p:nvPr/>
        </p:nvSpPr>
        <p:spPr>
          <a:xfrm>
            <a:off x="886968" y="3300984"/>
            <a:ext cx="47777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0" i="0" lang="en-US" sz="13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one column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3"/>
          <p:cNvSpPr/>
          <p:nvPr/>
        </p:nvSpPr>
        <p:spPr>
          <a:xfrm>
            <a:off x="6323076" y="3300984"/>
            <a:ext cx="5180076" cy="548640"/>
          </a:xfrm>
          <a:prstGeom prst="roundRect">
            <a:avLst>
              <a:gd fmla="val 8333" name="adj"/>
            </a:avLst>
          </a:prstGeom>
          <a:solidFill>
            <a:srgbClr val="24523E"/>
          </a:solidFill>
          <a:ln cap="flat" cmpd="sng" w="9525">
            <a:solidFill>
              <a:srgbClr val="2F6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3"/>
          <p:cNvSpPr txBox="1"/>
          <p:nvPr/>
        </p:nvSpPr>
        <p:spPr>
          <a:xfrm>
            <a:off x="6524244" y="3300984"/>
            <a:ext cx="47777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str() head() summary()</a:t>
            </a:r>
            <a:r>
              <a:rPr b="0" i="0" lang="en-US" sz="13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LOOK before you analyse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3"/>
          <p:cNvSpPr/>
          <p:nvPr/>
        </p:nvSpPr>
        <p:spPr>
          <a:xfrm>
            <a:off x="685800" y="3959352"/>
            <a:ext cx="5180076" cy="548640"/>
          </a:xfrm>
          <a:prstGeom prst="roundRect">
            <a:avLst>
              <a:gd fmla="val 8333" name="adj"/>
            </a:avLst>
          </a:prstGeom>
          <a:solidFill>
            <a:srgbClr val="24523E"/>
          </a:solidFill>
          <a:ln cap="flat" cmpd="sng" w="9525">
            <a:solidFill>
              <a:srgbClr val="2F6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3"/>
          <p:cNvSpPr txBox="1"/>
          <p:nvPr/>
        </p:nvSpPr>
        <p:spPr>
          <a:xfrm>
            <a:off x="886968" y="3959352"/>
            <a:ext cx="47777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read.csv("input/f.csv")</a:t>
            </a:r>
            <a:r>
              <a:rPr b="0" i="0" lang="en-US" sz="13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read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3"/>
          <p:cNvSpPr/>
          <p:nvPr/>
        </p:nvSpPr>
        <p:spPr>
          <a:xfrm>
            <a:off x="6323076" y="3959352"/>
            <a:ext cx="5180076" cy="548640"/>
          </a:xfrm>
          <a:prstGeom prst="roundRect">
            <a:avLst>
              <a:gd fmla="val 8333" name="adj"/>
            </a:avLst>
          </a:prstGeom>
          <a:solidFill>
            <a:srgbClr val="24523E"/>
          </a:solidFill>
          <a:ln cap="flat" cmpd="sng" w="9525">
            <a:solidFill>
              <a:srgbClr val="2F6B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3"/>
          <p:cNvSpPr txBox="1"/>
          <p:nvPr/>
        </p:nvSpPr>
        <p:spPr>
          <a:xfrm>
            <a:off x="6524244" y="3959352"/>
            <a:ext cx="47777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write.csv(..., "output/...")</a:t>
            </a:r>
            <a:r>
              <a:rPr b="0" i="0" lang="en-US" sz="13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save results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3"/>
          <p:cNvSpPr txBox="1"/>
          <p:nvPr/>
        </p:nvSpPr>
        <p:spPr>
          <a:xfrm>
            <a:off x="685800" y="502920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Next session: dplyr, tidy data, statistical tests and ggplot2.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3"/>
          <p:cNvSpPr txBox="1"/>
          <p:nvPr/>
        </p:nvSpPr>
        <p:spPr>
          <a:xfrm>
            <a:off x="685800" y="54406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And remember: never touch the input files.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2026-09-10T13:35:34Z</dcterms:created>
  <dc:creator>Basic R Course</dc:creator>
</cp:coreProperties>
</file>
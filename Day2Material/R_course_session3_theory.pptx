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5.xml"/>
  <Override ContentType="application/vnd.openxmlformats-officedocument.presentationml.notesSlide+xml" PartName="/ppt/notesSlides/notesSlide19.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22.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23.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Lst>
  <p:sldSz cy="5143500" cx="9144000"/>
  <p:notesSz cx="51435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0" roundtripDataSignature="AMtx7mgm2CqC/ARpXYtLsO/zXGs+HEPVy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slide" Target="slides/slide16.xml"/><Relationship Id="rId22" Type="http://schemas.openxmlformats.org/officeDocument/2006/relationships/slide" Target="slides/slide18.xml"/><Relationship Id="rId21" Type="http://schemas.openxmlformats.org/officeDocument/2006/relationships/slide" Target="slides/slide17.xml"/><Relationship Id="rId24" Type="http://schemas.openxmlformats.org/officeDocument/2006/relationships/slide" Target="slides/slide20.xml"/><Relationship Id="rId23" Type="http://schemas.openxmlformats.org/officeDocument/2006/relationships/slide" Target="slides/slide19.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slide" Target="slides/slide22.xml"/><Relationship Id="rId25" Type="http://schemas.openxmlformats.org/officeDocument/2006/relationships/slide" Target="slides/slide21.xml"/><Relationship Id="rId28" Type="http://schemas.openxmlformats.org/officeDocument/2006/relationships/slide" Target="slides/slide24.xml"/><Relationship Id="rId27" Type="http://schemas.openxmlformats.org/officeDocument/2006/relationships/slide" Target="slides/slide23.xml"/><Relationship Id="rId5" Type="http://schemas.openxmlformats.org/officeDocument/2006/relationships/slide" Target="slides/slide1.xml"/><Relationship Id="rId6" Type="http://schemas.openxmlformats.org/officeDocument/2006/relationships/slide" Target="slides/slide2.xml"/><Relationship Id="rId29" Type="http://schemas.openxmlformats.org/officeDocument/2006/relationships/slide" Target="slides/slide25.xml"/><Relationship Id="rId7" Type="http://schemas.openxmlformats.org/officeDocument/2006/relationships/slide" Target="slides/slide3.xml"/><Relationship Id="rId8" Type="http://schemas.openxmlformats.org/officeDocument/2006/relationships/slide" Target="slides/slide4.xml"/><Relationship Id="rId30" Type="http://customschemas.google.com/relationships/presentationmetadata" Target="metadata"/><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45-minute beginner session using two samples from each condition. The three exercises only modify code that has already been demonstrated. With two replicates per group, the tests are exploratory teaching examples.</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 name="Shape 25"/>
        <p:cNvGrpSpPr/>
        <p:nvPr/>
      </p:nvGrpSpPr>
      <p:grpSpPr>
        <a:xfrm>
          <a:off x="0" y="0"/>
          <a:ext cx="0" cy="0"/>
          <a:chOff x="0" y="0"/>
          <a:chExt cx="0" cy="0"/>
        </a:xfrm>
      </p:grpSpPr>
      <p:sp>
        <p:nvSpPr>
          <p:cNvPr id="26" name="Google Shape;26;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7" name="Google Shape;27;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Approximate timing. Exercises are in the composition block (Ex. 1) and the alpha diversity block (Ex. 2 and 3).</a:t>
            </a:r>
            <a:endParaRPr/>
          </a:p>
        </p:txBody>
      </p:sp>
      <p:sp>
        <p:nvSpPr>
          <p:cNvPr id="28" name="Google Shape;28;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 name="Shape 53"/>
        <p:cNvGrpSpPr/>
        <p:nvPr/>
      </p:nvGrpSpPr>
      <p:grpSpPr>
        <a:xfrm>
          <a:off x="0" y="0"/>
          <a:ext cx="0" cy="0"/>
          <a:chOff x="0" y="0"/>
          <a:chExt cx="0" cy="0"/>
        </a:xfrm>
      </p:grpSpPr>
      <p:sp>
        <p:nvSpPr>
          <p:cNvPr id="54" name="Google Shape;5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55" name="Google Shape;55;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First appearance of ggplot2: briefly explain what it is. ggplot2 builds plots in layers: ggplot(data, aes(...)) sets the data and which variable goes on each axis or colour; layers are then added with +, such as geom_point(), labs() or theme_minimal(). We will use it for every plot in this session.</a:t>
            </a:r>
            <a:br>
              <a:rPr lang="en-US"/>
            </a:br>
            <a:br>
              <a:rPr lang="en-US"/>
            </a:br>
            <a:r>
              <a:rPr lang="en-US"/>
              <a:t>Check that dim(abundance) gives 190 species and 6 samples (the first column holds the species name).</a:t>
            </a:r>
            <a:endParaRPr/>
          </a:p>
        </p:txBody>
      </p:sp>
      <p:sp>
        <p:nvSpPr>
          <p:cNvPr id="56" name="Google Shape;56;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 name="Shape 69"/>
        <p:cNvGrpSpPr/>
        <p:nvPr/>
      </p:nvGrpSpPr>
      <p:grpSpPr>
        <a:xfrm>
          <a:off x="0" y="0"/>
          <a:ext cx="0" cy="0"/>
          <a:chOff x="0" y="0"/>
          <a:chExt cx="0" cy="0"/>
        </a:xfrm>
      </p:grpSpPr>
      <p:sp>
        <p:nvSpPr>
          <p:cNvPr id="70" name="Google Shape;70;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71" name="Google Shape;71;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 phyloseq object combines abundance, taxonomy and sample information in a single variable. This way phyloseq functions know which species belongs to which family and which sample belongs to which product.</a:t>
            </a:r>
            <a:endParaRPr/>
          </a:p>
        </p:txBody>
      </p:sp>
      <p:sp>
        <p:nvSpPr>
          <p:cNvPr id="72" name="Google Shape;72;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03" name="Google Shape;103;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Point out that colSums gives approximately 100 in every sample: these are percentages. Row names must match between the two matrices (the species name).</a:t>
            </a:r>
            <a:endParaRPr/>
          </a:p>
        </p:txBody>
      </p:sp>
      <p:sp>
        <p:nvSpPr>
          <p:cNvPr id="104" name="Google Shape;104;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22" name="Google Shape;122;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factor() with levels fixes the order Control, A, B in tables and plots. Typing ps in the console shows a summary: 190 taxa, 6 samples, 3 sample variables, 7 taxonomic ranks.</a:t>
            </a:r>
            <a:endParaRPr/>
          </a:p>
        </p:txBody>
      </p:sp>
      <p:sp>
        <p:nvSpPr>
          <p:cNvPr id="123" name="Google Shape;123;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8" name="Google Shape;13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Stress this: a value of 10 means approximately 10% of that sample, not ten bacterial cells. The data are compositional: if one taxon goes up, the others go down proportionally.</a:t>
            </a:r>
            <a:endParaRPr/>
          </a:p>
        </p:txBody>
      </p:sp>
      <p:sp>
        <p:nvSpPr>
          <p:cNvPr id="139" name="Google Shape;13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8" name="Google Shape;158;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psmelt() turns the phyloseq object into a long table: one row per taxon × sample combination, with columns such as Abundance and product. droplevels() removes level B, which is no longer present. Always look at the means before running the test.</a:t>
            </a:r>
            <a:endParaRPr/>
          </a:p>
        </p:txBody>
      </p:sp>
      <p:sp>
        <p:nvSpPr>
          <p:cNvPr id="159" name="Google Shape;159;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Read the code layer by layer. Each + adds something to the plot. stat_summary calculates each group's mean and draws it as a black diamond (shape = 18). legend.position = 'none' because the colour is already shown on the x axis.</a:t>
            </a:r>
            <a:endParaRPr/>
          </a:p>
        </p:txBody>
      </p:sp>
      <p:sp>
        <p:nvSpPr>
          <p:cNvPr id="181" name="Google Shape;181;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 name="Shape 201"/>
        <p:cNvGrpSpPr/>
        <p:nvPr/>
      </p:nvGrpSpPr>
      <p:grpSpPr>
        <a:xfrm>
          <a:off x="0" y="0"/>
          <a:ext cx="0" cy="0"/>
          <a:chOff x="0" y="0"/>
          <a:chExt cx="0" cy="0"/>
        </a:xfrm>
      </p:grpSpPr>
      <p:sp>
        <p:nvSpPr>
          <p:cNvPr id="202" name="Google Shape;202;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3" name="Google Shape;203;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Expected p-value: approximately 0.026. It is below 0.05, so we reject H0 in this simple example.</a:t>
            </a:r>
            <a:br>
              <a:rPr lang="en-US"/>
            </a:br>
            <a:br>
              <a:rPr lang="en-US"/>
            </a:br>
            <a:r>
              <a:rPr lang="en-US"/>
              <a:t>TEACHING NOTE: R uses Welch's t-test by default. With only two samples per group, this is useful for learning the syntax but is not strong biological evidence. Testing many relative abundances would require compositional methods and multiple-testing correction.</a:t>
            </a:r>
            <a:endParaRPr/>
          </a:p>
        </p:txBody>
      </p:sp>
      <p:sp>
        <p:nvSpPr>
          <p:cNvPr id="204" name="Google Shape;204;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2" name="Shape 222"/>
        <p:cNvGrpSpPr/>
        <p:nvPr/>
      </p:nvGrpSpPr>
      <p:grpSpPr>
        <a:xfrm>
          <a:off x="0" y="0"/>
          <a:ext cx="0" cy="0"/>
          <a:chOff x="0" y="0"/>
          <a:chExt cx="0" cy="0"/>
        </a:xfrm>
      </p:grpSpPr>
      <p:sp>
        <p:nvSpPr>
          <p:cNvPr id="223" name="Google Shape;223;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4" name="Google Shape;224;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These two values control the whole plot: the taxonomic rank we group at and how many taxa are shown separately. Everything else becomes 'Other'. This is the Fig. 2A analogue.</a:t>
            </a:r>
            <a:endParaRPr/>
          </a:p>
        </p:txBody>
      </p:sp>
      <p:sp>
        <p:nvSpPr>
          <p:cNvPr id="225" name="Google Shape;225;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62" name="Google Shape;262;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tax_glom adds up the species that belong to the same family. The double brackets [[rank_to_plot]] select the column whose name is stored in the variable, which is why the code works for any rank.</a:t>
            </a:r>
            <a:endParaRPr/>
          </a:p>
        </p:txBody>
      </p:sp>
      <p:sp>
        <p:nvSpPr>
          <p:cNvPr id="263" name="Google Shape;263;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2" name="Shape 282"/>
        <p:cNvGrpSpPr/>
        <p:nvPr/>
      </p:nvGrpSpPr>
      <p:grpSpPr>
        <a:xfrm>
          <a:off x="0" y="0"/>
          <a:ext cx="0" cy="0"/>
          <a:chOff x="0" y="0"/>
          <a:chExt cx="0" cy="0"/>
        </a:xfrm>
      </p:grpSpPr>
      <p:sp>
        <p:nvSpPr>
          <p:cNvPr id="283" name="Google Shape;283;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84" name="Google Shape;284;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ifelse: if the taxon is in the top it keeps its name, otherwise it becomes 'Other'. We then sum again per sample so that 'Other' is a single block in each bar. The factor with levels = metadata$sample keeps the original sample order.</a:t>
            </a:r>
            <a:endParaRPr/>
          </a:p>
        </p:txBody>
      </p:sp>
      <p:sp>
        <p:nvSpPr>
          <p:cNvPr id="285" name="Google Shape;285;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03" name="Google Shape;30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Questions for the class and expected answers:</a:t>
            </a:r>
            <a:br>
              <a:rPr lang="en-US"/>
            </a:br>
            <a:r>
              <a:rPr lang="en-US"/>
              <a:t>1) One bar represents one complete sample.</a:t>
            </a:r>
            <a:br>
              <a:rPr lang="en-US"/>
            </a:br>
            <a:r>
              <a:rPr lang="en-US"/>
              <a:t>2) It totals approximately 100% because these are relative abundances (percentages).</a:t>
            </a:r>
            <a:br>
              <a:rPr lang="en-US"/>
            </a:br>
            <a:r>
              <a:rPr lang="en-US"/>
              <a:t>3) No, it does not show absolute bacterial numbers.</a:t>
            </a:r>
            <a:br>
              <a:rPr lang="en-US"/>
            </a:br>
            <a:br>
              <a:rPr lang="en-US"/>
            </a:br>
            <a:r>
              <a:rPr lang="en-US"/>
              <a:t>geom_col stacks the bars; fill = Taxon colours by taxon; facet_grid splits by product.</a:t>
            </a:r>
            <a:endParaRPr/>
          </a:p>
        </p:txBody>
      </p:sp>
      <p:sp>
        <p:nvSpPr>
          <p:cNvPr id="304" name="Google Shape;30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6" name="Shape 316"/>
        <p:cNvGrpSpPr/>
        <p:nvPr/>
      </p:nvGrpSpPr>
      <p:grpSpPr>
        <a:xfrm>
          <a:off x="0" y="0"/>
          <a:ext cx="0" cy="0"/>
          <a:chOff x="0" y="0"/>
          <a:chExt cx="0" cy="0"/>
        </a:xfrm>
      </p:grpSpPr>
      <p:sp>
        <p:nvSpPr>
          <p:cNvPr id="317" name="Google Shape;317;p1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8" name="Google Shape;318;p1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Students change only two values and rerun the composition chunks. Solution on the next slide.</a:t>
            </a:r>
            <a:endParaRPr/>
          </a:p>
        </p:txBody>
      </p:sp>
      <p:sp>
        <p:nvSpPr>
          <p:cNvPr id="319" name="Google Shape;319;p1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p1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1" name="Google Shape;331;p1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After changing the values, rerun the tax_glom/top, “Other” and plot chunks. The title and legend update automatically because they use the variables.</a:t>
            </a:r>
            <a:endParaRPr/>
          </a:p>
        </p:txBody>
      </p:sp>
      <p:sp>
        <p:nvSpPr>
          <p:cNvPr id="332" name="Google Shape;332;p1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p1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7" name="Google Shape;347;p1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Observed is detected richness, not Chao1: it simply counts species with an abundance above zero. Shannon considers both richness and how evenly abundances are distributed. t() transposes the matrix because vegan expects samples in rows.</a:t>
            </a:r>
            <a:endParaRPr/>
          </a:p>
        </p:txBody>
      </p:sp>
      <p:sp>
        <p:nvSpPr>
          <p:cNvPr id="348" name="Google Shape;348;p1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p1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7" name="Google Shape;367;p1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Students reuse the previous t-test, comparing Control and A. Solution on the next slide.</a:t>
            </a:r>
            <a:endParaRPr/>
          </a:p>
        </p:txBody>
      </p:sp>
      <p:sp>
        <p:nvSpPr>
          <p:cNvPr id="368" name="Google Shape;368;p1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8" name="Shape 378"/>
        <p:cNvGrpSpPr/>
        <p:nvPr/>
      </p:nvGrpSpPr>
      <p:grpSpPr>
        <a:xfrm>
          <a:off x="0" y="0"/>
          <a:ext cx="0" cy="0"/>
          <a:chOff x="0" y="0"/>
          <a:chExt cx="0" cy="0"/>
        </a:xfrm>
      </p:grpSpPr>
      <p:sp>
        <p:nvSpPr>
          <p:cNvPr id="379" name="Google Shape;379;p1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80" name="Google Shape;380;p1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Expected p-value: approximately 0.177. It is above 0.05, so we do not reject H0. This small dataset does not provide evidence of a difference in mean Shannon diversity. Remind students that 'not rejecting' is not the same as proving the means are equal.</a:t>
            </a:r>
            <a:endParaRPr/>
          </a:p>
        </p:txBody>
      </p:sp>
      <p:sp>
        <p:nvSpPr>
          <p:cNvPr id="381" name="Google Shape;381;p1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2" name="Shape 392"/>
        <p:cNvGrpSpPr/>
        <p:nvPr/>
      </p:nvGrpSpPr>
      <p:grpSpPr>
        <a:xfrm>
          <a:off x="0" y="0"/>
          <a:ext cx="0" cy="0"/>
          <a:chOff x="0" y="0"/>
          <a:chExt cx="0" cy="0"/>
        </a:xfrm>
      </p:grpSpPr>
      <p:sp>
        <p:nvSpPr>
          <p:cNvPr id="393" name="Google Shape;393;p2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4" name="Google Shape;394;p2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Fig. 2C analogue. Compared with the Blautia plot we only add one new layer: a grey line from each group's minimum to its maximum. With two replicates, the line joins the two points.</a:t>
            </a:r>
            <a:endParaRPr/>
          </a:p>
        </p:txBody>
      </p:sp>
      <p:sp>
        <p:nvSpPr>
          <p:cNvPr id="395" name="Google Shape;395;p2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8" name="Shape 408"/>
        <p:cNvGrpSpPr/>
        <p:nvPr/>
      </p:nvGrpSpPr>
      <p:grpSpPr>
        <a:xfrm>
          <a:off x="0" y="0"/>
          <a:ext cx="0" cy="0"/>
          <a:chOff x="0" y="0"/>
          <a:chExt cx="0" cy="0"/>
        </a:xfrm>
      </p:grpSpPr>
      <p:sp>
        <p:nvSpPr>
          <p:cNvPr id="409" name="Google Shape;409;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10" name="Google Shape;410;p2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Students copy the richness plot and change only Observed, the title and the y-axis label. Solution on the next slide.</a:t>
            </a:r>
            <a:endParaRPr/>
          </a:p>
        </p:txBody>
      </p:sp>
      <p:sp>
        <p:nvSpPr>
          <p:cNvPr id="411" name="Google Shape;411;p2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1" name="Shape 421"/>
        <p:cNvGrpSpPr/>
        <p:nvPr/>
      </p:nvGrpSpPr>
      <p:grpSpPr>
        <a:xfrm>
          <a:off x="0" y="0"/>
          <a:ext cx="0" cy="0"/>
          <a:chOff x="0" y="0"/>
          <a:chExt cx="0" cy="0"/>
        </a:xfrm>
      </p:grpSpPr>
      <p:sp>
        <p:nvSpPr>
          <p:cNvPr id="422" name="Google Shape;422;p2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23" name="Google Shape;423;p2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three highlighted lines are the only changes from the observed richness plot.</a:t>
            </a:r>
            <a:endParaRPr/>
          </a:p>
        </p:txBody>
      </p:sp>
      <p:sp>
        <p:nvSpPr>
          <p:cNvPr id="424" name="Google Shape;424;p2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5" name="Shape 435"/>
        <p:cNvGrpSpPr/>
        <p:nvPr/>
      </p:nvGrpSpPr>
      <p:grpSpPr>
        <a:xfrm>
          <a:off x="0" y="0"/>
          <a:ext cx="0" cy="0"/>
          <a:chOff x="0" y="0"/>
          <a:chExt cx="0" cy="0"/>
        </a:xfrm>
      </p:grpSpPr>
      <p:sp>
        <p:nvSpPr>
          <p:cNvPr id="436" name="Google Shape;436;p2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37" name="Google Shape;437;p2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Alpha diversity describes one sample. Beta diversity asks how different the complete communities are between samples. Bray-Curtis calculates the distances and PCoA represents them on two axes.</a:t>
            </a:r>
            <a:endParaRPr/>
          </a:p>
        </p:txBody>
      </p:sp>
      <p:sp>
        <p:nvSpPr>
          <p:cNvPr id="438" name="Google Shape;438;p2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2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63" name="Google Shape;463;p2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Ask only which samples are close and which are separated. PCoA is a visualisation, not a statistical test; PERMANOVA is deliberately omitted.</a:t>
            </a:r>
            <a:endParaRPr/>
          </a:p>
        </p:txBody>
      </p:sp>
      <p:sp>
        <p:nvSpPr>
          <p:cNvPr id="464" name="Google Shape;464;p2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7" name="Shape 477"/>
        <p:cNvGrpSpPr/>
        <p:nvPr/>
      </p:nvGrpSpPr>
      <p:grpSpPr>
        <a:xfrm>
          <a:off x="0" y="0"/>
          <a:ext cx="0" cy="0"/>
          <a:chOff x="0" y="0"/>
          <a:chExt cx="0" cy="0"/>
        </a:xfrm>
      </p:grpSpPr>
      <p:sp>
        <p:nvSpPr>
          <p:cNvPr id="478" name="Google Shape;478;p2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479" name="Google Shape;479;p2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Final summary. Stress the last point: with two replicates per group the results are exploratory and are mainly useful for learning the syntax.</a:t>
            </a:r>
            <a:endParaRPr/>
          </a:p>
        </p:txBody>
      </p:sp>
      <p:sp>
        <p:nvSpPr>
          <p:cNvPr id="480" name="Google Shape;480;p2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3.png"/><Relationship Id="rId4" Type="http://schemas.openxmlformats.org/officeDocument/2006/relationships/image" Target="../media/image6.png"/><Relationship Id="rId5" Type="http://schemas.openxmlformats.org/officeDocument/2006/relationships/image" Target="../media/image2.png"/><Relationship Id="rId6"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7.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image15.png"/><Relationship Id="rId4"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 Id="rId3" Type="http://schemas.openxmlformats.org/officeDocument/2006/relationships/image" Target="../media/image10.png"/><Relationship Id="rId4" Type="http://schemas.openxmlformats.org/officeDocument/2006/relationships/image" Target="../media/image17.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0.png"/><Relationship Id="rId4" Type="http://schemas.openxmlformats.org/officeDocument/2006/relationships/image" Target="../media/image17.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3C49"/>
        </a:solidFill>
      </p:bgPr>
    </p:bg>
    <p:spTree>
      <p:nvGrpSpPr>
        <p:cNvPr id="15" name="Shape 15"/>
        <p:cNvGrpSpPr/>
        <p:nvPr/>
      </p:nvGrpSpPr>
      <p:grpSpPr>
        <a:xfrm>
          <a:off x="0" y="0"/>
          <a:ext cx="0" cy="0"/>
          <a:chOff x="0" y="0"/>
          <a:chExt cx="0" cy="0"/>
        </a:xfrm>
      </p:grpSpPr>
      <p:sp>
        <p:nvSpPr>
          <p:cNvPr id="16" name="Google Shape;16;p1"/>
          <p:cNvSpPr/>
          <p:nvPr/>
        </p:nvSpPr>
        <p:spPr>
          <a:xfrm>
            <a:off x="6583680" y="731520"/>
            <a:ext cx="822960" cy="822960"/>
          </a:xfrm>
          <a:prstGeom prst="ellipse">
            <a:avLst/>
          </a:prstGeom>
          <a:solidFill>
            <a:srgbClr val="2E9C86"/>
          </a:solidFill>
          <a:ln cap="flat" cmpd="sng" w="12700">
            <a:solidFill>
              <a:srgbClr val="2E9C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7680960" y="1371600"/>
            <a:ext cx="502920" cy="502920"/>
          </a:xfrm>
          <a:prstGeom prst="ellipse">
            <a:avLst/>
          </a:prstGeom>
          <a:solidFill>
            <a:srgbClr val="E8603C"/>
          </a:solidFill>
          <a:ln cap="flat" cmpd="sng" w="12700">
            <a:solidFill>
              <a:srgbClr val="E860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1"/>
          <p:cNvSpPr/>
          <p:nvPr/>
        </p:nvSpPr>
        <p:spPr>
          <a:xfrm>
            <a:off x="7040880" y="2194560"/>
            <a:ext cx="320040" cy="320040"/>
          </a:xfrm>
          <a:prstGeom prst="ellipse">
            <a:avLst/>
          </a:prstGeom>
          <a:solidFill>
            <a:srgbClr val="5FBFA9"/>
          </a:solidFill>
          <a:ln cap="flat" cmpd="sng" w="12700">
            <a:solidFill>
              <a:srgbClr val="5FBFA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8138160" y="2651760"/>
            <a:ext cx="685800" cy="685800"/>
          </a:xfrm>
          <a:prstGeom prst="ellipse">
            <a:avLst/>
          </a:prstGeom>
          <a:solidFill>
            <a:srgbClr val="15525F"/>
          </a:solidFill>
          <a:ln cap="flat" cmpd="sng" w="12700">
            <a:solidFill>
              <a:srgbClr val="1552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6400800" y="3291840"/>
            <a:ext cx="457200" cy="457200"/>
          </a:xfrm>
          <a:prstGeom prst="ellipse">
            <a:avLst/>
          </a:prstGeom>
          <a:solidFill>
            <a:srgbClr val="15525F"/>
          </a:solidFill>
          <a:ln cap="flat" cmpd="sng" w="12700">
            <a:solidFill>
              <a:srgbClr val="1552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 name="Google Shape;21;p1"/>
          <p:cNvSpPr/>
          <p:nvPr/>
        </p:nvSpPr>
        <p:spPr>
          <a:xfrm>
            <a:off x="7498080" y="3749040"/>
            <a:ext cx="365760" cy="365760"/>
          </a:xfrm>
          <a:prstGeom prst="ellipse">
            <a:avLst/>
          </a:prstGeom>
          <a:solidFill>
            <a:srgbClr val="2E9C86"/>
          </a:solidFill>
          <a:ln cap="flat" cmpd="sng" w="12700">
            <a:solidFill>
              <a:srgbClr val="2E9C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 name="Google Shape;22;p1"/>
          <p:cNvSpPr txBox="1"/>
          <p:nvPr/>
        </p:nvSpPr>
        <p:spPr>
          <a:xfrm>
            <a:off x="548640" y="1097280"/>
            <a:ext cx="5669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D3C3"/>
              </a:buClr>
              <a:buSzPts val="1600"/>
              <a:buFont typeface="Calibri"/>
              <a:buNone/>
            </a:pPr>
            <a:r>
              <a:rPr b="1" i="0" lang="en-US" sz="1600" u="none" cap="none" strike="noStrike">
                <a:solidFill>
                  <a:srgbClr val="8FD3C3"/>
                </a:solidFill>
                <a:latin typeface="Calibri"/>
                <a:ea typeface="Calibri"/>
                <a:cs typeface="Calibri"/>
                <a:sym typeface="Calibri"/>
              </a:rPr>
              <a:t>Basic R Course · Session 3</a:t>
            </a:r>
            <a:endParaRPr b="0" i="0" sz="1600" u="none" cap="none" strike="noStrike">
              <a:solidFill>
                <a:schemeClr val="dk1"/>
              </a:solidFill>
              <a:latin typeface="Calibri"/>
              <a:ea typeface="Calibri"/>
              <a:cs typeface="Calibri"/>
              <a:sym typeface="Calibri"/>
            </a:endParaRPr>
          </a:p>
        </p:txBody>
      </p:sp>
      <p:sp>
        <p:nvSpPr>
          <p:cNvPr id="23" name="Google Shape;23;p1"/>
          <p:cNvSpPr txBox="1"/>
          <p:nvPr/>
        </p:nvSpPr>
        <p:spPr>
          <a:xfrm>
            <a:off x="548640" y="1554480"/>
            <a:ext cx="5669280" cy="1737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3600"/>
              <a:buFont typeface="Cambria"/>
              <a:buNone/>
            </a:pPr>
            <a:r>
              <a:rPr b="1" i="0" lang="en-US" sz="3600" u="none" cap="none" strike="noStrike">
                <a:solidFill>
                  <a:srgbClr val="FFFFFF"/>
                </a:solidFill>
                <a:latin typeface="Cambria"/>
                <a:ea typeface="Cambria"/>
                <a:cs typeface="Cambria"/>
                <a:sym typeface="Cambria"/>
              </a:rPr>
              <a:t>Relative abundance, diversity and simple statistics</a:t>
            </a:r>
            <a:endParaRPr b="0" i="0" sz="3600" u="none" cap="none" strike="noStrike">
              <a:solidFill>
                <a:schemeClr val="dk1"/>
              </a:solidFill>
              <a:latin typeface="Calibri"/>
              <a:ea typeface="Calibri"/>
              <a:cs typeface="Calibri"/>
              <a:sym typeface="Calibri"/>
            </a:endParaRPr>
          </a:p>
        </p:txBody>
      </p:sp>
      <p:sp>
        <p:nvSpPr>
          <p:cNvPr id="24" name="Google Shape;24;p1"/>
          <p:cNvSpPr txBox="1"/>
          <p:nvPr/>
        </p:nvSpPr>
        <p:spPr>
          <a:xfrm>
            <a:off x="548640" y="3840480"/>
            <a:ext cx="566928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FE6E1"/>
              </a:buClr>
              <a:buSzPts val="1400"/>
              <a:buFont typeface="Calibri"/>
              <a:buNone/>
            </a:pPr>
            <a:r>
              <a:rPr b="0" i="0" lang="en-US" sz="1400" u="none" cap="none" strike="noStrike">
                <a:solidFill>
                  <a:srgbClr val="CFE6E1"/>
                </a:solidFill>
                <a:latin typeface="Calibri"/>
                <a:ea typeface="Calibri"/>
                <a:cs typeface="Calibri"/>
                <a:sym typeface="Calibri"/>
              </a:rPr>
              <a:t>45 minutes · 2 replicates per condition (Control, A, B)</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9" name="Shape 29"/>
        <p:cNvGrpSpPr/>
        <p:nvPr/>
      </p:nvGrpSpPr>
      <p:grpSpPr>
        <a:xfrm>
          <a:off x="0" y="0"/>
          <a:ext cx="0" cy="0"/>
          <a:chOff x="0" y="0"/>
          <a:chExt cx="0" cy="0"/>
        </a:xfrm>
      </p:grpSpPr>
      <p:sp>
        <p:nvSpPr>
          <p:cNvPr id="30" name="Google Shape;30;p2"/>
          <p:cNvSpPr txBox="1"/>
          <p:nvPr/>
        </p:nvSpPr>
        <p:spPr>
          <a:xfrm>
            <a:off x="457200" y="274320"/>
            <a:ext cx="6949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2800"/>
              <a:buFont typeface="Cambria"/>
              <a:buNone/>
            </a:pPr>
            <a:r>
              <a:rPr b="1" i="0" lang="en-US" sz="2800" u="none" cap="none" strike="noStrike">
                <a:solidFill>
                  <a:srgbClr val="0B3C49"/>
                </a:solidFill>
                <a:latin typeface="Cambria"/>
                <a:ea typeface="Cambria"/>
                <a:cs typeface="Cambria"/>
                <a:sym typeface="Cambria"/>
              </a:rPr>
              <a:t>Session plan</a:t>
            </a:r>
            <a:endParaRPr b="0" i="0" sz="2800" u="none" cap="none" strike="noStrike">
              <a:solidFill>
                <a:schemeClr val="dk1"/>
              </a:solidFill>
              <a:latin typeface="Calibri"/>
              <a:ea typeface="Calibri"/>
              <a:cs typeface="Calibri"/>
              <a:sym typeface="Calibri"/>
            </a:endParaRPr>
          </a:p>
        </p:txBody>
      </p:sp>
      <p:cxnSp>
        <p:nvCxnSpPr>
          <p:cNvPr id="31" name="Google Shape;31;p2"/>
          <p:cNvCxnSpPr/>
          <p:nvPr/>
        </p:nvCxnSpPr>
        <p:spPr>
          <a:xfrm>
            <a:off x="1216152" y="1874520"/>
            <a:ext cx="6528816" cy="0"/>
          </a:xfrm>
          <a:prstGeom prst="straightConnector1">
            <a:avLst/>
          </a:prstGeom>
          <a:noFill/>
          <a:ln cap="flat" cmpd="sng" w="25400">
            <a:solidFill>
              <a:srgbClr val="B9D8D1"/>
            </a:solidFill>
            <a:prstDash val="solid"/>
            <a:round/>
            <a:headEnd len="sm" w="sm" type="none"/>
            <a:tailEnd len="sm" w="sm" type="none"/>
          </a:ln>
        </p:spPr>
      </p:cxnSp>
      <p:sp>
        <p:nvSpPr>
          <p:cNvPr id="32" name="Google Shape;32;p2"/>
          <p:cNvSpPr/>
          <p:nvPr/>
        </p:nvSpPr>
        <p:spPr>
          <a:xfrm>
            <a:off x="850392" y="1508760"/>
            <a:ext cx="731520" cy="731520"/>
          </a:xfrm>
          <a:prstGeom prst="ellipse">
            <a:avLst/>
          </a:prstGeom>
          <a:solidFill>
            <a:srgbClr val="0B3C49"/>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 name="Google Shape;33;p2"/>
          <p:cNvSpPr txBox="1"/>
          <p:nvPr/>
        </p:nvSpPr>
        <p:spPr>
          <a:xfrm>
            <a:off x="850392" y="1508760"/>
            <a:ext cx="73152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Cambria"/>
              <a:buNone/>
            </a:pPr>
            <a:r>
              <a:rPr b="1" i="0" lang="en-US" sz="2400" u="none" cap="none" strike="noStrike">
                <a:solidFill>
                  <a:srgbClr val="FFFFFF"/>
                </a:solidFill>
                <a:latin typeface="Cambria"/>
                <a:ea typeface="Cambria"/>
                <a:cs typeface="Cambria"/>
                <a:sym typeface="Cambria"/>
              </a:rPr>
              <a:t>1</a:t>
            </a:r>
            <a:endParaRPr b="0" i="0" sz="2400" u="none" cap="none" strike="noStrike">
              <a:solidFill>
                <a:schemeClr val="dk1"/>
              </a:solidFill>
              <a:latin typeface="Calibri"/>
              <a:ea typeface="Calibri"/>
              <a:cs typeface="Calibri"/>
              <a:sym typeface="Calibri"/>
            </a:endParaRPr>
          </a:p>
        </p:txBody>
      </p:sp>
      <p:sp>
        <p:nvSpPr>
          <p:cNvPr id="34" name="Google Shape;34;p2"/>
          <p:cNvSpPr txBox="1"/>
          <p:nvPr/>
        </p:nvSpPr>
        <p:spPr>
          <a:xfrm>
            <a:off x="457200" y="2423160"/>
            <a:ext cx="1517904"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603C"/>
              </a:buClr>
              <a:buSzPts val="1600"/>
              <a:buFont typeface="Calibri"/>
              <a:buNone/>
            </a:pPr>
            <a:r>
              <a:rPr b="1" i="0" lang="en-US" sz="1600" u="none" cap="none" strike="noStrike">
                <a:solidFill>
                  <a:srgbClr val="E8603C"/>
                </a:solidFill>
                <a:latin typeface="Calibri"/>
                <a:ea typeface="Calibri"/>
                <a:cs typeface="Calibri"/>
                <a:sym typeface="Calibri"/>
              </a:rPr>
              <a:t>0–8′</a:t>
            </a:r>
            <a:endParaRPr b="0" i="0" sz="1600" u="none" cap="none" strike="noStrike">
              <a:solidFill>
                <a:schemeClr val="dk1"/>
              </a:solidFill>
              <a:latin typeface="Calibri"/>
              <a:ea typeface="Calibri"/>
              <a:cs typeface="Calibri"/>
              <a:sym typeface="Calibri"/>
            </a:endParaRPr>
          </a:p>
        </p:txBody>
      </p:sp>
      <p:sp>
        <p:nvSpPr>
          <p:cNvPr id="35" name="Google Shape;35;p2"/>
          <p:cNvSpPr txBox="1"/>
          <p:nvPr/>
        </p:nvSpPr>
        <p:spPr>
          <a:xfrm>
            <a:off x="457200" y="2834640"/>
            <a:ext cx="1517904" cy="8229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D33"/>
              </a:buClr>
              <a:buSzPts val="1400"/>
              <a:buFont typeface="Calibri"/>
              <a:buNone/>
            </a:pPr>
            <a:r>
              <a:rPr b="0" i="0" lang="en-US" sz="1400" u="none" cap="none" strike="noStrike">
                <a:solidFill>
                  <a:srgbClr val="1F2D33"/>
                </a:solidFill>
                <a:latin typeface="Calibri"/>
                <a:ea typeface="Calibri"/>
                <a:cs typeface="Calibri"/>
                <a:sym typeface="Calibri"/>
              </a:rPr>
              <a:t>Inputs, metadata and phyloseq</a:t>
            </a:r>
            <a:endParaRPr b="0" i="0" sz="1400" u="none" cap="none" strike="noStrike">
              <a:solidFill>
                <a:schemeClr val="dk1"/>
              </a:solidFill>
              <a:latin typeface="Calibri"/>
              <a:ea typeface="Calibri"/>
              <a:cs typeface="Calibri"/>
              <a:sym typeface="Calibri"/>
            </a:endParaRPr>
          </a:p>
        </p:txBody>
      </p:sp>
      <p:sp>
        <p:nvSpPr>
          <p:cNvPr id="36" name="Google Shape;36;p2"/>
          <p:cNvSpPr/>
          <p:nvPr/>
        </p:nvSpPr>
        <p:spPr>
          <a:xfrm>
            <a:off x="2482596" y="1508760"/>
            <a:ext cx="731520" cy="731520"/>
          </a:xfrm>
          <a:prstGeom prst="ellipse">
            <a:avLst/>
          </a:prstGeom>
          <a:solidFill>
            <a:srgbClr val="2E9C86"/>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2"/>
          <p:cNvSpPr txBox="1"/>
          <p:nvPr/>
        </p:nvSpPr>
        <p:spPr>
          <a:xfrm>
            <a:off x="2482596" y="1508760"/>
            <a:ext cx="73152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Cambria"/>
              <a:buNone/>
            </a:pPr>
            <a:r>
              <a:rPr b="1" i="0" lang="en-US" sz="2400" u="none" cap="none" strike="noStrike">
                <a:solidFill>
                  <a:srgbClr val="FFFFFF"/>
                </a:solidFill>
                <a:latin typeface="Cambria"/>
                <a:ea typeface="Cambria"/>
                <a:cs typeface="Cambria"/>
                <a:sym typeface="Cambria"/>
              </a:rPr>
              <a:t>2</a:t>
            </a:r>
            <a:endParaRPr b="0" i="0" sz="2400" u="none" cap="none" strike="noStrike">
              <a:solidFill>
                <a:schemeClr val="dk1"/>
              </a:solidFill>
              <a:latin typeface="Calibri"/>
              <a:ea typeface="Calibri"/>
              <a:cs typeface="Calibri"/>
              <a:sym typeface="Calibri"/>
            </a:endParaRPr>
          </a:p>
        </p:txBody>
      </p:sp>
      <p:sp>
        <p:nvSpPr>
          <p:cNvPr id="38" name="Google Shape;38;p2"/>
          <p:cNvSpPr txBox="1"/>
          <p:nvPr/>
        </p:nvSpPr>
        <p:spPr>
          <a:xfrm>
            <a:off x="2089404" y="2423160"/>
            <a:ext cx="1517904"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603C"/>
              </a:buClr>
              <a:buSzPts val="1600"/>
              <a:buFont typeface="Calibri"/>
              <a:buNone/>
            </a:pPr>
            <a:r>
              <a:rPr b="1" i="0" lang="en-US" sz="1600" u="none" cap="none" strike="noStrike">
                <a:solidFill>
                  <a:srgbClr val="E8603C"/>
                </a:solidFill>
                <a:latin typeface="Calibri"/>
                <a:ea typeface="Calibri"/>
                <a:cs typeface="Calibri"/>
                <a:sym typeface="Calibri"/>
              </a:rPr>
              <a:t>8–17′</a:t>
            </a:r>
            <a:endParaRPr b="0" i="0" sz="1600" u="none" cap="none" strike="noStrike">
              <a:solidFill>
                <a:schemeClr val="dk1"/>
              </a:solidFill>
              <a:latin typeface="Calibri"/>
              <a:ea typeface="Calibri"/>
              <a:cs typeface="Calibri"/>
              <a:sym typeface="Calibri"/>
            </a:endParaRPr>
          </a:p>
        </p:txBody>
      </p:sp>
      <p:sp>
        <p:nvSpPr>
          <p:cNvPr id="39" name="Google Shape;39;p2"/>
          <p:cNvSpPr txBox="1"/>
          <p:nvPr/>
        </p:nvSpPr>
        <p:spPr>
          <a:xfrm>
            <a:off x="2089404" y="2834640"/>
            <a:ext cx="1517904" cy="8229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D33"/>
              </a:buClr>
              <a:buSzPts val="1400"/>
              <a:buFont typeface="Calibri"/>
              <a:buNone/>
            </a:pPr>
            <a:r>
              <a:rPr b="0" i="0" lang="en-US" sz="1400" u="none" cap="none" strike="noStrike">
                <a:solidFill>
                  <a:srgbClr val="1F2D33"/>
                </a:solidFill>
                <a:latin typeface="Calibri"/>
                <a:ea typeface="Calibri"/>
                <a:cs typeface="Calibri"/>
                <a:sym typeface="Calibri"/>
              </a:rPr>
              <a:t>Relative abundance and a t-test</a:t>
            </a:r>
            <a:endParaRPr b="0" i="0" sz="1400" u="none" cap="none" strike="noStrike">
              <a:solidFill>
                <a:schemeClr val="dk1"/>
              </a:solidFill>
              <a:latin typeface="Calibri"/>
              <a:ea typeface="Calibri"/>
              <a:cs typeface="Calibri"/>
              <a:sym typeface="Calibri"/>
            </a:endParaRPr>
          </a:p>
        </p:txBody>
      </p:sp>
      <p:sp>
        <p:nvSpPr>
          <p:cNvPr id="40" name="Google Shape;40;p2"/>
          <p:cNvSpPr/>
          <p:nvPr/>
        </p:nvSpPr>
        <p:spPr>
          <a:xfrm>
            <a:off x="4114800" y="1508760"/>
            <a:ext cx="731520" cy="731520"/>
          </a:xfrm>
          <a:prstGeom prst="ellipse">
            <a:avLst/>
          </a:prstGeom>
          <a:solidFill>
            <a:srgbClr val="0B3C49"/>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 name="Google Shape;41;p2"/>
          <p:cNvSpPr txBox="1"/>
          <p:nvPr/>
        </p:nvSpPr>
        <p:spPr>
          <a:xfrm>
            <a:off x="4114800" y="1508760"/>
            <a:ext cx="73152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Cambria"/>
              <a:buNone/>
            </a:pPr>
            <a:r>
              <a:rPr b="1" i="0" lang="en-US" sz="2400" u="none" cap="none" strike="noStrike">
                <a:solidFill>
                  <a:srgbClr val="FFFFFF"/>
                </a:solidFill>
                <a:latin typeface="Cambria"/>
                <a:ea typeface="Cambria"/>
                <a:cs typeface="Cambria"/>
                <a:sym typeface="Cambria"/>
              </a:rPr>
              <a:t>3</a:t>
            </a:r>
            <a:endParaRPr b="0" i="0" sz="2400" u="none" cap="none" strike="noStrike">
              <a:solidFill>
                <a:schemeClr val="dk1"/>
              </a:solidFill>
              <a:latin typeface="Calibri"/>
              <a:ea typeface="Calibri"/>
              <a:cs typeface="Calibri"/>
              <a:sym typeface="Calibri"/>
            </a:endParaRPr>
          </a:p>
        </p:txBody>
      </p:sp>
      <p:sp>
        <p:nvSpPr>
          <p:cNvPr id="42" name="Google Shape;42;p2"/>
          <p:cNvSpPr txBox="1"/>
          <p:nvPr/>
        </p:nvSpPr>
        <p:spPr>
          <a:xfrm>
            <a:off x="3721608" y="2423160"/>
            <a:ext cx="1517904"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603C"/>
              </a:buClr>
              <a:buSzPts val="1600"/>
              <a:buFont typeface="Calibri"/>
              <a:buNone/>
            </a:pPr>
            <a:r>
              <a:rPr b="1" i="0" lang="en-US" sz="1600" u="none" cap="none" strike="noStrike">
                <a:solidFill>
                  <a:srgbClr val="E8603C"/>
                </a:solidFill>
                <a:latin typeface="Calibri"/>
                <a:ea typeface="Calibri"/>
                <a:cs typeface="Calibri"/>
                <a:sym typeface="Calibri"/>
              </a:rPr>
              <a:t>17–27′</a:t>
            </a:r>
            <a:endParaRPr b="0" i="0" sz="1600" u="none" cap="none" strike="noStrike">
              <a:solidFill>
                <a:schemeClr val="dk1"/>
              </a:solidFill>
              <a:latin typeface="Calibri"/>
              <a:ea typeface="Calibri"/>
              <a:cs typeface="Calibri"/>
              <a:sym typeface="Calibri"/>
            </a:endParaRPr>
          </a:p>
        </p:txBody>
      </p:sp>
      <p:sp>
        <p:nvSpPr>
          <p:cNvPr id="43" name="Google Shape;43;p2"/>
          <p:cNvSpPr txBox="1"/>
          <p:nvPr/>
        </p:nvSpPr>
        <p:spPr>
          <a:xfrm>
            <a:off x="3721608" y="2834640"/>
            <a:ext cx="1517904" cy="8229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D33"/>
              </a:buClr>
              <a:buSzPts val="1400"/>
              <a:buFont typeface="Calibri"/>
              <a:buNone/>
            </a:pPr>
            <a:r>
              <a:rPr b="0" i="0" lang="en-US" sz="1400" u="none" cap="none" strike="noStrike">
                <a:solidFill>
                  <a:srgbClr val="1F2D33"/>
                </a:solidFill>
                <a:latin typeface="Calibri"/>
                <a:ea typeface="Calibri"/>
                <a:cs typeface="Calibri"/>
                <a:sym typeface="Calibri"/>
              </a:rPr>
              <a:t>Composition and taxonomic rank</a:t>
            </a:r>
            <a:endParaRPr b="0" i="0" sz="1400" u="none" cap="none" strike="noStrike">
              <a:solidFill>
                <a:schemeClr val="dk1"/>
              </a:solidFill>
              <a:latin typeface="Calibri"/>
              <a:ea typeface="Calibri"/>
              <a:cs typeface="Calibri"/>
              <a:sym typeface="Calibri"/>
            </a:endParaRPr>
          </a:p>
        </p:txBody>
      </p:sp>
      <p:sp>
        <p:nvSpPr>
          <p:cNvPr id="44" name="Google Shape;44;p2"/>
          <p:cNvSpPr/>
          <p:nvPr/>
        </p:nvSpPr>
        <p:spPr>
          <a:xfrm>
            <a:off x="5747004" y="1508760"/>
            <a:ext cx="731520" cy="731520"/>
          </a:xfrm>
          <a:prstGeom prst="ellipse">
            <a:avLst/>
          </a:prstGeom>
          <a:solidFill>
            <a:srgbClr val="2E9C86"/>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2"/>
          <p:cNvSpPr txBox="1"/>
          <p:nvPr/>
        </p:nvSpPr>
        <p:spPr>
          <a:xfrm>
            <a:off x="5747004" y="1508760"/>
            <a:ext cx="73152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Cambria"/>
              <a:buNone/>
            </a:pPr>
            <a:r>
              <a:rPr b="1" i="0" lang="en-US" sz="2400" u="none" cap="none" strike="noStrike">
                <a:solidFill>
                  <a:srgbClr val="FFFFFF"/>
                </a:solidFill>
                <a:latin typeface="Cambria"/>
                <a:ea typeface="Cambria"/>
                <a:cs typeface="Cambria"/>
                <a:sym typeface="Cambria"/>
              </a:rPr>
              <a:t>4</a:t>
            </a:r>
            <a:endParaRPr b="0" i="0" sz="2400" u="none" cap="none" strike="noStrike">
              <a:solidFill>
                <a:schemeClr val="dk1"/>
              </a:solidFill>
              <a:latin typeface="Calibri"/>
              <a:ea typeface="Calibri"/>
              <a:cs typeface="Calibri"/>
              <a:sym typeface="Calibri"/>
            </a:endParaRPr>
          </a:p>
        </p:txBody>
      </p:sp>
      <p:sp>
        <p:nvSpPr>
          <p:cNvPr id="46" name="Google Shape;46;p2"/>
          <p:cNvSpPr txBox="1"/>
          <p:nvPr/>
        </p:nvSpPr>
        <p:spPr>
          <a:xfrm>
            <a:off x="5353812" y="2423160"/>
            <a:ext cx="1517904"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603C"/>
              </a:buClr>
              <a:buSzPts val="1600"/>
              <a:buFont typeface="Calibri"/>
              <a:buNone/>
            </a:pPr>
            <a:r>
              <a:rPr b="1" i="0" lang="en-US" sz="1600" u="none" cap="none" strike="noStrike">
                <a:solidFill>
                  <a:srgbClr val="E8603C"/>
                </a:solidFill>
                <a:latin typeface="Calibri"/>
                <a:ea typeface="Calibri"/>
                <a:cs typeface="Calibri"/>
                <a:sym typeface="Calibri"/>
              </a:rPr>
              <a:t>27–40′</a:t>
            </a:r>
            <a:endParaRPr b="0" i="0" sz="1600" u="none" cap="none" strike="noStrike">
              <a:solidFill>
                <a:schemeClr val="dk1"/>
              </a:solidFill>
              <a:latin typeface="Calibri"/>
              <a:ea typeface="Calibri"/>
              <a:cs typeface="Calibri"/>
              <a:sym typeface="Calibri"/>
            </a:endParaRPr>
          </a:p>
        </p:txBody>
      </p:sp>
      <p:sp>
        <p:nvSpPr>
          <p:cNvPr id="47" name="Google Shape;47;p2"/>
          <p:cNvSpPr txBox="1"/>
          <p:nvPr/>
        </p:nvSpPr>
        <p:spPr>
          <a:xfrm>
            <a:off x="5353812" y="2834640"/>
            <a:ext cx="1517904" cy="8229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D33"/>
              </a:buClr>
              <a:buSzPts val="1400"/>
              <a:buFont typeface="Calibri"/>
              <a:buNone/>
            </a:pPr>
            <a:r>
              <a:rPr b="0" i="0" lang="en-US" sz="1400" u="none" cap="none" strike="noStrike">
                <a:solidFill>
                  <a:srgbClr val="1F2D33"/>
                </a:solidFill>
                <a:latin typeface="Calibri"/>
                <a:ea typeface="Calibri"/>
                <a:cs typeface="Calibri"/>
                <a:sym typeface="Calibri"/>
              </a:rPr>
              <a:t>Alpha diversity, t-test and plots</a:t>
            </a:r>
            <a:endParaRPr b="0" i="0" sz="1400" u="none" cap="none" strike="noStrike">
              <a:solidFill>
                <a:schemeClr val="dk1"/>
              </a:solidFill>
              <a:latin typeface="Calibri"/>
              <a:ea typeface="Calibri"/>
              <a:cs typeface="Calibri"/>
              <a:sym typeface="Calibri"/>
            </a:endParaRPr>
          </a:p>
        </p:txBody>
      </p:sp>
      <p:sp>
        <p:nvSpPr>
          <p:cNvPr id="48" name="Google Shape;48;p2"/>
          <p:cNvSpPr/>
          <p:nvPr/>
        </p:nvSpPr>
        <p:spPr>
          <a:xfrm>
            <a:off x="7379208" y="1508760"/>
            <a:ext cx="731520" cy="731520"/>
          </a:xfrm>
          <a:prstGeom prst="ellipse">
            <a:avLst/>
          </a:prstGeom>
          <a:solidFill>
            <a:srgbClr val="0B3C49"/>
          </a:solidFill>
          <a:ln cap="flat" cmpd="sng" w="381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 name="Google Shape;49;p2"/>
          <p:cNvSpPr txBox="1"/>
          <p:nvPr/>
        </p:nvSpPr>
        <p:spPr>
          <a:xfrm>
            <a:off x="7379208" y="1508760"/>
            <a:ext cx="731520" cy="7315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2400"/>
              <a:buFont typeface="Cambria"/>
              <a:buNone/>
            </a:pPr>
            <a:r>
              <a:rPr b="1" i="0" lang="en-US" sz="2400" u="none" cap="none" strike="noStrike">
                <a:solidFill>
                  <a:srgbClr val="FFFFFF"/>
                </a:solidFill>
                <a:latin typeface="Cambria"/>
                <a:ea typeface="Cambria"/>
                <a:cs typeface="Cambria"/>
                <a:sym typeface="Cambria"/>
              </a:rPr>
              <a:t>5</a:t>
            </a:r>
            <a:endParaRPr b="0" i="0" sz="2400" u="none" cap="none" strike="noStrike">
              <a:solidFill>
                <a:schemeClr val="dk1"/>
              </a:solidFill>
              <a:latin typeface="Calibri"/>
              <a:ea typeface="Calibri"/>
              <a:cs typeface="Calibri"/>
              <a:sym typeface="Calibri"/>
            </a:endParaRPr>
          </a:p>
        </p:txBody>
      </p:sp>
      <p:sp>
        <p:nvSpPr>
          <p:cNvPr id="50" name="Google Shape;50;p2"/>
          <p:cNvSpPr txBox="1"/>
          <p:nvPr/>
        </p:nvSpPr>
        <p:spPr>
          <a:xfrm>
            <a:off x="6986016" y="2423160"/>
            <a:ext cx="1517904" cy="36576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603C"/>
              </a:buClr>
              <a:buSzPts val="1600"/>
              <a:buFont typeface="Calibri"/>
              <a:buNone/>
            </a:pPr>
            <a:r>
              <a:rPr b="1" i="0" lang="en-US" sz="1600" u="none" cap="none" strike="noStrike">
                <a:solidFill>
                  <a:srgbClr val="E8603C"/>
                </a:solidFill>
                <a:latin typeface="Calibri"/>
                <a:ea typeface="Calibri"/>
                <a:cs typeface="Calibri"/>
                <a:sym typeface="Calibri"/>
              </a:rPr>
              <a:t>40–45′</a:t>
            </a:r>
            <a:endParaRPr b="0" i="0" sz="1600" u="none" cap="none" strike="noStrike">
              <a:solidFill>
                <a:schemeClr val="dk1"/>
              </a:solidFill>
              <a:latin typeface="Calibri"/>
              <a:ea typeface="Calibri"/>
              <a:cs typeface="Calibri"/>
              <a:sym typeface="Calibri"/>
            </a:endParaRPr>
          </a:p>
        </p:txBody>
      </p:sp>
      <p:sp>
        <p:nvSpPr>
          <p:cNvPr id="51" name="Google Shape;51;p2"/>
          <p:cNvSpPr txBox="1"/>
          <p:nvPr/>
        </p:nvSpPr>
        <p:spPr>
          <a:xfrm>
            <a:off x="6986016" y="2834640"/>
            <a:ext cx="1517904" cy="82296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D33"/>
              </a:buClr>
              <a:buSzPts val="1400"/>
              <a:buFont typeface="Calibri"/>
              <a:buNone/>
            </a:pPr>
            <a:r>
              <a:rPr b="0" i="0" lang="en-US" sz="1400" u="none" cap="none" strike="noStrike">
                <a:solidFill>
                  <a:srgbClr val="1F2D33"/>
                </a:solidFill>
                <a:latin typeface="Calibri"/>
                <a:ea typeface="Calibri"/>
                <a:cs typeface="Calibri"/>
                <a:sym typeface="Calibri"/>
              </a:rPr>
              <a:t>Beta diversity and PCoA</a:t>
            </a:r>
            <a:endParaRPr b="0" i="0" sz="1400" u="none" cap="none" strike="noStrike">
              <a:solidFill>
                <a:schemeClr val="dk1"/>
              </a:solidFill>
              <a:latin typeface="Calibri"/>
              <a:ea typeface="Calibri"/>
              <a:cs typeface="Calibri"/>
              <a:sym typeface="Calibri"/>
            </a:endParaRPr>
          </a:p>
        </p:txBody>
      </p:sp>
      <p:sp>
        <p:nvSpPr>
          <p:cNvPr id="52" name="Google Shape;52;p2"/>
          <p:cNvSpPr txBox="1"/>
          <p:nvPr/>
        </p:nvSpPr>
        <p:spPr>
          <a:xfrm>
            <a:off x="457200" y="420624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7278"/>
              </a:buClr>
              <a:buSzPts val="1300"/>
              <a:buFont typeface="Calibri"/>
              <a:buNone/>
            </a:pPr>
            <a:r>
              <a:rPr b="0" i="1" lang="en-US" sz="1300" u="none" cap="none" strike="noStrike">
                <a:solidFill>
                  <a:srgbClr val="5E7278"/>
                </a:solidFill>
                <a:latin typeface="Calibri"/>
                <a:ea typeface="Calibri"/>
                <a:cs typeface="Calibri"/>
                <a:sym typeface="Calibri"/>
              </a:rPr>
              <a:t>3 exercises: each one only modifies code we have already run together.</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57" name="Shape 57"/>
        <p:cNvGrpSpPr/>
        <p:nvPr/>
      </p:nvGrpSpPr>
      <p:grpSpPr>
        <a:xfrm>
          <a:off x="0" y="0"/>
          <a:ext cx="0" cy="0"/>
          <a:chOff x="0" y="0"/>
          <a:chExt cx="0" cy="0"/>
        </a:xfrm>
      </p:grpSpPr>
      <p:sp>
        <p:nvSpPr>
          <p:cNvPr id="58" name="Google Shape;58;p3"/>
          <p:cNvSpPr txBox="1"/>
          <p:nvPr/>
        </p:nvSpPr>
        <p:spPr>
          <a:xfrm>
            <a:off x="457200" y="274320"/>
            <a:ext cx="6949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2800"/>
              <a:buFont typeface="Cambria"/>
              <a:buNone/>
            </a:pPr>
            <a:r>
              <a:rPr b="1" i="0" lang="en-US" sz="2800" u="none" cap="none" strike="noStrike">
                <a:solidFill>
                  <a:srgbClr val="0B3C49"/>
                </a:solidFill>
                <a:latin typeface="Cambria"/>
                <a:ea typeface="Cambria"/>
                <a:cs typeface="Cambria"/>
                <a:sym typeface="Cambria"/>
              </a:rPr>
              <a:t>Packages and inputs</a:t>
            </a:r>
            <a:endParaRPr b="0" i="0" sz="2800" u="none" cap="none" strike="noStrike">
              <a:solidFill>
                <a:schemeClr val="dk1"/>
              </a:solidFill>
              <a:latin typeface="Calibri"/>
              <a:ea typeface="Calibri"/>
              <a:cs typeface="Calibri"/>
              <a:sym typeface="Calibri"/>
            </a:endParaRPr>
          </a:p>
        </p:txBody>
      </p:sp>
      <p:sp>
        <p:nvSpPr>
          <p:cNvPr id="59" name="Google Shape;59;p3"/>
          <p:cNvSpPr/>
          <p:nvPr/>
        </p:nvSpPr>
        <p:spPr>
          <a:xfrm>
            <a:off x="7498080" y="411480"/>
            <a:ext cx="1188720" cy="384048"/>
          </a:xfrm>
          <a:prstGeom prst="roundRect">
            <a:avLst>
              <a:gd fmla="val 50000"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3"/>
          <p:cNvSpPr txBox="1"/>
          <p:nvPr/>
        </p:nvSpPr>
        <p:spPr>
          <a:xfrm>
            <a:off x="7498080" y="411480"/>
            <a:ext cx="11887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9C86"/>
              </a:buClr>
              <a:buSzPts val="1100"/>
              <a:buFont typeface="Calibri"/>
              <a:buNone/>
            </a:pPr>
            <a:r>
              <a:rPr b="1" i="0" lang="en-US" sz="1100" u="none" cap="none" strike="noStrike">
                <a:solidFill>
                  <a:srgbClr val="2E9C86"/>
                </a:solidFill>
                <a:latin typeface="Calibri"/>
                <a:ea typeface="Calibri"/>
                <a:cs typeface="Calibri"/>
                <a:sym typeface="Calibri"/>
              </a:rPr>
              <a:t>0 · Setup</a:t>
            </a:r>
            <a:endParaRPr b="0" i="0" sz="1100" u="none" cap="none" strike="noStrike">
              <a:solidFill>
                <a:schemeClr val="dk1"/>
              </a:solidFill>
              <a:latin typeface="Calibri"/>
              <a:ea typeface="Calibri"/>
              <a:cs typeface="Calibri"/>
              <a:sym typeface="Calibri"/>
            </a:endParaRPr>
          </a:p>
        </p:txBody>
      </p:sp>
      <p:sp>
        <p:nvSpPr>
          <p:cNvPr id="61" name="Google Shape;61;p3"/>
          <p:cNvSpPr/>
          <p:nvPr/>
        </p:nvSpPr>
        <p:spPr>
          <a:xfrm>
            <a:off x="457200" y="1143000"/>
            <a:ext cx="4754880" cy="3611880"/>
          </a:xfrm>
          <a:prstGeom prst="roundRect">
            <a:avLst>
              <a:gd fmla="val 3038" name="adj"/>
            </a:avLst>
          </a:prstGeom>
          <a:solidFill>
            <a:srgbClr val="15262D"/>
          </a:solidFill>
          <a:ln cap="flat" cmpd="sng" w="12700">
            <a:solidFill>
              <a:srgbClr val="1526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 name="Google Shape;62;p3"/>
          <p:cNvSpPr txBox="1"/>
          <p:nvPr/>
        </p:nvSpPr>
        <p:spPr>
          <a:xfrm>
            <a:off x="548640" y="1234440"/>
            <a:ext cx="4572000" cy="3429000"/>
          </a:xfrm>
          <a:prstGeom prst="rect">
            <a:avLst/>
          </a:prstGeom>
          <a:noFill/>
          <a:ln>
            <a:noFill/>
          </a:ln>
        </p:spPr>
        <p:txBody>
          <a:bodyPr anchorCtr="0" anchor="t" bIns="1000" lIns="1000" spcFirstLastPara="1" rIns="1000" wrap="square" tIns="1000">
            <a:noAutofit/>
          </a:bodyPr>
          <a:lstStyle/>
          <a:p>
            <a:pPr indent="0" lvl="0" marL="0" marR="0" rtl="0" algn="l">
              <a:spcBef>
                <a:spcPts val="0"/>
              </a:spcBef>
              <a:spcAft>
                <a:spcPts val="0"/>
              </a:spcAft>
              <a:buClr>
                <a:srgbClr val="86A8A1"/>
              </a:buClr>
              <a:buSzPts val="1150"/>
              <a:buFont typeface="Courier New"/>
              <a:buNone/>
            </a:pPr>
            <a:r>
              <a:rPr b="0" i="0" lang="en-US" sz="1150" u="none" cap="none" strike="noStrike">
                <a:solidFill>
                  <a:srgbClr val="86A8A1"/>
                </a:solidFill>
                <a:latin typeface="Courier New"/>
                <a:ea typeface="Courier New"/>
                <a:cs typeface="Courier New"/>
                <a:sym typeface="Courier New"/>
              </a:rPr>
              <a:t># Run only if the packages are not installed:</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6A8A1"/>
              </a:buClr>
              <a:buSzPts val="1150"/>
              <a:buFont typeface="Courier New"/>
              <a:buNone/>
            </a:pPr>
            <a:r>
              <a:rPr b="0" i="0" lang="en-US" sz="1150" u="none" cap="none" strike="noStrike">
                <a:solidFill>
                  <a:srgbClr val="86A8A1"/>
                </a:solidFill>
                <a:latin typeface="Courier New"/>
                <a:ea typeface="Courier New"/>
                <a:cs typeface="Courier New"/>
                <a:sym typeface="Courier New"/>
              </a:rPr>
              <a:t># install.packages(c("dplyr", "ggplot2", "vegan"))</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6A8A1"/>
              </a:buClr>
              <a:buSzPts val="1150"/>
              <a:buFont typeface="Courier New"/>
              <a:buNone/>
            </a:pPr>
            <a:r>
              <a:rPr b="0" i="0" lang="en-US" sz="1150" u="none" cap="none" strike="noStrike">
                <a:solidFill>
                  <a:srgbClr val="86A8A1"/>
                </a:solidFill>
                <a:latin typeface="Courier New"/>
                <a:ea typeface="Courier New"/>
                <a:cs typeface="Courier New"/>
                <a:sym typeface="Courier New"/>
              </a:rPr>
              <a:t># BiocManager::install("phyloseq")</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50"/>
              <a:buFont typeface="Courier New"/>
              <a:buNone/>
            </a:pPr>
            <a:r>
              <a:rPr b="0" i="0" lang="en-US" sz="1150" u="none" cap="none" strike="noStrike">
                <a:solidFill>
                  <a:srgbClr val="E6EEF0"/>
                </a:solidFill>
                <a:latin typeface="Courier New"/>
                <a:ea typeface="Courier New"/>
                <a:cs typeface="Courier New"/>
                <a:sym typeface="Courier New"/>
              </a:rPr>
              <a:t> </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50"/>
              <a:buFont typeface="Courier New"/>
              <a:buNone/>
            </a:pPr>
            <a:r>
              <a:rPr b="0" i="0" lang="en-US" sz="1150" u="none" cap="none" strike="noStrike">
                <a:solidFill>
                  <a:srgbClr val="E6EEF0"/>
                </a:solidFill>
                <a:latin typeface="Courier New"/>
                <a:ea typeface="Courier New"/>
                <a:cs typeface="Courier New"/>
                <a:sym typeface="Courier New"/>
              </a:rPr>
              <a:t>library(dplyr)</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A7A"/>
              </a:buClr>
              <a:buSzPts val="1150"/>
              <a:buFont typeface="Courier New"/>
              <a:buNone/>
            </a:pPr>
            <a:r>
              <a:rPr b="1" i="0" lang="en-US" sz="1150" u="none" cap="none" strike="noStrike">
                <a:solidFill>
                  <a:srgbClr val="FF9A7A"/>
                </a:solidFill>
                <a:latin typeface="Courier New"/>
                <a:ea typeface="Courier New"/>
                <a:cs typeface="Courier New"/>
                <a:sym typeface="Courier New"/>
              </a:rPr>
              <a:t>library(ggplot2)</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50"/>
              <a:buFont typeface="Courier New"/>
              <a:buNone/>
            </a:pPr>
            <a:r>
              <a:rPr b="0" i="0" lang="en-US" sz="1150" u="none" cap="none" strike="noStrike">
                <a:solidFill>
                  <a:srgbClr val="E6EEF0"/>
                </a:solidFill>
                <a:latin typeface="Courier New"/>
                <a:ea typeface="Courier New"/>
                <a:cs typeface="Courier New"/>
                <a:sym typeface="Courier New"/>
              </a:rPr>
              <a:t>library(phyloseq)</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50"/>
              <a:buFont typeface="Courier New"/>
              <a:buNone/>
            </a:pPr>
            <a:r>
              <a:rPr b="0" i="0" lang="en-US" sz="1150" u="none" cap="none" strike="noStrike">
                <a:solidFill>
                  <a:srgbClr val="E6EEF0"/>
                </a:solidFill>
                <a:latin typeface="Courier New"/>
                <a:ea typeface="Courier New"/>
                <a:cs typeface="Courier New"/>
                <a:sym typeface="Courier New"/>
              </a:rPr>
              <a:t>library(vegan)</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50"/>
              <a:buFont typeface="Courier New"/>
              <a:buNone/>
            </a:pPr>
            <a:r>
              <a:rPr b="0" i="0" lang="en-US" sz="1150" u="none" cap="none" strike="noStrike">
                <a:solidFill>
                  <a:srgbClr val="E6EEF0"/>
                </a:solidFill>
                <a:latin typeface="Courier New"/>
                <a:ea typeface="Courier New"/>
                <a:cs typeface="Courier New"/>
                <a:sym typeface="Courier New"/>
              </a:rPr>
              <a:t> </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50"/>
              <a:buFont typeface="Courier New"/>
              <a:buNone/>
            </a:pPr>
            <a:r>
              <a:rPr b="0" i="0" lang="en-US" sz="1150" u="none" cap="none" strike="noStrike">
                <a:solidFill>
                  <a:srgbClr val="E6EEF0"/>
                </a:solidFill>
                <a:latin typeface="Courier New"/>
                <a:ea typeface="Courier New"/>
                <a:cs typeface="Courier New"/>
                <a:sym typeface="Courier New"/>
              </a:rPr>
              <a:t>abundance &lt;- read.csv("input/abundance.csv",</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50"/>
              <a:buFont typeface="Courier New"/>
              <a:buNone/>
            </a:pPr>
            <a:r>
              <a:rPr b="0" i="0" lang="en-US" sz="1150" u="none" cap="none" strike="noStrike">
                <a:solidFill>
                  <a:srgbClr val="E6EEF0"/>
                </a:solidFill>
                <a:latin typeface="Courier New"/>
                <a:ea typeface="Courier New"/>
                <a:cs typeface="Courier New"/>
                <a:sym typeface="Courier New"/>
              </a:rPr>
              <a:t>                      check.names = FALSE)</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50"/>
              <a:buFont typeface="Courier New"/>
              <a:buNone/>
            </a:pPr>
            <a:r>
              <a:rPr b="0" i="0" lang="en-US" sz="1150" u="none" cap="none" strike="noStrike">
                <a:solidFill>
                  <a:srgbClr val="E6EEF0"/>
                </a:solidFill>
                <a:latin typeface="Courier New"/>
                <a:ea typeface="Courier New"/>
                <a:cs typeface="Courier New"/>
                <a:sym typeface="Courier New"/>
              </a:rPr>
              <a:t>taxonomy  &lt;- read.csv("input/taxonomy.csv",</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50"/>
              <a:buFont typeface="Courier New"/>
              <a:buNone/>
            </a:pPr>
            <a:r>
              <a:rPr b="0" i="0" lang="en-US" sz="1150" u="none" cap="none" strike="noStrike">
                <a:solidFill>
                  <a:srgbClr val="E6EEF0"/>
                </a:solidFill>
                <a:latin typeface="Courier New"/>
                <a:ea typeface="Courier New"/>
                <a:cs typeface="Courier New"/>
                <a:sym typeface="Courier New"/>
              </a:rPr>
              <a:t>                      check.names = FALSE)</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50"/>
              <a:buFont typeface="Courier New"/>
              <a:buNone/>
            </a:pPr>
            <a:r>
              <a:rPr b="0" i="0" lang="en-US" sz="1150" u="none" cap="none" strike="noStrike">
                <a:solidFill>
                  <a:srgbClr val="E6EEF0"/>
                </a:solidFill>
                <a:latin typeface="Courier New"/>
                <a:ea typeface="Courier New"/>
                <a:cs typeface="Courier New"/>
                <a:sym typeface="Courier New"/>
              </a:rPr>
              <a:t> </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50"/>
              <a:buFont typeface="Courier New"/>
              <a:buNone/>
            </a:pPr>
            <a:r>
              <a:rPr b="0" i="0" lang="en-US" sz="1150" u="none" cap="none" strike="noStrike">
                <a:solidFill>
                  <a:srgbClr val="E6EEF0"/>
                </a:solidFill>
                <a:latin typeface="Courier New"/>
                <a:ea typeface="Courier New"/>
                <a:cs typeface="Courier New"/>
                <a:sym typeface="Courier New"/>
              </a:rPr>
              <a:t>dim(abundance)   # 190 species and 6 samples</a:t>
            </a:r>
            <a:endParaRPr b="0" i="0" sz="11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50"/>
              <a:buFont typeface="Courier New"/>
              <a:buNone/>
            </a:pPr>
            <a:r>
              <a:rPr b="0" i="0" lang="en-US" sz="1150" u="none" cap="none" strike="noStrike">
                <a:solidFill>
                  <a:srgbClr val="E6EEF0"/>
                </a:solidFill>
                <a:latin typeface="Courier New"/>
                <a:ea typeface="Courier New"/>
                <a:cs typeface="Courier New"/>
                <a:sym typeface="Courier New"/>
              </a:rPr>
              <a:t>head(abundance)</a:t>
            </a:r>
            <a:endParaRPr b="0" i="0" sz="1150" u="none" cap="none" strike="noStrike">
              <a:solidFill>
                <a:schemeClr val="dk1"/>
              </a:solidFill>
              <a:latin typeface="Calibri"/>
              <a:ea typeface="Calibri"/>
              <a:cs typeface="Calibri"/>
              <a:sym typeface="Calibri"/>
            </a:endParaRPr>
          </a:p>
        </p:txBody>
      </p:sp>
      <p:sp>
        <p:nvSpPr>
          <p:cNvPr id="63" name="Google Shape;63;p3"/>
          <p:cNvSpPr/>
          <p:nvPr/>
        </p:nvSpPr>
        <p:spPr>
          <a:xfrm>
            <a:off x="5440680" y="1143000"/>
            <a:ext cx="3246120" cy="2331720"/>
          </a:xfrm>
          <a:prstGeom prst="roundRect">
            <a:avLst>
              <a:gd fmla="val 3922" name="adj"/>
            </a:avLst>
          </a:prstGeom>
          <a:solidFill>
            <a:srgbClr val="FDECE6"/>
          </a:solidFill>
          <a:ln cap="flat" cmpd="sng" w="15875">
            <a:solidFill>
              <a:srgbClr val="E860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 name="Google Shape;64;p3"/>
          <p:cNvSpPr/>
          <p:nvPr/>
        </p:nvSpPr>
        <p:spPr>
          <a:xfrm>
            <a:off x="5596128" y="1280160"/>
            <a:ext cx="457200" cy="457200"/>
          </a:xfrm>
          <a:prstGeom prst="ellipse">
            <a:avLst/>
          </a:prstGeom>
          <a:solidFill>
            <a:srgbClr val="E8603C"/>
          </a:solidFill>
          <a:ln cap="flat" cmpd="sng" w="12700">
            <a:solidFill>
              <a:srgbClr val="E860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65" name="Google Shape;65;p3"/>
          <p:cNvPicPr preferRelativeResize="0"/>
          <p:nvPr/>
        </p:nvPicPr>
        <p:blipFill rotWithShape="1">
          <a:blip r:embed="rId3">
            <a:alphaModFix/>
          </a:blip>
          <a:srcRect b="0" l="0" r="0" t="0"/>
          <a:stretch/>
        </p:blipFill>
        <p:spPr>
          <a:xfrm>
            <a:off x="5715000" y="1399032"/>
            <a:ext cx="219456" cy="219456"/>
          </a:xfrm>
          <a:prstGeom prst="rect">
            <a:avLst/>
          </a:prstGeom>
          <a:noFill/>
          <a:ln>
            <a:noFill/>
          </a:ln>
        </p:spPr>
      </p:pic>
      <p:sp>
        <p:nvSpPr>
          <p:cNvPr id="66" name="Google Shape;66;p3"/>
          <p:cNvSpPr txBox="1"/>
          <p:nvPr/>
        </p:nvSpPr>
        <p:spPr>
          <a:xfrm>
            <a:off x="6172200" y="1280160"/>
            <a:ext cx="242316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03C"/>
              </a:buClr>
              <a:buSzPts val="1500"/>
              <a:buFont typeface="Calibri"/>
              <a:buNone/>
            </a:pPr>
            <a:r>
              <a:rPr b="1" i="0" lang="en-US" sz="1500" u="none" cap="none" strike="noStrike">
                <a:solidFill>
                  <a:srgbClr val="E8603C"/>
                </a:solidFill>
                <a:latin typeface="Calibri"/>
                <a:ea typeface="Calibri"/>
                <a:cs typeface="Calibri"/>
                <a:sym typeface="Calibri"/>
              </a:rPr>
              <a:t>Note: what is ggplot2?</a:t>
            </a:r>
            <a:endParaRPr b="0" i="0" sz="1500" u="none" cap="none" strike="noStrike">
              <a:solidFill>
                <a:schemeClr val="dk1"/>
              </a:solidFill>
              <a:latin typeface="Calibri"/>
              <a:ea typeface="Calibri"/>
              <a:cs typeface="Calibri"/>
              <a:sym typeface="Calibri"/>
            </a:endParaRPr>
          </a:p>
        </p:txBody>
      </p:sp>
      <p:sp>
        <p:nvSpPr>
          <p:cNvPr id="67" name="Google Shape;67;p3"/>
          <p:cNvSpPr txBox="1"/>
          <p:nvPr/>
        </p:nvSpPr>
        <p:spPr>
          <a:xfrm>
            <a:off x="5596128" y="1828800"/>
            <a:ext cx="2971800" cy="15544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D33"/>
              </a:buClr>
              <a:buSzPts val="1150"/>
              <a:buFont typeface="Calibri"/>
              <a:buNone/>
            </a:pPr>
            <a:r>
              <a:rPr b="0" i="0" lang="en-US" sz="1150" u="none" cap="none" strike="noStrike">
                <a:solidFill>
                  <a:srgbClr val="1F2D33"/>
                </a:solidFill>
                <a:latin typeface="Calibri"/>
                <a:ea typeface="Calibri"/>
                <a:cs typeface="Calibri"/>
                <a:sym typeface="Calibri"/>
              </a:rPr>
              <a:t>It is the most widely used R package for making plots. </a:t>
            </a:r>
            <a:r>
              <a:rPr b="1" i="0" lang="en-US" sz="1150" u="none" cap="none" strike="noStrike">
                <a:solidFill>
                  <a:srgbClr val="1F2D33"/>
                </a:solidFill>
                <a:latin typeface="Calibri"/>
                <a:ea typeface="Calibri"/>
                <a:cs typeface="Calibri"/>
                <a:sym typeface="Calibri"/>
              </a:rPr>
              <a:t>It works in layers: </a:t>
            </a:r>
            <a:r>
              <a:rPr b="0" i="0" lang="en-US" sz="1150" u="none" cap="none" strike="noStrike">
                <a:solidFill>
                  <a:srgbClr val="1F2D33"/>
                </a:solidFill>
                <a:latin typeface="Calibri"/>
                <a:ea typeface="Calibri"/>
                <a:cs typeface="Calibri"/>
                <a:sym typeface="Calibri"/>
              </a:rPr>
              <a:t>you give it the data, map variables to axes or colours with aes(), and add elements with + (points, bars, titles, style).</a:t>
            </a:r>
            <a:endParaRPr b="0" i="0" sz="1150" u="none" cap="none" strike="noStrike">
              <a:solidFill>
                <a:schemeClr val="dk1"/>
              </a:solidFill>
              <a:latin typeface="Calibri"/>
              <a:ea typeface="Calibri"/>
              <a:cs typeface="Calibri"/>
              <a:sym typeface="Calibri"/>
            </a:endParaRPr>
          </a:p>
          <a:p>
            <a:pPr indent="0" lvl="0" marL="0" marR="0" rtl="0" algn="l">
              <a:spcBef>
                <a:spcPts val="500"/>
              </a:spcBef>
              <a:spcAft>
                <a:spcPts val="0"/>
              </a:spcAft>
              <a:buClr>
                <a:srgbClr val="1F2D33"/>
              </a:buClr>
              <a:buSzPts val="1150"/>
              <a:buFont typeface="Calibri"/>
              <a:buNone/>
            </a:pPr>
            <a:r>
              <a:rPr b="0" i="1" lang="en-US" sz="1150" u="none" cap="none" strike="noStrike">
                <a:solidFill>
                  <a:srgbClr val="1F2D33"/>
                </a:solidFill>
                <a:latin typeface="Calibri"/>
                <a:ea typeface="Calibri"/>
                <a:cs typeface="Calibri"/>
                <a:sym typeface="Calibri"/>
              </a:rPr>
              <a:t>We will use it to create every figure in this session.</a:t>
            </a:r>
            <a:endParaRPr b="0" i="0" sz="1150" u="none" cap="none" strike="noStrike">
              <a:solidFill>
                <a:schemeClr val="dk1"/>
              </a:solidFill>
              <a:latin typeface="Calibri"/>
              <a:ea typeface="Calibri"/>
              <a:cs typeface="Calibri"/>
              <a:sym typeface="Calibri"/>
            </a:endParaRPr>
          </a:p>
        </p:txBody>
      </p:sp>
      <p:sp>
        <p:nvSpPr>
          <p:cNvPr id="68" name="Google Shape;68;p3"/>
          <p:cNvSpPr txBox="1"/>
          <p:nvPr/>
        </p:nvSpPr>
        <p:spPr>
          <a:xfrm>
            <a:off x="5440680" y="3657600"/>
            <a:ext cx="324612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3C49"/>
              </a:buClr>
              <a:buSzPts val="1250"/>
              <a:buFont typeface="Calibri"/>
              <a:buNone/>
            </a:pPr>
            <a:r>
              <a:rPr b="1" i="0" lang="en-US" sz="1250" u="none" cap="none" strike="noStrike">
                <a:solidFill>
                  <a:srgbClr val="0B3C49"/>
                </a:solidFill>
                <a:latin typeface="Calibri"/>
                <a:ea typeface="Calibri"/>
                <a:cs typeface="Calibri"/>
                <a:sym typeface="Calibri"/>
              </a:rPr>
              <a:t>dplyr</a:t>
            </a:r>
            <a:r>
              <a:rPr b="0" i="0" lang="en-US" sz="1250" u="none" cap="none" strike="noStrike">
                <a:solidFill>
                  <a:srgbClr val="5E7278"/>
                </a:solidFill>
                <a:latin typeface="Calibri"/>
                <a:ea typeface="Calibri"/>
                <a:cs typeface="Calibri"/>
                <a:sym typeface="Calibri"/>
              </a:rPr>
              <a:t>  filter and summarise tables</a:t>
            </a:r>
            <a:endParaRPr b="0" i="0" sz="12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0B3C49"/>
              </a:buClr>
              <a:buSzPts val="1250"/>
              <a:buFont typeface="Calibri"/>
              <a:buNone/>
            </a:pPr>
            <a:r>
              <a:rPr b="1" i="0" lang="en-US" sz="1250" u="none" cap="none" strike="noStrike">
                <a:solidFill>
                  <a:srgbClr val="0B3C49"/>
                </a:solidFill>
                <a:latin typeface="Calibri"/>
                <a:ea typeface="Calibri"/>
                <a:cs typeface="Calibri"/>
                <a:sym typeface="Calibri"/>
              </a:rPr>
              <a:t>phyloseq</a:t>
            </a:r>
            <a:r>
              <a:rPr b="0" i="0" lang="en-US" sz="1250" u="none" cap="none" strike="noStrike">
                <a:solidFill>
                  <a:srgbClr val="5E7278"/>
                </a:solidFill>
                <a:latin typeface="Calibri"/>
                <a:ea typeface="Calibri"/>
                <a:cs typeface="Calibri"/>
                <a:sym typeface="Calibri"/>
              </a:rPr>
              <a:t>  microbiome data</a:t>
            </a:r>
            <a:endParaRPr b="0" i="0" sz="1250" u="none" cap="none" strike="noStrike">
              <a:solidFill>
                <a:schemeClr val="dk1"/>
              </a:solidFill>
              <a:latin typeface="Calibri"/>
              <a:ea typeface="Calibri"/>
              <a:cs typeface="Calibri"/>
              <a:sym typeface="Calibri"/>
            </a:endParaRPr>
          </a:p>
          <a:p>
            <a:pPr indent="0" lvl="0" marL="0" marR="0" rtl="0" algn="l">
              <a:spcBef>
                <a:spcPts val="400"/>
              </a:spcBef>
              <a:spcAft>
                <a:spcPts val="0"/>
              </a:spcAft>
              <a:buClr>
                <a:srgbClr val="0B3C49"/>
              </a:buClr>
              <a:buSzPts val="1250"/>
              <a:buFont typeface="Calibri"/>
              <a:buNone/>
            </a:pPr>
            <a:r>
              <a:rPr b="1" i="0" lang="en-US" sz="1250" u="none" cap="none" strike="noStrike">
                <a:solidFill>
                  <a:srgbClr val="0B3C49"/>
                </a:solidFill>
                <a:latin typeface="Calibri"/>
                <a:ea typeface="Calibri"/>
                <a:cs typeface="Calibri"/>
                <a:sym typeface="Calibri"/>
              </a:rPr>
              <a:t>vegan</a:t>
            </a:r>
            <a:r>
              <a:rPr b="0" i="0" lang="en-US" sz="1250" u="none" cap="none" strike="noStrike">
                <a:solidFill>
                  <a:srgbClr val="5E7278"/>
                </a:solidFill>
                <a:latin typeface="Calibri"/>
                <a:ea typeface="Calibri"/>
                <a:cs typeface="Calibri"/>
                <a:sym typeface="Calibri"/>
              </a:rPr>
              <a:t>  diversity indices</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73" name="Shape 73"/>
        <p:cNvGrpSpPr/>
        <p:nvPr/>
      </p:nvGrpSpPr>
      <p:grpSpPr>
        <a:xfrm>
          <a:off x="0" y="0"/>
          <a:ext cx="0" cy="0"/>
          <a:chOff x="0" y="0"/>
          <a:chExt cx="0" cy="0"/>
        </a:xfrm>
      </p:grpSpPr>
      <p:sp>
        <p:nvSpPr>
          <p:cNvPr id="74" name="Google Shape;74;p4"/>
          <p:cNvSpPr txBox="1"/>
          <p:nvPr/>
        </p:nvSpPr>
        <p:spPr>
          <a:xfrm>
            <a:off x="457200" y="274320"/>
            <a:ext cx="6949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2800"/>
              <a:buFont typeface="Cambria"/>
              <a:buNone/>
            </a:pPr>
            <a:r>
              <a:rPr b="1" i="0" lang="en-US" sz="2800" u="none" cap="none" strike="noStrike">
                <a:solidFill>
                  <a:srgbClr val="0B3C49"/>
                </a:solidFill>
                <a:latin typeface="Cambria"/>
                <a:ea typeface="Cambria"/>
                <a:cs typeface="Cambria"/>
                <a:sym typeface="Cambria"/>
              </a:rPr>
              <a:t>The phyloseq object</a:t>
            </a:r>
            <a:endParaRPr b="0" i="0" sz="2800" u="none" cap="none" strike="noStrike">
              <a:solidFill>
                <a:schemeClr val="dk1"/>
              </a:solidFill>
              <a:latin typeface="Calibri"/>
              <a:ea typeface="Calibri"/>
              <a:cs typeface="Calibri"/>
              <a:sym typeface="Calibri"/>
            </a:endParaRPr>
          </a:p>
        </p:txBody>
      </p:sp>
      <p:sp>
        <p:nvSpPr>
          <p:cNvPr id="75" name="Google Shape;75;p4"/>
          <p:cNvSpPr/>
          <p:nvPr/>
        </p:nvSpPr>
        <p:spPr>
          <a:xfrm>
            <a:off x="7498080" y="411480"/>
            <a:ext cx="1188720" cy="384048"/>
          </a:xfrm>
          <a:prstGeom prst="roundRect">
            <a:avLst>
              <a:gd fmla="val 50000"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4"/>
          <p:cNvSpPr txBox="1"/>
          <p:nvPr/>
        </p:nvSpPr>
        <p:spPr>
          <a:xfrm>
            <a:off x="7498080" y="411480"/>
            <a:ext cx="11887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9C86"/>
              </a:buClr>
              <a:buSzPts val="1100"/>
              <a:buFont typeface="Calibri"/>
              <a:buNone/>
            </a:pPr>
            <a:r>
              <a:rPr b="1" i="0" lang="en-US" sz="1100" u="none" cap="none" strike="noStrike">
                <a:solidFill>
                  <a:srgbClr val="2E9C86"/>
                </a:solidFill>
                <a:latin typeface="Calibri"/>
                <a:ea typeface="Calibri"/>
                <a:cs typeface="Calibri"/>
                <a:sym typeface="Calibri"/>
              </a:rPr>
              <a:t>1 · phyloseq</a:t>
            </a:r>
            <a:endParaRPr b="0" i="0" sz="1100" u="none" cap="none" strike="noStrike">
              <a:solidFill>
                <a:schemeClr val="dk1"/>
              </a:solidFill>
              <a:latin typeface="Calibri"/>
              <a:ea typeface="Calibri"/>
              <a:cs typeface="Calibri"/>
              <a:sym typeface="Calibri"/>
            </a:endParaRPr>
          </a:p>
        </p:txBody>
      </p:sp>
      <p:sp>
        <p:nvSpPr>
          <p:cNvPr id="77" name="Google Shape;77;p4"/>
          <p:cNvSpPr/>
          <p:nvPr/>
        </p:nvSpPr>
        <p:spPr>
          <a:xfrm>
            <a:off x="457200" y="1188720"/>
            <a:ext cx="3931920" cy="1005840"/>
          </a:xfrm>
          <a:prstGeom prst="roundRect">
            <a:avLst>
              <a:gd fmla="val 9091"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4"/>
          <p:cNvSpPr/>
          <p:nvPr/>
        </p:nvSpPr>
        <p:spPr>
          <a:xfrm>
            <a:off x="621792" y="1353312"/>
            <a:ext cx="502920" cy="502920"/>
          </a:xfrm>
          <a:prstGeom prst="ellipse">
            <a:avLst/>
          </a:prstGeom>
          <a:solidFill>
            <a:srgbClr val="2E9C86"/>
          </a:solidFill>
          <a:ln cap="flat" cmpd="sng" w="12700">
            <a:solidFill>
              <a:srgbClr val="2E9C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79" name="Google Shape;79;p4"/>
          <p:cNvPicPr preferRelativeResize="0"/>
          <p:nvPr/>
        </p:nvPicPr>
        <p:blipFill rotWithShape="1">
          <a:blip r:embed="rId3">
            <a:alphaModFix/>
          </a:blip>
          <a:srcRect b="0" l="0" r="0" t="0"/>
          <a:stretch/>
        </p:blipFill>
        <p:spPr>
          <a:xfrm>
            <a:off x="752551" y="1484071"/>
            <a:ext cx="241402" cy="241402"/>
          </a:xfrm>
          <a:prstGeom prst="rect">
            <a:avLst/>
          </a:prstGeom>
          <a:noFill/>
          <a:ln>
            <a:noFill/>
          </a:ln>
        </p:spPr>
      </p:pic>
      <p:sp>
        <p:nvSpPr>
          <p:cNvPr id="80" name="Google Shape;80;p4"/>
          <p:cNvSpPr txBox="1"/>
          <p:nvPr/>
        </p:nvSpPr>
        <p:spPr>
          <a:xfrm>
            <a:off x="1280160" y="1316736"/>
            <a:ext cx="29718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1500"/>
              <a:buFont typeface="Calibri"/>
              <a:buNone/>
            </a:pPr>
            <a:r>
              <a:rPr b="1" i="0" lang="en-US" sz="1500" u="none" cap="none" strike="noStrike">
                <a:solidFill>
                  <a:srgbClr val="0B3C49"/>
                </a:solidFill>
                <a:latin typeface="Calibri"/>
                <a:ea typeface="Calibri"/>
                <a:cs typeface="Calibri"/>
                <a:sym typeface="Calibri"/>
              </a:rPr>
              <a:t>Abundance</a:t>
            </a:r>
            <a:endParaRPr b="0" i="0" sz="1500" u="none" cap="none" strike="noStrike">
              <a:solidFill>
                <a:schemeClr val="dk1"/>
              </a:solidFill>
              <a:latin typeface="Calibri"/>
              <a:ea typeface="Calibri"/>
              <a:cs typeface="Calibri"/>
              <a:sym typeface="Calibri"/>
            </a:endParaRPr>
          </a:p>
        </p:txBody>
      </p:sp>
      <p:sp>
        <p:nvSpPr>
          <p:cNvPr id="81" name="Google Shape;81;p4"/>
          <p:cNvSpPr txBox="1"/>
          <p:nvPr/>
        </p:nvSpPr>
        <p:spPr>
          <a:xfrm>
            <a:off x="1280160" y="1664208"/>
            <a:ext cx="2971800" cy="4389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D33"/>
              </a:buClr>
              <a:buSzPts val="1200"/>
              <a:buFont typeface="Calibri"/>
              <a:buNone/>
            </a:pPr>
            <a:r>
              <a:rPr b="0" i="0" lang="en-US" sz="1200" u="none" cap="none" strike="noStrike">
                <a:solidFill>
                  <a:srgbClr val="1F2D33"/>
                </a:solidFill>
                <a:latin typeface="Calibri"/>
                <a:ea typeface="Calibri"/>
                <a:cs typeface="Calibri"/>
                <a:sym typeface="Calibri"/>
              </a:rPr>
              <a:t>Rows = species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D33"/>
              </a:buClr>
              <a:buSzPts val="1200"/>
              <a:buFont typeface="Calibri"/>
              <a:buNone/>
            </a:pPr>
            <a:r>
              <a:rPr b="0" i="0" lang="en-US" sz="1200" u="none" cap="none" strike="noStrike">
                <a:solidFill>
                  <a:srgbClr val="1F2D33"/>
                </a:solidFill>
                <a:latin typeface="Calibri"/>
                <a:ea typeface="Calibri"/>
                <a:cs typeface="Calibri"/>
                <a:sym typeface="Calibri"/>
              </a:rPr>
              <a:t>Columns = samples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D33"/>
              </a:buClr>
              <a:buSzPts val="1200"/>
              <a:buFont typeface="Calibri"/>
              <a:buNone/>
            </a:pPr>
            <a:r>
              <a:rPr b="0" i="0" lang="en-US" sz="1200" u="none" cap="none" strike="noStrike">
                <a:solidFill>
                  <a:srgbClr val="1F2D33"/>
                </a:solidFill>
                <a:latin typeface="Calibri"/>
                <a:ea typeface="Calibri"/>
                <a:cs typeface="Calibri"/>
                <a:sym typeface="Calibri"/>
              </a:rPr>
              <a:t>(190 × 6)</a:t>
            </a:r>
            <a:endParaRPr b="0" i="0" sz="1200" u="none" cap="none" strike="noStrike">
              <a:solidFill>
                <a:schemeClr val="dk1"/>
              </a:solidFill>
              <a:latin typeface="Calibri"/>
              <a:ea typeface="Calibri"/>
              <a:cs typeface="Calibri"/>
              <a:sym typeface="Calibri"/>
            </a:endParaRPr>
          </a:p>
        </p:txBody>
      </p:sp>
      <p:sp>
        <p:nvSpPr>
          <p:cNvPr id="82" name="Google Shape;82;p4"/>
          <p:cNvSpPr/>
          <p:nvPr/>
        </p:nvSpPr>
        <p:spPr>
          <a:xfrm>
            <a:off x="457200" y="2377440"/>
            <a:ext cx="3931920" cy="1005840"/>
          </a:xfrm>
          <a:prstGeom prst="roundRect">
            <a:avLst>
              <a:gd fmla="val 9091"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4"/>
          <p:cNvSpPr/>
          <p:nvPr/>
        </p:nvSpPr>
        <p:spPr>
          <a:xfrm>
            <a:off x="621792" y="2542032"/>
            <a:ext cx="502920" cy="502920"/>
          </a:xfrm>
          <a:prstGeom prst="ellipse">
            <a:avLst/>
          </a:prstGeom>
          <a:solidFill>
            <a:srgbClr val="2E9C86"/>
          </a:solidFill>
          <a:ln cap="flat" cmpd="sng" w="12700">
            <a:solidFill>
              <a:srgbClr val="2E9C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4" name="Google Shape;84;p4"/>
          <p:cNvPicPr preferRelativeResize="0"/>
          <p:nvPr/>
        </p:nvPicPr>
        <p:blipFill rotWithShape="1">
          <a:blip r:embed="rId4">
            <a:alphaModFix/>
          </a:blip>
          <a:srcRect b="0" l="0" r="0" t="0"/>
          <a:stretch/>
        </p:blipFill>
        <p:spPr>
          <a:xfrm>
            <a:off x="752551" y="2672791"/>
            <a:ext cx="241402" cy="241402"/>
          </a:xfrm>
          <a:prstGeom prst="rect">
            <a:avLst/>
          </a:prstGeom>
          <a:noFill/>
          <a:ln>
            <a:noFill/>
          </a:ln>
        </p:spPr>
      </p:pic>
      <p:sp>
        <p:nvSpPr>
          <p:cNvPr id="85" name="Google Shape;85;p4"/>
          <p:cNvSpPr txBox="1"/>
          <p:nvPr/>
        </p:nvSpPr>
        <p:spPr>
          <a:xfrm>
            <a:off x="1280160" y="2505456"/>
            <a:ext cx="29718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1500"/>
              <a:buFont typeface="Calibri"/>
              <a:buNone/>
            </a:pPr>
            <a:r>
              <a:rPr b="1" i="0" lang="en-US" sz="1500" u="none" cap="none" strike="noStrike">
                <a:solidFill>
                  <a:srgbClr val="0B3C49"/>
                </a:solidFill>
                <a:latin typeface="Calibri"/>
                <a:ea typeface="Calibri"/>
                <a:cs typeface="Calibri"/>
                <a:sym typeface="Calibri"/>
              </a:rPr>
              <a:t>Taxonomy</a:t>
            </a:r>
            <a:endParaRPr b="0" i="0" sz="1500" u="none" cap="none" strike="noStrike">
              <a:solidFill>
                <a:schemeClr val="dk1"/>
              </a:solidFill>
              <a:latin typeface="Calibri"/>
              <a:ea typeface="Calibri"/>
              <a:cs typeface="Calibri"/>
              <a:sym typeface="Calibri"/>
            </a:endParaRPr>
          </a:p>
        </p:txBody>
      </p:sp>
      <p:sp>
        <p:nvSpPr>
          <p:cNvPr id="86" name="Google Shape;86;p4"/>
          <p:cNvSpPr txBox="1"/>
          <p:nvPr/>
        </p:nvSpPr>
        <p:spPr>
          <a:xfrm>
            <a:off x="1280160" y="2852928"/>
            <a:ext cx="2971800" cy="4389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D33"/>
              </a:buClr>
              <a:buSzPts val="1200"/>
              <a:buFont typeface="Calibri"/>
              <a:buNone/>
            </a:pPr>
            <a:r>
              <a:rPr b="0" i="0" lang="en-US" sz="1200" u="none" cap="none" strike="noStrike">
                <a:solidFill>
                  <a:srgbClr val="1F2D33"/>
                </a:solidFill>
                <a:latin typeface="Calibri"/>
                <a:ea typeface="Calibri"/>
                <a:cs typeface="Calibri"/>
                <a:sym typeface="Calibri"/>
              </a:rPr>
              <a:t>From kingdom to species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D33"/>
              </a:buClr>
              <a:buSzPts val="1200"/>
              <a:buFont typeface="Calibri"/>
              <a:buNone/>
            </a:pPr>
            <a:r>
              <a:rPr b="0" i="0" lang="en-US" sz="1200" u="none" cap="none" strike="noStrike">
                <a:solidFill>
                  <a:srgbClr val="1F2D33"/>
                </a:solidFill>
                <a:latin typeface="Calibri"/>
                <a:ea typeface="Calibri"/>
                <a:cs typeface="Calibri"/>
                <a:sym typeface="Calibri"/>
              </a:rPr>
              <a:t>for every taxon</a:t>
            </a:r>
            <a:endParaRPr b="0" i="0" sz="1200" u="none" cap="none" strike="noStrike">
              <a:solidFill>
                <a:schemeClr val="dk1"/>
              </a:solidFill>
              <a:latin typeface="Calibri"/>
              <a:ea typeface="Calibri"/>
              <a:cs typeface="Calibri"/>
              <a:sym typeface="Calibri"/>
            </a:endParaRPr>
          </a:p>
        </p:txBody>
      </p:sp>
      <p:sp>
        <p:nvSpPr>
          <p:cNvPr id="87" name="Google Shape;87;p4"/>
          <p:cNvSpPr/>
          <p:nvPr/>
        </p:nvSpPr>
        <p:spPr>
          <a:xfrm>
            <a:off x="457200" y="3566160"/>
            <a:ext cx="3931920" cy="1005840"/>
          </a:xfrm>
          <a:prstGeom prst="roundRect">
            <a:avLst>
              <a:gd fmla="val 9091"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4"/>
          <p:cNvSpPr/>
          <p:nvPr/>
        </p:nvSpPr>
        <p:spPr>
          <a:xfrm>
            <a:off x="621792" y="3730752"/>
            <a:ext cx="502920" cy="502920"/>
          </a:xfrm>
          <a:prstGeom prst="ellipse">
            <a:avLst/>
          </a:prstGeom>
          <a:solidFill>
            <a:srgbClr val="2E9C86"/>
          </a:solidFill>
          <a:ln cap="flat" cmpd="sng" w="12700">
            <a:solidFill>
              <a:srgbClr val="2E9C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89" name="Google Shape;89;p4"/>
          <p:cNvPicPr preferRelativeResize="0"/>
          <p:nvPr/>
        </p:nvPicPr>
        <p:blipFill rotWithShape="1">
          <a:blip r:embed="rId5">
            <a:alphaModFix/>
          </a:blip>
          <a:srcRect b="0" l="0" r="0" t="0"/>
          <a:stretch/>
        </p:blipFill>
        <p:spPr>
          <a:xfrm>
            <a:off x="752551" y="3861511"/>
            <a:ext cx="241402" cy="241402"/>
          </a:xfrm>
          <a:prstGeom prst="rect">
            <a:avLst/>
          </a:prstGeom>
          <a:noFill/>
          <a:ln>
            <a:noFill/>
          </a:ln>
        </p:spPr>
      </p:pic>
      <p:sp>
        <p:nvSpPr>
          <p:cNvPr id="90" name="Google Shape;90;p4"/>
          <p:cNvSpPr txBox="1"/>
          <p:nvPr/>
        </p:nvSpPr>
        <p:spPr>
          <a:xfrm>
            <a:off x="1280160" y="3694176"/>
            <a:ext cx="297180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1500"/>
              <a:buFont typeface="Calibri"/>
              <a:buNone/>
            </a:pPr>
            <a:r>
              <a:rPr b="1" i="0" lang="en-US" sz="1500" u="none" cap="none" strike="noStrike">
                <a:solidFill>
                  <a:srgbClr val="0B3C49"/>
                </a:solidFill>
                <a:latin typeface="Calibri"/>
                <a:ea typeface="Calibri"/>
                <a:cs typeface="Calibri"/>
                <a:sym typeface="Calibri"/>
              </a:rPr>
              <a:t>Metadata</a:t>
            </a:r>
            <a:endParaRPr b="0" i="0" sz="1500" u="none" cap="none" strike="noStrike">
              <a:solidFill>
                <a:schemeClr val="dk1"/>
              </a:solidFill>
              <a:latin typeface="Calibri"/>
              <a:ea typeface="Calibri"/>
              <a:cs typeface="Calibri"/>
              <a:sym typeface="Calibri"/>
            </a:endParaRPr>
          </a:p>
        </p:txBody>
      </p:sp>
      <p:sp>
        <p:nvSpPr>
          <p:cNvPr id="91" name="Google Shape;91;p4"/>
          <p:cNvSpPr txBox="1"/>
          <p:nvPr/>
        </p:nvSpPr>
        <p:spPr>
          <a:xfrm>
            <a:off x="1280160" y="4041648"/>
            <a:ext cx="2971800" cy="4389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D33"/>
              </a:buClr>
              <a:buSzPts val="1200"/>
              <a:buFont typeface="Calibri"/>
              <a:buNone/>
            </a:pPr>
            <a:r>
              <a:rPr b="0" i="0" lang="en-US" sz="1200" u="none" cap="none" strike="noStrike">
                <a:solidFill>
                  <a:srgbClr val="1F2D33"/>
                </a:solidFill>
                <a:latin typeface="Calibri"/>
                <a:ea typeface="Calibri"/>
                <a:cs typeface="Calibri"/>
                <a:sym typeface="Calibri"/>
              </a:rPr>
              <a:t>Product (Control, A, B)</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D33"/>
              </a:buClr>
              <a:buSzPts val="1200"/>
              <a:buFont typeface="Calibri"/>
              <a:buNone/>
            </a:pPr>
            <a:r>
              <a:rPr b="0" i="0" lang="en-US" sz="1200" u="none" cap="none" strike="noStrike">
                <a:solidFill>
                  <a:srgbClr val="1F2D33"/>
                </a:solidFill>
                <a:latin typeface="Calibri"/>
                <a:ea typeface="Calibri"/>
                <a:cs typeface="Calibri"/>
                <a:sym typeface="Calibri"/>
              </a:rPr>
              <a:t>and replicate (R1, R2)</a:t>
            </a:r>
            <a:endParaRPr b="0" i="0" sz="1200" u="none" cap="none" strike="noStrike">
              <a:solidFill>
                <a:schemeClr val="dk1"/>
              </a:solidFill>
              <a:latin typeface="Calibri"/>
              <a:ea typeface="Calibri"/>
              <a:cs typeface="Calibri"/>
              <a:sym typeface="Calibri"/>
            </a:endParaRPr>
          </a:p>
        </p:txBody>
      </p:sp>
      <p:cxnSp>
        <p:nvCxnSpPr>
          <p:cNvPr id="92" name="Google Shape;92;p4"/>
          <p:cNvCxnSpPr/>
          <p:nvPr/>
        </p:nvCxnSpPr>
        <p:spPr>
          <a:xfrm>
            <a:off x="4389120" y="1691640"/>
            <a:ext cx="822960" cy="0"/>
          </a:xfrm>
          <a:prstGeom prst="straightConnector1">
            <a:avLst/>
          </a:prstGeom>
          <a:noFill/>
          <a:ln cap="flat" cmpd="sng" w="25400">
            <a:solidFill>
              <a:srgbClr val="2E9C86"/>
            </a:solidFill>
            <a:prstDash val="solid"/>
            <a:round/>
            <a:headEnd len="sm" w="sm" type="none"/>
            <a:tailEnd len="med" w="med" type="triangle"/>
          </a:ln>
        </p:spPr>
      </p:cxnSp>
      <p:cxnSp>
        <p:nvCxnSpPr>
          <p:cNvPr id="93" name="Google Shape;93;p4"/>
          <p:cNvCxnSpPr/>
          <p:nvPr/>
        </p:nvCxnSpPr>
        <p:spPr>
          <a:xfrm>
            <a:off x="4389120" y="2880360"/>
            <a:ext cx="822960" cy="0"/>
          </a:xfrm>
          <a:prstGeom prst="straightConnector1">
            <a:avLst/>
          </a:prstGeom>
          <a:noFill/>
          <a:ln cap="flat" cmpd="sng" w="25400">
            <a:solidFill>
              <a:srgbClr val="2E9C86"/>
            </a:solidFill>
            <a:prstDash val="solid"/>
            <a:round/>
            <a:headEnd len="sm" w="sm" type="none"/>
            <a:tailEnd len="med" w="med" type="triangle"/>
          </a:ln>
        </p:spPr>
      </p:cxnSp>
      <p:cxnSp>
        <p:nvCxnSpPr>
          <p:cNvPr id="94" name="Google Shape;94;p4"/>
          <p:cNvCxnSpPr/>
          <p:nvPr/>
        </p:nvCxnSpPr>
        <p:spPr>
          <a:xfrm>
            <a:off x="4389120" y="4069080"/>
            <a:ext cx="822960" cy="0"/>
          </a:xfrm>
          <a:prstGeom prst="straightConnector1">
            <a:avLst/>
          </a:prstGeom>
          <a:noFill/>
          <a:ln cap="flat" cmpd="sng" w="25400">
            <a:solidFill>
              <a:srgbClr val="2E9C86"/>
            </a:solidFill>
            <a:prstDash val="solid"/>
            <a:round/>
            <a:headEnd len="sm" w="sm" type="none"/>
            <a:tailEnd len="med" w="med" type="triangle"/>
          </a:ln>
        </p:spPr>
      </p:cxnSp>
      <p:cxnSp>
        <p:nvCxnSpPr>
          <p:cNvPr id="95" name="Google Shape;95;p4"/>
          <p:cNvCxnSpPr/>
          <p:nvPr/>
        </p:nvCxnSpPr>
        <p:spPr>
          <a:xfrm>
            <a:off x="5212080" y="1691640"/>
            <a:ext cx="0" cy="2377440"/>
          </a:xfrm>
          <a:prstGeom prst="straightConnector1">
            <a:avLst/>
          </a:prstGeom>
          <a:noFill/>
          <a:ln cap="flat" cmpd="sng" w="25400">
            <a:solidFill>
              <a:srgbClr val="2E9C86"/>
            </a:solidFill>
            <a:prstDash val="solid"/>
            <a:round/>
            <a:headEnd len="sm" w="sm" type="none"/>
            <a:tailEnd len="sm" w="sm" type="none"/>
          </a:ln>
        </p:spPr>
      </p:cxnSp>
      <p:cxnSp>
        <p:nvCxnSpPr>
          <p:cNvPr id="96" name="Google Shape;96;p4"/>
          <p:cNvCxnSpPr/>
          <p:nvPr/>
        </p:nvCxnSpPr>
        <p:spPr>
          <a:xfrm>
            <a:off x="5212080" y="2880360"/>
            <a:ext cx="548640" cy="0"/>
          </a:xfrm>
          <a:prstGeom prst="straightConnector1">
            <a:avLst/>
          </a:prstGeom>
          <a:noFill/>
          <a:ln cap="flat" cmpd="sng" w="25400">
            <a:solidFill>
              <a:srgbClr val="2E9C86"/>
            </a:solidFill>
            <a:prstDash val="solid"/>
            <a:round/>
            <a:headEnd len="sm" w="sm" type="none"/>
            <a:tailEnd len="med" w="med" type="triangle"/>
          </a:ln>
        </p:spPr>
      </p:cxnSp>
      <p:sp>
        <p:nvSpPr>
          <p:cNvPr id="97" name="Google Shape;97;p4"/>
          <p:cNvSpPr/>
          <p:nvPr/>
        </p:nvSpPr>
        <p:spPr>
          <a:xfrm>
            <a:off x="5806440" y="2103120"/>
            <a:ext cx="2880360" cy="1554480"/>
          </a:xfrm>
          <a:prstGeom prst="roundRect">
            <a:avLst>
              <a:gd fmla="val 7059" name="adj"/>
            </a:avLst>
          </a:prstGeom>
          <a:solidFill>
            <a:srgbClr val="0B3C49"/>
          </a:solidFill>
          <a:ln cap="flat" cmpd="sng" w="12700">
            <a:solidFill>
              <a:srgbClr val="0B3C4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98" name="Google Shape;98;p4"/>
          <p:cNvPicPr preferRelativeResize="0"/>
          <p:nvPr/>
        </p:nvPicPr>
        <p:blipFill rotWithShape="1">
          <a:blip r:embed="rId6">
            <a:alphaModFix/>
          </a:blip>
          <a:srcRect b="0" l="0" r="0" t="0"/>
          <a:stretch/>
        </p:blipFill>
        <p:spPr>
          <a:xfrm>
            <a:off x="6035040" y="2331720"/>
            <a:ext cx="457200" cy="457200"/>
          </a:xfrm>
          <a:prstGeom prst="rect">
            <a:avLst/>
          </a:prstGeom>
          <a:noFill/>
          <a:ln>
            <a:noFill/>
          </a:ln>
        </p:spPr>
      </p:pic>
      <p:sp>
        <p:nvSpPr>
          <p:cNvPr id="99" name="Google Shape;99;p4"/>
          <p:cNvSpPr txBox="1"/>
          <p:nvPr/>
        </p:nvSpPr>
        <p:spPr>
          <a:xfrm>
            <a:off x="6629400" y="2286000"/>
            <a:ext cx="1920240" cy="5486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800"/>
              <a:buFont typeface="Courier New"/>
              <a:buNone/>
            </a:pPr>
            <a:r>
              <a:rPr b="1" i="0" lang="en-US" sz="2800" u="none" cap="none" strike="noStrike">
                <a:solidFill>
                  <a:srgbClr val="FFFFFF"/>
                </a:solidFill>
                <a:latin typeface="Courier New"/>
                <a:ea typeface="Courier New"/>
                <a:cs typeface="Courier New"/>
                <a:sym typeface="Courier New"/>
              </a:rPr>
              <a:t>ps</a:t>
            </a:r>
            <a:endParaRPr b="0" i="0" sz="2800" u="none" cap="none" strike="noStrike">
              <a:solidFill>
                <a:schemeClr val="dk1"/>
              </a:solidFill>
              <a:latin typeface="Calibri"/>
              <a:ea typeface="Calibri"/>
              <a:cs typeface="Calibri"/>
              <a:sym typeface="Calibri"/>
            </a:endParaRPr>
          </a:p>
        </p:txBody>
      </p:sp>
      <p:sp>
        <p:nvSpPr>
          <p:cNvPr id="100" name="Google Shape;100;p4"/>
          <p:cNvSpPr txBox="1"/>
          <p:nvPr/>
        </p:nvSpPr>
        <p:spPr>
          <a:xfrm>
            <a:off x="6035040" y="2880360"/>
            <a:ext cx="2514600" cy="6858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FE6E1"/>
              </a:buClr>
              <a:buSzPts val="1200"/>
              <a:buFont typeface="Calibri"/>
              <a:buNone/>
            </a:pPr>
            <a:r>
              <a:rPr b="0" i="0" lang="en-US" sz="1200" u="none" cap="none" strike="noStrike">
                <a:solidFill>
                  <a:srgbClr val="CFE6E1"/>
                </a:solidFill>
                <a:latin typeface="Calibri"/>
                <a:ea typeface="Calibri"/>
                <a:cs typeface="Calibri"/>
                <a:sym typeface="Calibri"/>
              </a:rPr>
              <a:t>One object with everything needed for the analysis</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05" name="Shape 105"/>
        <p:cNvGrpSpPr/>
        <p:nvPr/>
      </p:nvGrpSpPr>
      <p:grpSpPr>
        <a:xfrm>
          <a:off x="0" y="0"/>
          <a:ext cx="0" cy="0"/>
          <a:chOff x="0" y="0"/>
          <a:chExt cx="0" cy="0"/>
        </a:xfrm>
      </p:grpSpPr>
      <p:sp>
        <p:nvSpPr>
          <p:cNvPr id="106" name="Google Shape;106;p5"/>
          <p:cNvSpPr txBox="1"/>
          <p:nvPr/>
        </p:nvSpPr>
        <p:spPr>
          <a:xfrm>
            <a:off x="457200" y="274320"/>
            <a:ext cx="6949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2800"/>
              <a:buFont typeface="Cambria"/>
              <a:buNone/>
            </a:pPr>
            <a:r>
              <a:rPr b="1" i="0" lang="en-US" sz="2800" u="none" cap="none" strike="noStrike">
                <a:solidFill>
                  <a:srgbClr val="0B3C49"/>
                </a:solidFill>
                <a:latin typeface="Cambria"/>
                <a:ea typeface="Cambria"/>
                <a:cs typeface="Cambria"/>
                <a:sym typeface="Cambria"/>
              </a:rPr>
              <a:t>Preparing abundance and taxonomy</a:t>
            </a:r>
            <a:endParaRPr b="0" i="0" sz="2800" u="none" cap="none" strike="noStrike">
              <a:solidFill>
                <a:schemeClr val="dk1"/>
              </a:solidFill>
              <a:latin typeface="Calibri"/>
              <a:ea typeface="Calibri"/>
              <a:cs typeface="Calibri"/>
              <a:sym typeface="Calibri"/>
            </a:endParaRPr>
          </a:p>
        </p:txBody>
      </p:sp>
      <p:sp>
        <p:nvSpPr>
          <p:cNvPr id="107" name="Google Shape;107;p5"/>
          <p:cNvSpPr/>
          <p:nvPr/>
        </p:nvSpPr>
        <p:spPr>
          <a:xfrm>
            <a:off x="7498080" y="411480"/>
            <a:ext cx="1188720" cy="384048"/>
          </a:xfrm>
          <a:prstGeom prst="roundRect">
            <a:avLst>
              <a:gd fmla="val 50000"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5"/>
          <p:cNvSpPr txBox="1"/>
          <p:nvPr/>
        </p:nvSpPr>
        <p:spPr>
          <a:xfrm>
            <a:off x="7498080" y="411480"/>
            <a:ext cx="11887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9C86"/>
              </a:buClr>
              <a:buSzPts val="1100"/>
              <a:buFont typeface="Calibri"/>
              <a:buNone/>
            </a:pPr>
            <a:r>
              <a:rPr b="1" i="0" lang="en-US" sz="1100" u="none" cap="none" strike="noStrike">
                <a:solidFill>
                  <a:srgbClr val="2E9C86"/>
                </a:solidFill>
                <a:latin typeface="Calibri"/>
                <a:ea typeface="Calibri"/>
                <a:cs typeface="Calibri"/>
                <a:sym typeface="Calibri"/>
              </a:rPr>
              <a:t>1 · phyloseq</a:t>
            </a:r>
            <a:endParaRPr b="0" i="0" sz="1100" u="none" cap="none" strike="noStrike">
              <a:solidFill>
                <a:schemeClr val="dk1"/>
              </a:solidFill>
              <a:latin typeface="Calibri"/>
              <a:ea typeface="Calibri"/>
              <a:cs typeface="Calibri"/>
              <a:sym typeface="Calibri"/>
            </a:endParaRPr>
          </a:p>
        </p:txBody>
      </p:sp>
      <p:sp>
        <p:nvSpPr>
          <p:cNvPr id="109" name="Google Shape;109;p5"/>
          <p:cNvSpPr/>
          <p:nvPr/>
        </p:nvSpPr>
        <p:spPr>
          <a:xfrm>
            <a:off x="457200" y="1143000"/>
            <a:ext cx="5577840" cy="3611880"/>
          </a:xfrm>
          <a:prstGeom prst="roundRect">
            <a:avLst>
              <a:gd fmla="val 3038" name="adj"/>
            </a:avLst>
          </a:prstGeom>
          <a:solidFill>
            <a:srgbClr val="15262D"/>
          </a:solidFill>
          <a:ln cap="flat" cmpd="sng" w="12700">
            <a:solidFill>
              <a:srgbClr val="1526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5"/>
          <p:cNvSpPr txBox="1"/>
          <p:nvPr/>
        </p:nvSpPr>
        <p:spPr>
          <a:xfrm>
            <a:off x="548640" y="1234440"/>
            <a:ext cx="5394960" cy="3429000"/>
          </a:xfrm>
          <a:prstGeom prst="rect">
            <a:avLst/>
          </a:prstGeom>
          <a:noFill/>
          <a:ln>
            <a:noFill/>
          </a:ln>
        </p:spPr>
        <p:txBody>
          <a:bodyPr anchorCtr="0" anchor="t" bIns="1000" lIns="1000" spcFirstLastPara="1" rIns="1000" wrap="square" tIns="1000">
            <a:noAutofit/>
          </a:bodyPr>
          <a:lstStyle/>
          <a:p>
            <a:pPr indent="0" lvl="0" marL="0" marR="0" rtl="0" algn="l">
              <a:spcBef>
                <a:spcPts val="0"/>
              </a:spcBef>
              <a:spcAft>
                <a:spcPts val="0"/>
              </a:spcAft>
              <a:buClr>
                <a:srgbClr val="86A8A1"/>
              </a:buClr>
              <a:buSzPts val="1250"/>
              <a:buFont typeface="Courier New"/>
              <a:buNone/>
            </a:pPr>
            <a:r>
              <a:rPr b="0" i="0" lang="en-US" sz="1250" u="none" cap="none" strike="noStrike">
                <a:solidFill>
                  <a:srgbClr val="86A8A1"/>
                </a:solidFill>
                <a:latin typeface="Courier New"/>
                <a:ea typeface="Courier New"/>
                <a:cs typeface="Courier New"/>
                <a:sym typeface="Courier New"/>
              </a:rPr>
              <a:t># Abundance matrix:</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6A8A1"/>
              </a:buClr>
              <a:buSzPts val="1250"/>
              <a:buFont typeface="Courier New"/>
              <a:buNone/>
            </a:pPr>
            <a:r>
              <a:rPr b="0" i="0" lang="en-US" sz="1250" u="none" cap="none" strike="noStrike">
                <a:solidFill>
                  <a:srgbClr val="86A8A1"/>
                </a:solidFill>
                <a:latin typeface="Courier New"/>
                <a:ea typeface="Courier New"/>
                <a:cs typeface="Courier New"/>
                <a:sym typeface="Courier New"/>
              </a:rPr>
              <a:t># rows = species; columns = samples</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50"/>
              <a:buFont typeface="Courier New"/>
              <a:buNone/>
            </a:pPr>
            <a:r>
              <a:rPr b="0" i="0" lang="en-US" sz="1250" u="none" cap="none" strike="noStrike">
                <a:solidFill>
                  <a:srgbClr val="E6EEF0"/>
                </a:solidFill>
                <a:latin typeface="Courier New"/>
                <a:ea typeface="Courier New"/>
                <a:cs typeface="Courier New"/>
                <a:sym typeface="Courier New"/>
              </a:rPr>
              <a:t>abundance_matrix &lt;- as.matrix(abundance[, -1])</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50"/>
              <a:buFont typeface="Courier New"/>
              <a:buNone/>
            </a:pPr>
            <a:r>
              <a:rPr b="0" i="0" lang="en-US" sz="1250" u="none" cap="none" strike="noStrike">
                <a:solidFill>
                  <a:srgbClr val="E6EEF0"/>
                </a:solidFill>
                <a:latin typeface="Courier New"/>
                <a:ea typeface="Courier New"/>
                <a:cs typeface="Courier New"/>
                <a:sym typeface="Courier New"/>
              </a:rPr>
              <a:t>rownames(abundance_matrix) &lt;- abundance$species</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50"/>
              <a:buFont typeface="Courier New"/>
              <a:buNone/>
            </a:pPr>
            <a:r>
              <a:rPr b="0" i="0" lang="en-US" sz="1250" u="none" cap="none" strike="noStrike">
                <a:solidFill>
                  <a:srgbClr val="E6EEF0"/>
                </a:solidFill>
                <a:latin typeface="Courier New"/>
                <a:ea typeface="Courier New"/>
                <a:cs typeface="Courier New"/>
                <a:sym typeface="Courier New"/>
              </a:rPr>
              <a:t>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50"/>
              <a:buFont typeface="Courier New"/>
              <a:buNone/>
            </a:pPr>
            <a:r>
              <a:rPr b="0" i="0" lang="en-US" sz="1250" u="none" cap="none" strike="noStrike">
                <a:solidFill>
                  <a:srgbClr val="E6EEF0"/>
                </a:solidFill>
                <a:latin typeface="Courier New"/>
                <a:ea typeface="Courier New"/>
                <a:cs typeface="Courier New"/>
                <a:sym typeface="Courier New"/>
              </a:rPr>
              <a:t>abundance_matrix[1:5,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6A8A1"/>
              </a:buClr>
              <a:buSzPts val="1250"/>
              <a:buFont typeface="Courier New"/>
              <a:buNone/>
            </a:pPr>
            <a:r>
              <a:rPr b="0" i="0" lang="en-US" sz="1250" u="none" cap="none" strike="noStrike">
                <a:solidFill>
                  <a:srgbClr val="86A8A1"/>
                </a:solidFill>
                <a:latin typeface="Courier New"/>
                <a:ea typeface="Courier New"/>
                <a:cs typeface="Courier New"/>
                <a:sym typeface="Courier New"/>
              </a:rPr>
              <a:t># Approximately 100% in every sample</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50"/>
              <a:buFont typeface="Courier New"/>
              <a:buNone/>
            </a:pPr>
            <a:r>
              <a:rPr b="0" i="0" lang="en-US" sz="1250" u="none" cap="none" strike="noStrike">
                <a:solidFill>
                  <a:srgbClr val="E6EEF0"/>
                </a:solidFill>
                <a:latin typeface="Courier New"/>
                <a:ea typeface="Courier New"/>
                <a:cs typeface="Courier New"/>
                <a:sym typeface="Courier New"/>
              </a:rPr>
              <a:t>colSums(abundance_matrix)</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50"/>
              <a:buFont typeface="Courier New"/>
              <a:buNone/>
            </a:pPr>
            <a:r>
              <a:rPr b="0" i="0" lang="en-US" sz="1250" u="none" cap="none" strike="noStrike">
                <a:solidFill>
                  <a:srgbClr val="E6EEF0"/>
                </a:solidFill>
                <a:latin typeface="Courier New"/>
                <a:ea typeface="Courier New"/>
                <a:cs typeface="Courier New"/>
                <a:sym typeface="Courier New"/>
              </a:rPr>
              <a:t>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6A8A1"/>
              </a:buClr>
              <a:buSzPts val="1250"/>
              <a:buFont typeface="Courier New"/>
              <a:buNone/>
            </a:pPr>
            <a:r>
              <a:rPr b="0" i="0" lang="en-US" sz="1250" u="none" cap="none" strike="noStrike">
                <a:solidFill>
                  <a:srgbClr val="86A8A1"/>
                </a:solidFill>
                <a:latin typeface="Courier New"/>
                <a:ea typeface="Courier New"/>
                <a:cs typeface="Courier New"/>
                <a:sym typeface="Courier New"/>
              </a:rPr>
              <a:t># Taxonomy matrix</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50"/>
              <a:buFont typeface="Courier New"/>
              <a:buNone/>
            </a:pPr>
            <a:r>
              <a:rPr b="0" i="0" lang="en-US" sz="1250" u="none" cap="none" strike="noStrike">
                <a:solidFill>
                  <a:srgbClr val="E6EEF0"/>
                </a:solidFill>
                <a:latin typeface="Courier New"/>
                <a:ea typeface="Courier New"/>
                <a:cs typeface="Courier New"/>
                <a:sym typeface="Courier New"/>
              </a:rPr>
              <a:t>taxonomy_matrix &lt;- as.matrix(</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50"/>
              <a:buFont typeface="Courier New"/>
              <a:buNone/>
            </a:pPr>
            <a:r>
              <a:rPr b="0" i="0" lang="en-US" sz="1250" u="none" cap="none" strike="noStrike">
                <a:solidFill>
                  <a:srgbClr val="E6EEF0"/>
                </a:solidFill>
                <a:latin typeface="Courier New"/>
                <a:ea typeface="Courier New"/>
                <a:cs typeface="Courier New"/>
                <a:sym typeface="Courier New"/>
              </a:rPr>
              <a:t>  taxonomy[, c("kingdom", "phylum", "class", "order",</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50"/>
              <a:buFont typeface="Courier New"/>
              <a:buNone/>
            </a:pPr>
            <a:r>
              <a:rPr b="0" i="0" lang="en-US" sz="1250" u="none" cap="none" strike="noStrike">
                <a:solidFill>
                  <a:srgbClr val="E6EEF0"/>
                </a:solidFill>
                <a:latin typeface="Courier New"/>
                <a:ea typeface="Courier New"/>
                <a:cs typeface="Courier New"/>
                <a:sym typeface="Courier New"/>
              </a:rPr>
              <a:t>               "family", "genus", "species")]</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50"/>
              <a:buFont typeface="Courier New"/>
              <a:buNone/>
            </a:pPr>
            <a:r>
              <a:rPr b="0" i="0" lang="en-US" sz="1250" u="none" cap="none" strike="noStrike">
                <a:solidFill>
                  <a:srgbClr val="E6EEF0"/>
                </a:solidFill>
                <a:latin typeface="Courier New"/>
                <a:ea typeface="Courier New"/>
                <a:cs typeface="Courier New"/>
                <a:sym typeface="Courier New"/>
              </a:rPr>
              <a:t>)</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50"/>
              <a:buFont typeface="Courier New"/>
              <a:buNone/>
            </a:pPr>
            <a:r>
              <a:rPr b="0" i="0" lang="en-US" sz="1250" u="none" cap="none" strike="noStrike">
                <a:solidFill>
                  <a:srgbClr val="E6EEF0"/>
                </a:solidFill>
                <a:latin typeface="Courier New"/>
                <a:ea typeface="Courier New"/>
                <a:cs typeface="Courier New"/>
                <a:sym typeface="Courier New"/>
              </a:rPr>
              <a:t>rownames(taxonomy_matrix) &lt;- taxonomy$species</a:t>
            </a:r>
            <a:endParaRPr b="0" i="0" sz="1250" u="none" cap="none" strike="noStrike">
              <a:solidFill>
                <a:schemeClr val="dk1"/>
              </a:solidFill>
              <a:latin typeface="Calibri"/>
              <a:ea typeface="Calibri"/>
              <a:cs typeface="Calibri"/>
              <a:sym typeface="Calibri"/>
            </a:endParaRPr>
          </a:p>
        </p:txBody>
      </p:sp>
      <p:sp>
        <p:nvSpPr>
          <p:cNvPr id="111" name="Google Shape;111;p5"/>
          <p:cNvSpPr/>
          <p:nvPr/>
        </p:nvSpPr>
        <p:spPr>
          <a:xfrm>
            <a:off x="6309360" y="1280160"/>
            <a:ext cx="329184" cy="329184"/>
          </a:xfrm>
          <a:prstGeom prst="ellipse">
            <a:avLst/>
          </a:prstGeom>
          <a:solidFill>
            <a:srgbClr val="2E9C86"/>
          </a:solidFill>
          <a:ln cap="flat" cmpd="sng" w="12700">
            <a:solidFill>
              <a:srgbClr val="2E9C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5"/>
          <p:cNvSpPr txBox="1"/>
          <p:nvPr/>
        </p:nvSpPr>
        <p:spPr>
          <a:xfrm>
            <a:off x="6309360" y="128016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113" name="Google Shape;113;p5"/>
          <p:cNvSpPr txBox="1"/>
          <p:nvPr/>
        </p:nvSpPr>
        <p:spPr>
          <a:xfrm>
            <a:off x="6766560" y="1243584"/>
            <a:ext cx="192024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3C49"/>
              </a:buClr>
              <a:buSzPts val="1200"/>
              <a:buFont typeface="Calibri"/>
              <a:buNone/>
            </a:pPr>
            <a:r>
              <a:rPr b="1" i="0" lang="en-US" sz="1200" u="none" cap="none" strike="noStrike">
                <a:solidFill>
                  <a:srgbClr val="0B3C49"/>
                </a:solidFill>
                <a:latin typeface="Calibri"/>
                <a:ea typeface="Calibri"/>
                <a:cs typeface="Calibri"/>
                <a:sym typeface="Calibri"/>
              </a:rPr>
              <a:t>Drop the 1st column</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E7278"/>
              </a:buClr>
              <a:buSzPts val="1200"/>
              <a:buFont typeface="Calibri"/>
              <a:buNone/>
            </a:pPr>
            <a:r>
              <a:rPr b="0" i="0" lang="en-US" sz="1200" u="none" cap="none" strike="noStrike">
                <a:solidFill>
                  <a:srgbClr val="5E7278"/>
                </a:solidFill>
                <a:latin typeface="Calibri"/>
                <a:ea typeface="Calibri"/>
                <a:cs typeface="Calibri"/>
                <a:sym typeface="Calibri"/>
              </a:rPr>
              <a:t>It holds the names; we use them as row names</a:t>
            </a:r>
            <a:endParaRPr b="0" i="0" sz="1200" u="none" cap="none" strike="noStrike">
              <a:solidFill>
                <a:schemeClr val="dk1"/>
              </a:solidFill>
              <a:latin typeface="Calibri"/>
              <a:ea typeface="Calibri"/>
              <a:cs typeface="Calibri"/>
              <a:sym typeface="Calibri"/>
            </a:endParaRPr>
          </a:p>
        </p:txBody>
      </p:sp>
      <p:sp>
        <p:nvSpPr>
          <p:cNvPr id="114" name="Google Shape;114;p5"/>
          <p:cNvSpPr/>
          <p:nvPr/>
        </p:nvSpPr>
        <p:spPr>
          <a:xfrm>
            <a:off x="6309360" y="2286000"/>
            <a:ext cx="329184" cy="329184"/>
          </a:xfrm>
          <a:prstGeom prst="ellipse">
            <a:avLst/>
          </a:prstGeom>
          <a:solidFill>
            <a:srgbClr val="2E9C86"/>
          </a:solidFill>
          <a:ln cap="flat" cmpd="sng" w="12700">
            <a:solidFill>
              <a:srgbClr val="2E9C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5"/>
          <p:cNvSpPr txBox="1"/>
          <p:nvPr/>
        </p:nvSpPr>
        <p:spPr>
          <a:xfrm>
            <a:off x="6309360" y="228600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116" name="Google Shape;116;p5"/>
          <p:cNvSpPr txBox="1"/>
          <p:nvPr/>
        </p:nvSpPr>
        <p:spPr>
          <a:xfrm>
            <a:off x="6766560" y="2249424"/>
            <a:ext cx="192024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3C49"/>
              </a:buClr>
              <a:buSzPts val="1200"/>
              <a:buFont typeface="Calibri"/>
              <a:buNone/>
            </a:pPr>
            <a:r>
              <a:rPr b="1" i="0" lang="en-US" sz="1200" u="none" cap="none" strike="noStrike">
                <a:solidFill>
                  <a:srgbClr val="0B3C49"/>
                </a:solidFill>
                <a:latin typeface="Calibri"/>
                <a:ea typeface="Calibri"/>
                <a:cs typeface="Calibri"/>
                <a:sym typeface="Calibri"/>
              </a:rPr>
              <a:t>Check the totals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E7278"/>
              </a:buClr>
              <a:buSzPts val="1200"/>
              <a:buFont typeface="Calibri"/>
              <a:buNone/>
            </a:pPr>
            <a:r>
              <a:rPr b="0" i="0" lang="en-US" sz="1200" u="none" cap="none" strike="noStrike">
                <a:solidFill>
                  <a:srgbClr val="5E7278"/>
                </a:solidFill>
                <a:latin typeface="Calibri"/>
                <a:ea typeface="Calibri"/>
                <a:cs typeface="Calibri"/>
                <a:sym typeface="Calibri"/>
              </a:rPr>
              <a:t>Each sample adds up to ≈ 100%</a:t>
            </a:r>
            <a:endParaRPr b="0" i="0" sz="1200" u="none" cap="none" strike="noStrike">
              <a:solidFill>
                <a:schemeClr val="dk1"/>
              </a:solidFill>
              <a:latin typeface="Calibri"/>
              <a:ea typeface="Calibri"/>
              <a:cs typeface="Calibri"/>
              <a:sym typeface="Calibri"/>
            </a:endParaRPr>
          </a:p>
        </p:txBody>
      </p:sp>
      <p:sp>
        <p:nvSpPr>
          <p:cNvPr id="117" name="Google Shape;117;p5"/>
          <p:cNvSpPr/>
          <p:nvPr/>
        </p:nvSpPr>
        <p:spPr>
          <a:xfrm>
            <a:off x="6309360" y="3291840"/>
            <a:ext cx="329184" cy="329184"/>
          </a:xfrm>
          <a:prstGeom prst="ellipse">
            <a:avLst/>
          </a:prstGeom>
          <a:solidFill>
            <a:srgbClr val="2E9C86"/>
          </a:solidFill>
          <a:ln cap="flat" cmpd="sng" w="12700">
            <a:solidFill>
              <a:srgbClr val="2E9C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5"/>
          <p:cNvSpPr txBox="1"/>
          <p:nvPr/>
        </p:nvSpPr>
        <p:spPr>
          <a:xfrm>
            <a:off x="6309360" y="329184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119" name="Google Shape;119;p5"/>
          <p:cNvSpPr txBox="1"/>
          <p:nvPr/>
        </p:nvSpPr>
        <p:spPr>
          <a:xfrm>
            <a:off x="6766560" y="3255264"/>
            <a:ext cx="192024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3C49"/>
              </a:buClr>
              <a:buSzPts val="1200"/>
              <a:buFont typeface="Calibri"/>
              <a:buNone/>
            </a:pPr>
            <a:r>
              <a:rPr b="1" i="0" lang="en-US" sz="1200" u="none" cap="none" strike="noStrike">
                <a:solidFill>
                  <a:srgbClr val="0B3C49"/>
                </a:solidFill>
                <a:latin typeface="Calibri"/>
                <a:ea typeface="Calibri"/>
                <a:cs typeface="Calibri"/>
                <a:sym typeface="Calibri"/>
              </a:rPr>
              <a:t>Same row names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E7278"/>
              </a:buClr>
              <a:buSzPts val="1200"/>
              <a:buFont typeface="Calibri"/>
              <a:buNone/>
            </a:pPr>
            <a:r>
              <a:rPr b="0" i="0" lang="en-US" sz="1200" u="none" cap="none" strike="noStrike">
                <a:solidFill>
                  <a:srgbClr val="5E7278"/>
                </a:solidFill>
                <a:latin typeface="Calibri"/>
                <a:ea typeface="Calibri"/>
                <a:cs typeface="Calibri"/>
                <a:sym typeface="Calibri"/>
              </a:rPr>
              <a:t>The species links abundance and taxonomy</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24" name="Shape 124"/>
        <p:cNvGrpSpPr/>
        <p:nvPr/>
      </p:nvGrpSpPr>
      <p:grpSpPr>
        <a:xfrm>
          <a:off x="0" y="0"/>
          <a:ext cx="0" cy="0"/>
          <a:chOff x="0" y="0"/>
          <a:chExt cx="0" cy="0"/>
        </a:xfrm>
      </p:grpSpPr>
      <p:sp>
        <p:nvSpPr>
          <p:cNvPr id="125" name="Google Shape;125;p6"/>
          <p:cNvSpPr txBox="1"/>
          <p:nvPr/>
        </p:nvSpPr>
        <p:spPr>
          <a:xfrm>
            <a:off x="457200" y="274320"/>
            <a:ext cx="6949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2800"/>
              <a:buFont typeface="Cambria"/>
              <a:buNone/>
            </a:pPr>
            <a:r>
              <a:rPr b="1" i="0" lang="en-US" sz="2800" u="none" cap="none" strike="noStrike">
                <a:solidFill>
                  <a:srgbClr val="0B3C49"/>
                </a:solidFill>
                <a:latin typeface="Cambria"/>
                <a:ea typeface="Cambria"/>
                <a:cs typeface="Cambria"/>
                <a:sym typeface="Cambria"/>
              </a:rPr>
              <a:t>Metadata and the phyloseq object</a:t>
            </a:r>
            <a:endParaRPr b="0" i="0" sz="2800" u="none" cap="none" strike="noStrike">
              <a:solidFill>
                <a:schemeClr val="dk1"/>
              </a:solidFill>
              <a:latin typeface="Calibri"/>
              <a:ea typeface="Calibri"/>
              <a:cs typeface="Calibri"/>
              <a:sym typeface="Calibri"/>
            </a:endParaRPr>
          </a:p>
        </p:txBody>
      </p:sp>
      <p:sp>
        <p:nvSpPr>
          <p:cNvPr id="126" name="Google Shape;126;p6"/>
          <p:cNvSpPr/>
          <p:nvPr/>
        </p:nvSpPr>
        <p:spPr>
          <a:xfrm>
            <a:off x="7498080" y="411480"/>
            <a:ext cx="1188720" cy="384048"/>
          </a:xfrm>
          <a:prstGeom prst="roundRect">
            <a:avLst>
              <a:gd fmla="val 50000"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6"/>
          <p:cNvSpPr txBox="1"/>
          <p:nvPr/>
        </p:nvSpPr>
        <p:spPr>
          <a:xfrm>
            <a:off x="7498080" y="411480"/>
            <a:ext cx="11887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9C86"/>
              </a:buClr>
              <a:buSzPts val="1100"/>
              <a:buFont typeface="Calibri"/>
              <a:buNone/>
            </a:pPr>
            <a:r>
              <a:rPr b="1" i="0" lang="en-US" sz="1100" u="none" cap="none" strike="noStrike">
                <a:solidFill>
                  <a:srgbClr val="2E9C86"/>
                </a:solidFill>
                <a:latin typeface="Calibri"/>
                <a:ea typeface="Calibri"/>
                <a:cs typeface="Calibri"/>
                <a:sym typeface="Calibri"/>
              </a:rPr>
              <a:t>1 · phyloseq</a:t>
            </a:r>
            <a:endParaRPr b="0" i="0" sz="1100" u="none" cap="none" strike="noStrike">
              <a:solidFill>
                <a:schemeClr val="dk1"/>
              </a:solidFill>
              <a:latin typeface="Calibri"/>
              <a:ea typeface="Calibri"/>
              <a:cs typeface="Calibri"/>
              <a:sym typeface="Calibri"/>
            </a:endParaRPr>
          </a:p>
        </p:txBody>
      </p:sp>
      <p:sp>
        <p:nvSpPr>
          <p:cNvPr id="128" name="Google Shape;128;p6"/>
          <p:cNvSpPr/>
          <p:nvPr/>
        </p:nvSpPr>
        <p:spPr>
          <a:xfrm>
            <a:off x="457200" y="1143000"/>
            <a:ext cx="5577840" cy="3611880"/>
          </a:xfrm>
          <a:prstGeom prst="roundRect">
            <a:avLst>
              <a:gd fmla="val 3038" name="adj"/>
            </a:avLst>
          </a:prstGeom>
          <a:solidFill>
            <a:srgbClr val="15262D"/>
          </a:solidFill>
          <a:ln cap="flat" cmpd="sng" w="12700">
            <a:solidFill>
              <a:srgbClr val="1526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6"/>
          <p:cNvSpPr txBox="1"/>
          <p:nvPr/>
        </p:nvSpPr>
        <p:spPr>
          <a:xfrm>
            <a:off x="548640" y="1234440"/>
            <a:ext cx="5394960" cy="3429000"/>
          </a:xfrm>
          <a:prstGeom prst="rect">
            <a:avLst/>
          </a:prstGeom>
          <a:noFill/>
          <a:ln>
            <a:noFill/>
          </a:ln>
        </p:spPr>
        <p:txBody>
          <a:bodyPr anchorCtr="0" anchor="t" bIns="1000" lIns="1000" spcFirstLastPara="1" rIns="1000" wrap="square" tIns="1000">
            <a:noAutofit/>
          </a:bodyPr>
          <a:lstStyle/>
          <a:p>
            <a:pPr indent="0" lvl="0" marL="0" marR="0" rtl="0" algn="l">
              <a:spcBef>
                <a:spcPts val="0"/>
              </a:spcBef>
              <a:spcAft>
                <a:spcPts val="0"/>
              </a:spcAft>
              <a:buClr>
                <a:srgbClr val="E6EEF0"/>
              </a:buClr>
              <a:buSzPts val="1250"/>
              <a:buFont typeface="Courier New"/>
              <a:buNone/>
            </a:pPr>
            <a:r>
              <a:rPr b="0" i="0" lang="en-US" sz="1250" u="none" cap="none" strike="noStrike">
                <a:solidFill>
                  <a:srgbClr val="E6EEF0"/>
                </a:solidFill>
                <a:latin typeface="Courier New"/>
                <a:ea typeface="Courier New"/>
                <a:cs typeface="Courier New"/>
                <a:sym typeface="Courier New"/>
              </a:rPr>
              <a:t>metadata &lt;- data.frame(</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50"/>
              <a:buFont typeface="Courier New"/>
              <a:buNone/>
            </a:pPr>
            <a:r>
              <a:rPr b="0" i="0" lang="en-US" sz="1250" u="none" cap="none" strike="noStrike">
                <a:solidFill>
                  <a:srgbClr val="E6EEF0"/>
                </a:solidFill>
                <a:latin typeface="Courier New"/>
                <a:ea typeface="Courier New"/>
                <a:cs typeface="Courier New"/>
                <a:sym typeface="Courier New"/>
              </a:rPr>
              <a:t>  sample = colnames(abundance_matrix),</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50"/>
              <a:buFont typeface="Courier New"/>
              <a:buNone/>
            </a:pPr>
            <a:r>
              <a:rPr b="0" i="0" lang="en-US" sz="1250" u="none" cap="none" strike="noStrike">
                <a:solidFill>
                  <a:srgbClr val="E6EEF0"/>
                </a:solidFill>
                <a:latin typeface="Courier New"/>
                <a:ea typeface="Courier New"/>
                <a:cs typeface="Courier New"/>
                <a:sym typeface="Courier New"/>
              </a:rPr>
              <a:t>  product = c("Control", "Control",</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50"/>
              <a:buFont typeface="Courier New"/>
              <a:buNone/>
            </a:pPr>
            <a:r>
              <a:rPr b="0" i="0" lang="en-US" sz="1250" u="none" cap="none" strike="noStrike">
                <a:solidFill>
                  <a:srgbClr val="E6EEF0"/>
                </a:solidFill>
                <a:latin typeface="Courier New"/>
                <a:ea typeface="Courier New"/>
                <a:cs typeface="Courier New"/>
                <a:sym typeface="Courier New"/>
              </a:rPr>
              <a:t>              "A", "A", "B", "B"),</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50"/>
              <a:buFont typeface="Courier New"/>
              <a:buNone/>
            </a:pPr>
            <a:r>
              <a:rPr b="0" i="0" lang="en-US" sz="1250" u="none" cap="none" strike="noStrike">
                <a:solidFill>
                  <a:srgbClr val="E6EEF0"/>
                </a:solidFill>
                <a:latin typeface="Courier New"/>
                <a:ea typeface="Courier New"/>
                <a:cs typeface="Courier New"/>
                <a:sym typeface="Courier New"/>
              </a:rPr>
              <a:t>  replicate = c("R1", "R2", "R1", "R2", "R1", "R2")</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50"/>
              <a:buFont typeface="Courier New"/>
              <a:buNone/>
            </a:pPr>
            <a:r>
              <a:rPr b="0" i="0" lang="en-US" sz="1250" u="none" cap="none" strike="noStrike">
                <a:solidFill>
                  <a:srgbClr val="E6EEF0"/>
                </a:solidFill>
                <a:latin typeface="Courier New"/>
                <a:ea typeface="Courier New"/>
                <a:cs typeface="Courier New"/>
                <a:sym typeface="Courier New"/>
              </a:rPr>
              <a:t>)</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50"/>
              <a:buFont typeface="Courier New"/>
              <a:buNone/>
            </a:pPr>
            <a:r>
              <a:rPr b="0" i="0" lang="en-US" sz="1250" u="none" cap="none" strike="noStrike">
                <a:solidFill>
                  <a:srgbClr val="E6EEF0"/>
                </a:solidFill>
                <a:latin typeface="Courier New"/>
                <a:ea typeface="Courier New"/>
                <a:cs typeface="Courier New"/>
                <a:sym typeface="Courier New"/>
              </a:rPr>
              <a:t>metadata$product &lt;- factor(metadata$product,</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50"/>
              <a:buFont typeface="Courier New"/>
              <a:buNone/>
            </a:pPr>
            <a:r>
              <a:rPr b="0" i="0" lang="en-US" sz="1250" u="none" cap="none" strike="noStrike">
                <a:solidFill>
                  <a:srgbClr val="E6EEF0"/>
                </a:solidFill>
                <a:latin typeface="Courier New"/>
                <a:ea typeface="Courier New"/>
                <a:cs typeface="Courier New"/>
                <a:sym typeface="Courier New"/>
              </a:rPr>
              <a:t>                   levels = c("Control", "A", "B"))</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50"/>
              <a:buFont typeface="Courier New"/>
              <a:buNone/>
            </a:pPr>
            <a:r>
              <a:rPr b="0" i="0" lang="en-US" sz="1250" u="none" cap="none" strike="noStrike">
                <a:solidFill>
                  <a:srgbClr val="E6EEF0"/>
                </a:solidFill>
                <a:latin typeface="Courier New"/>
                <a:ea typeface="Courier New"/>
                <a:cs typeface="Courier New"/>
                <a:sym typeface="Courier New"/>
              </a:rPr>
              <a:t>rownames(metadata) &lt;- metadata$sample</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50"/>
              <a:buFont typeface="Courier New"/>
              <a:buNone/>
            </a:pPr>
            <a:r>
              <a:rPr b="0" i="0" lang="en-US" sz="1250" u="none" cap="none" strike="noStrike">
                <a:solidFill>
                  <a:srgbClr val="E6EEF0"/>
                </a:solidFill>
                <a:latin typeface="Courier New"/>
                <a:ea typeface="Courier New"/>
                <a:cs typeface="Courier New"/>
                <a:sym typeface="Courier New"/>
              </a:rPr>
              <a:t> </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50"/>
              <a:buFont typeface="Courier New"/>
              <a:buNone/>
            </a:pPr>
            <a:r>
              <a:rPr b="0" i="0" lang="en-US" sz="1250" u="none" cap="none" strike="noStrike">
                <a:solidFill>
                  <a:srgbClr val="E6EEF0"/>
                </a:solidFill>
                <a:latin typeface="Courier New"/>
                <a:ea typeface="Courier New"/>
                <a:cs typeface="Courier New"/>
                <a:sym typeface="Courier New"/>
              </a:rPr>
              <a:t>ps &lt;- phyloseq(</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50"/>
              <a:buFont typeface="Courier New"/>
              <a:buNone/>
            </a:pPr>
            <a:r>
              <a:rPr b="0" i="0" lang="en-US" sz="1250" u="none" cap="none" strike="noStrike">
                <a:solidFill>
                  <a:srgbClr val="E6EEF0"/>
                </a:solidFill>
                <a:latin typeface="Courier New"/>
                <a:ea typeface="Courier New"/>
                <a:cs typeface="Courier New"/>
                <a:sym typeface="Courier New"/>
              </a:rPr>
              <a:t>  otu_table(abundance_matrix, taxa_are_rows = TRUE),</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50"/>
              <a:buFont typeface="Courier New"/>
              <a:buNone/>
            </a:pPr>
            <a:r>
              <a:rPr b="0" i="0" lang="en-US" sz="1250" u="none" cap="none" strike="noStrike">
                <a:solidFill>
                  <a:srgbClr val="E6EEF0"/>
                </a:solidFill>
                <a:latin typeface="Courier New"/>
                <a:ea typeface="Courier New"/>
                <a:cs typeface="Courier New"/>
                <a:sym typeface="Courier New"/>
              </a:rPr>
              <a:t>  tax_table(taxonomy_matrix),</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50"/>
              <a:buFont typeface="Courier New"/>
              <a:buNone/>
            </a:pPr>
            <a:r>
              <a:rPr b="0" i="0" lang="en-US" sz="1250" u="none" cap="none" strike="noStrike">
                <a:solidFill>
                  <a:srgbClr val="E6EEF0"/>
                </a:solidFill>
                <a:latin typeface="Courier New"/>
                <a:ea typeface="Courier New"/>
                <a:cs typeface="Courier New"/>
                <a:sym typeface="Courier New"/>
              </a:rPr>
              <a:t>  sample_data(metadata)</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50"/>
              <a:buFont typeface="Courier New"/>
              <a:buNone/>
            </a:pPr>
            <a:r>
              <a:rPr b="0" i="0" lang="en-US" sz="1250" u="none" cap="none" strike="noStrike">
                <a:solidFill>
                  <a:srgbClr val="E6EEF0"/>
                </a:solidFill>
                <a:latin typeface="Courier New"/>
                <a:ea typeface="Courier New"/>
                <a:cs typeface="Courier New"/>
                <a:sym typeface="Courier New"/>
              </a:rPr>
              <a:t>)</a:t>
            </a:r>
            <a:endParaRPr b="0" i="0" sz="12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50"/>
              <a:buFont typeface="Courier New"/>
              <a:buNone/>
            </a:pPr>
            <a:r>
              <a:rPr b="0" i="0" lang="en-US" sz="1250" u="none" cap="none" strike="noStrike">
                <a:solidFill>
                  <a:srgbClr val="E6EEF0"/>
                </a:solidFill>
                <a:latin typeface="Courier New"/>
                <a:ea typeface="Courier New"/>
                <a:cs typeface="Courier New"/>
                <a:sym typeface="Courier New"/>
              </a:rPr>
              <a:t>ps</a:t>
            </a:r>
            <a:endParaRPr b="0" i="0" sz="1250" u="none" cap="none" strike="noStrike">
              <a:solidFill>
                <a:schemeClr val="dk1"/>
              </a:solidFill>
              <a:latin typeface="Calibri"/>
              <a:ea typeface="Calibri"/>
              <a:cs typeface="Calibri"/>
              <a:sym typeface="Calibri"/>
            </a:endParaRPr>
          </a:p>
        </p:txBody>
      </p:sp>
      <p:sp>
        <p:nvSpPr>
          <p:cNvPr id="130" name="Google Shape;130;p6"/>
          <p:cNvSpPr/>
          <p:nvPr/>
        </p:nvSpPr>
        <p:spPr>
          <a:xfrm>
            <a:off x="6309360" y="1143000"/>
            <a:ext cx="2377440" cy="1645920"/>
          </a:xfrm>
          <a:prstGeom prst="roundRect">
            <a:avLst>
              <a:gd fmla="val 5556"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6"/>
          <p:cNvSpPr txBox="1"/>
          <p:nvPr/>
        </p:nvSpPr>
        <p:spPr>
          <a:xfrm>
            <a:off x="6492240" y="1280160"/>
            <a:ext cx="2057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1500"/>
              <a:buFont typeface="Calibri"/>
              <a:buNone/>
            </a:pPr>
            <a:r>
              <a:rPr b="1" i="0" lang="en-US" sz="1500" u="none" cap="none" strike="noStrike">
                <a:solidFill>
                  <a:srgbClr val="0B3C49"/>
                </a:solidFill>
                <a:latin typeface="Calibri"/>
                <a:ea typeface="Calibri"/>
                <a:cs typeface="Calibri"/>
                <a:sym typeface="Calibri"/>
              </a:rPr>
              <a:t>Group order</a:t>
            </a:r>
            <a:endParaRPr b="0" i="0" sz="1500" u="none" cap="none" strike="noStrike">
              <a:solidFill>
                <a:schemeClr val="dk1"/>
              </a:solidFill>
              <a:latin typeface="Calibri"/>
              <a:ea typeface="Calibri"/>
              <a:cs typeface="Calibri"/>
              <a:sym typeface="Calibri"/>
            </a:endParaRPr>
          </a:p>
        </p:txBody>
      </p:sp>
      <p:sp>
        <p:nvSpPr>
          <p:cNvPr id="132" name="Google Shape;132;p6"/>
          <p:cNvSpPr txBox="1"/>
          <p:nvPr/>
        </p:nvSpPr>
        <p:spPr>
          <a:xfrm>
            <a:off x="6492240" y="1691640"/>
            <a:ext cx="2011680" cy="9875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D33"/>
              </a:buClr>
              <a:buSzPts val="1200"/>
              <a:buFont typeface="Calibri"/>
              <a:buNone/>
            </a:pPr>
            <a:r>
              <a:rPr b="0" i="0" lang="en-US" sz="1200" u="none" cap="none" strike="noStrike">
                <a:solidFill>
                  <a:srgbClr val="1F2D33"/>
                </a:solidFill>
                <a:latin typeface="Calibri"/>
                <a:ea typeface="Calibri"/>
                <a:cs typeface="Calibri"/>
                <a:sym typeface="Calibri"/>
              </a:rPr>
              <a:t>factor(..., levels = ...) makes Control always appear first.</a:t>
            </a:r>
            <a:endParaRPr b="0" i="0" sz="1200" u="none" cap="none" strike="noStrike">
              <a:solidFill>
                <a:schemeClr val="dk1"/>
              </a:solidFill>
              <a:latin typeface="Calibri"/>
              <a:ea typeface="Calibri"/>
              <a:cs typeface="Calibri"/>
              <a:sym typeface="Calibri"/>
            </a:endParaRPr>
          </a:p>
        </p:txBody>
      </p:sp>
      <p:sp>
        <p:nvSpPr>
          <p:cNvPr id="133" name="Google Shape;133;p6"/>
          <p:cNvSpPr/>
          <p:nvPr/>
        </p:nvSpPr>
        <p:spPr>
          <a:xfrm>
            <a:off x="6309360" y="2971800"/>
            <a:ext cx="2377440" cy="1783080"/>
          </a:xfrm>
          <a:prstGeom prst="roundRect">
            <a:avLst>
              <a:gd fmla="val 5128"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4" name="Google Shape;134;p6"/>
          <p:cNvSpPr txBox="1"/>
          <p:nvPr/>
        </p:nvSpPr>
        <p:spPr>
          <a:xfrm>
            <a:off x="6492240" y="3108960"/>
            <a:ext cx="2057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1500"/>
              <a:buFont typeface="Calibri"/>
              <a:buNone/>
            </a:pPr>
            <a:r>
              <a:rPr b="1" i="0" lang="en-US" sz="1500" u="none" cap="none" strike="noStrike">
                <a:solidFill>
                  <a:srgbClr val="0B3C49"/>
                </a:solidFill>
                <a:latin typeface="Calibri"/>
                <a:ea typeface="Calibri"/>
                <a:cs typeface="Calibri"/>
                <a:sym typeface="Calibri"/>
              </a:rPr>
              <a:t>Three pieces → ps</a:t>
            </a:r>
            <a:endParaRPr b="0" i="0" sz="1500" u="none" cap="none" strike="noStrike">
              <a:solidFill>
                <a:schemeClr val="dk1"/>
              </a:solidFill>
              <a:latin typeface="Calibri"/>
              <a:ea typeface="Calibri"/>
              <a:cs typeface="Calibri"/>
              <a:sym typeface="Calibri"/>
            </a:endParaRPr>
          </a:p>
        </p:txBody>
      </p:sp>
      <p:sp>
        <p:nvSpPr>
          <p:cNvPr id="135" name="Google Shape;135;p6"/>
          <p:cNvSpPr txBox="1"/>
          <p:nvPr/>
        </p:nvSpPr>
        <p:spPr>
          <a:xfrm>
            <a:off x="6492240" y="3520440"/>
            <a:ext cx="2011680" cy="11247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D33"/>
              </a:buClr>
              <a:buSzPts val="1200"/>
              <a:buFont typeface="Calibri"/>
              <a:buNone/>
            </a:pPr>
            <a:r>
              <a:rPr b="0" i="0" lang="en-US" sz="1200" u="none" cap="none" strike="noStrike">
                <a:solidFill>
                  <a:srgbClr val="1F2D33"/>
                </a:solidFill>
                <a:latin typeface="Calibri"/>
                <a:ea typeface="Calibri"/>
                <a:cs typeface="Calibri"/>
                <a:sym typeface="Calibri"/>
              </a:rPr>
              <a:t>otu_table(), tax_table() and sample_data() are combined with phyloseq().</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40" name="Shape 140"/>
        <p:cNvGrpSpPr/>
        <p:nvPr/>
      </p:nvGrpSpPr>
      <p:grpSpPr>
        <a:xfrm>
          <a:off x="0" y="0"/>
          <a:ext cx="0" cy="0"/>
          <a:chOff x="0" y="0"/>
          <a:chExt cx="0" cy="0"/>
        </a:xfrm>
      </p:grpSpPr>
      <p:sp>
        <p:nvSpPr>
          <p:cNvPr id="141" name="Google Shape;141;p7"/>
          <p:cNvSpPr txBox="1"/>
          <p:nvPr/>
        </p:nvSpPr>
        <p:spPr>
          <a:xfrm>
            <a:off x="457200" y="274320"/>
            <a:ext cx="6949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2800"/>
              <a:buFont typeface="Cambria"/>
              <a:buNone/>
            </a:pPr>
            <a:r>
              <a:rPr b="1" i="0" lang="en-US" sz="2800" u="none" cap="none" strike="noStrike">
                <a:solidFill>
                  <a:srgbClr val="0B3C49"/>
                </a:solidFill>
                <a:latin typeface="Cambria"/>
                <a:ea typeface="Cambria"/>
                <a:cs typeface="Cambria"/>
                <a:sym typeface="Cambria"/>
              </a:rPr>
              <a:t>What is relative abundance?</a:t>
            </a:r>
            <a:endParaRPr b="0" i="0" sz="2800" u="none" cap="none" strike="noStrike">
              <a:solidFill>
                <a:schemeClr val="dk1"/>
              </a:solidFill>
              <a:latin typeface="Calibri"/>
              <a:ea typeface="Calibri"/>
              <a:cs typeface="Calibri"/>
              <a:sym typeface="Calibri"/>
            </a:endParaRPr>
          </a:p>
        </p:txBody>
      </p:sp>
      <p:sp>
        <p:nvSpPr>
          <p:cNvPr id="142" name="Google Shape;142;p7"/>
          <p:cNvSpPr/>
          <p:nvPr/>
        </p:nvSpPr>
        <p:spPr>
          <a:xfrm>
            <a:off x="7498080" y="411480"/>
            <a:ext cx="1188720" cy="384048"/>
          </a:xfrm>
          <a:prstGeom prst="roundRect">
            <a:avLst>
              <a:gd fmla="val 50000"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7"/>
          <p:cNvSpPr txBox="1"/>
          <p:nvPr/>
        </p:nvSpPr>
        <p:spPr>
          <a:xfrm>
            <a:off x="7498080" y="411480"/>
            <a:ext cx="11887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9C86"/>
              </a:buClr>
              <a:buSzPts val="1100"/>
              <a:buFont typeface="Calibri"/>
              <a:buNone/>
            </a:pPr>
            <a:r>
              <a:rPr b="1" i="0" lang="en-US" sz="1100" u="none" cap="none" strike="noStrike">
                <a:solidFill>
                  <a:srgbClr val="2E9C86"/>
                </a:solidFill>
                <a:latin typeface="Calibri"/>
                <a:ea typeface="Calibri"/>
                <a:cs typeface="Calibri"/>
                <a:sym typeface="Calibri"/>
              </a:rPr>
              <a:t>2 · Abundance</a:t>
            </a:r>
            <a:endParaRPr b="0" i="0" sz="1100" u="none" cap="none" strike="noStrike">
              <a:solidFill>
                <a:schemeClr val="dk1"/>
              </a:solidFill>
              <a:latin typeface="Calibri"/>
              <a:ea typeface="Calibri"/>
              <a:cs typeface="Calibri"/>
              <a:sym typeface="Calibri"/>
            </a:endParaRPr>
          </a:p>
        </p:txBody>
      </p:sp>
      <p:sp>
        <p:nvSpPr>
          <p:cNvPr id="144" name="Google Shape;144;p7"/>
          <p:cNvSpPr txBox="1"/>
          <p:nvPr/>
        </p:nvSpPr>
        <p:spPr>
          <a:xfrm>
            <a:off x="457200" y="1188720"/>
            <a:ext cx="2926080" cy="13716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03C"/>
              </a:buClr>
              <a:buSzPts val="8800"/>
              <a:buFont typeface="Cambria"/>
              <a:buNone/>
            </a:pPr>
            <a:r>
              <a:rPr b="1" i="0" lang="en-US" sz="8800" u="none" cap="none" strike="noStrike">
                <a:solidFill>
                  <a:srgbClr val="E8603C"/>
                </a:solidFill>
                <a:latin typeface="Cambria"/>
                <a:ea typeface="Cambria"/>
                <a:cs typeface="Cambria"/>
                <a:sym typeface="Cambria"/>
              </a:rPr>
              <a:t>10</a:t>
            </a:r>
            <a:endParaRPr b="0" i="0" sz="8800" u="none" cap="none" strike="noStrike">
              <a:solidFill>
                <a:schemeClr val="dk1"/>
              </a:solidFill>
              <a:latin typeface="Calibri"/>
              <a:ea typeface="Calibri"/>
              <a:cs typeface="Calibri"/>
              <a:sym typeface="Calibri"/>
            </a:endParaRPr>
          </a:p>
        </p:txBody>
      </p:sp>
      <p:sp>
        <p:nvSpPr>
          <p:cNvPr id="145" name="Google Shape;145;p7"/>
          <p:cNvSpPr txBox="1"/>
          <p:nvPr/>
        </p:nvSpPr>
        <p:spPr>
          <a:xfrm>
            <a:off x="457200" y="2606040"/>
            <a:ext cx="3291840" cy="6400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3C49"/>
              </a:buClr>
              <a:buSzPts val="1800"/>
              <a:buFont typeface="Calibri"/>
              <a:buNone/>
            </a:pPr>
            <a:r>
              <a:rPr b="1" i="0" lang="en-US" sz="1800" u="none" cap="none" strike="noStrike">
                <a:solidFill>
                  <a:srgbClr val="0B3C49"/>
                </a:solidFill>
                <a:latin typeface="Calibri"/>
                <a:ea typeface="Calibri"/>
                <a:cs typeface="Calibri"/>
                <a:sym typeface="Calibri"/>
              </a:rPr>
              <a:t>≈ 10% of the community in that sample</a:t>
            </a:r>
            <a:endParaRPr b="0" i="0" sz="1800" u="none" cap="none" strike="noStrike">
              <a:solidFill>
                <a:schemeClr val="dk1"/>
              </a:solidFill>
              <a:latin typeface="Calibri"/>
              <a:ea typeface="Calibri"/>
              <a:cs typeface="Calibri"/>
              <a:sym typeface="Calibri"/>
            </a:endParaRPr>
          </a:p>
        </p:txBody>
      </p:sp>
      <p:sp>
        <p:nvSpPr>
          <p:cNvPr id="146" name="Google Shape;146;p7"/>
          <p:cNvSpPr txBox="1"/>
          <p:nvPr/>
        </p:nvSpPr>
        <p:spPr>
          <a:xfrm>
            <a:off x="457200" y="3337560"/>
            <a:ext cx="32918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7278"/>
              </a:buClr>
              <a:buSzPts val="1400"/>
              <a:buFont typeface="Calibri"/>
              <a:buNone/>
            </a:pPr>
            <a:r>
              <a:rPr b="0" i="0" lang="en-US" sz="1400" u="none" cap="none" strike="noStrike">
                <a:solidFill>
                  <a:srgbClr val="5E7278"/>
                </a:solidFill>
                <a:latin typeface="Calibri"/>
                <a:ea typeface="Calibri"/>
                <a:cs typeface="Calibri"/>
                <a:sym typeface="Calibri"/>
              </a:rPr>
              <a:t>Not 10 cells: it is the percentage of the sample occupied by one taxon.</a:t>
            </a:r>
            <a:endParaRPr b="0" i="0" sz="1400" u="none" cap="none" strike="noStrike">
              <a:solidFill>
                <a:schemeClr val="dk1"/>
              </a:solidFill>
              <a:latin typeface="Calibri"/>
              <a:ea typeface="Calibri"/>
              <a:cs typeface="Calibri"/>
              <a:sym typeface="Calibri"/>
            </a:endParaRPr>
          </a:p>
        </p:txBody>
      </p:sp>
      <p:sp>
        <p:nvSpPr>
          <p:cNvPr id="147" name="Google Shape;147;p7"/>
          <p:cNvSpPr/>
          <p:nvPr/>
        </p:nvSpPr>
        <p:spPr>
          <a:xfrm>
            <a:off x="4937760" y="1188720"/>
            <a:ext cx="1188720" cy="347472"/>
          </a:xfrm>
          <a:prstGeom prst="rect">
            <a:avLst/>
          </a:prstGeom>
          <a:solidFill>
            <a:srgbClr val="E8603C"/>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8" name="Google Shape;148;p7"/>
          <p:cNvSpPr txBox="1"/>
          <p:nvPr/>
        </p:nvSpPr>
        <p:spPr>
          <a:xfrm>
            <a:off x="6263640" y="1188720"/>
            <a:ext cx="2377440" cy="347472"/>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03C"/>
              </a:buClr>
              <a:buSzPts val="1300"/>
              <a:buFont typeface="Calibri"/>
              <a:buNone/>
            </a:pPr>
            <a:r>
              <a:rPr b="1" i="1" lang="en-US" sz="1300" u="none" cap="none" strike="noStrike">
                <a:solidFill>
                  <a:srgbClr val="E8603C"/>
                </a:solidFill>
                <a:latin typeface="Calibri"/>
                <a:ea typeface="Calibri"/>
                <a:cs typeface="Calibri"/>
                <a:sym typeface="Calibri"/>
              </a:rPr>
              <a:t>Blautia wexlerae</a:t>
            </a:r>
            <a:r>
              <a:rPr b="1" i="0" lang="en-US" sz="1300" u="none" cap="none" strike="noStrike">
                <a:solidFill>
                  <a:srgbClr val="E8603C"/>
                </a:solidFill>
                <a:latin typeface="Calibri"/>
                <a:ea typeface="Calibri"/>
                <a:cs typeface="Calibri"/>
                <a:sym typeface="Calibri"/>
              </a:rPr>
              <a:t> ≈ 10%</a:t>
            </a:r>
            <a:endParaRPr b="0" i="0" sz="1300" u="none" cap="none" strike="noStrike">
              <a:solidFill>
                <a:schemeClr val="dk1"/>
              </a:solidFill>
              <a:latin typeface="Calibri"/>
              <a:ea typeface="Calibri"/>
              <a:cs typeface="Calibri"/>
              <a:sym typeface="Calibri"/>
            </a:endParaRPr>
          </a:p>
        </p:txBody>
      </p:sp>
      <p:sp>
        <p:nvSpPr>
          <p:cNvPr id="149" name="Google Shape;149;p7"/>
          <p:cNvSpPr/>
          <p:nvPr/>
        </p:nvSpPr>
        <p:spPr>
          <a:xfrm>
            <a:off x="4937760" y="1536192"/>
            <a:ext cx="1188720" cy="972922"/>
          </a:xfrm>
          <a:prstGeom prst="rect">
            <a:avLst/>
          </a:prstGeom>
          <a:solidFill>
            <a:srgbClr val="0B3C49"/>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0" name="Google Shape;150;p7"/>
          <p:cNvSpPr/>
          <p:nvPr/>
        </p:nvSpPr>
        <p:spPr>
          <a:xfrm>
            <a:off x="4937760" y="2509114"/>
            <a:ext cx="1188720" cy="764438"/>
          </a:xfrm>
          <a:prstGeom prst="rect">
            <a:avLst/>
          </a:prstGeom>
          <a:solidFill>
            <a:srgbClr val="2E9C86"/>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7"/>
          <p:cNvSpPr/>
          <p:nvPr/>
        </p:nvSpPr>
        <p:spPr>
          <a:xfrm>
            <a:off x="4937760" y="3273552"/>
            <a:ext cx="1188720" cy="625450"/>
          </a:xfrm>
          <a:prstGeom prst="rect">
            <a:avLst/>
          </a:prstGeom>
          <a:solidFill>
            <a:srgbClr val="5FBFA9"/>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2" name="Google Shape;152;p7"/>
          <p:cNvSpPr/>
          <p:nvPr/>
        </p:nvSpPr>
        <p:spPr>
          <a:xfrm>
            <a:off x="4937760" y="3899002"/>
            <a:ext cx="1188720" cy="486461"/>
          </a:xfrm>
          <a:prstGeom prst="rect">
            <a:avLst/>
          </a:prstGeom>
          <a:solidFill>
            <a:srgbClr val="15525F"/>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7"/>
          <p:cNvSpPr/>
          <p:nvPr/>
        </p:nvSpPr>
        <p:spPr>
          <a:xfrm>
            <a:off x="4937760" y="4385462"/>
            <a:ext cx="1188720" cy="277978"/>
          </a:xfrm>
          <a:prstGeom prst="rect">
            <a:avLst/>
          </a:prstGeom>
          <a:solidFill>
            <a:srgbClr val="B9D8D1"/>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7"/>
          <p:cNvSpPr txBox="1"/>
          <p:nvPr/>
        </p:nvSpPr>
        <p:spPr>
          <a:xfrm>
            <a:off x="6263640" y="4206240"/>
            <a:ext cx="237744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7278"/>
              </a:buClr>
              <a:buSzPts val="1300"/>
              <a:buFont typeface="Calibri"/>
              <a:buNone/>
            </a:pPr>
            <a:r>
              <a:rPr b="0" i="0" lang="en-US" sz="1300" u="none" cap="none" strike="noStrike">
                <a:solidFill>
                  <a:srgbClr val="5E7278"/>
                </a:solidFill>
                <a:latin typeface="Calibri"/>
                <a:ea typeface="Calibri"/>
                <a:cs typeface="Calibri"/>
                <a:sym typeface="Calibri"/>
              </a:rPr>
              <a:t>One sample = 100%</a:t>
            </a:r>
            <a:endParaRPr b="0" i="0" sz="1300" u="none" cap="none" strike="noStrike">
              <a:solidFill>
                <a:schemeClr val="dk1"/>
              </a:solidFill>
              <a:latin typeface="Calibri"/>
              <a:ea typeface="Calibri"/>
              <a:cs typeface="Calibri"/>
              <a:sym typeface="Calibri"/>
            </a:endParaRPr>
          </a:p>
        </p:txBody>
      </p:sp>
      <p:sp>
        <p:nvSpPr>
          <p:cNvPr id="155" name="Google Shape;155;p7"/>
          <p:cNvSpPr txBox="1"/>
          <p:nvPr/>
        </p:nvSpPr>
        <p:spPr>
          <a:xfrm>
            <a:off x="4572000" y="4709160"/>
            <a:ext cx="192024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7278"/>
              </a:buClr>
              <a:buSzPts val="1000"/>
              <a:buFont typeface="Calibri"/>
              <a:buNone/>
            </a:pPr>
            <a:r>
              <a:rPr b="0" i="1" lang="en-US" sz="1000" u="none" cap="none" strike="noStrike">
                <a:solidFill>
                  <a:srgbClr val="5E7278"/>
                </a:solidFill>
                <a:latin typeface="Calibri"/>
                <a:ea typeface="Calibri"/>
                <a:cs typeface="Calibri"/>
                <a:sym typeface="Calibri"/>
              </a:rPr>
              <a:t>Illustrative diagram</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60" name="Shape 160"/>
        <p:cNvGrpSpPr/>
        <p:nvPr/>
      </p:nvGrpSpPr>
      <p:grpSpPr>
        <a:xfrm>
          <a:off x="0" y="0"/>
          <a:ext cx="0" cy="0"/>
          <a:chOff x="0" y="0"/>
          <a:chExt cx="0" cy="0"/>
        </a:xfrm>
      </p:grpSpPr>
      <p:sp>
        <p:nvSpPr>
          <p:cNvPr id="161" name="Google Shape;161;p8"/>
          <p:cNvSpPr txBox="1"/>
          <p:nvPr/>
        </p:nvSpPr>
        <p:spPr>
          <a:xfrm>
            <a:off x="457200" y="274320"/>
            <a:ext cx="6949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2800"/>
              <a:buFont typeface="Cambria"/>
              <a:buNone/>
            </a:pPr>
            <a:r>
              <a:rPr b="1" i="1" lang="en-US" sz="2800" u="none" cap="none" strike="noStrike">
                <a:solidFill>
                  <a:srgbClr val="0B3C49"/>
                </a:solidFill>
                <a:latin typeface="Cambria"/>
                <a:ea typeface="Cambria"/>
                <a:cs typeface="Cambria"/>
                <a:sym typeface="Cambria"/>
              </a:rPr>
              <a:t>Blautia wexlerae</a:t>
            </a:r>
            <a:r>
              <a:rPr b="1" i="0" lang="en-US" sz="2800" u="none" cap="none" strike="noStrike">
                <a:solidFill>
                  <a:srgbClr val="0B3C49"/>
                </a:solidFill>
                <a:latin typeface="Cambria"/>
                <a:ea typeface="Cambria"/>
                <a:cs typeface="Cambria"/>
                <a:sym typeface="Cambria"/>
              </a:rPr>
              <a:t>: Control vs A</a:t>
            </a:r>
            <a:endParaRPr b="0" i="0" sz="2800" u="none" cap="none" strike="noStrike">
              <a:solidFill>
                <a:schemeClr val="dk1"/>
              </a:solidFill>
              <a:latin typeface="Calibri"/>
              <a:ea typeface="Calibri"/>
              <a:cs typeface="Calibri"/>
              <a:sym typeface="Calibri"/>
            </a:endParaRPr>
          </a:p>
        </p:txBody>
      </p:sp>
      <p:sp>
        <p:nvSpPr>
          <p:cNvPr id="162" name="Google Shape;162;p8"/>
          <p:cNvSpPr/>
          <p:nvPr/>
        </p:nvSpPr>
        <p:spPr>
          <a:xfrm>
            <a:off x="7498080" y="411480"/>
            <a:ext cx="1188720" cy="384048"/>
          </a:xfrm>
          <a:prstGeom prst="roundRect">
            <a:avLst>
              <a:gd fmla="val 50000"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8"/>
          <p:cNvSpPr txBox="1"/>
          <p:nvPr/>
        </p:nvSpPr>
        <p:spPr>
          <a:xfrm>
            <a:off x="7498080" y="411480"/>
            <a:ext cx="11887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9C86"/>
              </a:buClr>
              <a:buSzPts val="1100"/>
              <a:buFont typeface="Calibri"/>
              <a:buNone/>
            </a:pPr>
            <a:r>
              <a:rPr b="1" i="0" lang="en-US" sz="1100" u="none" cap="none" strike="noStrike">
                <a:solidFill>
                  <a:srgbClr val="2E9C86"/>
                </a:solidFill>
                <a:latin typeface="Calibri"/>
                <a:ea typeface="Calibri"/>
                <a:cs typeface="Calibri"/>
                <a:sym typeface="Calibri"/>
              </a:rPr>
              <a:t>2 · Abundance</a:t>
            </a:r>
            <a:endParaRPr b="0" i="0" sz="1100" u="none" cap="none" strike="noStrike">
              <a:solidFill>
                <a:schemeClr val="dk1"/>
              </a:solidFill>
              <a:latin typeface="Calibri"/>
              <a:ea typeface="Calibri"/>
              <a:cs typeface="Calibri"/>
              <a:sym typeface="Calibri"/>
            </a:endParaRPr>
          </a:p>
        </p:txBody>
      </p:sp>
      <p:sp>
        <p:nvSpPr>
          <p:cNvPr id="164" name="Google Shape;164;p8"/>
          <p:cNvSpPr/>
          <p:nvPr/>
        </p:nvSpPr>
        <p:spPr>
          <a:xfrm>
            <a:off x="457200" y="1143000"/>
            <a:ext cx="5577840" cy="3611880"/>
          </a:xfrm>
          <a:prstGeom prst="roundRect">
            <a:avLst>
              <a:gd fmla="val 3038" name="adj"/>
            </a:avLst>
          </a:prstGeom>
          <a:solidFill>
            <a:srgbClr val="15262D"/>
          </a:solidFill>
          <a:ln cap="flat" cmpd="sng" w="12700">
            <a:solidFill>
              <a:srgbClr val="1526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8"/>
          <p:cNvSpPr txBox="1"/>
          <p:nvPr/>
        </p:nvSpPr>
        <p:spPr>
          <a:xfrm>
            <a:off x="548640" y="1234440"/>
            <a:ext cx="5394960" cy="3429000"/>
          </a:xfrm>
          <a:prstGeom prst="rect">
            <a:avLst/>
          </a:prstGeom>
          <a:noFill/>
          <a:ln>
            <a:noFill/>
          </a:ln>
        </p:spPr>
        <p:txBody>
          <a:bodyPr anchorCtr="0" anchor="t" bIns="1000" lIns="1000" spcFirstLastPara="1" rIns="1000" wrap="square" tIns="1000">
            <a:noAutofit/>
          </a:bodyPr>
          <a:lstStyle/>
          <a:p>
            <a:pPr indent="0" lvl="0" marL="0" marR="0" rtl="0" algn="l">
              <a:spcBef>
                <a:spcPts val="0"/>
              </a:spcBef>
              <a:spcAft>
                <a:spcPts val="0"/>
              </a:spcAft>
              <a:buClr>
                <a:srgbClr val="E6EEF0"/>
              </a:buClr>
              <a:buSzPts val="1350"/>
              <a:buFont typeface="Courier New"/>
              <a:buNone/>
            </a:pPr>
            <a:r>
              <a:rPr b="0" i="0" lang="en-US" sz="1350" u="none" cap="none" strike="noStrike">
                <a:solidFill>
                  <a:srgbClr val="E6EEF0"/>
                </a:solidFill>
                <a:latin typeface="Courier New"/>
                <a:ea typeface="Courier New"/>
                <a:cs typeface="Courier New"/>
                <a:sym typeface="Courier New"/>
              </a:rPr>
              <a:t>abundance_long &lt;- psmelt(ps)</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350"/>
              <a:buFont typeface="Courier New"/>
              <a:buNone/>
            </a:pPr>
            <a:r>
              <a:rPr b="0" i="0" lang="en-US" sz="1350" u="none" cap="none" strike="noStrike">
                <a:solidFill>
                  <a:srgbClr val="E6EEF0"/>
                </a:solidFill>
                <a:latin typeface="Courier New"/>
                <a:ea typeface="Courier New"/>
                <a:cs typeface="Courier New"/>
                <a:sym typeface="Courier New"/>
              </a:rPr>
              <a:t> </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350"/>
              <a:buFont typeface="Courier New"/>
              <a:buNone/>
            </a:pPr>
            <a:r>
              <a:rPr b="0" i="0" lang="en-US" sz="1350" u="none" cap="none" strike="noStrike">
                <a:solidFill>
                  <a:srgbClr val="E6EEF0"/>
                </a:solidFill>
                <a:latin typeface="Courier New"/>
                <a:ea typeface="Courier New"/>
                <a:cs typeface="Courier New"/>
                <a:sym typeface="Courier New"/>
              </a:rPr>
              <a:t>blautia &lt;- filter(abundance_long,</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350"/>
              <a:buFont typeface="Courier New"/>
              <a:buNone/>
            </a:pPr>
            <a:r>
              <a:rPr b="0" i="0" lang="en-US" sz="1350" u="none" cap="none" strike="noStrike">
                <a:solidFill>
                  <a:srgbClr val="E6EEF0"/>
                </a:solidFill>
                <a:latin typeface="Courier New"/>
                <a:ea typeface="Courier New"/>
                <a:cs typeface="Courier New"/>
                <a:sym typeface="Courier New"/>
              </a:rPr>
              <a:t>                  OTU == "Blautia wexlerae",</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350"/>
              <a:buFont typeface="Courier New"/>
              <a:buNone/>
            </a:pPr>
            <a:r>
              <a:rPr b="0" i="0" lang="en-US" sz="1350" u="none" cap="none" strike="noStrike">
                <a:solidFill>
                  <a:srgbClr val="E6EEF0"/>
                </a:solidFill>
                <a:latin typeface="Courier New"/>
                <a:ea typeface="Courier New"/>
                <a:cs typeface="Courier New"/>
                <a:sym typeface="Courier New"/>
              </a:rPr>
              <a:t>                  product %in% c("Control", "A"))</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350"/>
              <a:buFont typeface="Courier New"/>
              <a:buNone/>
            </a:pPr>
            <a:r>
              <a:rPr b="0" i="0" lang="en-US" sz="1350" u="none" cap="none" strike="noStrike">
                <a:solidFill>
                  <a:srgbClr val="E6EEF0"/>
                </a:solidFill>
                <a:latin typeface="Courier New"/>
                <a:ea typeface="Courier New"/>
                <a:cs typeface="Courier New"/>
                <a:sym typeface="Courier New"/>
              </a:rPr>
              <a:t>blautia$product &lt;- droplevels(blautia$product)</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350"/>
              <a:buFont typeface="Courier New"/>
              <a:buNone/>
            </a:pPr>
            <a:r>
              <a:rPr b="0" i="0" lang="en-US" sz="1350" u="none" cap="none" strike="noStrike">
                <a:solidFill>
                  <a:srgbClr val="E6EEF0"/>
                </a:solidFill>
                <a:latin typeface="Courier New"/>
                <a:ea typeface="Courier New"/>
                <a:cs typeface="Courier New"/>
                <a:sym typeface="Courier New"/>
              </a:rPr>
              <a:t>blautia</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350"/>
              <a:buFont typeface="Courier New"/>
              <a:buNone/>
            </a:pPr>
            <a:r>
              <a:rPr b="0" i="0" lang="en-US" sz="1350" u="none" cap="none" strike="noStrike">
                <a:solidFill>
                  <a:srgbClr val="E6EEF0"/>
                </a:solidFill>
                <a:latin typeface="Courier New"/>
                <a:ea typeface="Courier New"/>
                <a:cs typeface="Courier New"/>
                <a:sym typeface="Courier New"/>
              </a:rPr>
              <a:t> </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6A8A1"/>
              </a:buClr>
              <a:buSzPts val="1350"/>
              <a:buFont typeface="Courier New"/>
              <a:buNone/>
            </a:pPr>
            <a:r>
              <a:rPr b="0" i="0" lang="en-US" sz="1350" u="none" cap="none" strike="noStrike">
                <a:solidFill>
                  <a:srgbClr val="86A8A1"/>
                </a:solidFill>
                <a:latin typeface="Courier New"/>
                <a:ea typeface="Courier New"/>
                <a:cs typeface="Courier New"/>
                <a:sym typeface="Courier New"/>
              </a:rPr>
              <a:t># Look at the means before testing them</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350"/>
              <a:buFont typeface="Courier New"/>
              <a:buNone/>
            </a:pPr>
            <a:r>
              <a:rPr b="0" i="0" lang="en-US" sz="1350" u="none" cap="none" strike="noStrike">
                <a:solidFill>
                  <a:srgbClr val="E6EEF0"/>
                </a:solidFill>
                <a:latin typeface="Courier New"/>
                <a:ea typeface="Courier New"/>
                <a:cs typeface="Courier New"/>
                <a:sym typeface="Courier New"/>
              </a:rPr>
              <a:t>blautia_groups &lt;- group_by(blautia, product)</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350"/>
              <a:buFont typeface="Courier New"/>
              <a:buNone/>
            </a:pPr>
            <a:r>
              <a:rPr b="0" i="0" lang="en-US" sz="1350" u="none" cap="none" strike="noStrike">
                <a:solidFill>
                  <a:srgbClr val="E6EEF0"/>
                </a:solidFill>
                <a:latin typeface="Courier New"/>
                <a:ea typeface="Courier New"/>
                <a:cs typeface="Courier New"/>
                <a:sym typeface="Courier New"/>
              </a:rPr>
              <a:t>summarise(blautia_groups,</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350"/>
              <a:buFont typeface="Courier New"/>
              <a:buNone/>
            </a:pPr>
            <a:r>
              <a:rPr b="0" i="0" lang="en-US" sz="1350" u="none" cap="none" strike="noStrike">
                <a:solidFill>
                  <a:srgbClr val="E6EEF0"/>
                </a:solidFill>
                <a:latin typeface="Courier New"/>
                <a:ea typeface="Courier New"/>
                <a:cs typeface="Courier New"/>
                <a:sym typeface="Courier New"/>
              </a:rPr>
              <a:t>          mean_abundance = mean(Abundance))</a:t>
            </a:r>
            <a:endParaRPr b="0" i="0" sz="1350" u="none" cap="none" strike="noStrike">
              <a:solidFill>
                <a:schemeClr val="dk1"/>
              </a:solidFill>
              <a:latin typeface="Calibri"/>
              <a:ea typeface="Calibri"/>
              <a:cs typeface="Calibri"/>
              <a:sym typeface="Calibri"/>
            </a:endParaRPr>
          </a:p>
        </p:txBody>
      </p:sp>
      <p:sp>
        <p:nvSpPr>
          <p:cNvPr id="166" name="Google Shape;166;p8"/>
          <p:cNvSpPr/>
          <p:nvPr/>
        </p:nvSpPr>
        <p:spPr>
          <a:xfrm>
            <a:off x="6309360" y="1280160"/>
            <a:ext cx="329184" cy="329184"/>
          </a:xfrm>
          <a:prstGeom prst="ellipse">
            <a:avLst/>
          </a:prstGeom>
          <a:solidFill>
            <a:srgbClr val="2E9C86"/>
          </a:solidFill>
          <a:ln cap="flat" cmpd="sng" w="12700">
            <a:solidFill>
              <a:srgbClr val="2E9C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8"/>
          <p:cNvSpPr txBox="1"/>
          <p:nvPr/>
        </p:nvSpPr>
        <p:spPr>
          <a:xfrm>
            <a:off x="6309360" y="128016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168" name="Google Shape;168;p8"/>
          <p:cNvSpPr txBox="1"/>
          <p:nvPr/>
        </p:nvSpPr>
        <p:spPr>
          <a:xfrm>
            <a:off x="6766560" y="1243584"/>
            <a:ext cx="1920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3C49"/>
              </a:buClr>
              <a:buSzPts val="1200"/>
              <a:buFont typeface="Calibri"/>
              <a:buNone/>
            </a:pPr>
            <a:r>
              <a:rPr b="1" i="0" lang="en-US" sz="1200" u="none" cap="none" strike="noStrike">
                <a:solidFill>
                  <a:srgbClr val="0B3C49"/>
                </a:solidFill>
                <a:latin typeface="Calibri"/>
                <a:ea typeface="Calibri"/>
                <a:cs typeface="Calibri"/>
                <a:sym typeface="Calibri"/>
              </a:rPr>
              <a:t>psmelt()</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E7278"/>
              </a:buClr>
              <a:buSzPts val="1200"/>
              <a:buFont typeface="Calibri"/>
              <a:buNone/>
            </a:pPr>
            <a:r>
              <a:rPr b="0" i="0" lang="en-US" sz="1200" u="none" cap="none" strike="noStrike">
                <a:solidFill>
                  <a:srgbClr val="5E7278"/>
                </a:solidFill>
                <a:latin typeface="Calibri"/>
                <a:ea typeface="Calibri"/>
                <a:cs typeface="Calibri"/>
                <a:sym typeface="Calibri"/>
              </a:rPr>
              <a:t>phyloseq → long table (taxon × sample)</a:t>
            </a:r>
            <a:endParaRPr b="0" i="0" sz="1200" u="none" cap="none" strike="noStrike">
              <a:solidFill>
                <a:schemeClr val="dk1"/>
              </a:solidFill>
              <a:latin typeface="Calibri"/>
              <a:ea typeface="Calibri"/>
              <a:cs typeface="Calibri"/>
              <a:sym typeface="Calibri"/>
            </a:endParaRPr>
          </a:p>
        </p:txBody>
      </p:sp>
      <p:sp>
        <p:nvSpPr>
          <p:cNvPr id="169" name="Google Shape;169;p8"/>
          <p:cNvSpPr/>
          <p:nvPr/>
        </p:nvSpPr>
        <p:spPr>
          <a:xfrm>
            <a:off x="6309360" y="2148840"/>
            <a:ext cx="329184" cy="329184"/>
          </a:xfrm>
          <a:prstGeom prst="ellipse">
            <a:avLst/>
          </a:prstGeom>
          <a:solidFill>
            <a:srgbClr val="2E9C86"/>
          </a:solidFill>
          <a:ln cap="flat" cmpd="sng" w="12700">
            <a:solidFill>
              <a:srgbClr val="2E9C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8"/>
          <p:cNvSpPr txBox="1"/>
          <p:nvPr/>
        </p:nvSpPr>
        <p:spPr>
          <a:xfrm>
            <a:off x="6309360" y="214884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171" name="Google Shape;171;p8"/>
          <p:cNvSpPr txBox="1"/>
          <p:nvPr/>
        </p:nvSpPr>
        <p:spPr>
          <a:xfrm>
            <a:off x="6766560" y="2112264"/>
            <a:ext cx="1920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3C49"/>
              </a:buClr>
              <a:buSzPts val="1200"/>
              <a:buFont typeface="Calibri"/>
              <a:buNone/>
            </a:pPr>
            <a:r>
              <a:rPr b="1" i="0" lang="en-US" sz="1200" u="none" cap="none" strike="noStrike">
                <a:solidFill>
                  <a:srgbClr val="0B3C49"/>
                </a:solidFill>
                <a:latin typeface="Calibri"/>
                <a:ea typeface="Calibri"/>
                <a:cs typeface="Calibri"/>
                <a:sym typeface="Calibri"/>
              </a:rPr>
              <a:t>filter()</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E7278"/>
              </a:buClr>
              <a:buSzPts val="1200"/>
              <a:buFont typeface="Calibri"/>
              <a:buNone/>
            </a:pPr>
            <a:r>
              <a:rPr b="0" i="0" lang="en-US" sz="1200" u="none" cap="none" strike="noStrike">
                <a:solidFill>
                  <a:srgbClr val="5E7278"/>
                </a:solidFill>
                <a:latin typeface="Calibri"/>
                <a:ea typeface="Calibri"/>
                <a:cs typeface="Calibri"/>
                <a:sym typeface="Calibri"/>
              </a:rPr>
              <a:t>One species and two groups</a:t>
            </a:r>
            <a:endParaRPr b="0" i="0" sz="1200" u="none" cap="none" strike="noStrike">
              <a:solidFill>
                <a:schemeClr val="dk1"/>
              </a:solidFill>
              <a:latin typeface="Calibri"/>
              <a:ea typeface="Calibri"/>
              <a:cs typeface="Calibri"/>
              <a:sym typeface="Calibri"/>
            </a:endParaRPr>
          </a:p>
        </p:txBody>
      </p:sp>
      <p:sp>
        <p:nvSpPr>
          <p:cNvPr id="172" name="Google Shape;172;p8"/>
          <p:cNvSpPr/>
          <p:nvPr/>
        </p:nvSpPr>
        <p:spPr>
          <a:xfrm>
            <a:off x="6309360" y="3017520"/>
            <a:ext cx="329184" cy="329184"/>
          </a:xfrm>
          <a:prstGeom prst="ellipse">
            <a:avLst/>
          </a:prstGeom>
          <a:solidFill>
            <a:srgbClr val="2E9C86"/>
          </a:solidFill>
          <a:ln cap="flat" cmpd="sng" w="12700">
            <a:solidFill>
              <a:srgbClr val="2E9C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p8"/>
          <p:cNvSpPr txBox="1"/>
          <p:nvPr/>
        </p:nvSpPr>
        <p:spPr>
          <a:xfrm>
            <a:off x="6309360" y="301752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174" name="Google Shape;174;p8"/>
          <p:cNvSpPr txBox="1"/>
          <p:nvPr/>
        </p:nvSpPr>
        <p:spPr>
          <a:xfrm>
            <a:off x="6766560" y="2980944"/>
            <a:ext cx="1920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3C49"/>
              </a:buClr>
              <a:buSzPts val="1200"/>
              <a:buFont typeface="Calibri"/>
              <a:buNone/>
            </a:pPr>
            <a:r>
              <a:rPr b="1" i="0" lang="en-US" sz="1200" u="none" cap="none" strike="noStrike">
                <a:solidFill>
                  <a:srgbClr val="0B3C49"/>
                </a:solidFill>
                <a:latin typeface="Calibri"/>
                <a:ea typeface="Calibri"/>
                <a:cs typeface="Calibri"/>
                <a:sym typeface="Calibri"/>
              </a:rPr>
              <a:t>droplevels()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E7278"/>
              </a:buClr>
              <a:buSzPts val="1200"/>
              <a:buFont typeface="Calibri"/>
              <a:buNone/>
            </a:pPr>
            <a:r>
              <a:rPr b="0" i="0" lang="en-US" sz="1200" u="none" cap="none" strike="noStrike">
                <a:solidFill>
                  <a:srgbClr val="5E7278"/>
                </a:solidFill>
                <a:latin typeface="Calibri"/>
                <a:ea typeface="Calibri"/>
                <a:cs typeface="Calibri"/>
                <a:sym typeface="Calibri"/>
              </a:rPr>
              <a:t>Removes the empty B group</a:t>
            </a:r>
            <a:endParaRPr b="0" i="0" sz="1200" u="none" cap="none" strike="noStrike">
              <a:solidFill>
                <a:schemeClr val="dk1"/>
              </a:solidFill>
              <a:latin typeface="Calibri"/>
              <a:ea typeface="Calibri"/>
              <a:cs typeface="Calibri"/>
              <a:sym typeface="Calibri"/>
            </a:endParaRPr>
          </a:p>
        </p:txBody>
      </p:sp>
      <p:sp>
        <p:nvSpPr>
          <p:cNvPr id="175" name="Google Shape;175;p8"/>
          <p:cNvSpPr/>
          <p:nvPr/>
        </p:nvSpPr>
        <p:spPr>
          <a:xfrm>
            <a:off x="6309360" y="3886200"/>
            <a:ext cx="329184" cy="329184"/>
          </a:xfrm>
          <a:prstGeom prst="ellipse">
            <a:avLst/>
          </a:prstGeom>
          <a:solidFill>
            <a:srgbClr val="2E9C86"/>
          </a:solidFill>
          <a:ln cap="flat" cmpd="sng" w="12700">
            <a:solidFill>
              <a:srgbClr val="2E9C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6" name="Google Shape;176;p8"/>
          <p:cNvSpPr txBox="1"/>
          <p:nvPr/>
        </p:nvSpPr>
        <p:spPr>
          <a:xfrm>
            <a:off x="6309360" y="388620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177" name="Google Shape;177;p8"/>
          <p:cNvSpPr txBox="1"/>
          <p:nvPr/>
        </p:nvSpPr>
        <p:spPr>
          <a:xfrm>
            <a:off x="6766560" y="3849624"/>
            <a:ext cx="1920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3C49"/>
              </a:buClr>
              <a:buSzPts val="1200"/>
              <a:buFont typeface="Calibri"/>
              <a:buNone/>
            </a:pPr>
            <a:r>
              <a:rPr b="1" i="0" lang="en-US" sz="1200" u="none" cap="none" strike="noStrike">
                <a:solidFill>
                  <a:srgbClr val="0B3C49"/>
                </a:solidFill>
                <a:latin typeface="Calibri"/>
                <a:ea typeface="Calibri"/>
                <a:cs typeface="Calibri"/>
                <a:sym typeface="Calibri"/>
              </a:rPr>
              <a:t>group_by() + summarise()</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E7278"/>
              </a:buClr>
              <a:buSzPts val="1200"/>
              <a:buFont typeface="Calibri"/>
              <a:buNone/>
            </a:pPr>
            <a:r>
              <a:rPr b="0" i="0" lang="en-US" sz="1200" u="none" cap="none" strike="noStrike">
                <a:solidFill>
                  <a:srgbClr val="5E7278"/>
                </a:solidFill>
                <a:latin typeface="Calibri"/>
                <a:ea typeface="Calibri"/>
                <a:cs typeface="Calibri"/>
                <a:sym typeface="Calibri"/>
              </a:rPr>
              <a:t>Mean per group</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182" name="Shape 182"/>
        <p:cNvGrpSpPr/>
        <p:nvPr/>
      </p:nvGrpSpPr>
      <p:grpSpPr>
        <a:xfrm>
          <a:off x="0" y="0"/>
          <a:ext cx="0" cy="0"/>
          <a:chOff x="0" y="0"/>
          <a:chExt cx="0" cy="0"/>
        </a:xfrm>
      </p:grpSpPr>
      <p:sp>
        <p:nvSpPr>
          <p:cNvPr id="183" name="Google Shape;183;p9"/>
          <p:cNvSpPr txBox="1"/>
          <p:nvPr/>
        </p:nvSpPr>
        <p:spPr>
          <a:xfrm>
            <a:off x="457200" y="274320"/>
            <a:ext cx="6949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2800"/>
              <a:buFont typeface="Cambria"/>
              <a:buNone/>
            </a:pPr>
            <a:r>
              <a:rPr b="1" i="0" lang="en-US" sz="2800" u="none" cap="none" strike="noStrike">
                <a:solidFill>
                  <a:srgbClr val="0B3C49"/>
                </a:solidFill>
                <a:latin typeface="Cambria"/>
                <a:ea typeface="Cambria"/>
                <a:cs typeface="Cambria"/>
                <a:sym typeface="Cambria"/>
              </a:rPr>
              <a:t>Our first ggplot</a:t>
            </a:r>
            <a:endParaRPr b="0" i="0" sz="2800" u="none" cap="none" strike="noStrike">
              <a:solidFill>
                <a:schemeClr val="dk1"/>
              </a:solidFill>
              <a:latin typeface="Calibri"/>
              <a:ea typeface="Calibri"/>
              <a:cs typeface="Calibri"/>
              <a:sym typeface="Calibri"/>
            </a:endParaRPr>
          </a:p>
        </p:txBody>
      </p:sp>
      <p:sp>
        <p:nvSpPr>
          <p:cNvPr id="184" name="Google Shape;184;p9"/>
          <p:cNvSpPr/>
          <p:nvPr/>
        </p:nvSpPr>
        <p:spPr>
          <a:xfrm>
            <a:off x="7498080" y="411480"/>
            <a:ext cx="1188720" cy="384048"/>
          </a:xfrm>
          <a:prstGeom prst="roundRect">
            <a:avLst>
              <a:gd fmla="val 50000"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5" name="Google Shape;185;p9"/>
          <p:cNvSpPr txBox="1"/>
          <p:nvPr/>
        </p:nvSpPr>
        <p:spPr>
          <a:xfrm>
            <a:off x="7498080" y="411480"/>
            <a:ext cx="11887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9C86"/>
              </a:buClr>
              <a:buSzPts val="1100"/>
              <a:buFont typeface="Calibri"/>
              <a:buNone/>
            </a:pPr>
            <a:r>
              <a:rPr b="1" i="0" lang="en-US" sz="1100" u="none" cap="none" strike="noStrike">
                <a:solidFill>
                  <a:srgbClr val="2E9C86"/>
                </a:solidFill>
                <a:latin typeface="Calibri"/>
                <a:ea typeface="Calibri"/>
                <a:cs typeface="Calibri"/>
                <a:sym typeface="Calibri"/>
              </a:rPr>
              <a:t>2 · Abundance</a:t>
            </a:r>
            <a:endParaRPr b="0" i="0" sz="1100" u="none" cap="none" strike="noStrike">
              <a:solidFill>
                <a:schemeClr val="dk1"/>
              </a:solidFill>
              <a:latin typeface="Calibri"/>
              <a:ea typeface="Calibri"/>
              <a:cs typeface="Calibri"/>
              <a:sym typeface="Calibri"/>
            </a:endParaRPr>
          </a:p>
        </p:txBody>
      </p:sp>
      <p:sp>
        <p:nvSpPr>
          <p:cNvPr id="186" name="Google Shape;186;p9"/>
          <p:cNvSpPr/>
          <p:nvPr/>
        </p:nvSpPr>
        <p:spPr>
          <a:xfrm>
            <a:off x="457200" y="1143000"/>
            <a:ext cx="5120640" cy="3611880"/>
          </a:xfrm>
          <a:prstGeom prst="roundRect">
            <a:avLst>
              <a:gd fmla="val 3038" name="adj"/>
            </a:avLst>
          </a:prstGeom>
          <a:solidFill>
            <a:srgbClr val="15262D"/>
          </a:solidFill>
          <a:ln cap="flat" cmpd="sng" w="12700">
            <a:solidFill>
              <a:srgbClr val="1526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p9"/>
          <p:cNvSpPr txBox="1"/>
          <p:nvPr/>
        </p:nvSpPr>
        <p:spPr>
          <a:xfrm>
            <a:off x="548640" y="1234440"/>
            <a:ext cx="4937760" cy="3429000"/>
          </a:xfrm>
          <a:prstGeom prst="rect">
            <a:avLst/>
          </a:prstGeom>
          <a:noFill/>
          <a:ln>
            <a:noFill/>
          </a:ln>
        </p:spPr>
        <p:txBody>
          <a:bodyPr anchorCtr="0" anchor="t" bIns="1000" lIns="1000" spcFirstLastPara="1" rIns="1000" wrap="square" tIns="1000">
            <a:noAutofit/>
          </a:bodyPr>
          <a:lstStyle/>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ggplot(blautia,</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aes(x = product, y = Abundance,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color = product))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geom_point(size = 3)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stat_summary(fun = mean, geom = "point",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shape = 18, size = 5,</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color = "black")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labs(title = "Relative abundance of Blautia wexlerae",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subtitle = "Black diamond = group mean",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x = "Product",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y = "Relative abundance (%)")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theme_minimal()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theme(legend.position = "none")</a:t>
            </a:r>
            <a:endParaRPr b="0" i="0" sz="1100" u="none" cap="none" strike="noStrike">
              <a:solidFill>
                <a:schemeClr val="dk1"/>
              </a:solidFill>
              <a:latin typeface="Calibri"/>
              <a:ea typeface="Calibri"/>
              <a:cs typeface="Calibri"/>
              <a:sym typeface="Calibri"/>
            </a:endParaRPr>
          </a:p>
        </p:txBody>
      </p:sp>
      <p:sp>
        <p:nvSpPr>
          <p:cNvPr id="188" name="Google Shape;188;p9"/>
          <p:cNvSpPr/>
          <p:nvPr/>
        </p:nvSpPr>
        <p:spPr>
          <a:xfrm>
            <a:off x="5852160" y="1170432"/>
            <a:ext cx="384048" cy="384048"/>
          </a:xfrm>
          <a:prstGeom prst="ellipse">
            <a:avLst/>
          </a:prstGeom>
          <a:solidFill>
            <a:srgbClr val="E8603C"/>
          </a:solidFill>
          <a:ln cap="flat" cmpd="sng" w="12700">
            <a:solidFill>
              <a:srgbClr val="E860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89" name="Google Shape;189;p9"/>
          <p:cNvPicPr preferRelativeResize="0"/>
          <p:nvPr/>
        </p:nvPicPr>
        <p:blipFill rotWithShape="1">
          <a:blip r:embed="rId3">
            <a:alphaModFix/>
          </a:blip>
          <a:srcRect b="0" l="0" r="0" t="0"/>
          <a:stretch/>
        </p:blipFill>
        <p:spPr>
          <a:xfrm>
            <a:off x="5952012" y="1270284"/>
            <a:ext cx="184343" cy="184343"/>
          </a:xfrm>
          <a:prstGeom prst="rect">
            <a:avLst/>
          </a:prstGeom>
          <a:noFill/>
          <a:ln>
            <a:noFill/>
          </a:ln>
        </p:spPr>
      </p:pic>
      <p:sp>
        <p:nvSpPr>
          <p:cNvPr id="190" name="Google Shape;190;p9"/>
          <p:cNvSpPr txBox="1"/>
          <p:nvPr/>
        </p:nvSpPr>
        <p:spPr>
          <a:xfrm>
            <a:off x="6355080" y="1170432"/>
            <a:ext cx="2286000" cy="384048"/>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1500"/>
              <a:buFont typeface="Calibri"/>
              <a:buNone/>
            </a:pPr>
            <a:r>
              <a:rPr b="1" i="0" lang="en-US" sz="1500" u="none" cap="none" strike="noStrike">
                <a:solidFill>
                  <a:srgbClr val="0B3C49"/>
                </a:solidFill>
                <a:latin typeface="Calibri"/>
                <a:ea typeface="Calibri"/>
                <a:cs typeface="Calibri"/>
                <a:sym typeface="Calibri"/>
              </a:rPr>
              <a:t>Plot layers</a:t>
            </a:r>
            <a:endParaRPr b="0" i="0" sz="1500" u="none" cap="none" strike="noStrike">
              <a:solidFill>
                <a:schemeClr val="dk1"/>
              </a:solidFill>
              <a:latin typeface="Calibri"/>
              <a:ea typeface="Calibri"/>
              <a:cs typeface="Calibri"/>
              <a:sym typeface="Calibri"/>
            </a:endParaRPr>
          </a:p>
        </p:txBody>
      </p:sp>
      <p:sp>
        <p:nvSpPr>
          <p:cNvPr id="191" name="Google Shape;191;p9"/>
          <p:cNvSpPr/>
          <p:nvPr/>
        </p:nvSpPr>
        <p:spPr>
          <a:xfrm>
            <a:off x="5852160" y="1737360"/>
            <a:ext cx="2834640" cy="512064"/>
          </a:xfrm>
          <a:prstGeom prst="roundRect">
            <a:avLst>
              <a:gd fmla="val 14286"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2" name="Google Shape;192;p9"/>
          <p:cNvSpPr txBox="1"/>
          <p:nvPr/>
        </p:nvSpPr>
        <p:spPr>
          <a:xfrm>
            <a:off x="5989320" y="1737360"/>
            <a:ext cx="265176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1100"/>
              <a:buFont typeface="Courier New"/>
              <a:buNone/>
            </a:pPr>
            <a:r>
              <a:rPr b="1" i="0" lang="en-US" sz="1100" u="none" cap="none" strike="noStrike">
                <a:solidFill>
                  <a:srgbClr val="0B3C49"/>
                </a:solidFill>
                <a:latin typeface="Courier New"/>
                <a:ea typeface="Courier New"/>
                <a:cs typeface="Courier New"/>
                <a:sym typeface="Courier New"/>
              </a:rPr>
              <a:t>ggplot() + aes()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E7278"/>
              </a:buClr>
              <a:buSzPts val="1100"/>
              <a:buFont typeface="Calibri"/>
              <a:buNone/>
            </a:pPr>
            <a:r>
              <a:rPr b="0" i="0" lang="en-US" sz="1100" u="none" cap="none" strike="noStrike">
                <a:solidFill>
                  <a:srgbClr val="5E7278"/>
                </a:solidFill>
                <a:latin typeface="Calibri"/>
                <a:ea typeface="Calibri"/>
                <a:cs typeface="Calibri"/>
                <a:sym typeface="Calibri"/>
              </a:rPr>
              <a:t>Data and what goes on each axis/colour</a:t>
            </a:r>
            <a:endParaRPr b="0" i="0" sz="1100" u="none" cap="none" strike="noStrike">
              <a:solidFill>
                <a:schemeClr val="dk1"/>
              </a:solidFill>
              <a:latin typeface="Calibri"/>
              <a:ea typeface="Calibri"/>
              <a:cs typeface="Calibri"/>
              <a:sym typeface="Calibri"/>
            </a:endParaRPr>
          </a:p>
        </p:txBody>
      </p:sp>
      <p:sp>
        <p:nvSpPr>
          <p:cNvPr id="193" name="Google Shape;193;p9"/>
          <p:cNvSpPr/>
          <p:nvPr/>
        </p:nvSpPr>
        <p:spPr>
          <a:xfrm>
            <a:off x="5852160" y="2340864"/>
            <a:ext cx="2834640" cy="512064"/>
          </a:xfrm>
          <a:prstGeom prst="roundRect">
            <a:avLst>
              <a:gd fmla="val 14286"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9"/>
          <p:cNvSpPr txBox="1"/>
          <p:nvPr/>
        </p:nvSpPr>
        <p:spPr>
          <a:xfrm>
            <a:off x="5989320" y="2340864"/>
            <a:ext cx="265176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1100"/>
              <a:buFont typeface="Courier New"/>
              <a:buNone/>
            </a:pPr>
            <a:r>
              <a:rPr b="1" i="0" lang="en-US" sz="1100" u="none" cap="none" strike="noStrike">
                <a:solidFill>
                  <a:srgbClr val="0B3C49"/>
                </a:solidFill>
                <a:latin typeface="Courier New"/>
                <a:ea typeface="Courier New"/>
                <a:cs typeface="Courier New"/>
                <a:sym typeface="Courier New"/>
              </a:rPr>
              <a:t>geom_point()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E7278"/>
              </a:buClr>
              <a:buSzPts val="1100"/>
              <a:buFont typeface="Calibri"/>
              <a:buNone/>
            </a:pPr>
            <a:r>
              <a:rPr b="0" i="0" lang="en-US" sz="1100" u="none" cap="none" strike="noStrike">
                <a:solidFill>
                  <a:srgbClr val="5E7278"/>
                </a:solidFill>
                <a:latin typeface="Calibri"/>
                <a:ea typeface="Calibri"/>
                <a:cs typeface="Calibri"/>
                <a:sym typeface="Calibri"/>
              </a:rPr>
              <a:t>One point per sample</a:t>
            </a:r>
            <a:endParaRPr b="0" i="0" sz="1100" u="none" cap="none" strike="noStrike">
              <a:solidFill>
                <a:schemeClr val="dk1"/>
              </a:solidFill>
              <a:latin typeface="Calibri"/>
              <a:ea typeface="Calibri"/>
              <a:cs typeface="Calibri"/>
              <a:sym typeface="Calibri"/>
            </a:endParaRPr>
          </a:p>
        </p:txBody>
      </p:sp>
      <p:sp>
        <p:nvSpPr>
          <p:cNvPr id="195" name="Google Shape;195;p9"/>
          <p:cNvSpPr/>
          <p:nvPr/>
        </p:nvSpPr>
        <p:spPr>
          <a:xfrm>
            <a:off x="5852160" y="2944368"/>
            <a:ext cx="2834640" cy="512064"/>
          </a:xfrm>
          <a:prstGeom prst="roundRect">
            <a:avLst>
              <a:gd fmla="val 14286"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9"/>
          <p:cNvSpPr txBox="1"/>
          <p:nvPr/>
        </p:nvSpPr>
        <p:spPr>
          <a:xfrm>
            <a:off x="5989320" y="2944368"/>
            <a:ext cx="265176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1100"/>
              <a:buFont typeface="Courier New"/>
              <a:buNone/>
            </a:pPr>
            <a:r>
              <a:rPr b="1" i="0" lang="en-US" sz="1100" u="none" cap="none" strike="noStrike">
                <a:solidFill>
                  <a:srgbClr val="0B3C49"/>
                </a:solidFill>
                <a:latin typeface="Courier New"/>
                <a:ea typeface="Courier New"/>
                <a:cs typeface="Courier New"/>
                <a:sym typeface="Courier New"/>
              </a:rPr>
              <a:t>stat_summary()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E7278"/>
              </a:buClr>
              <a:buSzPts val="1100"/>
              <a:buFont typeface="Calibri"/>
              <a:buNone/>
            </a:pPr>
            <a:r>
              <a:rPr b="0" i="0" lang="en-US" sz="1100" u="none" cap="none" strike="noStrike">
                <a:solidFill>
                  <a:srgbClr val="5E7278"/>
                </a:solidFill>
                <a:latin typeface="Calibri"/>
                <a:ea typeface="Calibri"/>
                <a:cs typeface="Calibri"/>
                <a:sym typeface="Calibri"/>
              </a:rPr>
              <a:t>Group mean (black diamond)</a:t>
            </a:r>
            <a:endParaRPr b="0" i="0" sz="1100" u="none" cap="none" strike="noStrike">
              <a:solidFill>
                <a:schemeClr val="dk1"/>
              </a:solidFill>
              <a:latin typeface="Calibri"/>
              <a:ea typeface="Calibri"/>
              <a:cs typeface="Calibri"/>
              <a:sym typeface="Calibri"/>
            </a:endParaRPr>
          </a:p>
        </p:txBody>
      </p:sp>
      <p:sp>
        <p:nvSpPr>
          <p:cNvPr id="197" name="Google Shape;197;p9"/>
          <p:cNvSpPr/>
          <p:nvPr/>
        </p:nvSpPr>
        <p:spPr>
          <a:xfrm>
            <a:off x="5852160" y="3547872"/>
            <a:ext cx="2834640" cy="512064"/>
          </a:xfrm>
          <a:prstGeom prst="roundRect">
            <a:avLst>
              <a:gd fmla="val 14286"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9"/>
          <p:cNvSpPr txBox="1"/>
          <p:nvPr/>
        </p:nvSpPr>
        <p:spPr>
          <a:xfrm>
            <a:off x="5989320" y="3547872"/>
            <a:ext cx="265176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1100"/>
              <a:buFont typeface="Courier New"/>
              <a:buNone/>
            </a:pPr>
            <a:r>
              <a:rPr b="1" i="0" lang="en-US" sz="1100" u="none" cap="none" strike="noStrike">
                <a:solidFill>
                  <a:srgbClr val="0B3C49"/>
                </a:solidFill>
                <a:latin typeface="Courier New"/>
                <a:ea typeface="Courier New"/>
                <a:cs typeface="Courier New"/>
                <a:sym typeface="Courier New"/>
              </a:rPr>
              <a:t>labs()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E7278"/>
              </a:buClr>
              <a:buSzPts val="1100"/>
              <a:buFont typeface="Calibri"/>
              <a:buNone/>
            </a:pPr>
            <a:r>
              <a:rPr b="0" i="0" lang="en-US" sz="1100" u="none" cap="none" strike="noStrike">
                <a:solidFill>
                  <a:srgbClr val="5E7278"/>
                </a:solidFill>
                <a:latin typeface="Calibri"/>
                <a:ea typeface="Calibri"/>
                <a:cs typeface="Calibri"/>
                <a:sym typeface="Calibri"/>
              </a:rPr>
              <a:t>Title and axis labels</a:t>
            </a:r>
            <a:endParaRPr b="0" i="0" sz="1100" u="none" cap="none" strike="noStrike">
              <a:solidFill>
                <a:schemeClr val="dk1"/>
              </a:solidFill>
              <a:latin typeface="Calibri"/>
              <a:ea typeface="Calibri"/>
              <a:cs typeface="Calibri"/>
              <a:sym typeface="Calibri"/>
            </a:endParaRPr>
          </a:p>
        </p:txBody>
      </p:sp>
      <p:sp>
        <p:nvSpPr>
          <p:cNvPr id="199" name="Google Shape;199;p9"/>
          <p:cNvSpPr/>
          <p:nvPr/>
        </p:nvSpPr>
        <p:spPr>
          <a:xfrm>
            <a:off x="5852160" y="4151376"/>
            <a:ext cx="2834640" cy="512064"/>
          </a:xfrm>
          <a:prstGeom prst="roundRect">
            <a:avLst>
              <a:gd fmla="val 14286"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0" name="Google Shape;200;p9"/>
          <p:cNvSpPr txBox="1"/>
          <p:nvPr/>
        </p:nvSpPr>
        <p:spPr>
          <a:xfrm>
            <a:off x="5989320" y="4151376"/>
            <a:ext cx="2651760" cy="51206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1100"/>
              <a:buFont typeface="Courier New"/>
              <a:buNone/>
            </a:pPr>
            <a:r>
              <a:rPr b="1" i="0" lang="en-US" sz="1100" u="none" cap="none" strike="noStrike">
                <a:solidFill>
                  <a:srgbClr val="0B3C49"/>
                </a:solidFill>
                <a:latin typeface="Courier New"/>
                <a:ea typeface="Courier New"/>
                <a:cs typeface="Courier New"/>
                <a:sym typeface="Courier New"/>
              </a:rPr>
              <a:t>theme_*()</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E7278"/>
              </a:buClr>
              <a:buSzPts val="1100"/>
              <a:buFont typeface="Calibri"/>
              <a:buNone/>
            </a:pPr>
            <a:r>
              <a:rPr b="0" i="0" lang="en-US" sz="1100" u="none" cap="none" strike="noStrike">
                <a:solidFill>
                  <a:srgbClr val="5E7278"/>
                </a:solidFill>
                <a:latin typeface="Calibri"/>
                <a:ea typeface="Calibri"/>
                <a:cs typeface="Calibri"/>
                <a:sym typeface="Calibri"/>
              </a:rPr>
              <a:t>Overall look</a:t>
            </a:r>
            <a:endParaRPr b="0" i="0" sz="11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05" name="Shape 205"/>
        <p:cNvGrpSpPr/>
        <p:nvPr/>
      </p:nvGrpSpPr>
      <p:grpSpPr>
        <a:xfrm>
          <a:off x="0" y="0"/>
          <a:ext cx="0" cy="0"/>
          <a:chOff x="0" y="0"/>
          <a:chExt cx="0" cy="0"/>
        </a:xfrm>
      </p:grpSpPr>
      <p:sp>
        <p:nvSpPr>
          <p:cNvPr id="206" name="Google Shape;206;p10"/>
          <p:cNvSpPr txBox="1"/>
          <p:nvPr/>
        </p:nvSpPr>
        <p:spPr>
          <a:xfrm>
            <a:off x="457200" y="274320"/>
            <a:ext cx="6949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2800"/>
              <a:buFont typeface="Cambria"/>
              <a:buNone/>
            </a:pPr>
            <a:r>
              <a:rPr b="1" i="0" lang="en-US" sz="2800" u="none" cap="none" strike="noStrike">
                <a:solidFill>
                  <a:srgbClr val="0B3C49"/>
                </a:solidFill>
                <a:latin typeface="Cambria"/>
                <a:ea typeface="Cambria"/>
                <a:cs typeface="Cambria"/>
                <a:sym typeface="Cambria"/>
              </a:rPr>
              <a:t>t-test: do the means differ?</a:t>
            </a:r>
            <a:endParaRPr b="0" i="0" sz="2800" u="none" cap="none" strike="noStrike">
              <a:solidFill>
                <a:schemeClr val="dk1"/>
              </a:solidFill>
              <a:latin typeface="Calibri"/>
              <a:ea typeface="Calibri"/>
              <a:cs typeface="Calibri"/>
              <a:sym typeface="Calibri"/>
            </a:endParaRPr>
          </a:p>
        </p:txBody>
      </p:sp>
      <p:sp>
        <p:nvSpPr>
          <p:cNvPr id="207" name="Google Shape;207;p10"/>
          <p:cNvSpPr/>
          <p:nvPr/>
        </p:nvSpPr>
        <p:spPr>
          <a:xfrm>
            <a:off x="7498080" y="411480"/>
            <a:ext cx="1188720" cy="384048"/>
          </a:xfrm>
          <a:prstGeom prst="roundRect">
            <a:avLst>
              <a:gd fmla="val 50000"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8" name="Google Shape;208;p10"/>
          <p:cNvSpPr txBox="1"/>
          <p:nvPr/>
        </p:nvSpPr>
        <p:spPr>
          <a:xfrm>
            <a:off x="7498080" y="411480"/>
            <a:ext cx="11887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9C86"/>
              </a:buClr>
              <a:buSzPts val="1100"/>
              <a:buFont typeface="Calibri"/>
              <a:buNone/>
            </a:pPr>
            <a:r>
              <a:rPr b="1" i="0" lang="en-US" sz="1100" u="none" cap="none" strike="noStrike">
                <a:solidFill>
                  <a:srgbClr val="2E9C86"/>
                </a:solidFill>
                <a:latin typeface="Calibri"/>
                <a:ea typeface="Calibri"/>
                <a:cs typeface="Calibri"/>
                <a:sym typeface="Calibri"/>
              </a:rPr>
              <a:t>2 · Abundance</a:t>
            </a:r>
            <a:endParaRPr b="0" i="0" sz="1100" u="none" cap="none" strike="noStrike">
              <a:solidFill>
                <a:schemeClr val="dk1"/>
              </a:solidFill>
              <a:latin typeface="Calibri"/>
              <a:ea typeface="Calibri"/>
              <a:cs typeface="Calibri"/>
              <a:sym typeface="Calibri"/>
            </a:endParaRPr>
          </a:p>
        </p:txBody>
      </p:sp>
      <p:sp>
        <p:nvSpPr>
          <p:cNvPr id="209" name="Google Shape;209;p10"/>
          <p:cNvSpPr txBox="1"/>
          <p:nvPr/>
        </p:nvSpPr>
        <p:spPr>
          <a:xfrm>
            <a:off x="457200" y="1051560"/>
            <a:ext cx="82296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7278"/>
              </a:buClr>
              <a:buSzPts val="1500"/>
              <a:buFont typeface="Calibri"/>
              <a:buNone/>
            </a:pPr>
            <a:r>
              <a:rPr b="0" i="0" lang="en-US" sz="1500" u="none" cap="none" strike="noStrike">
                <a:solidFill>
                  <a:srgbClr val="5E7278"/>
                </a:solidFill>
                <a:latin typeface="Calibri"/>
                <a:ea typeface="Calibri"/>
                <a:cs typeface="Calibri"/>
                <a:sym typeface="Calibri"/>
              </a:rPr>
              <a:t>Compares the mean of one numerical variable between two groups.</a:t>
            </a:r>
            <a:endParaRPr b="0" i="0" sz="1500" u="none" cap="none" strike="noStrike">
              <a:solidFill>
                <a:schemeClr val="dk1"/>
              </a:solidFill>
              <a:latin typeface="Calibri"/>
              <a:ea typeface="Calibri"/>
              <a:cs typeface="Calibri"/>
              <a:sym typeface="Calibri"/>
            </a:endParaRPr>
          </a:p>
        </p:txBody>
      </p:sp>
      <p:sp>
        <p:nvSpPr>
          <p:cNvPr id="210" name="Google Shape;210;p10"/>
          <p:cNvSpPr/>
          <p:nvPr/>
        </p:nvSpPr>
        <p:spPr>
          <a:xfrm>
            <a:off x="457200" y="1600200"/>
            <a:ext cx="2651760" cy="1051560"/>
          </a:xfrm>
          <a:prstGeom prst="roundRect">
            <a:avLst>
              <a:gd fmla="val 8696"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10"/>
          <p:cNvSpPr txBox="1"/>
          <p:nvPr/>
        </p:nvSpPr>
        <p:spPr>
          <a:xfrm>
            <a:off x="640080" y="1737360"/>
            <a:ext cx="2331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1800"/>
              <a:buFont typeface="Calibri"/>
              <a:buNone/>
            </a:pPr>
            <a:r>
              <a:rPr b="1" i="0" lang="en-US" sz="1800" u="none" cap="none" strike="noStrike">
                <a:solidFill>
                  <a:srgbClr val="0B3C49"/>
                </a:solidFill>
                <a:latin typeface="Calibri"/>
                <a:ea typeface="Calibri"/>
                <a:cs typeface="Calibri"/>
                <a:sym typeface="Calibri"/>
              </a:rPr>
              <a:t>H0</a:t>
            </a:r>
            <a:endParaRPr b="0" i="0" sz="1800" u="none" cap="none" strike="noStrike">
              <a:solidFill>
                <a:schemeClr val="dk1"/>
              </a:solidFill>
              <a:latin typeface="Calibri"/>
              <a:ea typeface="Calibri"/>
              <a:cs typeface="Calibri"/>
              <a:sym typeface="Calibri"/>
            </a:endParaRPr>
          </a:p>
        </p:txBody>
      </p:sp>
      <p:sp>
        <p:nvSpPr>
          <p:cNvPr id="212" name="Google Shape;212;p10"/>
          <p:cNvSpPr txBox="1"/>
          <p:nvPr/>
        </p:nvSpPr>
        <p:spPr>
          <a:xfrm>
            <a:off x="640080" y="2148840"/>
            <a:ext cx="2286000" cy="3931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D33"/>
              </a:buClr>
              <a:buSzPts val="1300"/>
              <a:buFont typeface="Calibri"/>
              <a:buNone/>
            </a:pPr>
            <a:r>
              <a:rPr b="0" i="0" lang="en-US" sz="1300" u="none" cap="none" strike="noStrike">
                <a:solidFill>
                  <a:srgbClr val="1F2D33"/>
                </a:solidFill>
                <a:latin typeface="Calibri"/>
                <a:ea typeface="Calibri"/>
                <a:cs typeface="Calibri"/>
                <a:sym typeface="Calibri"/>
              </a:rPr>
              <a:t>The two population means are equal</a:t>
            </a:r>
            <a:endParaRPr b="0" i="0" sz="1300" u="none" cap="none" strike="noStrike">
              <a:solidFill>
                <a:schemeClr val="dk1"/>
              </a:solidFill>
              <a:latin typeface="Calibri"/>
              <a:ea typeface="Calibri"/>
              <a:cs typeface="Calibri"/>
              <a:sym typeface="Calibri"/>
            </a:endParaRPr>
          </a:p>
        </p:txBody>
      </p:sp>
      <p:sp>
        <p:nvSpPr>
          <p:cNvPr id="213" name="Google Shape;213;p10"/>
          <p:cNvSpPr/>
          <p:nvPr/>
        </p:nvSpPr>
        <p:spPr>
          <a:xfrm>
            <a:off x="3291840" y="1600200"/>
            <a:ext cx="2651760" cy="1051560"/>
          </a:xfrm>
          <a:prstGeom prst="roundRect">
            <a:avLst>
              <a:gd fmla="val 8696"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10"/>
          <p:cNvSpPr txBox="1"/>
          <p:nvPr/>
        </p:nvSpPr>
        <p:spPr>
          <a:xfrm>
            <a:off x="3474720" y="1737360"/>
            <a:ext cx="233172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03C"/>
              </a:buClr>
              <a:buSzPts val="1800"/>
              <a:buFont typeface="Calibri"/>
              <a:buNone/>
            </a:pPr>
            <a:r>
              <a:rPr b="1" i="0" lang="en-US" sz="1800" u="none" cap="none" strike="noStrike">
                <a:solidFill>
                  <a:srgbClr val="E8603C"/>
                </a:solidFill>
                <a:latin typeface="Calibri"/>
                <a:ea typeface="Calibri"/>
                <a:cs typeface="Calibri"/>
                <a:sym typeface="Calibri"/>
              </a:rPr>
              <a:t>H1</a:t>
            </a:r>
            <a:endParaRPr b="0" i="0" sz="1800" u="none" cap="none" strike="noStrike">
              <a:solidFill>
                <a:schemeClr val="dk1"/>
              </a:solidFill>
              <a:latin typeface="Calibri"/>
              <a:ea typeface="Calibri"/>
              <a:cs typeface="Calibri"/>
              <a:sym typeface="Calibri"/>
            </a:endParaRPr>
          </a:p>
        </p:txBody>
      </p:sp>
      <p:sp>
        <p:nvSpPr>
          <p:cNvPr id="215" name="Google Shape;215;p10"/>
          <p:cNvSpPr txBox="1"/>
          <p:nvPr/>
        </p:nvSpPr>
        <p:spPr>
          <a:xfrm>
            <a:off x="3474720" y="2148840"/>
            <a:ext cx="2286000" cy="39319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D33"/>
              </a:buClr>
              <a:buSzPts val="1300"/>
              <a:buFont typeface="Calibri"/>
              <a:buNone/>
            </a:pPr>
            <a:r>
              <a:rPr b="0" i="0" lang="en-US" sz="1300" u="none" cap="none" strike="noStrike">
                <a:solidFill>
                  <a:srgbClr val="1F2D33"/>
                </a:solidFill>
                <a:latin typeface="Calibri"/>
                <a:ea typeface="Calibri"/>
                <a:cs typeface="Calibri"/>
                <a:sym typeface="Calibri"/>
              </a:rPr>
              <a:t>The two population means are different</a:t>
            </a:r>
            <a:endParaRPr b="0" i="0" sz="1300" u="none" cap="none" strike="noStrike">
              <a:solidFill>
                <a:schemeClr val="dk1"/>
              </a:solidFill>
              <a:latin typeface="Calibri"/>
              <a:ea typeface="Calibri"/>
              <a:cs typeface="Calibri"/>
              <a:sym typeface="Calibri"/>
            </a:endParaRPr>
          </a:p>
        </p:txBody>
      </p:sp>
      <p:sp>
        <p:nvSpPr>
          <p:cNvPr id="216" name="Google Shape;216;p10"/>
          <p:cNvSpPr/>
          <p:nvPr/>
        </p:nvSpPr>
        <p:spPr>
          <a:xfrm>
            <a:off x="457200" y="2880360"/>
            <a:ext cx="5486400" cy="1051560"/>
          </a:xfrm>
          <a:prstGeom prst="roundRect">
            <a:avLst>
              <a:gd fmla="val 10435" name="adj"/>
            </a:avLst>
          </a:prstGeom>
          <a:solidFill>
            <a:srgbClr val="15262D"/>
          </a:solidFill>
          <a:ln cap="flat" cmpd="sng" w="12700">
            <a:solidFill>
              <a:srgbClr val="1526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10"/>
          <p:cNvSpPr txBox="1"/>
          <p:nvPr/>
        </p:nvSpPr>
        <p:spPr>
          <a:xfrm>
            <a:off x="548640" y="2971800"/>
            <a:ext cx="5303520" cy="868680"/>
          </a:xfrm>
          <a:prstGeom prst="rect">
            <a:avLst/>
          </a:prstGeom>
          <a:noFill/>
          <a:ln>
            <a:noFill/>
          </a:ln>
        </p:spPr>
        <p:txBody>
          <a:bodyPr anchorCtr="0" anchor="t" bIns="1000" lIns="1000" spcFirstLastPara="1" rIns="1000" wrap="square" tIns="1000">
            <a:noAutofit/>
          </a:bodyPr>
          <a:lstStyle/>
          <a:p>
            <a:pPr indent="0" lvl="0" marL="0" marR="0" rtl="0" algn="l">
              <a:spcBef>
                <a:spcPts val="0"/>
              </a:spcBef>
              <a:spcAft>
                <a:spcPts val="0"/>
              </a:spcAft>
              <a:buClr>
                <a:srgbClr val="E6EEF0"/>
              </a:buClr>
              <a:buSzPts val="1400"/>
              <a:buFont typeface="Courier New"/>
              <a:buNone/>
            </a:pPr>
            <a:r>
              <a:rPr b="0" i="0" lang="en-US" sz="1400" u="none" cap="none" strike="noStrike">
                <a:solidFill>
                  <a:srgbClr val="E6EEF0"/>
                </a:solidFill>
                <a:latin typeface="Courier New"/>
                <a:ea typeface="Courier New"/>
                <a:cs typeface="Courier New"/>
                <a:sym typeface="Courier New"/>
              </a:rPr>
              <a:t>t_blautia &lt;- t.test(Abundance ~ product,</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400"/>
              <a:buFont typeface="Courier New"/>
              <a:buNone/>
            </a:pPr>
            <a:r>
              <a:rPr b="0" i="0" lang="en-US" sz="1400" u="none" cap="none" strike="noStrike">
                <a:solidFill>
                  <a:srgbClr val="E6EEF0"/>
                </a:solidFill>
                <a:latin typeface="Courier New"/>
                <a:ea typeface="Courier New"/>
                <a:cs typeface="Courier New"/>
                <a:sym typeface="Courier New"/>
              </a:rPr>
              <a:t>                    data = blautia)</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400"/>
              <a:buFont typeface="Courier New"/>
              <a:buNone/>
            </a:pPr>
            <a:r>
              <a:rPr b="0" i="0" lang="en-US" sz="1400" u="none" cap="none" strike="noStrike">
                <a:solidFill>
                  <a:srgbClr val="E6EEF0"/>
                </a:solidFill>
                <a:latin typeface="Courier New"/>
                <a:ea typeface="Courier New"/>
                <a:cs typeface="Courier New"/>
                <a:sym typeface="Courier New"/>
              </a:rPr>
              <a:t>t_blautia</a:t>
            </a:r>
            <a:endParaRPr b="0" i="0" sz="1400" u="none" cap="none" strike="noStrike">
              <a:solidFill>
                <a:schemeClr val="dk1"/>
              </a:solidFill>
              <a:latin typeface="Calibri"/>
              <a:ea typeface="Calibri"/>
              <a:cs typeface="Calibri"/>
              <a:sym typeface="Calibri"/>
            </a:endParaRPr>
          </a:p>
        </p:txBody>
      </p:sp>
      <p:sp>
        <p:nvSpPr>
          <p:cNvPr id="218" name="Google Shape;218;p10"/>
          <p:cNvSpPr txBox="1"/>
          <p:nvPr/>
        </p:nvSpPr>
        <p:spPr>
          <a:xfrm>
            <a:off x="457200" y="4114800"/>
            <a:ext cx="5486400" cy="5486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7278"/>
              </a:buClr>
              <a:buSzPts val="1200"/>
              <a:buFont typeface="Calibri"/>
              <a:buNone/>
            </a:pPr>
            <a:r>
              <a:rPr b="0" i="1" lang="en-US" sz="1200" u="none" cap="none" strike="noStrike">
                <a:solidFill>
                  <a:srgbClr val="5E7278"/>
                </a:solidFill>
                <a:latin typeface="Calibri"/>
                <a:ea typeface="Calibri"/>
                <a:cs typeface="Calibri"/>
                <a:sym typeface="Calibri"/>
              </a:rPr>
              <a:t>R uses Welch's t-test by default. With n = 2 per group this is an exploratory example.</a:t>
            </a:r>
            <a:endParaRPr b="0" i="0" sz="1200" u="none" cap="none" strike="noStrike">
              <a:solidFill>
                <a:schemeClr val="dk1"/>
              </a:solidFill>
              <a:latin typeface="Calibri"/>
              <a:ea typeface="Calibri"/>
              <a:cs typeface="Calibri"/>
              <a:sym typeface="Calibri"/>
            </a:endParaRPr>
          </a:p>
        </p:txBody>
      </p:sp>
      <p:sp>
        <p:nvSpPr>
          <p:cNvPr id="219" name="Google Shape;219;p10"/>
          <p:cNvSpPr/>
          <p:nvPr/>
        </p:nvSpPr>
        <p:spPr>
          <a:xfrm>
            <a:off x="6217920" y="1600200"/>
            <a:ext cx="2468880" cy="2331720"/>
          </a:xfrm>
          <a:prstGeom prst="roundRect">
            <a:avLst>
              <a:gd fmla="val 3922" name="adj"/>
            </a:avLst>
          </a:prstGeom>
          <a:solidFill>
            <a:srgbClr val="FDECE6"/>
          </a:solidFill>
          <a:ln cap="flat" cmpd="sng" w="12700">
            <a:solidFill>
              <a:srgbClr val="FDE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10"/>
          <p:cNvSpPr txBox="1"/>
          <p:nvPr/>
        </p:nvSpPr>
        <p:spPr>
          <a:xfrm>
            <a:off x="6355080" y="1709928"/>
            <a:ext cx="219456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603C"/>
              </a:buClr>
              <a:buSzPts val="3000"/>
              <a:buFont typeface="Cambria"/>
              <a:buNone/>
            </a:pPr>
            <a:r>
              <a:rPr b="1" i="0" lang="en-US" sz="3000" u="none" cap="none" strike="noStrike">
                <a:solidFill>
                  <a:srgbClr val="E8603C"/>
                </a:solidFill>
                <a:latin typeface="Cambria"/>
                <a:ea typeface="Cambria"/>
                <a:cs typeface="Cambria"/>
                <a:sym typeface="Cambria"/>
              </a:rPr>
              <a:t>p ≈ 0.026</a:t>
            </a:r>
            <a:endParaRPr b="0" i="0" sz="3000" u="none" cap="none" strike="noStrike">
              <a:solidFill>
                <a:schemeClr val="dk1"/>
              </a:solidFill>
              <a:latin typeface="Calibri"/>
              <a:ea typeface="Calibri"/>
              <a:cs typeface="Calibri"/>
              <a:sym typeface="Calibri"/>
            </a:endParaRPr>
          </a:p>
        </p:txBody>
      </p:sp>
      <p:sp>
        <p:nvSpPr>
          <p:cNvPr id="221" name="Google Shape;221;p10"/>
          <p:cNvSpPr txBox="1"/>
          <p:nvPr/>
        </p:nvSpPr>
        <p:spPr>
          <a:xfrm>
            <a:off x="6355080" y="2377440"/>
            <a:ext cx="2194560" cy="146304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D33"/>
              </a:buClr>
              <a:buSzPts val="1200"/>
              <a:buFont typeface="Calibri"/>
              <a:buNone/>
            </a:pPr>
            <a:r>
              <a:rPr b="0" i="0" lang="en-US" sz="1200" u="none" cap="none" strike="noStrike">
                <a:solidFill>
                  <a:srgbClr val="1F2D33"/>
                </a:solidFill>
                <a:latin typeface="Calibri"/>
                <a:ea typeface="Calibri"/>
                <a:cs typeface="Calibri"/>
                <a:sym typeface="Calibri"/>
              </a:rPr>
              <a:t>Below 0.05</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F2D33"/>
              </a:buClr>
              <a:buSzPts val="1200"/>
              <a:buFont typeface="Calibri"/>
              <a:buNone/>
            </a:pPr>
            <a:r>
              <a:rPr b="0" i="0" lang="en-US" sz="1200" u="none" cap="none" strike="noStrike">
                <a:solidFill>
                  <a:srgbClr val="1F2D33"/>
                </a:solidFill>
                <a:latin typeface="Calibri"/>
                <a:ea typeface="Calibri"/>
                <a:cs typeface="Calibri"/>
                <a:sym typeface="Calibri"/>
              </a:rPr>
              <a:t>→ we reject H0 in this example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26" name="Shape 226"/>
        <p:cNvGrpSpPr/>
        <p:nvPr/>
      </p:nvGrpSpPr>
      <p:grpSpPr>
        <a:xfrm>
          <a:off x="0" y="0"/>
          <a:ext cx="0" cy="0"/>
          <a:chOff x="0" y="0"/>
          <a:chExt cx="0" cy="0"/>
        </a:xfrm>
      </p:grpSpPr>
      <p:sp>
        <p:nvSpPr>
          <p:cNvPr id="227" name="Google Shape;227;p11"/>
          <p:cNvSpPr txBox="1"/>
          <p:nvPr/>
        </p:nvSpPr>
        <p:spPr>
          <a:xfrm>
            <a:off x="457200" y="274320"/>
            <a:ext cx="6949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2800"/>
              <a:buFont typeface="Cambria"/>
              <a:buNone/>
            </a:pPr>
            <a:r>
              <a:rPr b="1" i="0" lang="en-US" sz="2800" u="none" cap="none" strike="noStrike">
                <a:solidFill>
                  <a:srgbClr val="0B3C49"/>
                </a:solidFill>
                <a:latin typeface="Cambria"/>
                <a:ea typeface="Cambria"/>
                <a:cs typeface="Cambria"/>
                <a:sym typeface="Cambria"/>
              </a:rPr>
              <a:t>Community composition</a:t>
            </a:r>
            <a:endParaRPr b="0" i="0" sz="2800" u="none" cap="none" strike="noStrike">
              <a:solidFill>
                <a:schemeClr val="dk1"/>
              </a:solidFill>
              <a:latin typeface="Calibri"/>
              <a:ea typeface="Calibri"/>
              <a:cs typeface="Calibri"/>
              <a:sym typeface="Calibri"/>
            </a:endParaRPr>
          </a:p>
        </p:txBody>
      </p:sp>
      <p:sp>
        <p:nvSpPr>
          <p:cNvPr id="228" name="Google Shape;228;p11"/>
          <p:cNvSpPr/>
          <p:nvPr/>
        </p:nvSpPr>
        <p:spPr>
          <a:xfrm>
            <a:off x="7498080" y="411480"/>
            <a:ext cx="1188720" cy="384048"/>
          </a:xfrm>
          <a:prstGeom prst="roundRect">
            <a:avLst>
              <a:gd fmla="val 50000"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11"/>
          <p:cNvSpPr txBox="1"/>
          <p:nvPr/>
        </p:nvSpPr>
        <p:spPr>
          <a:xfrm>
            <a:off x="7498080" y="411480"/>
            <a:ext cx="11887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9C86"/>
              </a:buClr>
              <a:buSzPts val="1100"/>
              <a:buFont typeface="Calibri"/>
              <a:buNone/>
            </a:pPr>
            <a:r>
              <a:rPr b="1" i="0" lang="en-US" sz="1100" u="none" cap="none" strike="noStrike">
                <a:solidFill>
                  <a:srgbClr val="2E9C86"/>
                </a:solidFill>
                <a:latin typeface="Calibri"/>
                <a:ea typeface="Calibri"/>
                <a:cs typeface="Calibri"/>
                <a:sym typeface="Calibri"/>
              </a:rPr>
              <a:t>3 · Composition</a:t>
            </a:r>
            <a:endParaRPr b="0" i="0" sz="1100" u="none" cap="none" strike="noStrike">
              <a:solidFill>
                <a:schemeClr val="dk1"/>
              </a:solidFill>
              <a:latin typeface="Calibri"/>
              <a:ea typeface="Calibri"/>
              <a:cs typeface="Calibri"/>
              <a:sym typeface="Calibri"/>
            </a:endParaRPr>
          </a:p>
        </p:txBody>
      </p:sp>
      <p:sp>
        <p:nvSpPr>
          <p:cNvPr id="230" name="Google Shape;230;p11"/>
          <p:cNvSpPr/>
          <p:nvPr/>
        </p:nvSpPr>
        <p:spPr>
          <a:xfrm>
            <a:off x="640080" y="1234440"/>
            <a:ext cx="548640" cy="905256"/>
          </a:xfrm>
          <a:prstGeom prst="rect">
            <a:avLst/>
          </a:prstGeom>
          <a:solidFill>
            <a:srgbClr val="0B3C4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11"/>
          <p:cNvSpPr/>
          <p:nvPr/>
        </p:nvSpPr>
        <p:spPr>
          <a:xfrm>
            <a:off x="640080" y="2139696"/>
            <a:ext cx="548640" cy="754380"/>
          </a:xfrm>
          <a:prstGeom prst="rect">
            <a:avLst/>
          </a:prstGeom>
          <a:solidFill>
            <a:srgbClr val="2E9C8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2" name="Google Shape;232;p11"/>
          <p:cNvSpPr/>
          <p:nvPr/>
        </p:nvSpPr>
        <p:spPr>
          <a:xfrm>
            <a:off x="640080" y="2894076"/>
            <a:ext cx="548640" cy="452628"/>
          </a:xfrm>
          <a:prstGeom prst="rect">
            <a:avLst/>
          </a:prstGeom>
          <a:solidFill>
            <a:srgbClr val="5FBFA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11"/>
          <p:cNvSpPr/>
          <p:nvPr/>
        </p:nvSpPr>
        <p:spPr>
          <a:xfrm>
            <a:off x="640080" y="3346704"/>
            <a:ext cx="548640" cy="301752"/>
          </a:xfrm>
          <a:prstGeom prst="rect">
            <a:avLst/>
          </a:prstGeom>
          <a:solidFill>
            <a:srgbClr val="E8603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11"/>
          <p:cNvSpPr/>
          <p:nvPr/>
        </p:nvSpPr>
        <p:spPr>
          <a:xfrm>
            <a:off x="640080" y="3648456"/>
            <a:ext cx="548640" cy="362102"/>
          </a:xfrm>
          <a:prstGeom prst="rect">
            <a:avLst/>
          </a:prstGeom>
          <a:solidFill>
            <a:srgbClr val="15525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11"/>
          <p:cNvSpPr/>
          <p:nvPr/>
        </p:nvSpPr>
        <p:spPr>
          <a:xfrm>
            <a:off x="640080" y="4010558"/>
            <a:ext cx="548640" cy="241402"/>
          </a:xfrm>
          <a:prstGeom prst="rect">
            <a:avLst/>
          </a:prstGeom>
          <a:solidFill>
            <a:srgbClr val="B9D8D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11"/>
          <p:cNvSpPr/>
          <p:nvPr/>
        </p:nvSpPr>
        <p:spPr>
          <a:xfrm>
            <a:off x="1417320" y="1234440"/>
            <a:ext cx="548640" cy="844906"/>
          </a:xfrm>
          <a:prstGeom prst="rect">
            <a:avLst/>
          </a:prstGeom>
          <a:solidFill>
            <a:srgbClr val="0B3C4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11"/>
          <p:cNvSpPr/>
          <p:nvPr/>
        </p:nvSpPr>
        <p:spPr>
          <a:xfrm>
            <a:off x="1417320" y="2079346"/>
            <a:ext cx="548640" cy="663854"/>
          </a:xfrm>
          <a:prstGeom prst="rect">
            <a:avLst/>
          </a:prstGeom>
          <a:solidFill>
            <a:srgbClr val="2E9C8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11"/>
          <p:cNvSpPr/>
          <p:nvPr/>
        </p:nvSpPr>
        <p:spPr>
          <a:xfrm>
            <a:off x="1417320" y="2743200"/>
            <a:ext cx="548640" cy="543154"/>
          </a:xfrm>
          <a:prstGeom prst="rect">
            <a:avLst/>
          </a:prstGeom>
          <a:solidFill>
            <a:srgbClr val="5FBFA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11"/>
          <p:cNvSpPr/>
          <p:nvPr/>
        </p:nvSpPr>
        <p:spPr>
          <a:xfrm>
            <a:off x="1417320" y="3286354"/>
            <a:ext cx="548640" cy="362102"/>
          </a:xfrm>
          <a:prstGeom prst="rect">
            <a:avLst/>
          </a:prstGeom>
          <a:solidFill>
            <a:srgbClr val="E8603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11"/>
          <p:cNvSpPr/>
          <p:nvPr/>
        </p:nvSpPr>
        <p:spPr>
          <a:xfrm>
            <a:off x="1417320" y="3648456"/>
            <a:ext cx="548640" cy="301752"/>
          </a:xfrm>
          <a:prstGeom prst="rect">
            <a:avLst/>
          </a:prstGeom>
          <a:solidFill>
            <a:srgbClr val="15525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11"/>
          <p:cNvSpPr/>
          <p:nvPr/>
        </p:nvSpPr>
        <p:spPr>
          <a:xfrm>
            <a:off x="1417320" y="3950208"/>
            <a:ext cx="548640" cy="301752"/>
          </a:xfrm>
          <a:prstGeom prst="rect">
            <a:avLst/>
          </a:prstGeom>
          <a:solidFill>
            <a:srgbClr val="B9D8D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11"/>
          <p:cNvSpPr/>
          <p:nvPr/>
        </p:nvSpPr>
        <p:spPr>
          <a:xfrm>
            <a:off x="2194560" y="1234440"/>
            <a:ext cx="548640" cy="603504"/>
          </a:xfrm>
          <a:prstGeom prst="rect">
            <a:avLst/>
          </a:prstGeom>
          <a:solidFill>
            <a:srgbClr val="0B3C4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11"/>
          <p:cNvSpPr/>
          <p:nvPr/>
        </p:nvSpPr>
        <p:spPr>
          <a:xfrm>
            <a:off x="2194560" y="1837944"/>
            <a:ext cx="548640" cy="543154"/>
          </a:xfrm>
          <a:prstGeom prst="rect">
            <a:avLst/>
          </a:prstGeom>
          <a:solidFill>
            <a:srgbClr val="2E9C8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11"/>
          <p:cNvSpPr/>
          <p:nvPr/>
        </p:nvSpPr>
        <p:spPr>
          <a:xfrm>
            <a:off x="2194560" y="2381098"/>
            <a:ext cx="548640" cy="754380"/>
          </a:xfrm>
          <a:prstGeom prst="rect">
            <a:avLst/>
          </a:prstGeom>
          <a:solidFill>
            <a:srgbClr val="5FBFA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11"/>
          <p:cNvSpPr/>
          <p:nvPr/>
        </p:nvSpPr>
        <p:spPr>
          <a:xfrm>
            <a:off x="2194560" y="3135478"/>
            <a:ext cx="548640" cy="603504"/>
          </a:xfrm>
          <a:prstGeom prst="rect">
            <a:avLst/>
          </a:prstGeom>
          <a:solidFill>
            <a:srgbClr val="E8603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11"/>
          <p:cNvSpPr/>
          <p:nvPr/>
        </p:nvSpPr>
        <p:spPr>
          <a:xfrm>
            <a:off x="2194560" y="3738982"/>
            <a:ext cx="548640" cy="271577"/>
          </a:xfrm>
          <a:prstGeom prst="rect">
            <a:avLst/>
          </a:prstGeom>
          <a:solidFill>
            <a:srgbClr val="15525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11"/>
          <p:cNvSpPr/>
          <p:nvPr/>
        </p:nvSpPr>
        <p:spPr>
          <a:xfrm>
            <a:off x="2194560" y="4010558"/>
            <a:ext cx="548640" cy="241402"/>
          </a:xfrm>
          <a:prstGeom prst="rect">
            <a:avLst/>
          </a:prstGeom>
          <a:solidFill>
            <a:srgbClr val="B9D8D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11"/>
          <p:cNvSpPr/>
          <p:nvPr/>
        </p:nvSpPr>
        <p:spPr>
          <a:xfrm>
            <a:off x="2971800" y="1234440"/>
            <a:ext cx="548640" cy="663854"/>
          </a:xfrm>
          <a:prstGeom prst="rect">
            <a:avLst/>
          </a:prstGeom>
          <a:solidFill>
            <a:srgbClr val="0B3C4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11"/>
          <p:cNvSpPr/>
          <p:nvPr/>
        </p:nvSpPr>
        <p:spPr>
          <a:xfrm>
            <a:off x="2971800" y="1898294"/>
            <a:ext cx="548640" cy="452628"/>
          </a:xfrm>
          <a:prstGeom prst="rect">
            <a:avLst/>
          </a:prstGeom>
          <a:solidFill>
            <a:srgbClr val="2E9C86"/>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11"/>
          <p:cNvSpPr/>
          <p:nvPr/>
        </p:nvSpPr>
        <p:spPr>
          <a:xfrm>
            <a:off x="2971800" y="2350922"/>
            <a:ext cx="548640" cy="844906"/>
          </a:xfrm>
          <a:prstGeom prst="rect">
            <a:avLst/>
          </a:prstGeom>
          <a:solidFill>
            <a:srgbClr val="5FBFA9"/>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11"/>
          <p:cNvSpPr/>
          <p:nvPr/>
        </p:nvSpPr>
        <p:spPr>
          <a:xfrm>
            <a:off x="2971800" y="3195828"/>
            <a:ext cx="548640" cy="543154"/>
          </a:xfrm>
          <a:prstGeom prst="rect">
            <a:avLst/>
          </a:prstGeom>
          <a:solidFill>
            <a:srgbClr val="E8603C"/>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11"/>
          <p:cNvSpPr/>
          <p:nvPr/>
        </p:nvSpPr>
        <p:spPr>
          <a:xfrm>
            <a:off x="2971800" y="3738982"/>
            <a:ext cx="548640" cy="271577"/>
          </a:xfrm>
          <a:prstGeom prst="rect">
            <a:avLst/>
          </a:prstGeom>
          <a:solidFill>
            <a:srgbClr val="15525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11"/>
          <p:cNvSpPr/>
          <p:nvPr/>
        </p:nvSpPr>
        <p:spPr>
          <a:xfrm>
            <a:off x="2971800" y="4010558"/>
            <a:ext cx="548640" cy="241402"/>
          </a:xfrm>
          <a:prstGeom prst="rect">
            <a:avLst/>
          </a:prstGeom>
          <a:solidFill>
            <a:srgbClr val="B9D8D1"/>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11"/>
          <p:cNvSpPr txBox="1"/>
          <p:nvPr/>
        </p:nvSpPr>
        <p:spPr>
          <a:xfrm>
            <a:off x="457200" y="4343400"/>
            <a:ext cx="33832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5E7278"/>
              </a:buClr>
              <a:buSzPts val="1050"/>
              <a:buFont typeface="Calibri"/>
              <a:buNone/>
            </a:pPr>
            <a:r>
              <a:rPr b="0" i="1" lang="en-US" sz="1050" u="none" cap="none" strike="noStrike">
                <a:solidFill>
                  <a:srgbClr val="5E7278"/>
                </a:solidFill>
                <a:latin typeface="Calibri"/>
                <a:ea typeface="Calibri"/>
                <a:cs typeface="Calibri"/>
                <a:sym typeface="Calibri"/>
              </a:rPr>
              <a:t>Diagram: each bar is one complete sample</a:t>
            </a:r>
            <a:endParaRPr b="0" i="0" sz="1050" u="none" cap="none" strike="noStrike">
              <a:solidFill>
                <a:schemeClr val="dk1"/>
              </a:solidFill>
              <a:latin typeface="Calibri"/>
              <a:ea typeface="Calibri"/>
              <a:cs typeface="Calibri"/>
              <a:sym typeface="Calibri"/>
            </a:endParaRPr>
          </a:p>
        </p:txBody>
      </p:sp>
      <p:sp>
        <p:nvSpPr>
          <p:cNvPr id="255" name="Google Shape;255;p11"/>
          <p:cNvSpPr txBox="1"/>
          <p:nvPr/>
        </p:nvSpPr>
        <p:spPr>
          <a:xfrm>
            <a:off x="4114800" y="1188720"/>
            <a:ext cx="4572000" cy="100584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3C49"/>
              </a:buClr>
              <a:buSzPts val="1500"/>
              <a:buFont typeface="Calibri"/>
              <a:buNone/>
            </a:pPr>
            <a:r>
              <a:rPr b="1" i="0" lang="en-US" sz="1500" u="none" cap="none" strike="noStrike">
                <a:solidFill>
                  <a:srgbClr val="0B3C49"/>
                </a:solidFill>
                <a:latin typeface="Calibri"/>
                <a:ea typeface="Calibri"/>
                <a:cs typeface="Calibri"/>
                <a:sym typeface="Calibri"/>
              </a:rPr>
              <a:t>One bar = one sample</a:t>
            </a:r>
            <a:endParaRPr b="0" i="0" sz="15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1F2D33"/>
              </a:buClr>
              <a:buSzPts val="1500"/>
              <a:buFont typeface="Calibri"/>
              <a:buNone/>
            </a:pPr>
            <a:r>
              <a:rPr b="0" i="0" lang="en-US" sz="1500" u="none" cap="none" strike="noStrike">
                <a:solidFill>
                  <a:srgbClr val="1F2D33"/>
                </a:solidFill>
                <a:latin typeface="Calibri"/>
                <a:ea typeface="Calibri"/>
                <a:cs typeface="Calibri"/>
                <a:sym typeface="Calibri"/>
              </a:rPr>
              <a:t>Each colour is the relative abundance of one taxon; the bar adds up to ≈ 100%.</a:t>
            </a:r>
            <a:endParaRPr b="0" i="0" sz="1500" u="none" cap="none" strike="noStrike">
              <a:solidFill>
                <a:schemeClr val="dk1"/>
              </a:solidFill>
              <a:latin typeface="Calibri"/>
              <a:ea typeface="Calibri"/>
              <a:cs typeface="Calibri"/>
              <a:sym typeface="Calibri"/>
            </a:endParaRPr>
          </a:p>
        </p:txBody>
      </p:sp>
      <p:sp>
        <p:nvSpPr>
          <p:cNvPr id="256" name="Google Shape;256;p11"/>
          <p:cNvSpPr txBox="1"/>
          <p:nvPr/>
        </p:nvSpPr>
        <p:spPr>
          <a:xfrm>
            <a:off x="4114800" y="2331720"/>
            <a:ext cx="45720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1500"/>
              <a:buFont typeface="Calibri"/>
              <a:buNone/>
            </a:pPr>
            <a:r>
              <a:rPr b="1" i="0" lang="en-US" sz="1500" u="none" cap="none" strike="noStrike">
                <a:solidFill>
                  <a:srgbClr val="0B3C49"/>
                </a:solidFill>
                <a:latin typeface="Calibri"/>
                <a:ea typeface="Calibri"/>
                <a:cs typeface="Calibri"/>
                <a:sym typeface="Calibri"/>
              </a:rPr>
              <a:t>These two values control the plot:</a:t>
            </a:r>
            <a:endParaRPr b="0" i="0" sz="1500" u="none" cap="none" strike="noStrike">
              <a:solidFill>
                <a:schemeClr val="dk1"/>
              </a:solidFill>
              <a:latin typeface="Calibri"/>
              <a:ea typeface="Calibri"/>
              <a:cs typeface="Calibri"/>
              <a:sym typeface="Calibri"/>
            </a:endParaRPr>
          </a:p>
        </p:txBody>
      </p:sp>
      <p:sp>
        <p:nvSpPr>
          <p:cNvPr id="257" name="Google Shape;257;p11"/>
          <p:cNvSpPr/>
          <p:nvPr/>
        </p:nvSpPr>
        <p:spPr>
          <a:xfrm>
            <a:off x="4114800" y="2788920"/>
            <a:ext cx="4572000" cy="822960"/>
          </a:xfrm>
          <a:prstGeom prst="roundRect">
            <a:avLst>
              <a:gd fmla="val 13333" name="adj"/>
            </a:avLst>
          </a:prstGeom>
          <a:solidFill>
            <a:srgbClr val="15262D"/>
          </a:solidFill>
          <a:ln cap="flat" cmpd="sng" w="12700">
            <a:solidFill>
              <a:srgbClr val="1526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11"/>
          <p:cNvSpPr txBox="1"/>
          <p:nvPr/>
        </p:nvSpPr>
        <p:spPr>
          <a:xfrm>
            <a:off x="4206240" y="2880360"/>
            <a:ext cx="4389120" cy="640080"/>
          </a:xfrm>
          <a:prstGeom prst="rect">
            <a:avLst/>
          </a:prstGeom>
          <a:noFill/>
          <a:ln>
            <a:noFill/>
          </a:ln>
        </p:spPr>
        <p:txBody>
          <a:bodyPr anchorCtr="0" anchor="t" bIns="1000" lIns="1000" spcFirstLastPara="1" rIns="1000" wrap="square" tIns="1000">
            <a:noAutofit/>
          </a:bodyPr>
          <a:lstStyle/>
          <a:p>
            <a:pPr indent="0" lvl="0" marL="0" marR="0" rtl="0" algn="l">
              <a:spcBef>
                <a:spcPts val="0"/>
              </a:spcBef>
              <a:spcAft>
                <a:spcPts val="0"/>
              </a:spcAft>
              <a:buClr>
                <a:srgbClr val="E6EEF0"/>
              </a:buClr>
              <a:buSzPts val="1400"/>
              <a:buFont typeface="Courier New"/>
              <a:buNone/>
            </a:pPr>
            <a:r>
              <a:rPr b="0" i="0" lang="en-US" sz="1400" u="none" cap="none" strike="noStrike">
                <a:solidFill>
                  <a:srgbClr val="E6EEF0"/>
                </a:solidFill>
                <a:latin typeface="Courier New"/>
                <a:ea typeface="Courier New"/>
                <a:cs typeface="Courier New"/>
                <a:sym typeface="Courier New"/>
              </a:rPr>
              <a:t>rank_to_plot   &lt;- "family"</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400"/>
              <a:buFont typeface="Courier New"/>
              <a:buNone/>
            </a:pPr>
            <a:r>
              <a:rPr b="0" i="0" lang="en-US" sz="1400" u="none" cap="none" strike="noStrike">
                <a:solidFill>
                  <a:srgbClr val="E6EEF0"/>
                </a:solidFill>
                <a:latin typeface="Courier New"/>
                <a:ea typeface="Courier New"/>
                <a:cs typeface="Courier New"/>
                <a:sym typeface="Courier New"/>
              </a:rPr>
              <a:t>number_to_show &lt;- 10</a:t>
            </a:r>
            <a:endParaRPr b="0" i="0" sz="1400" u="none" cap="none" strike="noStrike">
              <a:solidFill>
                <a:schemeClr val="dk1"/>
              </a:solidFill>
              <a:latin typeface="Calibri"/>
              <a:ea typeface="Calibri"/>
              <a:cs typeface="Calibri"/>
              <a:sym typeface="Calibri"/>
            </a:endParaRPr>
          </a:p>
        </p:txBody>
      </p:sp>
      <p:sp>
        <p:nvSpPr>
          <p:cNvPr id="259" name="Google Shape;259;p11"/>
          <p:cNvSpPr txBox="1"/>
          <p:nvPr/>
        </p:nvSpPr>
        <p:spPr>
          <a:xfrm>
            <a:off x="4114800" y="3794760"/>
            <a:ext cx="457200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7278"/>
              </a:buClr>
              <a:buSzPts val="1300"/>
              <a:buFont typeface="Calibri"/>
              <a:buNone/>
            </a:pPr>
            <a:r>
              <a:rPr b="0" i="0" lang="en-US" sz="1300" u="none" cap="none" strike="noStrike">
                <a:solidFill>
                  <a:srgbClr val="5E7278"/>
                </a:solidFill>
                <a:latin typeface="Calibri"/>
                <a:ea typeface="Calibri"/>
                <a:cs typeface="Calibri"/>
                <a:sym typeface="Calibri"/>
              </a:rPr>
              <a:t>Teacher example at family level (Fig. 2A analogue). Taxa outside the top are combined as “Other”.</a:t>
            </a:r>
            <a:endParaRPr b="0" i="0" sz="130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64" name="Shape 264"/>
        <p:cNvGrpSpPr/>
        <p:nvPr/>
      </p:nvGrpSpPr>
      <p:grpSpPr>
        <a:xfrm>
          <a:off x="0" y="0"/>
          <a:ext cx="0" cy="0"/>
          <a:chOff x="0" y="0"/>
          <a:chExt cx="0" cy="0"/>
        </a:xfrm>
      </p:grpSpPr>
      <p:sp>
        <p:nvSpPr>
          <p:cNvPr id="265" name="Google Shape;265;p12"/>
          <p:cNvSpPr txBox="1"/>
          <p:nvPr/>
        </p:nvSpPr>
        <p:spPr>
          <a:xfrm>
            <a:off x="457200" y="274320"/>
            <a:ext cx="6949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2800"/>
              <a:buFont typeface="Cambria"/>
              <a:buNone/>
            </a:pPr>
            <a:r>
              <a:rPr b="1" i="0" lang="en-US" sz="2800" u="none" cap="none" strike="noStrike">
                <a:solidFill>
                  <a:srgbClr val="0B3C49"/>
                </a:solidFill>
                <a:latin typeface="Cambria"/>
                <a:ea typeface="Cambria"/>
                <a:cs typeface="Cambria"/>
                <a:sym typeface="Cambria"/>
              </a:rPr>
              <a:t>Grouping by rank and picking the top</a:t>
            </a:r>
            <a:endParaRPr b="0" i="0" sz="2800" u="none" cap="none" strike="noStrike">
              <a:solidFill>
                <a:schemeClr val="dk1"/>
              </a:solidFill>
              <a:latin typeface="Calibri"/>
              <a:ea typeface="Calibri"/>
              <a:cs typeface="Calibri"/>
              <a:sym typeface="Calibri"/>
            </a:endParaRPr>
          </a:p>
        </p:txBody>
      </p:sp>
      <p:sp>
        <p:nvSpPr>
          <p:cNvPr id="266" name="Google Shape;266;p12"/>
          <p:cNvSpPr/>
          <p:nvPr/>
        </p:nvSpPr>
        <p:spPr>
          <a:xfrm>
            <a:off x="7498080" y="411480"/>
            <a:ext cx="1188720" cy="384048"/>
          </a:xfrm>
          <a:prstGeom prst="roundRect">
            <a:avLst>
              <a:gd fmla="val 50000"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12"/>
          <p:cNvSpPr txBox="1"/>
          <p:nvPr/>
        </p:nvSpPr>
        <p:spPr>
          <a:xfrm>
            <a:off x="7498080" y="411480"/>
            <a:ext cx="11887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9C86"/>
              </a:buClr>
              <a:buSzPts val="1100"/>
              <a:buFont typeface="Calibri"/>
              <a:buNone/>
            </a:pPr>
            <a:r>
              <a:rPr b="1" i="0" lang="en-US" sz="1100" u="none" cap="none" strike="noStrike">
                <a:solidFill>
                  <a:srgbClr val="2E9C86"/>
                </a:solidFill>
                <a:latin typeface="Calibri"/>
                <a:ea typeface="Calibri"/>
                <a:cs typeface="Calibri"/>
                <a:sym typeface="Calibri"/>
              </a:rPr>
              <a:t>3 · Composition</a:t>
            </a:r>
            <a:endParaRPr b="0" i="0" sz="1100" u="none" cap="none" strike="noStrike">
              <a:solidFill>
                <a:schemeClr val="dk1"/>
              </a:solidFill>
              <a:latin typeface="Calibri"/>
              <a:ea typeface="Calibri"/>
              <a:cs typeface="Calibri"/>
              <a:sym typeface="Calibri"/>
            </a:endParaRPr>
          </a:p>
        </p:txBody>
      </p:sp>
      <p:sp>
        <p:nvSpPr>
          <p:cNvPr id="268" name="Google Shape;268;p12"/>
          <p:cNvSpPr/>
          <p:nvPr/>
        </p:nvSpPr>
        <p:spPr>
          <a:xfrm>
            <a:off x="457200" y="1143000"/>
            <a:ext cx="5577840" cy="3611880"/>
          </a:xfrm>
          <a:prstGeom prst="roundRect">
            <a:avLst>
              <a:gd fmla="val 3038" name="adj"/>
            </a:avLst>
          </a:prstGeom>
          <a:solidFill>
            <a:srgbClr val="15262D"/>
          </a:solidFill>
          <a:ln cap="flat" cmpd="sng" w="12700">
            <a:solidFill>
              <a:srgbClr val="1526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12"/>
          <p:cNvSpPr txBox="1"/>
          <p:nvPr/>
        </p:nvSpPr>
        <p:spPr>
          <a:xfrm>
            <a:off x="548640" y="1234440"/>
            <a:ext cx="5394960" cy="3429000"/>
          </a:xfrm>
          <a:prstGeom prst="rect">
            <a:avLst/>
          </a:prstGeom>
          <a:noFill/>
          <a:ln>
            <a:noFill/>
          </a:ln>
        </p:spPr>
        <p:txBody>
          <a:bodyPr anchorCtr="0" anchor="t" bIns="1000" lIns="1000" spcFirstLastPara="1" rIns="1000" wrap="square" tIns="1000">
            <a:noAutofit/>
          </a:bodyPr>
          <a:lstStyle/>
          <a:p>
            <a:pPr indent="0" lvl="0" marL="0" marR="0" rtl="0" algn="l">
              <a:spcBef>
                <a:spcPts val="0"/>
              </a:spcBef>
              <a:spcAft>
                <a:spcPts val="0"/>
              </a:spcAft>
              <a:buClr>
                <a:srgbClr val="86A8A1"/>
              </a:buClr>
              <a:buSzPts val="1200"/>
              <a:buFont typeface="Courier New"/>
              <a:buNone/>
            </a:pPr>
            <a:r>
              <a:rPr b="0" i="0" lang="en-US" sz="1200" u="none" cap="none" strike="noStrike">
                <a:solidFill>
                  <a:srgbClr val="86A8A1"/>
                </a:solidFill>
                <a:latin typeface="Courier New"/>
                <a:ea typeface="Courier New"/>
                <a:cs typeface="Courier New"/>
                <a:sym typeface="Courier New"/>
              </a:rPr>
              <a:t># Group species at the selected rank</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ps_rank &lt;- tax_glom(ps, taxrank = rank_to_plot)</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composition_long &lt;- psmelt(ps_rank)</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6A8A1"/>
              </a:buClr>
              <a:buSzPts val="1200"/>
              <a:buFont typeface="Courier New"/>
              <a:buNone/>
            </a:pPr>
            <a:r>
              <a:rPr b="0" i="0" lang="en-US" sz="1200" u="none" cap="none" strike="noStrike">
                <a:solidFill>
                  <a:srgbClr val="86A8A1"/>
                </a:solidFill>
                <a:latin typeface="Courier New"/>
                <a:ea typeface="Courier New"/>
                <a:cs typeface="Courier New"/>
                <a:sym typeface="Courier New"/>
              </a:rPr>
              <a:t># Select the taxonomy column called "family"</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composition_long$Taxon &lt;- as.character(</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composition_long[[rank_to_plot]]</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6A8A1"/>
              </a:buClr>
              <a:buSzPts val="1200"/>
              <a:buFont typeface="Courier New"/>
              <a:buNone/>
            </a:pPr>
            <a:r>
              <a:rPr b="0" i="0" lang="en-US" sz="1200" u="none" cap="none" strike="noStrike">
                <a:solidFill>
                  <a:srgbClr val="86A8A1"/>
                </a:solidFill>
                <a:latin typeface="Courier New"/>
                <a:ea typeface="Courier New"/>
                <a:cs typeface="Courier New"/>
                <a:sym typeface="Courier New"/>
              </a:rPr>
              <a:t># Find the most abundant families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taxon_means &lt;- group_by(composition_long, Taxon)</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taxon_means &lt;- summarise(taxon_means,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mean_abundance = mean(Abundance),</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.groups = "drop")</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taxon_means &lt;- arrange(taxon_means,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desc(mean_abundance))</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top_taxa &lt;- head(taxon_means$Taxon, number_to_show)</a:t>
            </a:r>
            <a:endParaRPr b="0" i="0" sz="1200" u="none" cap="none" strike="noStrike">
              <a:solidFill>
                <a:schemeClr val="dk1"/>
              </a:solidFill>
              <a:latin typeface="Calibri"/>
              <a:ea typeface="Calibri"/>
              <a:cs typeface="Calibri"/>
              <a:sym typeface="Calibri"/>
            </a:endParaRPr>
          </a:p>
        </p:txBody>
      </p:sp>
      <p:sp>
        <p:nvSpPr>
          <p:cNvPr id="270" name="Google Shape;270;p12"/>
          <p:cNvSpPr/>
          <p:nvPr/>
        </p:nvSpPr>
        <p:spPr>
          <a:xfrm>
            <a:off x="6309360" y="1280160"/>
            <a:ext cx="329184" cy="329184"/>
          </a:xfrm>
          <a:prstGeom prst="ellipse">
            <a:avLst/>
          </a:prstGeom>
          <a:solidFill>
            <a:srgbClr val="2E9C86"/>
          </a:solidFill>
          <a:ln cap="flat" cmpd="sng" w="12700">
            <a:solidFill>
              <a:srgbClr val="2E9C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12"/>
          <p:cNvSpPr txBox="1"/>
          <p:nvPr/>
        </p:nvSpPr>
        <p:spPr>
          <a:xfrm>
            <a:off x="6309360" y="128016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272" name="Google Shape;272;p12"/>
          <p:cNvSpPr txBox="1"/>
          <p:nvPr/>
        </p:nvSpPr>
        <p:spPr>
          <a:xfrm>
            <a:off x="6766560" y="1243584"/>
            <a:ext cx="1920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3C49"/>
              </a:buClr>
              <a:buSzPts val="1200"/>
              <a:buFont typeface="Calibri"/>
              <a:buNone/>
            </a:pPr>
            <a:r>
              <a:rPr b="1" i="0" lang="en-US" sz="1200" u="none" cap="none" strike="noStrike">
                <a:solidFill>
                  <a:srgbClr val="0B3C49"/>
                </a:solidFill>
                <a:latin typeface="Calibri"/>
                <a:ea typeface="Calibri"/>
                <a:cs typeface="Calibri"/>
                <a:sym typeface="Calibri"/>
              </a:rPr>
              <a:t>tax_glom()</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E7278"/>
              </a:buClr>
              <a:buSzPts val="1200"/>
              <a:buFont typeface="Calibri"/>
              <a:buNone/>
            </a:pPr>
            <a:r>
              <a:rPr b="0" i="0" lang="en-US" sz="1200" u="none" cap="none" strike="noStrike">
                <a:solidFill>
                  <a:srgbClr val="5E7278"/>
                </a:solidFill>
                <a:latin typeface="Calibri"/>
                <a:ea typeface="Calibri"/>
                <a:cs typeface="Calibri"/>
                <a:sym typeface="Calibri"/>
              </a:rPr>
              <a:t>Adds up species of the same family</a:t>
            </a:r>
            <a:endParaRPr b="0" i="0" sz="1200" u="none" cap="none" strike="noStrike">
              <a:solidFill>
                <a:schemeClr val="dk1"/>
              </a:solidFill>
              <a:latin typeface="Calibri"/>
              <a:ea typeface="Calibri"/>
              <a:cs typeface="Calibri"/>
              <a:sym typeface="Calibri"/>
            </a:endParaRPr>
          </a:p>
        </p:txBody>
      </p:sp>
      <p:sp>
        <p:nvSpPr>
          <p:cNvPr id="273" name="Google Shape;273;p12"/>
          <p:cNvSpPr/>
          <p:nvPr/>
        </p:nvSpPr>
        <p:spPr>
          <a:xfrm>
            <a:off x="6309360" y="2148840"/>
            <a:ext cx="329184" cy="329184"/>
          </a:xfrm>
          <a:prstGeom prst="ellipse">
            <a:avLst/>
          </a:prstGeom>
          <a:solidFill>
            <a:srgbClr val="2E9C86"/>
          </a:solidFill>
          <a:ln cap="flat" cmpd="sng" w="12700">
            <a:solidFill>
              <a:srgbClr val="2E9C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12"/>
          <p:cNvSpPr txBox="1"/>
          <p:nvPr/>
        </p:nvSpPr>
        <p:spPr>
          <a:xfrm>
            <a:off x="6309360" y="214884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275" name="Google Shape;275;p12"/>
          <p:cNvSpPr txBox="1"/>
          <p:nvPr/>
        </p:nvSpPr>
        <p:spPr>
          <a:xfrm>
            <a:off x="6766560" y="2112264"/>
            <a:ext cx="1920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3C49"/>
              </a:buClr>
              <a:buSzPts val="1200"/>
              <a:buFont typeface="Calibri"/>
              <a:buNone/>
            </a:pPr>
            <a:r>
              <a:rPr b="1" i="0" lang="en-US" sz="1200" u="none" cap="none" strike="noStrike">
                <a:solidFill>
                  <a:srgbClr val="0B3C49"/>
                </a:solidFill>
                <a:latin typeface="Calibri"/>
                <a:ea typeface="Calibri"/>
                <a:cs typeface="Calibri"/>
                <a:sym typeface="Calibri"/>
              </a:rPr>
              <a:t>[[rank_to_plot]]</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E7278"/>
              </a:buClr>
              <a:buSzPts val="1200"/>
              <a:buFont typeface="Calibri"/>
              <a:buNone/>
            </a:pPr>
            <a:r>
              <a:rPr b="0" i="0" lang="en-US" sz="1200" u="none" cap="none" strike="noStrike">
                <a:solidFill>
                  <a:srgbClr val="5E7278"/>
                </a:solidFill>
                <a:latin typeface="Calibri"/>
                <a:ea typeface="Calibri"/>
                <a:cs typeface="Calibri"/>
                <a:sym typeface="Calibri"/>
              </a:rPr>
              <a:t>Column chosen by the variable</a:t>
            </a:r>
            <a:endParaRPr b="0" i="0" sz="1200" u="none" cap="none" strike="noStrike">
              <a:solidFill>
                <a:schemeClr val="dk1"/>
              </a:solidFill>
              <a:latin typeface="Calibri"/>
              <a:ea typeface="Calibri"/>
              <a:cs typeface="Calibri"/>
              <a:sym typeface="Calibri"/>
            </a:endParaRPr>
          </a:p>
        </p:txBody>
      </p:sp>
      <p:sp>
        <p:nvSpPr>
          <p:cNvPr id="276" name="Google Shape;276;p12"/>
          <p:cNvSpPr/>
          <p:nvPr/>
        </p:nvSpPr>
        <p:spPr>
          <a:xfrm>
            <a:off x="6309360" y="3017520"/>
            <a:ext cx="329184" cy="329184"/>
          </a:xfrm>
          <a:prstGeom prst="ellipse">
            <a:avLst/>
          </a:prstGeom>
          <a:solidFill>
            <a:srgbClr val="2E9C86"/>
          </a:solidFill>
          <a:ln cap="flat" cmpd="sng" w="12700">
            <a:solidFill>
              <a:srgbClr val="2E9C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12"/>
          <p:cNvSpPr txBox="1"/>
          <p:nvPr/>
        </p:nvSpPr>
        <p:spPr>
          <a:xfrm>
            <a:off x="6309360" y="301752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278" name="Google Shape;278;p12"/>
          <p:cNvSpPr txBox="1"/>
          <p:nvPr/>
        </p:nvSpPr>
        <p:spPr>
          <a:xfrm>
            <a:off x="6766560" y="2980944"/>
            <a:ext cx="1920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3C49"/>
              </a:buClr>
              <a:buSzPts val="1200"/>
              <a:buFont typeface="Calibri"/>
              <a:buNone/>
            </a:pPr>
            <a:r>
              <a:rPr b="1" i="0" lang="en-US" sz="1200" u="none" cap="none" strike="noStrike">
                <a:solidFill>
                  <a:srgbClr val="0B3C49"/>
                </a:solidFill>
                <a:latin typeface="Calibri"/>
                <a:ea typeface="Calibri"/>
                <a:cs typeface="Calibri"/>
                <a:sym typeface="Calibri"/>
              </a:rPr>
              <a:t>Mean per taxon</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E7278"/>
              </a:buClr>
              <a:buSzPts val="1200"/>
              <a:buFont typeface="Calibri"/>
              <a:buNone/>
            </a:pPr>
            <a:r>
              <a:rPr b="0" i="0" lang="en-US" sz="1200" u="none" cap="none" strike="noStrike">
                <a:solidFill>
                  <a:srgbClr val="5E7278"/>
                </a:solidFill>
                <a:latin typeface="Calibri"/>
                <a:ea typeface="Calibri"/>
                <a:cs typeface="Calibri"/>
                <a:sym typeface="Calibri"/>
              </a:rPr>
              <a:t>group_by() + summarise()</a:t>
            </a:r>
            <a:endParaRPr b="0" i="0" sz="1200" u="none" cap="none" strike="noStrike">
              <a:solidFill>
                <a:schemeClr val="dk1"/>
              </a:solidFill>
              <a:latin typeface="Calibri"/>
              <a:ea typeface="Calibri"/>
              <a:cs typeface="Calibri"/>
              <a:sym typeface="Calibri"/>
            </a:endParaRPr>
          </a:p>
        </p:txBody>
      </p:sp>
      <p:sp>
        <p:nvSpPr>
          <p:cNvPr id="279" name="Google Shape;279;p12"/>
          <p:cNvSpPr/>
          <p:nvPr/>
        </p:nvSpPr>
        <p:spPr>
          <a:xfrm>
            <a:off x="6309360" y="3886200"/>
            <a:ext cx="329184" cy="329184"/>
          </a:xfrm>
          <a:prstGeom prst="ellipse">
            <a:avLst/>
          </a:prstGeom>
          <a:solidFill>
            <a:srgbClr val="2E9C86"/>
          </a:solidFill>
          <a:ln cap="flat" cmpd="sng" w="12700">
            <a:solidFill>
              <a:srgbClr val="2E9C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12"/>
          <p:cNvSpPr txBox="1"/>
          <p:nvPr/>
        </p:nvSpPr>
        <p:spPr>
          <a:xfrm>
            <a:off x="6309360" y="388620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4</a:t>
            </a:r>
            <a:endParaRPr b="0" i="0" sz="1200" u="none" cap="none" strike="noStrike">
              <a:solidFill>
                <a:schemeClr val="dk1"/>
              </a:solidFill>
              <a:latin typeface="Calibri"/>
              <a:ea typeface="Calibri"/>
              <a:cs typeface="Calibri"/>
              <a:sym typeface="Calibri"/>
            </a:endParaRPr>
          </a:p>
        </p:txBody>
      </p:sp>
      <p:sp>
        <p:nvSpPr>
          <p:cNvPr id="281" name="Google Shape;281;p12"/>
          <p:cNvSpPr txBox="1"/>
          <p:nvPr/>
        </p:nvSpPr>
        <p:spPr>
          <a:xfrm>
            <a:off x="6766560" y="3849624"/>
            <a:ext cx="1920240" cy="8229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3C49"/>
              </a:buClr>
              <a:buSzPts val="1200"/>
              <a:buFont typeface="Calibri"/>
              <a:buNone/>
            </a:pPr>
            <a:r>
              <a:rPr b="1" i="0" lang="en-US" sz="1200" u="none" cap="none" strike="noStrike">
                <a:solidFill>
                  <a:srgbClr val="0B3C49"/>
                </a:solidFill>
                <a:latin typeface="Calibri"/>
                <a:ea typeface="Calibri"/>
                <a:cs typeface="Calibri"/>
                <a:sym typeface="Calibri"/>
              </a:rPr>
              <a:t>arrange() + head()</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E7278"/>
              </a:buClr>
              <a:buSzPts val="1200"/>
              <a:buFont typeface="Calibri"/>
              <a:buNone/>
            </a:pPr>
            <a:r>
              <a:rPr b="0" i="0" lang="en-US" sz="1200" u="none" cap="none" strike="noStrike">
                <a:solidFill>
                  <a:srgbClr val="5E7278"/>
                </a:solidFill>
                <a:latin typeface="Calibri"/>
                <a:ea typeface="Calibri"/>
                <a:cs typeface="Calibri"/>
                <a:sym typeface="Calibri"/>
              </a:rPr>
              <a:t>Keep the top 10</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6" name="Shape 286"/>
        <p:cNvGrpSpPr/>
        <p:nvPr/>
      </p:nvGrpSpPr>
      <p:grpSpPr>
        <a:xfrm>
          <a:off x="0" y="0"/>
          <a:ext cx="0" cy="0"/>
          <a:chOff x="0" y="0"/>
          <a:chExt cx="0" cy="0"/>
        </a:xfrm>
      </p:grpSpPr>
      <p:sp>
        <p:nvSpPr>
          <p:cNvPr id="287" name="Google Shape;287;p13"/>
          <p:cNvSpPr txBox="1"/>
          <p:nvPr/>
        </p:nvSpPr>
        <p:spPr>
          <a:xfrm>
            <a:off x="457200" y="274320"/>
            <a:ext cx="6949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2800"/>
              <a:buFont typeface="Cambria"/>
              <a:buNone/>
            </a:pPr>
            <a:r>
              <a:rPr b="1" i="0" lang="en-US" sz="2800" u="none" cap="none" strike="noStrike">
                <a:solidFill>
                  <a:srgbClr val="0B3C49"/>
                </a:solidFill>
                <a:latin typeface="Cambria"/>
                <a:ea typeface="Cambria"/>
                <a:cs typeface="Cambria"/>
                <a:sym typeface="Cambria"/>
              </a:rPr>
              <a:t>Combining the rest as “Other”</a:t>
            </a:r>
            <a:endParaRPr b="0" i="0" sz="2800" u="none" cap="none" strike="noStrike">
              <a:solidFill>
                <a:schemeClr val="dk1"/>
              </a:solidFill>
              <a:latin typeface="Calibri"/>
              <a:ea typeface="Calibri"/>
              <a:cs typeface="Calibri"/>
              <a:sym typeface="Calibri"/>
            </a:endParaRPr>
          </a:p>
        </p:txBody>
      </p:sp>
      <p:sp>
        <p:nvSpPr>
          <p:cNvPr id="288" name="Google Shape;288;p13"/>
          <p:cNvSpPr/>
          <p:nvPr/>
        </p:nvSpPr>
        <p:spPr>
          <a:xfrm>
            <a:off x="7498080" y="411480"/>
            <a:ext cx="1188720" cy="384048"/>
          </a:xfrm>
          <a:prstGeom prst="roundRect">
            <a:avLst>
              <a:gd fmla="val 50000"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13"/>
          <p:cNvSpPr txBox="1"/>
          <p:nvPr/>
        </p:nvSpPr>
        <p:spPr>
          <a:xfrm>
            <a:off x="7498080" y="411480"/>
            <a:ext cx="11887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9C86"/>
              </a:buClr>
              <a:buSzPts val="1100"/>
              <a:buFont typeface="Calibri"/>
              <a:buNone/>
            </a:pPr>
            <a:r>
              <a:rPr b="1" i="0" lang="en-US" sz="1100" u="none" cap="none" strike="noStrike">
                <a:solidFill>
                  <a:srgbClr val="2E9C86"/>
                </a:solidFill>
                <a:latin typeface="Calibri"/>
                <a:ea typeface="Calibri"/>
                <a:cs typeface="Calibri"/>
                <a:sym typeface="Calibri"/>
              </a:rPr>
              <a:t>3 · Composition</a:t>
            </a:r>
            <a:endParaRPr b="0" i="0" sz="1100" u="none" cap="none" strike="noStrike">
              <a:solidFill>
                <a:schemeClr val="dk1"/>
              </a:solidFill>
              <a:latin typeface="Calibri"/>
              <a:ea typeface="Calibri"/>
              <a:cs typeface="Calibri"/>
              <a:sym typeface="Calibri"/>
            </a:endParaRPr>
          </a:p>
        </p:txBody>
      </p:sp>
      <p:sp>
        <p:nvSpPr>
          <p:cNvPr id="290" name="Google Shape;290;p13"/>
          <p:cNvSpPr/>
          <p:nvPr/>
        </p:nvSpPr>
        <p:spPr>
          <a:xfrm>
            <a:off x="457200" y="1143000"/>
            <a:ext cx="5577840" cy="3611880"/>
          </a:xfrm>
          <a:prstGeom prst="roundRect">
            <a:avLst>
              <a:gd fmla="val 3038" name="adj"/>
            </a:avLst>
          </a:prstGeom>
          <a:solidFill>
            <a:srgbClr val="15262D"/>
          </a:solidFill>
          <a:ln cap="flat" cmpd="sng" w="12700">
            <a:solidFill>
              <a:srgbClr val="1526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13"/>
          <p:cNvSpPr txBox="1"/>
          <p:nvPr/>
        </p:nvSpPr>
        <p:spPr>
          <a:xfrm>
            <a:off x="548640" y="1234440"/>
            <a:ext cx="5394960" cy="3429000"/>
          </a:xfrm>
          <a:prstGeom prst="rect">
            <a:avLst/>
          </a:prstGeom>
          <a:noFill/>
          <a:ln>
            <a:noFill/>
          </a:ln>
        </p:spPr>
        <p:txBody>
          <a:bodyPr anchorCtr="0" anchor="t" bIns="1000" lIns="1000" spcFirstLastPara="1" rIns="1000" wrap="square" tIns="1000">
            <a:noAutofit/>
          </a:bodyPr>
          <a:lstStyle/>
          <a:p>
            <a:pPr indent="0" lvl="0" marL="0" marR="0" rtl="0" algn="l">
              <a:spcBef>
                <a:spcPts val="0"/>
              </a:spcBef>
              <a:spcAft>
                <a:spcPts val="0"/>
              </a:spcAft>
              <a:buClr>
                <a:srgbClr val="86A8A1"/>
              </a:buClr>
              <a:buSzPts val="1200"/>
              <a:buFont typeface="Courier New"/>
              <a:buNone/>
            </a:pPr>
            <a:r>
              <a:rPr b="0" i="0" lang="en-US" sz="1200" u="none" cap="none" strike="noStrike">
                <a:solidFill>
                  <a:srgbClr val="86A8A1"/>
                </a:solidFill>
                <a:latin typeface="Courier New"/>
                <a:ea typeface="Courier New"/>
                <a:cs typeface="Courier New"/>
                <a:sym typeface="Courier New"/>
              </a:rPr>
              <a:t># Combine all remaining families as "Other"</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composition_long$Taxon &lt;- ifelse(</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composition_long$Taxon %in% top_taxa,</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composition_long$Taxon,</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"Other"</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composition_plot_data &lt;- group_by(</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composition_long, Sample, product, Taxon)</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composition_plot_data &lt;- summarise(</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composition_plot_data,</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Abundance = sum(Abundance),</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.groups = "drop")</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composition_plot_data$Sample &lt;- factor(</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composition_plot_data$Sample,</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levels = metadata$sample)</a:t>
            </a:r>
            <a:endParaRPr b="0" i="0" sz="1200" u="none" cap="none" strike="noStrike">
              <a:solidFill>
                <a:schemeClr val="dk1"/>
              </a:solidFill>
              <a:latin typeface="Calibri"/>
              <a:ea typeface="Calibri"/>
              <a:cs typeface="Calibri"/>
              <a:sym typeface="Calibri"/>
            </a:endParaRPr>
          </a:p>
        </p:txBody>
      </p:sp>
      <p:sp>
        <p:nvSpPr>
          <p:cNvPr id="292" name="Google Shape;292;p13"/>
          <p:cNvSpPr/>
          <p:nvPr/>
        </p:nvSpPr>
        <p:spPr>
          <a:xfrm>
            <a:off x="6309360" y="1280160"/>
            <a:ext cx="329184" cy="329184"/>
          </a:xfrm>
          <a:prstGeom prst="ellipse">
            <a:avLst/>
          </a:prstGeom>
          <a:solidFill>
            <a:srgbClr val="2E9C86"/>
          </a:solidFill>
          <a:ln cap="flat" cmpd="sng" w="12700">
            <a:solidFill>
              <a:srgbClr val="2E9C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13"/>
          <p:cNvSpPr txBox="1"/>
          <p:nvPr/>
        </p:nvSpPr>
        <p:spPr>
          <a:xfrm>
            <a:off x="6309360" y="128016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1</a:t>
            </a:r>
            <a:endParaRPr b="0" i="0" sz="1200" u="none" cap="none" strike="noStrike">
              <a:solidFill>
                <a:schemeClr val="dk1"/>
              </a:solidFill>
              <a:latin typeface="Calibri"/>
              <a:ea typeface="Calibri"/>
              <a:cs typeface="Calibri"/>
              <a:sym typeface="Calibri"/>
            </a:endParaRPr>
          </a:p>
        </p:txBody>
      </p:sp>
      <p:sp>
        <p:nvSpPr>
          <p:cNvPr id="294" name="Google Shape;294;p13"/>
          <p:cNvSpPr txBox="1"/>
          <p:nvPr/>
        </p:nvSpPr>
        <p:spPr>
          <a:xfrm>
            <a:off x="6766560" y="1243584"/>
            <a:ext cx="192024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3C49"/>
              </a:buClr>
              <a:buSzPts val="1200"/>
              <a:buFont typeface="Calibri"/>
              <a:buNone/>
            </a:pPr>
            <a:r>
              <a:rPr b="1" i="0" lang="en-US" sz="1200" u="none" cap="none" strike="noStrike">
                <a:solidFill>
                  <a:srgbClr val="0B3C49"/>
                </a:solidFill>
                <a:latin typeface="Calibri"/>
                <a:ea typeface="Calibri"/>
                <a:cs typeface="Calibri"/>
                <a:sym typeface="Calibri"/>
              </a:rPr>
              <a:t>ifelse()</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E7278"/>
              </a:buClr>
              <a:buSzPts val="1200"/>
              <a:buFont typeface="Calibri"/>
              <a:buNone/>
            </a:pPr>
            <a:r>
              <a:rPr b="0" i="0" lang="en-US" sz="1200" u="none" cap="none" strike="noStrike">
                <a:solidFill>
                  <a:srgbClr val="5E7278"/>
                </a:solidFill>
                <a:latin typeface="Calibri"/>
                <a:ea typeface="Calibri"/>
                <a:cs typeface="Calibri"/>
                <a:sym typeface="Calibri"/>
              </a:rPr>
              <a:t>In the top? If not → “Other”</a:t>
            </a:r>
            <a:endParaRPr b="0" i="0" sz="1200" u="none" cap="none" strike="noStrike">
              <a:solidFill>
                <a:schemeClr val="dk1"/>
              </a:solidFill>
              <a:latin typeface="Calibri"/>
              <a:ea typeface="Calibri"/>
              <a:cs typeface="Calibri"/>
              <a:sym typeface="Calibri"/>
            </a:endParaRPr>
          </a:p>
        </p:txBody>
      </p:sp>
      <p:sp>
        <p:nvSpPr>
          <p:cNvPr id="295" name="Google Shape;295;p13"/>
          <p:cNvSpPr/>
          <p:nvPr/>
        </p:nvSpPr>
        <p:spPr>
          <a:xfrm>
            <a:off x="6309360" y="2286000"/>
            <a:ext cx="329184" cy="329184"/>
          </a:xfrm>
          <a:prstGeom prst="ellipse">
            <a:avLst/>
          </a:prstGeom>
          <a:solidFill>
            <a:srgbClr val="2E9C86"/>
          </a:solidFill>
          <a:ln cap="flat" cmpd="sng" w="12700">
            <a:solidFill>
              <a:srgbClr val="2E9C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13"/>
          <p:cNvSpPr txBox="1"/>
          <p:nvPr/>
        </p:nvSpPr>
        <p:spPr>
          <a:xfrm>
            <a:off x="6309360" y="228600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2</a:t>
            </a:r>
            <a:endParaRPr b="0" i="0" sz="1200" u="none" cap="none" strike="noStrike">
              <a:solidFill>
                <a:schemeClr val="dk1"/>
              </a:solidFill>
              <a:latin typeface="Calibri"/>
              <a:ea typeface="Calibri"/>
              <a:cs typeface="Calibri"/>
              <a:sym typeface="Calibri"/>
            </a:endParaRPr>
          </a:p>
        </p:txBody>
      </p:sp>
      <p:sp>
        <p:nvSpPr>
          <p:cNvPr id="297" name="Google Shape;297;p13"/>
          <p:cNvSpPr txBox="1"/>
          <p:nvPr/>
        </p:nvSpPr>
        <p:spPr>
          <a:xfrm>
            <a:off x="6766560" y="2249424"/>
            <a:ext cx="192024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3C49"/>
              </a:buClr>
              <a:buSzPts val="1200"/>
              <a:buFont typeface="Calibri"/>
              <a:buNone/>
            </a:pPr>
            <a:r>
              <a:rPr b="1" i="0" lang="en-US" sz="1200" u="none" cap="none" strike="noStrike">
                <a:solidFill>
                  <a:srgbClr val="0B3C49"/>
                </a:solidFill>
                <a:latin typeface="Calibri"/>
                <a:ea typeface="Calibri"/>
                <a:cs typeface="Calibri"/>
                <a:sym typeface="Calibri"/>
              </a:rPr>
              <a:t>sum(Abundance)</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E7278"/>
              </a:buClr>
              <a:buSzPts val="1200"/>
              <a:buFont typeface="Calibri"/>
              <a:buNone/>
            </a:pPr>
            <a:r>
              <a:rPr b="0" i="0" lang="en-US" sz="1200" u="none" cap="none" strike="noStrike">
                <a:solidFill>
                  <a:srgbClr val="5E7278"/>
                </a:solidFill>
                <a:latin typeface="Calibri"/>
                <a:ea typeface="Calibri"/>
                <a:cs typeface="Calibri"/>
                <a:sym typeface="Calibri"/>
              </a:rPr>
              <a:t>A single “Other” block per sample</a:t>
            </a:r>
            <a:endParaRPr b="0" i="0" sz="1200" u="none" cap="none" strike="noStrike">
              <a:solidFill>
                <a:schemeClr val="dk1"/>
              </a:solidFill>
              <a:latin typeface="Calibri"/>
              <a:ea typeface="Calibri"/>
              <a:cs typeface="Calibri"/>
              <a:sym typeface="Calibri"/>
            </a:endParaRPr>
          </a:p>
        </p:txBody>
      </p:sp>
      <p:sp>
        <p:nvSpPr>
          <p:cNvPr id="298" name="Google Shape;298;p13"/>
          <p:cNvSpPr/>
          <p:nvPr/>
        </p:nvSpPr>
        <p:spPr>
          <a:xfrm>
            <a:off x="6309360" y="3291840"/>
            <a:ext cx="329184" cy="329184"/>
          </a:xfrm>
          <a:prstGeom prst="ellipse">
            <a:avLst/>
          </a:prstGeom>
          <a:solidFill>
            <a:srgbClr val="2E9C86"/>
          </a:solidFill>
          <a:ln cap="flat" cmpd="sng" w="12700">
            <a:solidFill>
              <a:srgbClr val="2E9C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13"/>
          <p:cNvSpPr txBox="1"/>
          <p:nvPr/>
        </p:nvSpPr>
        <p:spPr>
          <a:xfrm>
            <a:off x="6309360" y="3291840"/>
            <a:ext cx="329184" cy="329184"/>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FFFFFF"/>
              </a:buClr>
              <a:buSzPts val="1200"/>
              <a:buFont typeface="Calibri"/>
              <a:buNone/>
            </a:pPr>
            <a:r>
              <a:rPr b="1" i="0" lang="en-US" sz="1200" u="none" cap="none" strike="noStrike">
                <a:solidFill>
                  <a:srgbClr val="FFFFFF"/>
                </a:solidFill>
                <a:latin typeface="Calibri"/>
                <a:ea typeface="Calibri"/>
                <a:cs typeface="Calibri"/>
                <a:sym typeface="Calibri"/>
              </a:rPr>
              <a:t>3</a:t>
            </a:r>
            <a:endParaRPr b="0" i="0" sz="1200" u="none" cap="none" strike="noStrike">
              <a:solidFill>
                <a:schemeClr val="dk1"/>
              </a:solidFill>
              <a:latin typeface="Calibri"/>
              <a:ea typeface="Calibri"/>
              <a:cs typeface="Calibri"/>
              <a:sym typeface="Calibri"/>
            </a:endParaRPr>
          </a:p>
        </p:txBody>
      </p:sp>
      <p:sp>
        <p:nvSpPr>
          <p:cNvPr id="300" name="Google Shape;300;p13"/>
          <p:cNvSpPr txBox="1"/>
          <p:nvPr/>
        </p:nvSpPr>
        <p:spPr>
          <a:xfrm>
            <a:off x="6766560" y="3255264"/>
            <a:ext cx="1920240" cy="9601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0B3C49"/>
              </a:buClr>
              <a:buSzPts val="1200"/>
              <a:buFont typeface="Calibri"/>
              <a:buNone/>
            </a:pPr>
            <a:r>
              <a:rPr b="1" i="0" lang="en-US" sz="1200" u="none" cap="none" strike="noStrike">
                <a:solidFill>
                  <a:srgbClr val="0B3C49"/>
                </a:solidFill>
                <a:latin typeface="Calibri"/>
                <a:ea typeface="Calibri"/>
                <a:cs typeface="Calibri"/>
                <a:sym typeface="Calibri"/>
              </a:rPr>
              <a:t>factor(levels =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E7278"/>
              </a:buClr>
              <a:buSzPts val="1200"/>
              <a:buFont typeface="Calibri"/>
              <a:buNone/>
            </a:pPr>
            <a:r>
              <a:rPr b="0" i="0" lang="en-US" sz="1200" u="none" cap="none" strike="noStrike">
                <a:solidFill>
                  <a:srgbClr val="5E7278"/>
                </a:solidFill>
                <a:latin typeface="Calibri"/>
                <a:ea typeface="Calibri"/>
                <a:cs typeface="Calibri"/>
                <a:sym typeface="Calibri"/>
              </a:rPr>
              <a:t>Keeps the sample order</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5" name="Shape 305"/>
        <p:cNvGrpSpPr/>
        <p:nvPr/>
      </p:nvGrpSpPr>
      <p:grpSpPr>
        <a:xfrm>
          <a:off x="0" y="0"/>
          <a:ext cx="0" cy="0"/>
          <a:chOff x="0" y="0"/>
          <a:chExt cx="0" cy="0"/>
        </a:xfrm>
      </p:grpSpPr>
      <p:sp>
        <p:nvSpPr>
          <p:cNvPr id="306" name="Google Shape;306;p14"/>
          <p:cNvSpPr txBox="1"/>
          <p:nvPr/>
        </p:nvSpPr>
        <p:spPr>
          <a:xfrm>
            <a:off x="457200" y="274320"/>
            <a:ext cx="6949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2800"/>
              <a:buFont typeface="Cambria"/>
              <a:buNone/>
            </a:pPr>
            <a:r>
              <a:rPr b="1" i="0" lang="en-US" sz="2800" u="none" cap="none" strike="noStrike">
                <a:solidFill>
                  <a:srgbClr val="0B3C49"/>
                </a:solidFill>
                <a:latin typeface="Cambria"/>
                <a:ea typeface="Cambria"/>
                <a:cs typeface="Cambria"/>
                <a:sym typeface="Cambria"/>
              </a:rPr>
              <a:t>Stacked bar chart</a:t>
            </a:r>
            <a:endParaRPr b="0" i="0" sz="2800" u="none" cap="none" strike="noStrike">
              <a:solidFill>
                <a:schemeClr val="dk1"/>
              </a:solidFill>
              <a:latin typeface="Calibri"/>
              <a:ea typeface="Calibri"/>
              <a:cs typeface="Calibri"/>
              <a:sym typeface="Calibri"/>
            </a:endParaRPr>
          </a:p>
        </p:txBody>
      </p:sp>
      <p:sp>
        <p:nvSpPr>
          <p:cNvPr id="307" name="Google Shape;307;p14"/>
          <p:cNvSpPr/>
          <p:nvPr/>
        </p:nvSpPr>
        <p:spPr>
          <a:xfrm>
            <a:off x="7498080" y="411480"/>
            <a:ext cx="1188720" cy="384048"/>
          </a:xfrm>
          <a:prstGeom prst="roundRect">
            <a:avLst>
              <a:gd fmla="val 50000"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8" name="Google Shape;308;p14"/>
          <p:cNvSpPr txBox="1"/>
          <p:nvPr/>
        </p:nvSpPr>
        <p:spPr>
          <a:xfrm>
            <a:off x="7498080" y="411480"/>
            <a:ext cx="11887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9C86"/>
              </a:buClr>
              <a:buSzPts val="1100"/>
              <a:buFont typeface="Calibri"/>
              <a:buNone/>
            </a:pPr>
            <a:r>
              <a:rPr b="1" i="0" lang="en-US" sz="1100" u="none" cap="none" strike="noStrike">
                <a:solidFill>
                  <a:srgbClr val="2E9C86"/>
                </a:solidFill>
                <a:latin typeface="Calibri"/>
                <a:ea typeface="Calibri"/>
                <a:cs typeface="Calibri"/>
                <a:sym typeface="Calibri"/>
              </a:rPr>
              <a:t>3 · Composition</a:t>
            </a:r>
            <a:endParaRPr b="0" i="0" sz="1100" u="none" cap="none" strike="noStrike">
              <a:solidFill>
                <a:schemeClr val="dk1"/>
              </a:solidFill>
              <a:latin typeface="Calibri"/>
              <a:ea typeface="Calibri"/>
              <a:cs typeface="Calibri"/>
              <a:sym typeface="Calibri"/>
            </a:endParaRPr>
          </a:p>
        </p:txBody>
      </p:sp>
      <p:sp>
        <p:nvSpPr>
          <p:cNvPr id="309" name="Google Shape;309;p14"/>
          <p:cNvSpPr/>
          <p:nvPr/>
        </p:nvSpPr>
        <p:spPr>
          <a:xfrm>
            <a:off x="457200" y="1143000"/>
            <a:ext cx="5303520" cy="3611880"/>
          </a:xfrm>
          <a:prstGeom prst="roundRect">
            <a:avLst>
              <a:gd fmla="val 3038" name="adj"/>
            </a:avLst>
          </a:prstGeom>
          <a:solidFill>
            <a:srgbClr val="15262D"/>
          </a:solidFill>
          <a:ln cap="flat" cmpd="sng" w="12700">
            <a:solidFill>
              <a:srgbClr val="1526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14"/>
          <p:cNvSpPr txBox="1"/>
          <p:nvPr/>
        </p:nvSpPr>
        <p:spPr>
          <a:xfrm>
            <a:off x="548640" y="1234440"/>
            <a:ext cx="5120640" cy="3429000"/>
          </a:xfrm>
          <a:prstGeom prst="rect">
            <a:avLst/>
          </a:prstGeom>
          <a:noFill/>
          <a:ln>
            <a:noFill/>
          </a:ln>
        </p:spPr>
        <p:txBody>
          <a:bodyPr anchorCtr="0" anchor="t" bIns="1000" lIns="1000" spcFirstLastPara="1" rIns="1000" wrap="square" tIns="1000">
            <a:noAutofit/>
          </a:bodyPr>
          <a:lstStyle/>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ggplot(composition_plot_data,</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aes(x = Sample, y = Abundance, fill = Taxon))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geom_col()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facet_grid(~ product, scales = "free_x",</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space = "free_x")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labs(title = paste("Microbial composition at",</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rank_to_plot, "level"),</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subtitle = paste("Top", number_to_show,</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"taxa; all others are Other"),</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x = "Sample",</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y = "Relative abundance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fill = rank_to_plot)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theme_minimal()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theme(axis.text.x = element_text(angle = 45,</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hjust = 1))</a:t>
            </a:r>
            <a:endParaRPr b="0" i="0" sz="1200" u="none" cap="none" strike="noStrike">
              <a:solidFill>
                <a:schemeClr val="dk1"/>
              </a:solidFill>
              <a:latin typeface="Calibri"/>
              <a:ea typeface="Calibri"/>
              <a:cs typeface="Calibri"/>
              <a:sym typeface="Calibri"/>
            </a:endParaRPr>
          </a:p>
        </p:txBody>
      </p:sp>
      <p:sp>
        <p:nvSpPr>
          <p:cNvPr id="311" name="Google Shape;311;p14"/>
          <p:cNvSpPr/>
          <p:nvPr/>
        </p:nvSpPr>
        <p:spPr>
          <a:xfrm>
            <a:off x="5989320" y="1143000"/>
            <a:ext cx="2697480" cy="3611880"/>
          </a:xfrm>
          <a:prstGeom prst="roundRect">
            <a:avLst>
              <a:gd fmla="val 3390" name="adj"/>
            </a:avLst>
          </a:prstGeom>
          <a:solidFill>
            <a:srgbClr val="FDECE6"/>
          </a:solidFill>
          <a:ln cap="flat" cmpd="sng" w="12700">
            <a:solidFill>
              <a:srgbClr val="FDE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2" name="Google Shape;312;p14"/>
          <p:cNvSpPr/>
          <p:nvPr/>
        </p:nvSpPr>
        <p:spPr>
          <a:xfrm>
            <a:off x="6172200" y="1325880"/>
            <a:ext cx="457200" cy="457200"/>
          </a:xfrm>
          <a:prstGeom prst="ellipse">
            <a:avLst/>
          </a:prstGeom>
          <a:solidFill>
            <a:srgbClr val="E8603C"/>
          </a:solidFill>
          <a:ln cap="flat" cmpd="sng" w="12700">
            <a:solidFill>
              <a:srgbClr val="E860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13" name="Google Shape;313;p14"/>
          <p:cNvPicPr preferRelativeResize="0"/>
          <p:nvPr/>
        </p:nvPicPr>
        <p:blipFill rotWithShape="1">
          <a:blip r:embed="rId3">
            <a:alphaModFix/>
          </a:blip>
          <a:srcRect b="0" l="0" r="0" t="0"/>
          <a:stretch/>
        </p:blipFill>
        <p:spPr>
          <a:xfrm>
            <a:off x="6291072" y="1444752"/>
            <a:ext cx="219456" cy="219456"/>
          </a:xfrm>
          <a:prstGeom prst="rect">
            <a:avLst/>
          </a:prstGeom>
          <a:noFill/>
          <a:ln>
            <a:noFill/>
          </a:ln>
        </p:spPr>
      </p:pic>
      <p:sp>
        <p:nvSpPr>
          <p:cNvPr id="314" name="Google Shape;314;p14"/>
          <p:cNvSpPr txBox="1"/>
          <p:nvPr/>
        </p:nvSpPr>
        <p:spPr>
          <a:xfrm>
            <a:off x="6766560" y="1325880"/>
            <a:ext cx="18288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03C"/>
              </a:buClr>
              <a:buSzPts val="1600"/>
              <a:buFont typeface="Calibri"/>
              <a:buNone/>
            </a:pPr>
            <a:r>
              <a:rPr b="1" i="0" lang="en-US" sz="1600" u="none" cap="none" strike="noStrike">
                <a:solidFill>
                  <a:srgbClr val="E8603C"/>
                </a:solidFill>
                <a:latin typeface="Calibri"/>
                <a:ea typeface="Calibri"/>
                <a:cs typeface="Calibri"/>
                <a:sym typeface="Calibri"/>
              </a:rPr>
              <a:t>Questions</a:t>
            </a:r>
            <a:endParaRPr b="0" i="0" sz="1600" u="none" cap="none" strike="noStrike">
              <a:solidFill>
                <a:schemeClr val="dk1"/>
              </a:solidFill>
              <a:latin typeface="Calibri"/>
              <a:ea typeface="Calibri"/>
              <a:cs typeface="Calibri"/>
              <a:sym typeface="Calibri"/>
            </a:endParaRPr>
          </a:p>
        </p:txBody>
      </p:sp>
      <p:sp>
        <p:nvSpPr>
          <p:cNvPr id="315" name="Google Shape;315;p14"/>
          <p:cNvSpPr txBox="1"/>
          <p:nvPr/>
        </p:nvSpPr>
        <p:spPr>
          <a:xfrm>
            <a:off x="6172200" y="1965960"/>
            <a:ext cx="2377440" cy="256032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1F2D33"/>
              </a:buClr>
              <a:buSzPts val="1400"/>
              <a:buFont typeface="Calibri"/>
              <a:buAutoNum type="arabicPeriod"/>
            </a:pPr>
            <a:r>
              <a:rPr b="0" i="0" lang="en-US" sz="1400" u="none" cap="none" strike="noStrike">
                <a:solidFill>
                  <a:srgbClr val="1F2D33"/>
                </a:solidFill>
                <a:latin typeface="Calibri"/>
                <a:ea typeface="Calibri"/>
                <a:cs typeface="Calibri"/>
                <a:sym typeface="Calibri"/>
              </a:rPr>
              <a:t>What does one bar represent?</a:t>
            </a:r>
            <a:endParaRPr b="0" i="0" sz="1400" u="none" cap="none" strike="noStrike">
              <a:solidFill>
                <a:schemeClr val="dk1"/>
              </a:solidFill>
              <a:latin typeface="Calibri"/>
              <a:ea typeface="Calibri"/>
              <a:cs typeface="Calibri"/>
              <a:sym typeface="Calibri"/>
            </a:endParaRPr>
          </a:p>
          <a:p>
            <a:pPr indent="-342900" lvl="0" marL="342900" marR="0" rtl="0" algn="l">
              <a:spcBef>
                <a:spcPts val="1200"/>
              </a:spcBef>
              <a:spcAft>
                <a:spcPts val="0"/>
              </a:spcAft>
              <a:buClr>
                <a:srgbClr val="1F2D33"/>
              </a:buClr>
              <a:buSzPts val="1400"/>
              <a:buFont typeface="Calibri"/>
              <a:buAutoNum type="arabicPeriod"/>
            </a:pPr>
            <a:r>
              <a:rPr b="0" i="0" lang="en-US" sz="1400" u="none" cap="none" strike="noStrike">
                <a:solidFill>
                  <a:srgbClr val="1F2D33"/>
                </a:solidFill>
                <a:latin typeface="Calibri"/>
                <a:ea typeface="Calibri"/>
                <a:cs typeface="Calibri"/>
                <a:sym typeface="Calibri"/>
              </a:rPr>
              <a:t>Why does it total approximately 100%?</a:t>
            </a:r>
            <a:endParaRPr b="0" i="0" sz="1400" u="none" cap="none" strike="noStrike">
              <a:solidFill>
                <a:schemeClr val="dk1"/>
              </a:solidFill>
              <a:latin typeface="Calibri"/>
              <a:ea typeface="Calibri"/>
              <a:cs typeface="Calibri"/>
              <a:sym typeface="Calibri"/>
            </a:endParaRPr>
          </a:p>
          <a:p>
            <a:pPr indent="-342900" lvl="0" marL="342900" marR="0" rtl="0" algn="l">
              <a:spcBef>
                <a:spcPts val="1200"/>
              </a:spcBef>
              <a:spcAft>
                <a:spcPts val="0"/>
              </a:spcAft>
              <a:buClr>
                <a:srgbClr val="1F2D33"/>
              </a:buClr>
              <a:buSzPts val="1400"/>
              <a:buFont typeface="Calibri"/>
              <a:buAutoNum type="arabicPeriod"/>
            </a:pPr>
            <a:r>
              <a:rPr b="0" i="0" lang="en-US" sz="1400" u="none" cap="none" strike="noStrike">
                <a:solidFill>
                  <a:srgbClr val="1F2D33"/>
                </a:solidFill>
                <a:latin typeface="Calibri"/>
                <a:ea typeface="Calibri"/>
                <a:cs typeface="Calibri"/>
                <a:sym typeface="Calibri"/>
              </a:rPr>
              <a:t>Does it show absolute bacterial numbers?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3C49"/>
        </a:solidFill>
      </p:bgPr>
    </p:bg>
    <p:spTree>
      <p:nvGrpSpPr>
        <p:cNvPr id="320" name="Shape 320"/>
        <p:cNvGrpSpPr/>
        <p:nvPr/>
      </p:nvGrpSpPr>
      <p:grpSpPr>
        <a:xfrm>
          <a:off x="0" y="0"/>
          <a:ext cx="0" cy="0"/>
          <a:chOff x="0" y="0"/>
          <a:chExt cx="0" cy="0"/>
        </a:xfrm>
      </p:grpSpPr>
      <p:sp>
        <p:nvSpPr>
          <p:cNvPr id="321" name="Google Shape;321;p15"/>
          <p:cNvSpPr/>
          <p:nvPr/>
        </p:nvSpPr>
        <p:spPr>
          <a:xfrm>
            <a:off x="548640" y="502920"/>
            <a:ext cx="822960" cy="822960"/>
          </a:xfrm>
          <a:prstGeom prst="ellipse">
            <a:avLst/>
          </a:prstGeom>
          <a:solidFill>
            <a:srgbClr val="E8603C"/>
          </a:solidFill>
          <a:ln cap="flat" cmpd="sng" w="12700">
            <a:solidFill>
              <a:srgbClr val="E860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2" name="Google Shape;322;p15"/>
          <p:cNvPicPr preferRelativeResize="0"/>
          <p:nvPr/>
        </p:nvPicPr>
        <p:blipFill rotWithShape="1">
          <a:blip r:embed="rId3">
            <a:alphaModFix/>
          </a:blip>
          <a:srcRect b="0" l="0" r="0" t="0"/>
          <a:stretch/>
        </p:blipFill>
        <p:spPr>
          <a:xfrm>
            <a:off x="762610" y="716890"/>
            <a:ext cx="395021" cy="395021"/>
          </a:xfrm>
          <a:prstGeom prst="rect">
            <a:avLst/>
          </a:prstGeom>
          <a:noFill/>
          <a:ln>
            <a:noFill/>
          </a:ln>
        </p:spPr>
      </p:pic>
      <p:sp>
        <p:nvSpPr>
          <p:cNvPr id="323" name="Google Shape;323;p15"/>
          <p:cNvSpPr txBox="1"/>
          <p:nvPr/>
        </p:nvSpPr>
        <p:spPr>
          <a:xfrm>
            <a:off x="1600200" y="50292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B9A6"/>
              </a:buClr>
              <a:buSzPts val="1600"/>
              <a:buFont typeface="Calibri"/>
              <a:buNone/>
            </a:pPr>
            <a:r>
              <a:rPr b="1" i="0" lang="en-US" sz="1600" u="none" cap="none" strike="noStrike">
                <a:solidFill>
                  <a:srgbClr val="F7B9A6"/>
                </a:solidFill>
                <a:latin typeface="Calibri"/>
                <a:ea typeface="Calibri"/>
                <a:cs typeface="Calibri"/>
                <a:sym typeface="Calibri"/>
              </a:rPr>
              <a:t>Exercise 1</a:t>
            </a:r>
            <a:endParaRPr b="0" i="0" sz="1600" u="none" cap="none" strike="noStrike">
              <a:solidFill>
                <a:schemeClr val="dk1"/>
              </a:solidFill>
              <a:latin typeface="Calibri"/>
              <a:ea typeface="Calibri"/>
              <a:cs typeface="Calibri"/>
              <a:sym typeface="Calibri"/>
            </a:endParaRPr>
          </a:p>
        </p:txBody>
      </p:sp>
      <p:sp>
        <p:nvSpPr>
          <p:cNvPr id="324" name="Google Shape;324;p15"/>
          <p:cNvSpPr txBox="1"/>
          <p:nvPr/>
        </p:nvSpPr>
        <p:spPr>
          <a:xfrm>
            <a:off x="1600200" y="822960"/>
            <a:ext cx="71323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Composition at species level</a:t>
            </a:r>
            <a:endParaRPr b="0" i="0" sz="3000" u="none" cap="none" strike="noStrike">
              <a:solidFill>
                <a:schemeClr val="dk1"/>
              </a:solidFill>
              <a:latin typeface="Calibri"/>
              <a:ea typeface="Calibri"/>
              <a:cs typeface="Calibri"/>
              <a:sym typeface="Calibri"/>
            </a:endParaRPr>
          </a:p>
        </p:txBody>
      </p:sp>
      <p:sp>
        <p:nvSpPr>
          <p:cNvPr id="325" name="Google Shape;325;p15"/>
          <p:cNvSpPr txBox="1"/>
          <p:nvPr/>
        </p:nvSpPr>
        <p:spPr>
          <a:xfrm>
            <a:off x="548640" y="1783080"/>
            <a:ext cx="8046720" cy="19202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FFFFFF"/>
              </a:buClr>
              <a:buSzPts val="1800"/>
              <a:buFont typeface="Calibri"/>
              <a:buChar char="•"/>
            </a:pPr>
            <a:r>
              <a:rPr b="0" i="0" lang="en-US" sz="1800" u="none" cap="none" strike="noStrike">
                <a:solidFill>
                  <a:srgbClr val="FFFFFF"/>
                </a:solidFill>
                <a:latin typeface="Calibri"/>
                <a:ea typeface="Calibri"/>
                <a:cs typeface="Calibri"/>
                <a:sym typeface="Calibri"/>
              </a:rPr>
              <a:t>Change only two values: rank_to_plot and number_to_show</a:t>
            </a:r>
            <a:endParaRPr b="0" i="0" sz="18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FFFFFF"/>
              </a:buClr>
              <a:buSzPts val="1800"/>
              <a:buFont typeface="Calibri"/>
              <a:buChar char="•"/>
            </a:pPr>
            <a:r>
              <a:rPr b="0" i="0" lang="en-US" sz="1800" u="none" cap="none" strike="noStrike">
                <a:solidFill>
                  <a:srgbClr val="FFFFFF"/>
                </a:solidFill>
                <a:latin typeface="Calibri"/>
                <a:ea typeface="Calibri"/>
                <a:cs typeface="Calibri"/>
                <a:sym typeface="Calibri"/>
              </a:rPr>
              <a:t>Show the top 15 at species level</a:t>
            </a:r>
            <a:endParaRPr b="0" i="0" sz="18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FFFFFF"/>
              </a:buClr>
              <a:buSzPts val="1800"/>
              <a:buFont typeface="Calibri"/>
              <a:buChar char="•"/>
            </a:pPr>
            <a:r>
              <a:rPr b="0" i="0" lang="en-US" sz="1800" u="none" cap="none" strike="noStrike">
                <a:solidFill>
                  <a:srgbClr val="FFFFFF"/>
                </a:solidFill>
                <a:latin typeface="Calibri"/>
                <a:ea typeface="Calibri"/>
                <a:cs typeface="Calibri"/>
                <a:sym typeface="Calibri"/>
              </a:rPr>
              <a:t>Rerun the composition chunks (Fig. 2B analogue)</a:t>
            </a:r>
            <a:endParaRPr b="0" i="0" sz="1800" u="none" cap="none" strike="noStrike">
              <a:solidFill>
                <a:schemeClr val="dk1"/>
              </a:solidFill>
              <a:latin typeface="Calibri"/>
              <a:ea typeface="Calibri"/>
              <a:cs typeface="Calibri"/>
              <a:sym typeface="Calibri"/>
            </a:endParaRPr>
          </a:p>
        </p:txBody>
      </p:sp>
      <p:sp>
        <p:nvSpPr>
          <p:cNvPr id="326" name="Google Shape;326;p15"/>
          <p:cNvSpPr/>
          <p:nvPr/>
        </p:nvSpPr>
        <p:spPr>
          <a:xfrm>
            <a:off x="548640" y="3931920"/>
            <a:ext cx="8046720" cy="685800"/>
          </a:xfrm>
          <a:prstGeom prst="roundRect">
            <a:avLst>
              <a:gd fmla="val 13333" name="adj"/>
            </a:avLst>
          </a:prstGeom>
          <a:solidFill>
            <a:srgbClr val="15525F"/>
          </a:solidFill>
          <a:ln cap="flat" cmpd="sng" w="12700">
            <a:solidFill>
              <a:srgbClr val="1552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27" name="Google Shape;327;p15"/>
          <p:cNvPicPr preferRelativeResize="0"/>
          <p:nvPr/>
        </p:nvPicPr>
        <p:blipFill rotWithShape="1">
          <a:blip r:embed="rId4">
            <a:alphaModFix/>
          </a:blip>
          <a:srcRect b="0" l="0" r="0" t="0"/>
          <a:stretch/>
        </p:blipFill>
        <p:spPr>
          <a:xfrm>
            <a:off x="731520" y="4096512"/>
            <a:ext cx="347472" cy="347472"/>
          </a:xfrm>
          <a:prstGeom prst="rect">
            <a:avLst/>
          </a:prstGeom>
          <a:noFill/>
          <a:ln>
            <a:noFill/>
          </a:ln>
        </p:spPr>
      </p:pic>
      <p:sp>
        <p:nvSpPr>
          <p:cNvPr id="328" name="Google Shape;328;p15"/>
          <p:cNvSpPr txBox="1"/>
          <p:nvPr/>
        </p:nvSpPr>
        <p:spPr>
          <a:xfrm>
            <a:off x="1234440" y="3931920"/>
            <a:ext cx="72237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FE6E1"/>
              </a:buClr>
              <a:buSzPts val="1400"/>
              <a:buFont typeface="Calibri"/>
              <a:buNone/>
            </a:pPr>
            <a:r>
              <a:rPr b="0" i="1" lang="en-US" sz="1400" u="none" cap="none" strike="noStrike">
                <a:solidFill>
                  <a:srgbClr val="CFE6E1"/>
                </a:solidFill>
                <a:latin typeface="Calibri"/>
                <a:ea typeface="Calibri"/>
                <a:cs typeface="Calibri"/>
                <a:sym typeface="Calibri"/>
              </a:rPr>
              <a:t>Nothing else needs to change: the rest of the code uses those two variables.</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33" name="Shape 333"/>
        <p:cNvGrpSpPr/>
        <p:nvPr/>
      </p:nvGrpSpPr>
      <p:grpSpPr>
        <a:xfrm>
          <a:off x="0" y="0"/>
          <a:ext cx="0" cy="0"/>
          <a:chOff x="0" y="0"/>
          <a:chExt cx="0" cy="0"/>
        </a:xfrm>
      </p:grpSpPr>
      <p:sp>
        <p:nvSpPr>
          <p:cNvPr id="334" name="Google Shape;334;p16"/>
          <p:cNvSpPr txBox="1"/>
          <p:nvPr/>
        </p:nvSpPr>
        <p:spPr>
          <a:xfrm>
            <a:off x="457200" y="274320"/>
            <a:ext cx="6949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2800"/>
              <a:buFont typeface="Cambria"/>
              <a:buNone/>
            </a:pPr>
            <a:r>
              <a:rPr b="1" i="0" lang="en-US" sz="2800" u="none" cap="none" strike="noStrike">
                <a:solidFill>
                  <a:srgbClr val="0B3C49"/>
                </a:solidFill>
                <a:latin typeface="Cambria"/>
                <a:ea typeface="Cambria"/>
                <a:cs typeface="Cambria"/>
                <a:sym typeface="Cambria"/>
              </a:rPr>
              <a:t>Solution · Exercise 1</a:t>
            </a:r>
            <a:endParaRPr b="0" i="0" sz="2800" u="none" cap="none" strike="noStrike">
              <a:solidFill>
                <a:schemeClr val="dk1"/>
              </a:solidFill>
              <a:latin typeface="Calibri"/>
              <a:ea typeface="Calibri"/>
              <a:cs typeface="Calibri"/>
              <a:sym typeface="Calibri"/>
            </a:endParaRPr>
          </a:p>
        </p:txBody>
      </p:sp>
      <p:sp>
        <p:nvSpPr>
          <p:cNvPr id="335" name="Google Shape;335;p16"/>
          <p:cNvSpPr/>
          <p:nvPr/>
        </p:nvSpPr>
        <p:spPr>
          <a:xfrm>
            <a:off x="7498080" y="411480"/>
            <a:ext cx="1188720" cy="384048"/>
          </a:xfrm>
          <a:prstGeom prst="roundRect">
            <a:avLst>
              <a:gd fmla="val 50000"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6" name="Google Shape;336;p16"/>
          <p:cNvSpPr txBox="1"/>
          <p:nvPr/>
        </p:nvSpPr>
        <p:spPr>
          <a:xfrm>
            <a:off x="7498080" y="411480"/>
            <a:ext cx="11887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9C86"/>
              </a:buClr>
              <a:buSzPts val="1100"/>
              <a:buFont typeface="Calibri"/>
              <a:buNone/>
            </a:pPr>
            <a:r>
              <a:rPr b="1" i="0" lang="en-US" sz="1100" u="none" cap="none" strike="noStrike">
                <a:solidFill>
                  <a:srgbClr val="2E9C86"/>
                </a:solidFill>
                <a:latin typeface="Calibri"/>
                <a:ea typeface="Calibri"/>
                <a:cs typeface="Calibri"/>
                <a:sym typeface="Calibri"/>
              </a:rPr>
              <a:t>3 · Composition</a:t>
            </a:r>
            <a:endParaRPr b="0" i="0" sz="1100" u="none" cap="none" strike="noStrike">
              <a:solidFill>
                <a:schemeClr val="dk1"/>
              </a:solidFill>
              <a:latin typeface="Calibri"/>
              <a:ea typeface="Calibri"/>
              <a:cs typeface="Calibri"/>
              <a:sym typeface="Calibri"/>
            </a:endParaRPr>
          </a:p>
        </p:txBody>
      </p:sp>
      <p:sp>
        <p:nvSpPr>
          <p:cNvPr id="337" name="Google Shape;337;p16"/>
          <p:cNvSpPr/>
          <p:nvPr/>
        </p:nvSpPr>
        <p:spPr>
          <a:xfrm>
            <a:off x="457200" y="1234440"/>
            <a:ext cx="5577840" cy="1828800"/>
          </a:xfrm>
          <a:prstGeom prst="roundRect">
            <a:avLst>
              <a:gd fmla="val 6000" name="adj"/>
            </a:avLst>
          </a:prstGeom>
          <a:solidFill>
            <a:srgbClr val="15262D"/>
          </a:solidFill>
          <a:ln cap="flat" cmpd="sng" w="12700">
            <a:solidFill>
              <a:srgbClr val="1526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8" name="Google Shape;338;p16"/>
          <p:cNvSpPr txBox="1"/>
          <p:nvPr/>
        </p:nvSpPr>
        <p:spPr>
          <a:xfrm>
            <a:off x="548640" y="1325880"/>
            <a:ext cx="5394960" cy="1645920"/>
          </a:xfrm>
          <a:prstGeom prst="rect">
            <a:avLst/>
          </a:prstGeom>
          <a:noFill/>
          <a:ln>
            <a:noFill/>
          </a:ln>
        </p:spPr>
        <p:txBody>
          <a:bodyPr anchorCtr="0" anchor="t" bIns="1000" lIns="1000" spcFirstLastPara="1" rIns="1000" wrap="square" tIns="1000">
            <a:noAutofit/>
          </a:bodyPr>
          <a:lstStyle/>
          <a:p>
            <a:pPr indent="0" lvl="0" marL="0" marR="0" rtl="0" algn="l">
              <a:spcBef>
                <a:spcPts val="0"/>
              </a:spcBef>
              <a:spcAft>
                <a:spcPts val="0"/>
              </a:spcAft>
              <a:buClr>
                <a:srgbClr val="FF9A7A"/>
              </a:buClr>
              <a:buSzPts val="1400"/>
              <a:buFont typeface="Courier New"/>
              <a:buNone/>
            </a:pPr>
            <a:r>
              <a:rPr b="1" i="0" lang="en-US" sz="1400" u="none" cap="none" strike="noStrike">
                <a:solidFill>
                  <a:srgbClr val="FF9A7A"/>
                </a:solidFill>
                <a:latin typeface="Courier New"/>
                <a:ea typeface="Courier New"/>
                <a:cs typeface="Courier New"/>
                <a:sym typeface="Courier New"/>
              </a:rPr>
              <a:t>rank_to_plot   &lt;- "species"</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A7A"/>
              </a:buClr>
              <a:buSzPts val="1400"/>
              <a:buFont typeface="Courier New"/>
              <a:buNone/>
            </a:pPr>
            <a:r>
              <a:rPr b="1" i="0" lang="en-US" sz="1400" u="none" cap="none" strike="noStrike">
                <a:solidFill>
                  <a:srgbClr val="FF9A7A"/>
                </a:solidFill>
                <a:latin typeface="Courier New"/>
                <a:ea typeface="Courier New"/>
                <a:cs typeface="Courier New"/>
                <a:sym typeface="Courier New"/>
              </a:rPr>
              <a:t>number_to_show &lt;- 15</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400"/>
              <a:buFont typeface="Courier New"/>
              <a:buNone/>
            </a:pPr>
            <a:r>
              <a:rPr b="0" i="0" lang="en-US" sz="1400" u="none" cap="none" strike="noStrike">
                <a:solidFill>
                  <a:srgbClr val="E6EEF0"/>
                </a:solidFill>
                <a:latin typeface="Courier New"/>
                <a:ea typeface="Courier New"/>
                <a:cs typeface="Courier New"/>
                <a:sym typeface="Courier New"/>
              </a:rPr>
              <a:t> </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6A8A1"/>
              </a:buClr>
              <a:buSzPts val="1400"/>
              <a:buFont typeface="Courier New"/>
              <a:buNone/>
            </a:pPr>
            <a:r>
              <a:rPr b="0" i="0" lang="en-US" sz="1400" u="none" cap="none" strike="noStrike">
                <a:solidFill>
                  <a:srgbClr val="86A8A1"/>
                </a:solidFill>
                <a:latin typeface="Courier New"/>
                <a:ea typeface="Courier New"/>
                <a:cs typeface="Courier New"/>
                <a:sym typeface="Courier New"/>
              </a:rPr>
              <a:t># Then rerun the tax_glom / top,</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86A8A1"/>
              </a:buClr>
              <a:buSzPts val="1400"/>
              <a:buFont typeface="Courier New"/>
              <a:buNone/>
            </a:pPr>
            <a:r>
              <a:rPr b="0" i="0" lang="en-US" sz="1400" u="none" cap="none" strike="noStrike">
                <a:solidFill>
                  <a:srgbClr val="86A8A1"/>
                </a:solidFill>
                <a:latin typeface="Courier New"/>
                <a:ea typeface="Courier New"/>
                <a:cs typeface="Courier New"/>
                <a:sym typeface="Courier New"/>
              </a:rPr>
              <a:t># "Other" and ggplot chunks</a:t>
            </a:r>
            <a:endParaRPr b="0" i="0" sz="1400" u="none" cap="none" strike="noStrike">
              <a:solidFill>
                <a:schemeClr val="dk1"/>
              </a:solidFill>
              <a:latin typeface="Calibri"/>
              <a:ea typeface="Calibri"/>
              <a:cs typeface="Calibri"/>
              <a:sym typeface="Calibri"/>
            </a:endParaRPr>
          </a:p>
        </p:txBody>
      </p:sp>
      <p:sp>
        <p:nvSpPr>
          <p:cNvPr id="339" name="Google Shape;339;p16"/>
          <p:cNvSpPr/>
          <p:nvPr/>
        </p:nvSpPr>
        <p:spPr>
          <a:xfrm>
            <a:off x="457200" y="3429000"/>
            <a:ext cx="548640" cy="548640"/>
          </a:xfrm>
          <a:prstGeom prst="ellipse">
            <a:avLst/>
          </a:prstGeom>
          <a:solidFill>
            <a:srgbClr val="2E9C86"/>
          </a:solidFill>
          <a:ln cap="flat" cmpd="sng" w="12700">
            <a:solidFill>
              <a:srgbClr val="2E9C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40" name="Google Shape;340;p16"/>
          <p:cNvPicPr preferRelativeResize="0"/>
          <p:nvPr/>
        </p:nvPicPr>
        <p:blipFill rotWithShape="1">
          <a:blip r:embed="rId3">
            <a:alphaModFix/>
          </a:blip>
          <a:srcRect b="0" l="0" r="0" t="0"/>
          <a:stretch/>
        </p:blipFill>
        <p:spPr>
          <a:xfrm>
            <a:off x="599846" y="3571646"/>
            <a:ext cx="263347" cy="263347"/>
          </a:xfrm>
          <a:prstGeom prst="rect">
            <a:avLst/>
          </a:prstGeom>
          <a:noFill/>
          <a:ln>
            <a:noFill/>
          </a:ln>
        </p:spPr>
      </p:pic>
      <p:sp>
        <p:nvSpPr>
          <p:cNvPr id="341" name="Google Shape;341;p16"/>
          <p:cNvSpPr txBox="1"/>
          <p:nvPr/>
        </p:nvSpPr>
        <p:spPr>
          <a:xfrm>
            <a:off x="1188720" y="3337560"/>
            <a:ext cx="4846320" cy="7315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1F2D33"/>
              </a:buClr>
              <a:buSzPts val="1400"/>
              <a:buFont typeface="Calibri"/>
              <a:buNone/>
            </a:pPr>
            <a:r>
              <a:rPr b="0" i="0" lang="en-US" sz="1400" u="none" cap="none" strike="noStrike">
                <a:solidFill>
                  <a:srgbClr val="1F2D33"/>
                </a:solidFill>
                <a:latin typeface="Calibri"/>
                <a:ea typeface="Calibri"/>
                <a:cs typeface="Calibri"/>
                <a:sym typeface="Calibri"/>
              </a:rPr>
              <a:t>The title, subtitle and legend update automatically because they use rank_to_plot and number_to_show.</a:t>
            </a:r>
            <a:endParaRPr b="0" i="0" sz="1400" u="none" cap="none" strike="noStrike">
              <a:solidFill>
                <a:schemeClr val="dk1"/>
              </a:solidFill>
              <a:latin typeface="Calibri"/>
              <a:ea typeface="Calibri"/>
              <a:cs typeface="Calibri"/>
              <a:sym typeface="Calibri"/>
            </a:endParaRPr>
          </a:p>
        </p:txBody>
      </p:sp>
      <p:sp>
        <p:nvSpPr>
          <p:cNvPr id="342" name="Google Shape;342;p16"/>
          <p:cNvSpPr/>
          <p:nvPr/>
        </p:nvSpPr>
        <p:spPr>
          <a:xfrm>
            <a:off x="6309360" y="1234440"/>
            <a:ext cx="2377440" cy="1828800"/>
          </a:xfrm>
          <a:prstGeom prst="roundRect">
            <a:avLst>
              <a:gd fmla="val 5000" name="adj"/>
            </a:avLst>
          </a:prstGeom>
          <a:solidFill>
            <a:srgbClr val="FDECE6"/>
          </a:solidFill>
          <a:ln cap="flat" cmpd="sng" w="12700">
            <a:solidFill>
              <a:srgbClr val="FDE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16"/>
          <p:cNvSpPr txBox="1"/>
          <p:nvPr/>
        </p:nvSpPr>
        <p:spPr>
          <a:xfrm>
            <a:off x="6446520" y="1344168"/>
            <a:ext cx="21031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603C"/>
              </a:buClr>
              <a:buSzPts val="3000"/>
              <a:buFont typeface="Cambria"/>
              <a:buNone/>
            </a:pPr>
            <a:r>
              <a:rPr b="1" i="0" lang="en-US" sz="3000" u="none" cap="none" strike="noStrike">
                <a:solidFill>
                  <a:srgbClr val="E8603C"/>
                </a:solidFill>
                <a:latin typeface="Cambria"/>
                <a:ea typeface="Cambria"/>
                <a:cs typeface="Cambria"/>
                <a:sym typeface="Cambria"/>
              </a:rPr>
              <a:t>2 changes</a:t>
            </a:r>
            <a:endParaRPr b="0" i="0" sz="3000" u="none" cap="none" strike="noStrike">
              <a:solidFill>
                <a:schemeClr val="dk1"/>
              </a:solidFill>
              <a:latin typeface="Calibri"/>
              <a:ea typeface="Calibri"/>
              <a:cs typeface="Calibri"/>
              <a:sym typeface="Calibri"/>
            </a:endParaRPr>
          </a:p>
        </p:txBody>
      </p:sp>
      <p:sp>
        <p:nvSpPr>
          <p:cNvPr id="344" name="Google Shape;344;p16"/>
          <p:cNvSpPr txBox="1"/>
          <p:nvPr/>
        </p:nvSpPr>
        <p:spPr>
          <a:xfrm>
            <a:off x="6446520" y="2011680"/>
            <a:ext cx="2103120" cy="9601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D33"/>
              </a:buClr>
              <a:buSzPts val="1200"/>
              <a:buFont typeface="Calibri"/>
              <a:buNone/>
            </a:pPr>
            <a:r>
              <a:rPr b="0" i="0" lang="en-US" sz="1200" u="none" cap="none" strike="noStrike">
                <a:solidFill>
                  <a:srgbClr val="1F2D33"/>
                </a:solidFill>
                <a:latin typeface="Calibri"/>
                <a:ea typeface="Calibri"/>
                <a:cs typeface="Calibri"/>
                <a:sym typeface="Calibri"/>
              </a:rPr>
              <a:t>The same code works for any taxonomic rank</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9" name="Shape 349"/>
        <p:cNvGrpSpPr/>
        <p:nvPr/>
      </p:nvGrpSpPr>
      <p:grpSpPr>
        <a:xfrm>
          <a:off x="0" y="0"/>
          <a:ext cx="0" cy="0"/>
          <a:chOff x="0" y="0"/>
          <a:chExt cx="0" cy="0"/>
        </a:xfrm>
      </p:grpSpPr>
      <p:sp>
        <p:nvSpPr>
          <p:cNvPr id="350" name="Google Shape;350;p17"/>
          <p:cNvSpPr txBox="1"/>
          <p:nvPr/>
        </p:nvSpPr>
        <p:spPr>
          <a:xfrm>
            <a:off x="457200" y="274320"/>
            <a:ext cx="6949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2800"/>
              <a:buFont typeface="Cambria"/>
              <a:buNone/>
            </a:pPr>
            <a:r>
              <a:rPr b="1" i="0" lang="en-US" sz="2800" u="none" cap="none" strike="noStrike">
                <a:solidFill>
                  <a:srgbClr val="0B3C49"/>
                </a:solidFill>
                <a:latin typeface="Cambria"/>
                <a:ea typeface="Cambria"/>
                <a:cs typeface="Cambria"/>
                <a:sym typeface="Cambria"/>
              </a:rPr>
              <a:t>Alpha diversity: within one sample</a:t>
            </a:r>
            <a:endParaRPr b="0" i="0" sz="2800" u="none" cap="none" strike="noStrike">
              <a:solidFill>
                <a:schemeClr val="dk1"/>
              </a:solidFill>
              <a:latin typeface="Calibri"/>
              <a:ea typeface="Calibri"/>
              <a:cs typeface="Calibri"/>
              <a:sym typeface="Calibri"/>
            </a:endParaRPr>
          </a:p>
        </p:txBody>
      </p:sp>
      <p:sp>
        <p:nvSpPr>
          <p:cNvPr id="351" name="Google Shape;351;p17"/>
          <p:cNvSpPr/>
          <p:nvPr/>
        </p:nvSpPr>
        <p:spPr>
          <a:xfrm>
            <a:off x="7498080" y="411480"/>
            <a:ext cx="1188720" cy="384048"/>
          </a:xfrm>
          <a:prstGeom prst="roundRect">
            <a:avLst>
              <a:gd fmla="val 50000"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17"/>
          <p:cNvSpPr txBox="1"/>
          <p:nvPr/>
        </p:nvSpPr>
        <p:spPr>
          <a:xfrm>
            <a:off x="7498080" y="411480"/>
            <a:ext cx="11887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9C86"/>
              </a:buClr>
              <a:buSzPts val="1100"/>
              <a:buFont typeface="Calibri"/>
              <a:buNone/>
            </a:pPr>
            <a:r>
              <a:rPr b="1" i="0" lang="en-US" sz="1100" u="none" cap="none" strike="noStrike">
                <a:solidFill>
                  <a:srgbClr val="2E9C86"/>
                </a:solidFill>
                <a:latin typeface="Calibri"/>
                <a:ea typeface="Calibri"/>
                <a:cs typeface="Calibri"/>
                <a:sym typeface="Calibri"/>
              </a:rPr>
              <a:t>4 · Alpha</a:t>
            </a:r>
            <a:endParaRPr b="0" i="0" sz="1100" u="none" cap="none" strike="noStrike">
              <a:solidFill>
                <a:schemeClr val="dk1"/>
              </a:solidFill>
              <a:latin typeface="Calibri"/>
              <a:ea typeface="Calibri"/>
              <a:cs typeface="Calibri"/>
              <a:sym typeface="Calibri"/>
            </a:endParaRPr>
          </a:p>
        </p:txBody>
      </p:sp>
      <p:sp>
        <p:nvSpPr>
          <p:cNvPr id="353" name="Google Shape;353;p17"/>
          <p:cNvSpPr/>
          <p:nvPr/>
        </p:nvSpPr>
        <p:spPr>
          <a:xfrm>
            <a:off x="457200" y="1143000"/>
            <a:ext cx="3977640" cy="1234440"/>
          </a:xfrm>
          <a:prstGeom prst="roundRect">
            <a:avLst>
              <a:gd fmla="val 7407"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4" name="Google Shape;354;p17"/>
          <p:cNvSpPr/>
          <p:nvPr/>
        </p:nvSpPr>
        <p:spPr>
          <a:xfrm>
            <a:off x="621792" y="1307592"/>
            <a:ext cx="502920" cy="502920"/>
          </a:xfrm>
          <a:prstGeom prst="ellipse">
            <a:avLst/>
          </a:prstGeom>
          <a:solidFill>
            <a:srgbClr val="2E9C86"/>
          </a:solidFill>
          <a:ln cap="flat" cmpd="sng" w="12700">
            <a:solidFill>
              <a:srgbClr val="2E9C8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55" name="Google Shape;355;p17"/>
          <p:cNvPicPr preferRelativeResize="0"/>
          <p:nvPr/>
        </p:nvPicPr>
        <p:blipFill rotWithShape="1">
          <a:blip r:embed="rId3">
            <a:alphaModFix/>
          </a:blip>
          <a:srcRect b="0" l="0" r="0" t="0"/>
          <a:stretch/>
        </p:blipFill>
        <p:spPr>
          <a:xfrm>
            <a:off x="752551" y="1438351"/>
            <a:ext cx="241402" cy="241402"/>
          </a:xfrm>
          <a:prstGeom prst="rect">
            <a:avLst/>
          </a:prstGeom>
          <a:noFill/>
          <a:ln>
            <a:noFill/>
          </a:ln>
        </p:spPr>
      </p:pic>
      <p:sp>
        <p:nvSpPr>
          <p:cNvPr id="356" name="Google Shape;356;p17"/>
          <p:cNvSpPr txBox="1"/>
          <p:nvPr/>
        </p:nvSpPr>
        <p:spPr>
          <a:xfrm>
            <a:off x="1280160" y="1271016"/>
            <a:ext cx="30175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1500"/>
              <a:buFont typeface="Calibri"/>
              <a:buNone/>
            </a:pPr>
            <a:r>
              <a:rPr b="1" i="0" lang="en-US" sz="1500" u="none" cap="none" strike="noStrike">
                <a:solidFill>
                  <a:srgbClr val="0B3C49"/>
                </a:solidFill>
                <a:latin typeface="Calibri"/>
                <a:ea typeface="Calibri"/>
                <a:cs typeface="Calibri"/>
                <a:sym typeface="Calibri"/>
              </a:rPr>
              <a:t>Observed</a:t>
            </a:r>
            <a:endParaRPr b="0" i="0" sz="1500" u="none" cap="none" strike="noStrike">
              <a:solidFill>
                <a:schemeClr val="dk1"/>
              </a:solidFill>
              <a:latin typeface="Calibri"/>
              <a:ea typeface="Calibri"/>
              <a:cs typeface="Calibri"/>
              <a:sym typeface="Calibri"/>
            </a:endParaRPr>
          </a:p>
        </p:txBody>
      </p:sp>
      <p:sp>
        <p:nvSpPr>
          <p:cNvPr id="357" name="Google Shape;357;p17"/>
          <p:cNvSpPr txBox="1"/>
          <p:nvPr/>
        </p:nvSpPr>
        <p:spPr>
          <a:xfrm>
            <a:off x="1280160" y="1618488"/>
            <a:ext cx="3017520" cy="6675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D33"/>
              </a:buClr>
              <a:buSzPts val="1250"/>
              <a:buFont typeface="Calibri"/>
              <a:buNone/>
            </a:pPr>
            <a:r>
              <a:rPr b="0" i="0" lang="en-US" sz="1250" u="none" cap="none" strike="noStrike">
                <a:solidFill>
                  <a:srgbClr val="1F2D33"/>
                </a:solidFill>
                <a:latin typeface="Calibri"/>
                <a:ea typeface="Calibri"/>
                <a:cs typeface="Calibri"/>
                <a:sym typeface="Calibri"/>
              </a:rPr>
              <a:t>Number of detected species (abundance &gt; 0). This is observed richness, not Chao1.</a:t>
            </a:r>
            <a:endParaRPr b="0" i="0" sz="1250" u="none" cap="none" strike="noStrike">
              <a:solidFill>
                <a:schemeClr val="dk1"/>
              </a:solidFill>
              <a:latin typeface="Calibri"/>
              <a:ea typeface="Calibri"/>
              <a:cs typeface="Calibri"/>
              <a:sym typeface="Calibri"/>
            </a:endParaRPr>
          </a:p>
        </p:txBody>
      </p:sp>
      <p:sp>
        <p:nvSpPr>
          <p:cNvPr id="358" name="Google Shape;358;p17"/>
          <p:cNvSpPr/>
          <p:nvPr/>
        </p:nvSpPr>
        <p:spPr>
          <a:xfrm>
            <a:off x="4709160" y="1143000"/>
            <a:ext cx="3977640" cy="1234440"/>
          </a:xfrm>
          <a:prstGeom prst="roundRect">
            <a:avLst>
              <a:gd fmla="val 7407"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17"/>
          <p:cNvSpPr/>
          <p:nvPr/>
        </p:nvSpPr>
        <p:spPr>
          <a:xfrm>
            <a:off x="4873752" y="1307592"/>
            <a:ext cx="502920" cy="502920"/>
          </a:xfrm>
          <a:prstGeom prst="ellipse">
            <a:avLst/>
          </a:prstGeom>
          <a:solidFill>
            <a:srgbClr val="E8603C"/>
          </a:solidFill>
          <a:ln cap="flat" cmpd="sng" w="12700">
            <a:solidFill>
              <a:srgbClr val="E860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60" name="Google Shape;360;p17"/>
          <p:cNvPicPr preferRelativeResize="0"/>
          <p:nvPr/>
        </p:nvPicPr>
        <p:blipFill rotWithShape="1">
          <a:blip r:embed="rId4">
            <a:alphaModFix/>
          </a:blip>
          <a:srcRect b="0" l="0" r="0" t="0"/>
          <a:stretch/>
        </p:blipFill>
        <p:spPr>
          <a:xfrm>
            <a:off x="5004511" y="1438351"/>
            <a:ext cx="241402" cy="241402"/>
          </a:xfrm>
          <a:prstGeom prst="rect">
            <a:avLst/>
          </a:prstGeom>
          <a:noFill/>
          <a:ln>
            <a:noFill/>
          </a:ln>
        </p:spPr>
      </p:pic>
      <p:sp>
        <p:nvSpPr>
          <p:cNvPr id="361" name="Google Shape;361;p17"/>
          <p:cNvSpPr txBox="1"/>
          <p:nvPr/>
        </p:nvSpPr>
        <p:spPr>
          <a:xfrm>
            <a:off x="5532120" y="1271016"/>
            <a:ext cx="3017520" cy="329184"/>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1500"/>
              <a:buFont typeface="Calibri"/>
              <a:buNone/>
            </a:pPr>
            <a:r>
              <a:rPr b="1" i="0" lang="en-US" sz="1500" u="none" cap="none" strike="noStrike">
                <a:solidFill>
                  <a:srgbClr val="0B3C49"/>
                </a:solidFill>
                <a:latin typeface="Calibri"/>
                <a:ea typeface="Calibri"/>
                <a:cs typeface="Calibri"/>
                <a:sym typeface="Calibri"/>
              </a:rPr>
              <a:t>Shannon</a:t>
            </a:r>
            <a:endParaRPr b="0" i="0" sz="1500" u="none" cap="none" strike="noStrike">
              <a:solidFill>
                <a:schemeClr val="dk1"/>
              </a:solidFill>
              <a:latin typeface="Calibri"/>
              <a:ea typeface="Calibri"/>
              <a:cs typeface="Calibri"/>
              <a:sym typeface="Calibri"/>
            </a:endParaRPr>
          </a:p>
        </p:txBody>
      </p:sp>
      <p:sp>
        <p:nvSpPr>
          <p:cNvPr id="362" name="Google Shape;362;p17"/>
          <p:cNvSpPr txBox="1"/>
          <p:nvPr/>
        </p:nvSpPr>
        <p:spPr>
          <a:xfrm>
            <a:off x="5532120" y="1618488"/>
            <a:ext cx="3017520" cy="6675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D33"/>
              </a:buClr>
              <a:buSzPts val="1250"/>
              <a:buFont typeface="Calibri"/>
              <a:buNone/>
            </a:pPr>
            <a:r>
              <a:rPr b="0" i="0" lang="en-US" sz="1250" u="none" cap="none" strike="noStrike">
                <a:solidFill>
                  <a:srgbClr val="1F2D33"/>
                </a:solidFill>
                <a:latin typeface="Calibri"/>
                <a:ea typeface="Calibri"/>
                <a:cs typeface="Calibri"/>
                <a:sym typeface="Calibri"/>
              </a:rPr>
              <a:t>Considers both richness and how evenly abundances are distributed.</a:t>
            </a:r>
            <a:endParaRPr b="0" i="0" sz="1250" u="none" cap="none" strike="noStrike">
              <a:solidFill>
                <a:schemeClr val="dk1"/>
              </a:solidFill>
              <a:latin typeface="Calibri"/>
              <a:ea typeface="Calibri"/>
              <a:cs typeface="Calibri"/>
              <a:sym typeface="Calibri"/>
            </a:endParaRPr>
          </a:p>
        </p:txBody>
      </p:sp>
      <p:sp>
        <p:nvSpPr>
          <p:cNvPr id="363" name="Google Shape;363;p17"/>
          <p:cNvSpPr/>
          <p:nvPr/>
        </p:nvSpPr>
        <p:spPr>
          <a:xfrm>
            <a:off x="457200" y="2606040"/>
            <a:ext cx="8229600" cy="2148840"/>
          </a:xfrm>
          <a:prstGeom prst="roundRect">
            <a:avLst>
              <a:gd fmla="val 5106" name="adj"/>
            </a:avLst>
          </a:prstGeom>
          <a:solidFill>
            <a:srgbClr val="15262D"/>
          </a:solidFill>
          <a:ln cap="flat" cmpd="sng" w="12700">
            <a:solidFill>
              <a:srgbClr val="1526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4" name="Google Shape;364;p17"/>
          <p:cNvSpPr txBox="1"/>
          <p:nvPr/>
        </p:nvSpPr>
        <p:spPr>
          <a:xfrm>
            <a:off x="548640" y="2697480"/>
            <a:ext cx="8046720" cy="1965960"/>
          </a:xfrm>
          <a:prstGeom prst="rect">
            <a:avLst/>
          </a:prstGeom>
          <a:noFill/>
          <a:ln>
            <a:noFill/>
          </a:ln>
        </p:spPr>
        <p:txBody>
          <a:bodyPr anchorCtr="0" anchor="t" bIns="1000" lIns="1000" spcFirstLastPara="1" rIns="1000" wrap="square" tIns="1000">
            <a:noAutofit/>
          </a:bodyPr>
          <a:lstStyle/>
          <a:p>
            <a:pPr indent="0" lvl="0" marL="0" marR="0" rtl="0" algn="l">
              <a:spcBef>
                <a:spcPts val="0"/>
              </a:spcBef>
              <a:spcAft>
                <a:spcPts val="0"/>
              </a:spcAft>
              <a:buClr>
                <a:srgbClr val="E6EEF0"/>
              </a:buClr>
              <a:buSzPts val="1400"/>
              <a:buFont typeface="Courier New"/>
              <a:buNone/>
            </a:pPr>
            <a:r>
              <a:rPr b="0" i="0" lang="en-US" sz="1400" u="none" cap="none" strike="noStrike">
                <a:solidFill>
                  <a:srgbClr val="E6EEF0"/>
                </a:solidFill>
                <a:latin typeface="Courier New"/>
                <a:ea typeface="Courier New"/>
                <a:cs typeface="Courier New"/>
                <a:sym typeface="Courier New"/>
              </a:rPr>
              <a:t>alpha &lt;- data.frame(</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400"/>
              <a:buFont typeface="Courier New"/>
              <a:buNone/>
            </a:pPr>
            <a:r>
              <a:rPr b="0" i="0" lang="en-US" sz="1400" u="none" cap="none" strike="noStrike">
                <a:solidFill>
                  <a:srgbClr val="E6EEF0"/>
                </a:solidFill>
                <a:latin typeface="Courier New"/>
                <a:ea typeface="Courier New"/>
                <a:cs typeface="Courier New"/>
                <a:sym typeface="Courier New"/>
              </a:rPr>
              <a:t>  sample   = colnames(abundance_matrix),</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400"/>
              <a:buFont typeface="Courier New"/>
              <a:buNone/>
            </a:pPr>
            <a:r>
              <a:rPr b="0" i="0" lang="en-US" sz="1400" u="none" cap="none" strike="noStrike">
                <a:solidFill>
                  <a:srgbClr val="E6EEF0"/>
                </a:solidFill>
                <a:latin typeface="Courier New"/>
                <a:ea typeface="Courier New"/>
                <a:cs typeface="Courier New"/>
                <a:sym typeface="Courier New"/>
              </a:rPr>
              <a:t>  Observed = colSums(abundance_matrix &gt; 0),</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400"/>
              <a:buFont typeface="Courier New"/>
              <a:buNone/>
            </a:pPr>
            <a:r>
              <a:rPr b="0" i="0" lang="en-US" sz="1400" u="none" cap="none" strike="noStrike">
                <a:solidFill>
                  <a:srgbClr val="E6EEF0"/>
                </a:solidFill>
                <a:latin typeface="Courier New"/>
                <a:ea typeface="Courier New"/>
                <a:cs typeface="Courier New"/>
                <a:sym typeface="Courier New"/>
              </a:rPr>
              <a:t>  Shannon  = vegan::diversity(t(abundance_matrix),</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400"/>
              <a:buFont typeface="Courier New"/>
              <a:buNone/>
            </a:pPr>
            <a:r>
              <a:rPr b="0" i="0" lang="en-US" sz="1400" u="none" cap="none" strike="noStrike">
                <a:solidFill>
                  <a:srgbClr val="E6EEF0"/>
                </a:solidFill>
                <a:latin typeface="Courier New"/>
                <a:ea typeface="Courier New"/>
                <a:cs typeface="Courier New"/>
                <a:sym typeface="Courier New"/>
              </a:rPr>
              <a:t>                              index = "shannon")</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400"/>
              <a:buFont typeface="Courier New"/>
              <a:buNone/>
            </a:pPr>
            <a:r>
              <a:rPr b="0" i="0" lang="en-US" sz="1400" u="none" cap="none" strike="noStrike">
                <a:solidFill>
                  <a:srgbClr val="E6EEF0"/>
                </a:solidFill>
                <a:latin typeface="Courier New"/>
                <a:ea typeface="Courier New"/>
                <a:cs typeface="Courier New"/>
                <a:sym typeface="Courier New"/>
              </a:rPr>
              <a:t>)</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400"/>
              <a:buFont typeface="Courier New"/>
              <a:buNone/>
            </a:pPr>
            <a:r>
              <a:rPr b="0" i="0" lang="en-US" sz="1400" u="none" cap="none" strike="noStrike">
                <a:solidFill>
                  <a:srgbClr val="E6EEF0"/>
                </a:solidFill>
                <a:latin typeface="Courier New"/>
                <a:ea typeface="Courier New"/>
                <a:cs typeface="Courier New"/>
                <a:sym typeface="Courier New"/>
              </a:rPr>
              <a:t>alpha &lt;- left_join(alpha, metadata, by = "sample")</a:t>
            </a:r>
            <a:endParaRPr b="0" i="0" sz="14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400"/>
              <a:buFont typeface="Courier New"/>
              <a:buNone/>
            </a:pPr>
            <a:r>
              <a:rPr b="0" i="0" lang="en-US" sz="1400" u="none" cap="none" strike="noStrike">
                <a:solidFill>
                  <a:srgbClr val="E6EEF0"/>
                </a:solidFill>
                <a:latin typeface="Courier New"/>
                <a:ea typeface="Courier New"/>
                <a:cs typeface="Courier New"/>
                <a:sym typeface="Courier New"/>
              </a:rPr>
              <a:t>alpha</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3C49"/>
        </a:solidFill>
      </p:bgPr>
    </p:bg>
    <p:spTree>
      <p:nvGrpSpPr>
        <p:cNvPr id="369" name="Shape 369"/>
        <p:cNvGrpSpPr/>
        <p:nvPr/>
      </p:nvGrpSpPr>
      <p:grpSpPr>
        <a:xfrm>
          <a:off x="0" y="0"/>
          <a:ext cx="0" cy="0"/>
          <a:chOff x="0" y="0"/>
          <a:chExt cx="0" cy="0"/>
        </a:xfrm>
      </p:grpSpPr>
      <p:sp>
        <p:nvSpPr>
          <p:cNvPr id="370" name="Google Shape;370;p18"/>
          <p:cNvSpPr/>
          <p:nvPr/>
        </p:nvSpPr>
        <p:spPr>
          <a:xfrm>
            <a:off x="548640" y="502920"/>
            <a:ext cx="822960" cy="822960"/>
          </a:xfrm>
          <a:prstGeom prst="ellipse">
            <a:avLst/>
          </a:prstGeom>
          <a:solidFill>
            <a:srgbClr val="E8603C"/>
          </a:solidFill>
          <a:ln cap="flat" cmpd="sng" w="12700">
            <a:solidFill>
              <a:srgbClr val="E860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1" name="Google Shape;371;p18"/>
          <p:cNvPicPr preferRelativeResize="0"/>
          <p:nvPr/>
        </p:nvPicPr>
        <p:blipFill rotWithShape="1">
          <a:blip r:embed="rId3">
            <a:alphaModFix/>
          </a:blip>
          <a:srcRect b="0" l="0" r="0" t="0"/>
          <a:stretch/>
        </p:blipFill>
        <p:spPr>
          <a:xfrm>
            <a:off x="762610" y="716890"/>
            <a:ext cx="395021" cy="395021"/>
          </a:xfrm>
          <a:prstGeom prst="rect">
            <a:avLst/>
          </a:prstGeom>
          <a:noFill/>
          <a:ln>
            <a:noFill/>
          </a:ln>
        </p:spPr>
      </p:pic>
      <p:sp>
        <p:nvSpPr>
          <p:cNvPr id="372" name="Google Shape;372;p18"/>
          <p:cNvSpPr txBox="1"/>
          <p:nvPr/>
        </p:nvSpPr>
        <p:spPr>
          <a:xfrm>
            <a:off x="1600200" y="50292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B9A6"/>
              </a:buClr>
              <a:buSzPts val="1600"/>
              <a:buFont typeface="Calibri"/>
              <a:buNone/>
            </a:pPr>
            <a:r>
              <a:rPr b="1" i="0" lang="en-US" sz="1600" u="none" cap="none" strike="noStrike">
                <a:solidFill>
                  <a:srgbClr val="F7B9A6"/>
                </a:solidFill>
                <a:latin typeface="Calibri"/>
                <a:ea typeface="Calibri"/>
                <a:cs typeface="Calibri"/>
                <a:sym typeface="Calibri"/>
              </a:rPr>
              <a:t>Exercise 2</a:t>
            </a:r>
            <a:endParaRPr b="0" i="0" sz="1600" u="none" cap="none" strike="noStrike">
              <a:solidFill>
                <a:schemeClr val="dk1"/>
              </a:solidFill>
              <a:latin typeface="Calibri"/>
              <a:ea typeface="Calibri"/>
              <a:cs typeface="Calibri"/>
              <a:sym typeface="Calibri"/>
            </a:endParaRPr>
          </a:p>
        </p:txBody>
      </p:sp>
      <p:sp>
        <p:nvSpPr>
          <p:cNvPr id="373" name="Google Shape;373;p18"/>
          <p:cNvSpPr txBox="1"/>
          <p:nvPr/>
        </p:nvSpPr>
        <p:spPr>
          <a:xfrm>
            <a:off x="1600200" y="822960"/>
            <a:ext cx="71323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t-test on Shannon</a:t>
            </a:r>
            <a:endParaRPr b="0" i="0" sz="3000" u="none" cap="none" strike="noStrike">
              <a:solidFill>
                <a:schemeClr val="dk1"/>
              </a:solidFill>
              <a:latin typeface="Calibri"/>
              <a:ea typeface="Calibri"/>
              <a:cs typeface="Calibri"/>
              <a:sym typeface="Calibri"/>
            </a:endParaRPr>
          </a:p>
        </p:txBody>
      </p:sp>
      <p:sp>
        <p:nvSpPr>
          <p:cNvPr id="374" name="Google Shape;374;p18"/>
          <p:cNvSpPr txBox="1"/>
          <p:nvPr/>
        </p:nvSpPr>
        <p:spPr>
          <a:xfrm>
            <a:off x="548640" y="1783080"/>
            <a:ext cx="8046720" cy="19202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FFFFFF"/>
              </a:buClr>
              <a:buSzPts val="1800"/>
              <a:buFont typeface="Calibri"/>
              <a:buChar char="•"/>
            </a:pPr>
            <a:r>
              <a:rPr b="0" i="0" lang="en-US" sz="1800" u="none" cap="none" strike="noStrike">
                <a:solidFill>
                  <a:srgbClr val="FFFFFF"/>
                </a:solidFill>
                <a:latin typeface="Calibri"/>
                <a:ea typeface="Calibri"/>
                <a:cs typeface="Calibri"/>
                <a:sym typeface="Calibri"/>
              </a:rPr>
              <a:t>Filter the alpha table to keep Control and A</a:t>
            </a:r>
            <a:endParaRPr b="0" i="0" sz="18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FFFFFF"/>
              </a:buClr>
              <a:buSzPts val="1800"/>
              <a:buFont typeface="Calibri"/>
              <a:buChar char="•"/>
            </a:pPr>
            <a:r>
              <a:rPr b="0" i="0" lang="en-US" sz="1800" u="none" cap="none" strike="noStrike">
                <a:solidFill>
                  <a:srgbClr val="FFFFFF"/>
                </a:solidFill>
                <a:latin typeface="Calibri"/>
                <a:ea typeface="Calibri"/>
                <a:cs typeface="Calibri"/>
                <a:sym typeface="Calibri"/>
              </a:rPr>
              <a:t>Calculate the mean Shannon per group</a:t>
            </a:r>
            <a:endParaRPr b="0" i="0" sz="18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FFFFFF"/>
              </a:buClr>
              <a:buSzPts val="1800"/>
              <a:buFont typeface="Calibri"/>
              <a:buChar char="•"/>
            </a:pPr>
            <a:r>
              <a:rPr b="0" i="0" lang="en-US" sz="1800" u="none" cap="none" strike="noStrike">
                <a:solidFill>
                  <a:srgbClr val="FFFFFF"/>
                </a:solidFill>
                <a:latin typeface="Calibri"/>
                <a:ea typeface="Calibri"/>
                <a:cs typeface="Calibri"/>
                <a:sym typeface="Calibri"/>
              </a:rPr>
              <a:t>Run a t-test of Shannon ~ product</a:t>
            </a:r>
            <a:endParaRPr b="0" i="0" sz="1800" u="none" cap="none" strike="noStrike">
              <a:solidFill>
                <a:schemeClr val="dk1"/>
              </a:solidFill>
              <a:latin typeface="Calibri"/>
              <a:ea typeface="Calibri"/>
              <a:cs typeface="Calibri"/>
              <a:sym typeface="Calibri"/>
            </a:endParaRPr>
          </a:p>
        </p:txBody>
      </p:sp>
      <p:sp>
        <p:nvSpPr>
          <p:cNvPr id="375" name="Google Shape;375;p18"/>
          <p:cNvSpPr/>
          <p:nvPr/>
        </p:nvSpPr>
        <p:spPr>
          <a:xfrm>
            <a:off x="548640" y="3931920"/>
            <a:ext cx="8046720" cy="685800"/>
          </a:xfrm>
          <a:prstGeom prst="roundRect">
            <a:avLst>
              <a:gd fmla="val 13333" name="adj"/>
            </a:avLst>
          </a:prstGeom>
          <a:solidFill>
            <a:srgbClr val="15525F"/>
          </a:solidFill>
          <a:ln cap="flat" cmpd="sng" w="12700">
            <a:solidFill>
              <a:srgbClr val="1552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76" name="Google Shape;376;p18"/>
          <p:cNvPicPr preferRelativeResize="0"/>
          <p:nvPr/>
        </p:nvPicPr>
        <p:blipFill rotWithShape="1">
          <a:blip r:embed="rId4">
            <a:alphaModFix/>
          </a:blip>
          <a:srcRect b="0" l="0" r="0" t="0"/>
          <a:stretch/>
        </p:blipFill>
        <p:spPr>
          <a:xfrm>
            <a:off x="731520" y="4096512"/>
            <a:ext cx="347472" cy="347472"/>
          </a:xfrm>
          <a:prstGeom prst="rect">
            <a:avLst/>
          </a:prstGeom>
          <a:noFill/>
          <a:ln>
            <a:noFill/>
          </a:ln>
        </p:spPr>
      </p:pic>
      <p:sp>
        <p:nvSpPr>
          <p:cNvPr id="377" name="Google Shape;377;p18"/>
          <p:cNvSpPr txBox="1"/>
          <p:nvPr/>
        </p:nvSpPr>
        <p:spPr>
          <a:xfrm>
            <a:off x="1234440" y="3931920"/>
            <a:ext cx="72237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FE6E1"/>
              </a:buClr>
              <a:buSzPts val="1400"/>
              <a:buFont typeface="Calibri"/>
              <a:buNone/>
            </a:pPr>
            <a:r>
              <a:rPr b="0" i="1" lang="en-US" sz="1400" u="none" cap="none" strike="noStrike">
                <a:solidFill>
                  <a:srgbClr val="CFE6E1"/>
                </a:solidFill>
                <a:latin typeface="Calibri"/>
                <a:ea typeface="Calibri"/>
                <a:cs typeface="Calibri"/>
                <a:sym typeface="Calibri"/>
              </a:rPr>
              <a:t>Reuse the Blautia wexlerae t-test code: change the table and the variable.</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82" name="Shape 382"/>
        <p:cNvGrpSpPr/>
        <p:nvPr/>
      </p:nvGrpSpPr>
      <p:grpSpPr>
        <a:xfrm>
          <a:off x="0" y="0"/>
          <a:ext cx="0" cy="0"/>
          <a:chOff x="0" y="0"/>
          <a:chExt cx="0" cy="0"/>
        </a:xfrm>
      </p:grpSpPr>
      <p:sp>
        <p:nvSpPr>
          <p:cNvPr id="383" name="Google Shape;383;p19"/>
          <p:cNvSpPr txBox="1"/>
          <p:nvPr/>
        </p:nvSpPr>
        <p:spPr>
          <a:xfrm>
            <a:off x="457200" y="274320"/>
            <a:ext cx="6949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2800"/>
              <a:buFont typeface="Cambria"/>
              <a:buNone/>
            </a:pPr>
            <a:r>
              <a:rPr b="1" i="0" lang="en-US" sz="2800" u="none" cap="none" strike="noStrike">
                <a:solidFill>
                  <a:srgbClr val="0B3C49"/>
                </a:solidFill>
                <a:latin typeface="Cambria"/>
                <a:ea typeface="Cambria"/>
                <a:cs typeface="Cambria"/>
                <a:sym typeface="Cambria"/>
              </a:rPr>
              <a:t>Solution · Exercise 2</a:t>
            </a:r>
            <a:endParaRPr b="0" i="0" sz="2800" u="none" cap="none" strike="noStrike">
              <a:solidFill>
                <a:schemeClr val="dk1"/>
              </a:solidFill>
              <a:latin typeface="Calibri"/>
              <a:ea typeface="Calibri"/>
              <a:cs typeface="Calibri"/>
              <a:sym typeface="Calibri"/>
            </a:endParaRPr>
          </a:p>
        </p:txBody>
      </p:sp>
      <p:sp>
        <p:nvSpPr>
          <p:cNvPr id="384" name="Google Shape;384;p19"/>
          <p:cNvSpPr/>
          <p:nvPr/>
        </p:nvSpPr>
        <p:spPr>
          <a:xfrm>
            <a:off x="7498080" y="411480"/>
            <a:ext cx="1188720" cy="384048"/>
          </a:xfrm>
          <a:prstGeom prst="roundRect">
            <a:avLst>
              <a:gd fmla="val 50000"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5" name="Google Shape;385;p19"/>
          <p:cNvSpPr txBox="1"/>
          <p:nvPr/>
        </p:nvSpPr>
        <p:spPr>
          <a:xfrm>
            <a:off x="7498080" y="411480"/>
            <a:ext cx="11887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9C86"/>
              </a:buClr>
              <a:buSzPts val="1100"/>
              <a:buFont typeface="Calibri"/>
              <a:buNone/>
            </a:pPr>
            <a:r>
              <a:rPr b="1" i="0" lang="en-US" sz="1100" u="none" cap="none" strike="noStrike">
                <a:solidFill>
                  <a:srgbClr val="2E9C86"/>
                </a:solidFill>
                <a:latin typeface="Calibri"/>
                <a:ea typeface="Calibri"/>
                <a:cs typeface="Calibri"/>
                <a:sym typeface="Calibri"/>
              </a:rPr>
              <a:t>4 · Alpha</a:t>
            </a:r>
            <a:endParaRPr b="0" i="0" sz="1100" u="none" cap="none" strike="noStrike">
              <a:solidFill>
                <a:schemeClr val="dk1"/>
              </a:solidFill>
              <a:latin typeface="Calibri"/>
              <a:ea typeface="Calibri"/>
              <a:cs typeface="Calibri"/>
              <a:sym typeface="Calibri"/>
            </a:endParaRPr>
          </a:p>
        </p:txBody>
      </p:sp>
      <p:sp>
        <p:nvSpPr>
          <p:cNvPr id="386" name="Google Shape;386;p19"/>
          <p:cNvSpPr/>
          <p:nvPr/>
        </p:nvSpPr>
        <p:spPr>
          <a:xfrm>
            <a:off x="457200" y="1143000"/>
            <a:ext cx="5577840" cy="3611880"/>
          </a:xfrm>
          <a:prstGeom prst="roundRect">
            <a:avLst>
              <a:gd fmla="val 3038" name="adj"/>
            </a:avLst>
          </a:prstGeom>
          <a:solidFill>
            <a:srgbClr val="15262D"/>
          </a:solidFill>
          <a:ln cap="flat" cmpd="sng" w="12700">
            <a:solidFill>
              <a:srgbClr val="1526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7" name="Google Shape;387;p19"/>
          <p:cNvSpPr txBox="1"/>
          <p:nvPr/>
        </p:nvSpPr>
        <p:spPr>
          <a:xfrm>
            <a:off x="548640" y="1234440"/>
            <a:ext cx="5394960" cy="3429000"/>
          </a:xfrm>
          <a:prstGeom prst="rect">
            <a:avLst/>
          </a:prstGeom>
          <a:noFill/>
          <a:ln>
            <a:noFill/>
          </a:ln>
        </p:spPr>
        <p:txBody>
          <a:bodyPr anchorCtr="0" anchor="t" bIns="1000" lIns="1000" spcFirstLastPara="1" rIns="1000" wrap="square" tIns="1000">
            <a:noAutofit/>
          </a:bodyPr>
          <a:lstStyle/>
          <a:p>
            <a:pPr indent="0" lvl="0" marL="0" marR="0" rtl="0" algn="l">
              <a:spcBef>
                <a:spcPts val="0"/>
              </a:spcBef>
              <a:spcAft>
                <a:spcPts val="0"/>
              </a:spcAft>
              <a:buClr>
                <a:srgbClr val="E6EEF0"/>
              </a:buClr>
              <a:buSzPts val="1350"/>
              <a:buFont typeface="Courier New"/>
              <a:buNone/>
            </a:pPr>
            <a:r>
              <a:rPr b="0" i="0" lang="en-US" sz="1350" u="none" cap="none" strike="noStrike">
                <a:solidFill>
                  <a:srgbClr val="E6EEF0"/>
                </a:solidFill>
                <a:latin typeface="Courier New"/>
                <a:ea typeface="Courier New"/>
                <a:cs typeface="Courier New"/>
                <a:sym typeface="Courier New"/>
              </a:rPr>
              <a:t>alpha_CA &lt;- filter(alpha,</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350"/>
              <a:buFont typeface="Courier New"/>
              <a:buNone/>
            </a:pPr>
            <a:r>
              <a:rPr b="0" i="0" lang="en-US" sz="1350" u="none" cap="none" strike="noStrike">
                <a:solidFill>
                  <a:srgbClr val="E6EEF0"/>
                </a:solidFill>
                <a:latin typeface="Courier New"/>
                <a:ea typeface="Courier New"/>
                <a:cs typeface="Courier New"/>
                <a:sym typeface="Courier New"/>
              </a:rPr>
              <a:t>                   product %in% c("Control", "A"))</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350"/>
              <a:buFont typeface="Courier New"/>
              <a:buNone/>
            </a:pPr>
            <a:r>
              <a:rPr b="0" i="0" lang="en-US" sz="1350" u="none" cap="none" strike="noStrike">
                <a:solidFill>
                  <a:srgbClr val="E6EEF0"/>
                </a:solidFill>
                <a:latin typeface="Courier New"/>
                <a:ea typeface="Courier New"/>
                <a:cs typeface="Courier New"/>
                <a:sym typeface="Courier New"/>
              </a:rPr>
              <a:t>alpha_CA$product &lt;- droplevels(alpha_CA$product)</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350"/>
              <a:buFont typeface="Courier New"/>
              <a:buNone/>
            </a:pPr>
            <a:r>
              <a:rPr b="0" i="0" lang="en-US" sz="1350" u="none" cap="none" strike="noStrike">
                <a:solidFill>
                  <a:srgbClr val="E6EEF0"/>
                </a:solidFill>
                <a:latin typeface="Courier New"/>
                <a:ea typeface="Courier New"/>
                <a:cs typeface="Courier New"/>
                <a:sym typeface="Courier New"/>
              </a:rPr>
              <a:t> </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350"/>
              <a:buFont typeface="Courier New"/>
              <a:buNone/>
            </a:pPr>
            <a:r>
              <a:rPr b="0" i="0" lang="en-US" sz="1350" u="none" cap="none" strike="noStrike">
                <a:solidFill>
                  <a:srgbClr val="E6EEF0"/>
                </a:solidFill>
                <a:latin typeface="Courier New"/>
                <a:ea typeface="Courier New"/>
                <a:cs typeface="Courier New"/>
                <a:sym typeface="Courier New"/>
              </a:rPr>
              <a:t>alpha_groups &lt;- group_by(alpha_CA, product)</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350"/>
              <a:buFont typeface="Courier New"/>
              <a:buNone/>
            </a:pPr>
            <a:r>
              <a:rPr b="0" i="0" lang="en-US" sz="1350" u="none" cap="none" strike="noStrike">
                <a:solidFill>
                  <a:srgbClr val="E6EEF0"/>
                </a:solidFill>
                <a:latin typeface="Courier New"/>
                <a:ea typeface="Courier New"/>
                <a:cs typeface="Courier New"/>
                <a:sym typeface="Courier New"/>
              </a:rPr>
              <a:t>summarise(alpha_groups,</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350"/>
              <a:buFont typeface="Courier New"/>
              <a:buNone/>
            </a:pPr>
            <a:r>
              <a:rPr b="0" i="0" lang="en-US" sz="1350" u="none" cap="none" strike="noStrike">
                <a:solidFill>
                  <a:srgbClr val="E6EEF0"/>
                </a:solidFill>
                <a:latin typeface="Courier New"/>
                <a:ea typeface="Courier New"/>
                <a:cs typeface="Courier New"/>
                <a:sym typeface="Courier New"/>
              </a:rPr>
              <a:t>          mean_Shannon = mean(Shannon))</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350"/>
              <a:buFont typeface="Courier New"/>
              <a:buNone/>
            </a:pPr>
            <a:r>
              <a:rPr b="0" i="0" lang="en-US" sz="1350" u="none" cap="none" strike="noStrike">
                <a:solidFill>
                  <a:srgbClr val="E6EEF0"/>
                </a:solidFill>
                <a:latin typeface="Courier New"/>
                <a:ea typeface="Courier New"/>
                <a:cs typeface="Courier New"/>
                <a:sym typeface="Courier New"/>
              </a:rPr>
              <a:t> </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A7A"/>
              </a:buClr>
              <a:buSzPts val="1350"/>
              <a:buFont typeface="Courier New"/>
              <a:buNone/>
            </a:pPr>
            <a:r>
              <a:rPr b="1" i="0" lang="en-US" sz="1350" u="none" cap="none" strike="noStrike">
                <a:solidFill>
                  <a:srgbClr val="FF9A7A"/>
                </a:solidFill>
                <a:latin typeface="Courier New"/>
                <a:ea typeface="Courier New"/>
                <a:cs typeface="Courier New"/>
                <a:sym typeface="Courier New"/>
              </a:rPr>
              <a:t>t_shannon &lt;- t.test(Shannon ~ product,</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A7A"/>
              </a:buClr>
              <a:buSzPts val="1350"/>
              <a:buFont typeface="Courier New"/>
              <a:buNone/>
            </a:pPr>
            <a:r>
              <a:rPr b="1" i="0" lang="en-US" sz="1350" u="none" cap="none" strike="noStrike">
                <a:solidFill>
                  <a:srgbClr val="FF9A7A"/>
                </a:solidFill>
                <a:latin typeface="Courier New"/>
                <a:ea typeface="Courier New"/>
                <a:cs typeface="Courier New"/>
                <a:sym typeface="Courier New"/>
              </a:rPr>
              <a:t>                    data = alpha_CA)</a:t>
            </a:r>
            <a:endParaRPr b="0" i="0" sz="135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350"/>
              <a:buFont typeface="Courier New"/>
              <a:buNone/>
            </a:pPr>
            <a:r>
              <a:rPr b="0" i="0" lang="en-US" sz="1350" u="none" cap="none" strike="noStrike">
                <a:solidFill>
                  <a:srgbClr val="E6EEF0"/>
                </a:solidFill>
                <a:latin typeface="Courier New"/>
                <a:ea typeface="Courier New"/>
                <a:cs typeface="Courier New"/>
                <a:sym typeface="Courier New"/>
              </a:rPr>
              <a:t>t_shannon</a:t>
            </a:r>
            <a:endParaRPr b="0" i="0" sz="1350" u="none" cap="none" strike="noStrike">
              <a:solidFill>
                <a:schemeClr val="dk1"/>
              </a:solidFill>
              <a:latin typeface="Calibri"/>
              <a:ea typeface="Calibri"/>
              <a:cs typeface="Calibri"/>
              <a:sym typeface="Calibri"/>
            </a:endParaRPr>
          </a:p>
        </p:txBody>
      </p:sp>
      <p:sp>
        <p:nvSpPr>
          <p:cNvPr id="388" name="Google Shape;388;p19"/>
          <p:cNvSpPr/>
          <p:nvPr/>
        </p:nvSpPr>
        <p:spPr>
          <a:xfrm>
            <a:off x="6309360" y="1143000"/>
            <a:ext cx="2377440" cy="2194560"/>
          </a:xfrm>
          <a:prstGeom prst="roundRect">
            <a:avLst>
              <a:gd fmla="val 4167" name="adj"/>
            </a:avLst>
          </a:prstGeom>
          <a:solidFill>
            <a:srgbClr val="FDECE6"/>
          </a:solidFill>
          <a:ln cap="flat" cmpd="sng" w="12700">
            <a:solidFill>
              <a:srgbClr val="FDE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9" name="Google Shape;389;p19"/>
          <p:cNvSpPr txBox="1"/>
          <p:nvPr/>
        </p:nvSpPr>
        <p:spPr>
          <a:xfrm>
            <a:off x="6446520" y="1252728"/>
            <a:ext cx="21031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0B3C49"/>
              </a:buClr>
              <a:buSzPts val="3000"/>
              <a:buFont typeface="Cambria"/>
              <a:buNone/>
            </a:pPr>
            <a:r>
              <a:rPr b="1" i="0" lang="en-US" sz="3000" u="none" cap="none" strike="noStrike">
                <a:solidFill>
                  <a:srgbClr val="0B3C49"/>
                </a:solidFill>
                <a:latin typeface="Cambria"/>
                <a:ea typeface="Cambria"/>
                <a:cs typeface="Cambria"/>
                <a:sym typeface="Cambria"/>
              </a:rPr>
              <a:t>p ≈ 0.177</a:t>
            </a:r>
            <a:endParaRPr b="0" i="0" sz="3000" u="none" cap="none" strike="noStrike">
              <a:solidFill>
                <a:schemeClr val="dk1"/>
              </a:solidFill>
              <a:latin typeface="Calibri"/>
              <a:ea typeface="Calibri"/>
              <a:cs typeface="Calibri"/>
              <a:sym typeface="Calibri"/>
            </a:endParaRPr>
          </a:p>
        </p:txBody>
      </p:sp>
      <p:sp>
        <p:nvSpPr>
          <p:cNvPr id="390" name="Google Shape;390;p19"/>
          <p:cNvSpPr txBox="1"/>
          <p:nvPr/>
        </p:nvSpPr>
        <p:spPr>
          <a:xfrm>
            <a:off x="6446520" y="1920240"/>
            <a:ext cx="2103120" cy="132588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D33"/>
              </a:buClr>
              <a:buSzPts val="1200"/>
              <a:buFont typeface="Calibri"/>
              <a:buNone/>
            </a:pPr>
            <a:r>
              <a:rPr b="0" i="0" lang="en-US" sz="1200" u="none" cap="none" strike="noStrike">
                <a:solidFill>
                  <a:srgbClr val="1F2D33"/>
                </a:solidFill>
                <a:latin typeface="Calibri"/>
                <a:ea typeface="Calibri"/>
                <a:cs typeface="Calibri"/>
                <a:sym typeface="Calibri"/>
              </a:rPr>
              <a:t>Above 0.05</a:t>
            </a:r>
            <a:endParaRPr b="0" i="0" sz="1200" u="none" cap="none" strike="noStrike">
              <a:solidFill>
                <a:schemeClr val="dk1"/>
              </a:solidFill>
              <a:latin typeface="Calibri"/>
              <a:ea typeface="Calibri"/>
              <a:cs typeface="Calibri"/>
              <a:sym typeface="Calibri"/>
            </a:endParaRPr>
          </a:p>
          <a:p>
            <a:pPr indent="0" lvl="0" marL="0" marR="0" rtl="0" algn="ctr">
              <a:spcBef>
                <a:spcPts val="0"/>
              </a:spcBef>
              <a:spcAft>
                <a:spcPts val="0"/>
              </a:spcAft>
              <a:buClr>
                <a:srgbClr val="1F2D33"/>
              </a:buClr>
              <a:buSzPts val="1200"/>
              <a:buFont typeface="Calibri"/>
              <a:buNone/>
            </a:pPr>
            <a:r>
              <a:rPr b="0" i="0" lang="en-US" sz="1200" u="none" cap="none" strike="noStrike">
                <a:solidFill>
                  <a:srgbClr val="1F2D33"/>
                </a:solidFill>
                <a:latin typeface="Calibri"/>
                <a:ea typeface="Calibri"/>
                <a:cs typeface="Calibri"/>
                <a:sym typeface="Calibri"/>
              </a:rPr>
              <a:t>→ we do not reject H0</a:t>
            </a:r>
            <a:endParaRPr b="0" i="0" sz="1200" u="none" cap="none" strike="noStrike">
              <a:solidFill>
                <a:schemeClr val="dk1"/>
              </a:solidFill>
              <a:latin typeface="Calibri"/>
              <a:ea typeface="Calibri"/>
              <a:cs typeface="Calibri"/>
              <a:sym typeface="Calibri"/>
            </a:endParaRPr>
          </a:p>
        </p:txBody>
      </p:sp>
      <p:sp>
        <p:nvSpPr>
          <p:cNvPr id="391" name="Google Shape;391;p19"/>
          <p:cNvSpPr txBox="1"/>
          <p:nvPr/>
        </p:nvSpPr>
        <p:spPr>
          <a:xfrm>
            <a:off x="6309360" y="3520440"/>
            <a:ext cx="2377440" cy="109728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7278"/>
              </a:buClr>
              <a:buSzPts val="1250"/>
              <a:buFont typeface="Calibri"/>
              <a:buNone/>
            </a:pPr>
            <a:r>
              <a:rPr b="0" i="1" lang="en-US" sz="1250" u="none" cap="none" strike="noStrike">
                <a:solidFill>
                  <a:srgbClr val="5E7278"/>
                </a:solidFill>
                <a:latin typeface="Calibri"/>
                <a:ea typeface="Calibri"/>
                <a:cs typeface="Calibri"/>
                <a:sym typeface="Calibri"/>
              </a:rPr>
              <a:t>This small dataset provides no evidence of a difference in mean Shannon diversity.</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96" name="Shape 396"/>
        <p:cNvGrpSpPr/>
        <p:nvPr/>
      </p:nvGrpSpPr>
      <p:grpSpPr>
        <a:xfrm>
          <a:off x="0" y="0"/>
          <a:ext cx="0" cy="0"/>
          <a:chOff x="0" y="0"/>
          <a:chExt cx="0" cy="0"/>
        </a:xfrm>
      </p:grpSpPr>
      <p:sp>
        <p:nvSpPr>
          <p:cNvPr id="397" name="Google Shape;397;p20"/>
          <p:cNvSpPr txBox="1"/>
          <p:nvPr/>
        </p:nvSpPr>
        <p:spPr>
          <a:xfrm>
            <a:off x="457200" y="274320"/>
            <a:ext cx="6949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2800"/>
              <a:buFont typeface="Cambria"/>
              <a:buNone/>
            </a:pPr>
            <a:r>
              <a:rPr b="1" i="0" lang="en-US" sz="2800" u="none" cap="none" strike="noStrike">
                <a:solidFill>
                  <a:srgbClr val="0B3C49"/>
                </a:solidFill>
                <a:latin typeface="Cambria"/>
                <a:ea typeface="Cambria"/>
                <a:cs typeface="Cambria"/>
                <a:sym typeface="Cambria"/>
              </a:rPr>
              <a:t>Observed richness by product</a:t>
            </a:r>
            <a:endParaRPr b="0" i="0" sz="2800" u="none" cap="none" strike="noStrike">
              <a:solidFill>
                <a:schemeClr val="dk1"/>
              </a:solidFill>
              <a:latin typeface="Calibri"/>
              <a:ea typeface="Calibri"/>
              <a:cs typeface="Calibri"/>
              <a:sym typeface="Calibri"/>
            </a:endParaRPr>
          </a:p>
        </p:txBody>
      </p:sp>
      <p:sp>
        <p:nvSpPr>
          <p:cNvPr id="398" name="Google Shape;398;p20"/>
          <p:cNvSpPr/>
          <p:nvPr/>
        </p:nvSpPr>
        <p:spPr>
          <a:xfrm>
            <a:off x="7498080" y="411480"/>
            <a:ext cx="1188720" cy="384048"/>
          </a:xfrm>
          <a:prstGeom prst="roundRect">
            <a:avLst>
              <a:gd fmla="val 50000"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20"/>
          <p:cNvSpPr txBox="1"/>
          <p:nvPr/>
        </p:nvSpPr>
        <p:spPr>
          <a:xfrm>
            <a:off x="7498080" y="411480"/>
            <a:ext cx="11887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9C86"/>
              </a:buClr>
              <a:buSzPts val="1100"/>
              <a:buFont typeface="Calibri"/>
              <a:buNone/>
            </a:pPr>
            <a:r>
              <a:rPr b="1" i="0" lang="en-US" sz="1100" u="none" cap="none" strike="noStrike">
                <a:solidFill>
                  <a:srgbClr val="2E9C86"/>
                </a:solidFill>
                <a:latin typeface="Calibri"/>
                <a:ea typeface="Calibri"/>
                <a:cs typeface="Calibri"/>
                <a:sym typeface="Calibri"/>
              </a:rPr>
              <a:t>4 · Alpha</a:t>
            </a:r>
            <a:endParaRPr b="0" i="0" sz="1100" u="none" cap="none" strike="noStrike">
              <a:solidFill>
                <a:schemeClr val="dk1"/>
              </a:solidFill>
              <a:latin typeface="Calibri"/>
              <a:ea typeface="Calibri"/>
              <a:cs typeface="Calibri"/>
              <a:sym typeface="Calibri"/>
            </a:endParaRPr>
          </a:p>
        </p:txBody>
      </p:sp>
      <p:sp>
        <p:nvSpPr>
          <p:cNvPr id="400" name="Google Shape;400;p20"/>
          <p:cNvSpPr/>
          <p:nvPr/>
        </p:nvSpPr>
        <p:spPr>
          <a:xfrm>
            <a:off x="457200" y="1143000"/>
            <a:ext cx="5577840" cy="3611880"/>
          </a:xfrm>
          <a:prstGeom prst="roundRect">
            <a:avLst>
              <a:gd fmla="val 3038" name="adj"/>
            </a:avLst>
          </a:prstGeom>
          <a:solidFill>
            <a:srgbClr val="15262D"/>
          </a:solidFill>
          <a:ln cap="flat" cmpd="sng" w="12700">
            <a:solidFill>
              <a:srgbClr val="1526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1" name="Google Shape;401;p20"/>
          <p:cNvSpPr txBox="1"/>
          <p:nvPr/>
        </p:nvSpPr>
        <p:spPr>
          <a:xfrm>
            <a:off x="548640" y="1234440"/>
            <a:ext cx="5394960" cy="3429000"/>
          </a:xfrm>
          <a:prstGeom prst="rect">
            <a:avLst/>
          </a:prstGeom>
          <a:noFill/>
          <a:ln>
            <a:noFill/>
          </a:ln>
        </p:spPr>
        <p:txBody>
          <a:bodyPr anchorCtr="0" anchor="t" bIns="1000" lIns="1000" spcFirstLastPara="1" rIns="1000" wrap="square" tIns="1000">
            <a:noAutofit/>
          </a:bodyPr>
          <a:lstStyle/>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ggplot(alpha,</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aes(x = product, y = Observed,</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color = product))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A7A"/>
              </a:buClr>
              <a:buSzPts val="1100"/>
              <a:buFont typeface="Courier New"/>
              <a:buNone/>
            </a:pPr>
            <a:r>
              <a:rPr b="1" i="0" lang="en-US" sz="1100" u="none" cap="none" strike="noStrike">
                <a:solidFill>
                  <a:srgbClr val="FF9A7A"/>
                </a:solidFill>
                <a:latin typeface="Courier New"/>
                <a:ea typeface="Courier New"/>
                <a:cs typeface="Courier New"/>
                <a:sym typeface="Courier New"/>
              </a:rPr>
              <a:t>  stat_summary(fun.min = min, fun.max = max,</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A7A"/>
              </a:buClr>
              <a:buSzPts val="1100"/>
              <a:buFont typeface="Courier New"/>
              <a:buNone/>
            </a:pPr>
            <a:r>
              <a:rPr b="1" i="0" lang="en-US" sz="1100" u="none" cap="none" strike="noStrike">
                <a:solidFill>
                  <a:srgbClr val="FF9A7A"/>
                </a:solidFill>
                <a:latin typeface="Courier New"/>
                <a:ea typeface="Courier New"/>
                <a:cs typeface="Courier New"/>
                <a:sym typeface="Courier New"/>
              </a:rPr>
              <a:t>               geom = "linerange",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A7A"/>
              </a:buClr>
              <a:buSzPts val="1100"/>
              <a:buFont typeface="Courier New"/>
              <a:buNone/>
            </a:pPr>
            <a:r>
              <a:rPr b="1" i="0" lang="en-US" sz="1100" u="none" cap="none" strike="noStrike">
                <a:solidFill>
                  <a:srgbClr val="FF9A7A"/>
                </a:solidFill>
                <a:latin typeface="Courier New"/>
                <a:ea typeface="Courier New"/>
                <a:cs typeface="Courier New"/>
                <a:sym typeface="Courier New"/>
              </a:rPr>
              <a:t>               color = "grey60")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geom_point(size = 3)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stat_summary(fun = mean, geom = "point",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shape = 18, size = 5, color = "black")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labs(title = "Observed species richness",</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subtitle = "Black diamond = mean; grey line = range",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x = "Product",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y = "Observed species")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theme_minimal()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theme(legend.position = "none")</a:t>
            </a:r>
            <a:endParaRPr b="0" i="0" sz="1100" u="none" cap="none" strike="noStrike">
              <a:solidFill>
                <a:schemeClr val="dk1"/>
              </a:solidFill>
              <a:latin typeface="Calibri"/>
              <a:ea typeface="Calibri"/>
              <a:cs typeface="Calibri"/>
              <a:sym typeface="Calibri"/>
            </a:endParaRPr>
          </a:p>
        </p:txBody>
      </p:sp>
      <p:sp>
        <p:nvSpPr>
          <p:cNvPr id="402" name="Google Shape;402;p20"/>
          <p:cNvSpPr/>
          <p:nvPr/>
        </p:nvSpPr>
        <p:spPr>
          <a:xfrm>
            <a:off x="6309360" y="1143000"/>
            <a:ext cx="2377440" cy="1645920"/>
          </a:xfrm>
          <a:prstGeom prst="roundRect">
            <a:avLst>
              <a:gd fmla="val 5556"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3" name="Google Shape;403;p20"/>
          <p:cNvSpPr txBox="1"/>
          <p:nvPr/>
        </p:nvSpPr>
        <p:spPr>
          <a:xfrm>
            <a:off x="6492240" y="1280160"/>
            <a:ext cx="2057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03C"/>
              </a:buClr>
              <a:buSzPts val="1500"/>
              <a:buFont typeface="Calibri"/>
              <a:buNone/>
            </a:pPr>
            <a:r>
              <a:rPr b="1" i="0" lang="en-US" sz="1500" u="none" cap="none" strike="noStrike">
                <a:solidFill>
                  <a:srgbClr val="E8603C"/>
                </a:solidFill>
                <a:latin typeface="Calibri"/>
                <a:ea typeface="Calibri"/>
                <a:cs typeface="Calibri"/>
                <a:sym typeface="Calibri"/>
              </a:rPr>
              <a:t>New layer</a:t>
            </a:r>
            <a:endParaRPr b="0" i="0" sz="1500" u="none" cap="none" strike="noStrike">
              <a:solidFill>
                <a:schemeClr val="dk1"/>
              </a:solidFill>
              <a:latin typeface="Calibri"/>
              <a:ea typeface="Calibri"/>
              <a:cs typeface="Calibri"/>
              <a:sym typeface="Calibri"/>
            </a:endParaRPr>
          </a:p>
        </p:txBody>
      </p:sp>
      <p:sp>
        <p:nvSpPr>
          <p:cNvPr id="404" name="Google Shape;404;p20"/>
          <p:cNvSpPr txBox="1"/>
          <p:nvPr/>
        </p:nvSpPr>
        <p:spPr>
          <a:xfrm>
            <a:off x="6492240" y="1691640"/>
            <a:ext cx="2011680" cy="98755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D33"/>
              </a:buClr>
              <a:buSzPts val="1200"/>
              <a:buFont typeface="Calibri"/>
              <a:buNone/>
            </a:pPr>
            <a:r>
              <a:rPr b="0" i="0" lang="en-US" sz="1200" u="none" cap="none" strike="noStrike">
                <a:solidFill>
                  <a:srgbClr val="1F2D33"/>
                </a:solidFill>
                <a:latin typeface="Calibri"/>
                <a:ea typeface="Calibri"/>
                <a:cs typeface="Calibri"/>
                <a:sym typeface="Calibri"/>
              </a:rPr>
              <a:t>linerange draws a grey line from each group's minimum to its maximum.</a:t>
            </a:r>
            <a:endParaRPr b="0" i="0" sz="1200" u="none" cap="none" strike="noStrike">
              <a:solidFill>
                <a:schemeClr val="dk1"/>
              </a:solidFill>
              <a:latin typeface="Calibri"/>
              <a:ea typeface="Calibri"/>
              <a:cs typeface="Calibri"/>
              <a:sym typeface="Calibri"/>
            </a:endParaRPr>
          </a:p>
        </p:txBody>
      </p:sp>
      <p:sp>
        <p:nvSpPr>
          <p:cNvPr id="405" name="Google Shape;405;p20"/>
          <p:cNvSpPr/>
          <p:nvPr/>
        </p:nvSpPr>
        <p:spPr>
          <a:xfrm>
            <a:off x="6309360" y="2971800"/>
            <a:ext cx="2377440" cy="1783080"/>
          </a:xfrm>
          <a:prstGeom prst="roundRect">
            <a:avLst>
              <a:gd fmla="val 5128"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6" name="Google Shape;406;p20"/>
          <p:cNvSpPr txBox="1"/>
          <p:nvPr/>
        </p:nvSpPr>
        <p:spPr>
          <a:xfrm>
            <a:off x="6492240" y="3108960"/>
            <a:ext cx="2057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1500"/>
              <a:buFont typeface="Calibri"/>
              <a:buNone/>
            </a:pPr>
            <a:r>
              <a:rPr b="1" i="0" lang="en-US" sz="1500" u="none" cap="none" strike="noStrike">
                <a:solidFill>
                  <a:srgbClr val="0B3C49"/>
                </a:solidFill>
                <a:latin typeface="Calibri"/>
                <a:ea typeface="Calibri"/>
                <a:cs typeface="Calibri"/>
                <a:sym typeface="Calibri"/>
              </a:rPr>
              <a:t>Everything else</a:t>
            </a:r>
            <a:endParaRPr b="0" i="0" sz="1500" u="none" cap="none" strike="noStrike">
              <a:solidFill>
                <a:schemeClr val="dk1"/>
              </a:solidFill>
              <a:latin typeface="Calibri"/>
              <a:ea typeface="Calibri"/>
              <a:cs typeface="Calibri"/>
              <a:sym typeface="Calibri"/>
            </a:endParaRPr>
          </a:p>
        </p:txBody>
      </p:sp>
      <p:sp>
        <p:nvSpPr>
          <p:cNvPr id="407" name="Google Shape;407;p20"/>
          <p:cNvSpPr txBox="1"/>
          <p:nvPr/>
        </p:nvSpPr>
        <p:spPr>
          <a:xfrm>
            <a:off x="6492240" y="3520440"/>
            <a:ext cx="2011680" cy="1124712"/>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D33"/>
              </a:buClr>
              <a:buSzPts val="1200"/>
              <a:buFont typeface="Calibri"/>
              <a:buNone/>
            </a:pPr>
            <a:r>
              <a:rPr b="0" i="0" lang="en-US" sz="1200" u="none" cap="none" strike="noStrike">
                <a:solidFill>
                  <a:srgbClr val="1F2D33"/>
                </a:solidFill>
                <a:latin typeface="Calibri"/>
                <a:ea typeface="Calibri"/>
                <a:cs typeface="Calibri"/>
                <a:sym typeface="Calibri"/>
              </a:rPr>
              <a:t>Same structure as the Blautia plot: points, mean, titles and theme.</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3C49"/>
        </a:solidFill>
      </p:bgPr>
    </p:bg>
    <p:spTree>
      <p:nvGrpSpPr>
        <p:cNvPr id="412" name="Shape 412"/>
        <p:cNvGrpSpPr/>
        <p:nvPr/>
      </p:nvGrpSpPr>
      <p:grpSpPr>
        <a:xfrm>
          <a:off x="0" y="0"/>
          <a:ext cx="0" cy="0"/>
          <a:chOff x="0" y="0"/>
          <a:chExt cx="0" cy="0"/>
        </a:xfrm>
      </p:grpSpPr>
      <p:sp>
        <p:nvSpPr>
          <p:cNvPr id="413" name="Google Shape;413;p21"/>
          <p:cNvSpPr/>
          <p:nvPr/>
        </p:nvSpPr>
        <p:spPr>
          <a:xfrm>
            <a:off x="548640" y="502920"/>
            <a:ext cx="822960" cy="822960"/>
          </a:xfrm>
          <a:prstGeom prst="ellipse">
            <a:avLst/>
          </a:prstGeom>
          <a:solidFill>
            <a:srgbClr val="E8603C"/>
          </a:solidFill>
          <a:ln cap="flat" cmpd="sng" w="12700">
            <a:solidFill>
              <a:srgbClr val="E860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4" name="Google Shape;414;p21"/>
          <p:cNvPicPr preferRelativeResize="0"/>
          <p:nvPr/>
        </p:nvPicPr>
        <p:blipFill rotWithShape="1">
          <a:blip r:embed="rId3">
            <a:alphaModFix/>
          </a:blip>
          <a:srcRect b="0" l="0" r="0" t="0"/>
          <a:stretch/>
        </p:blipFill>
        <p:spPr>
          <a:xfrm>
            <a:off x="762610" y="716890"/>
            <a:ext cx="395021" cy="395021"/>
          </a:xfrm>
          <a:prstGeom prst="rect">
            <a:avLst/>
          </a:prstGeom>
          <a:noFill/>
          <a:ln>
            <a:noFill/>
          </a:ln>
        </p:spPr>
      </p:pic>
      <p:sp>
        <p:nvSpPr>
          <p:cNvPr id="415" name="Google Shape;415;p21"/>
          <p:cNvSpPr txBox="1"/>
          <p:nvPr/>
        </p:nvSpPr>
        <p:spPr>
          <a:xfrm>
            <a:off x="1600200" y="502920"/>
            <a:ext cx="5486400" cy="3657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7B9A6"/>
              </a:buClr>
              <a:buSzPts val="1600"/>
              <a:buFont typeface="Calibri"/>
              <a:buNone/>
            </a:pPr>
            <a:r>
              <a:rPr b="1" i="0" lang="en-US" sz="1600" u="none" cap="none" strike="noStrike">
                <a:solidFill>
                  <a:srgbClr val="F7B9A6"/>
                </a:solidFill>
                <a:latin typeface="Calibri"/>
                <a:ea typeface="Calibri"/>
                <a:cs typeface="Calibri"/>
                <a:sym typeface="Calibri"/>
              </a:rPr>
              <a:t>Exercise 3</a:t>
            </a:r>
            <a:endParaRPr b="0" i="0" sz="1600" u="none" cap="none" strike="noStrike">
              <a:solidFill>
                <a:schemeClr val="dk1"/>
              </a:solidFill>
              <a:latin typeface="Calibri"/>
              <a:ea typeface="Calibri"/>
              <a:cs typeface="Calibri"/>
              <a:sym typeface="Calibri"/>
            </a:endParaRPr>
          </a:p>
        </p:txBody>
      </p:sp>
      <p:sp>
        <p:nvSpPr>
          <p:cNvPr id="416" name="Google Shape;416;p21"/>
          <p:cNvSpPr txBox="1"/>
          <p:nvPr/>
        </p:nvSpPr>
        <p:spPr>
          <a:xfrm>
            <a:off x="1600200" y="822960"/>
            <a:ext cx="7132320" cy="59436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000"/>
              <a:buFont typeface="Cambria"/>
              <a:buNone/>
            </a:pPr>
            <a:r>
              <a:rPr b="1" i="0" lang="en-US" sz="3000" u="none" cap="none" strike="noStrike">
                <a:solidFill>
                  <a:srgbClr val="FFFFFF"/>
                </a:solidFill>
                <a:latin typeface="Cambria"/>
                <a:ea typeface="Cambria"/>
                <a:cs typeface="Cambria"/>
                <a:sym typeface="Cambria"/>
              </a:rPr>
              <a:t>Shannon plot</a:t>
            </a:r>
            <a:endParaRPr b="0" i="0" sz="3000" u="none" cap="none" strike="noStrike">
              <a:solidFill>
                <a:schemeClr val="dk1"/>
              </a:solidFill>
              <a:latin typeface="Calibri"/>
              <a:ea typeface="Calibri"/>
              <a:cs typeface="Calibri"/>
              <a:sym typeface="Calibri"/>
            </a:endParaRPr>
          </a:p>
        </p:txBody>
      </p:sp>
      <p:sp>
        <p:nvSpPr>
          <p:cNvPr id="417" name="Google Shape;417;p21"/>
          <p:cNvSpPr txBox="1"/>
          <p:nvPr/>
        </p:nvSpPr>
        <p:spPr>
          <a:xfrm>
            <a:off x="548640" y="1783080"/>
            <a:ext cx="8046720" cy="1920240"/>
          </a:xfrm>
          <a:prstGeom prst="rect">
            <a:avLst/>
          </a:prstGeom>
          <a:noFill/>
          <a:ln>
            <a:noFill/>
          </a:ln>
        </p:spPr>
        <p:txBody>
          <a:bodyPr anchorCtr="0" anchor="t" bIns="0" lIns="0" spcFirstLastPara="1" rIns="0" wrap="square" tIns="0">
            <a:noAutofit/>
          </a:bodyPr>
          <a:lstStyle/>
          <a:p>
            <a:pPr indent="-342900" lvl="0" marL="342900" marR="0" rtl="0" algn="l">
              <a:spcBef>
                <a:spcPts val="0"/>
              </a:spcBef>
              <a:spcAft>
                <a:spcPts val="0"/>
              </a:spcAft>
              <a:buClr>
                <a:srgbClr val="FFFFFF"/>
              </a:buClr>
              <a:buSzPts val="1800"/>
              <a:buFont typeface="Calibri"/>
              <a:buChar char="•"/>
            </a:pPr>
            <a:r>
              <a:rPr b="0" i="0" lang="en-US" sz="1800" u="none" cap="none" strike="noStrike">
                <a:solidFill>
                  <a:srgbClr val="FFFFFF"/>
                </a:solidFill>
                <a:latin typeface="Calibri"/>
                <a:ea typeface="Calibri"/>
                <a:cs typeface="Calibri"/>
                <a:sym typeface="Calibri"/>
              </a:rPr>
              <a:t>Copy the observed richness plot</a:t>
            </a:r>
            <a:endParaRPr b="0" i="0" sz="18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FFFFFF"/>
              </a:buClr>
              <a:buSzPts val="1800"/>
              <a:buFont typeface="Calibri"/>
              <a:buChar char="•"/>
            </a:pPr>
            <a:r>
              <a:rPr b="0" i="0" lang="en-US" sz="1800" u="none" cap="none" strike="noStrike">
                <a:solidFill>
                  <a:srgbClr val="FFFFFF"/>
                </a:solidFill>
                <a:latin typeface="Calibri"/>
                <a:ea typeface="Calibri"/>
                <a:cs typeface="Calibri"/>
                <a:sym typeface="Calibri"/>
              </a:rPr>
              <a:t>Change only three things: Observed, the title and the y-axis label</a:t>
            </a:r>
            <a:endParaRPr b="0" i="0" sz="1800" u="none" cap="none" strike="noStrike">
              <a:solidFill>
                <a:schemeClr val="dk1"/>
              </a:solidFill>
              <a:latin typeface="Calibri"/>
              <a:ea typeface="Calibri"/>
              <a:cs typeface="Calibri"/>
              <a:sym typeface="Calibri"/>
            </a:endParaRPr>
          </a:p>
          <a:p>
            <a:pPr indent="-342900" lvl="0" marL="342900" marR="0" rtl="0" algn="l">
              <a:spcBef>
                <a:spcPts val="1000"/>
              </a:spcBef>
              <a:spcAft>
                <a:spcPts val="0"/>
              </a:spcAft>
              <a:buClr>
                <a:srgbClr val="FFFFFF"/>
              </a:buClr>
              <a:buSzPts val="1800"/>
              <a:buFont typeface="Calibri"/>
              <a:buChar char="•"/>
            </a:pPr>
            <a:r>
              <a:rPr b="0" i="0" lang="en-US" sz="1800" u="none" cap="none" strike="noStrike">
                <a:solidFill>
                  <a:srgbClr val="FFFFFF"/>
                </a:solidFill>
                <a:latin typeface="Calibri"/>
                <a:ea typeface="Calibri"/>
                <a:cs typeface="Calibri"/>
                <a:sym typeface="Calibri"/>
              </a:rPr>
              <a:t>Result: Fig. 2D analogue</a:t>
            </a:r>
            <a:endParaRPr b="0" i="0" sz="1800" u="none" cap="none" strike="noStrike">
              <a:solidFill>
                <a:schemeClr val="dk1"/>
              </a:solidFill>
              <a:latin typeface="Calibri"/>
              <a:ea typeface="Calibri"/>
              <a:cs typeface="Calibri"/>
              <a:sym typeface="Calibri"/>
            </a:endParaRPr>
          </a:p>
        </p:txBody>
      </p:sp>
      <p:sp>
        <p:nvSpPr>
          <p:cNvPr id="418" name="Google Shape;418;p21"/>
          <p:cNvSpPr/>
          <p:nvPr/>
        </p:nvSpPr>
        <p:spPr>
          <a:xfrm>
            <a:off x="548640" y="3931920"/>
            <a:ext cx="8046720" cy="685800"/>
          </a:xfrm>
          <a:prstGeom prst="roundRect">
            <a:avLst>
              <a:gd fmla="val 13333" name="adj"/>
            </a:avLst>
          </a:prstGeom>
          <a:solidFill>
            <a:srgbClr val="15525F"/>
          </a:solidFill>
          <a:ln cap="flat" cmpd="sng" w="12700">
            <a:solidFill>
              <a:srgbClr val="1552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19" name="Google Shape;419;p21"/>
          <p:cNvPicPr preferRelativeResize="0"/>
          <p:nvPr/>
        </p:nvPicPr>
        <p:blipFill rotWithShape="1">
          <a:blip r:embed="rId4">
            <a:alphaModFix/>
          </a:blip>
          <a:srcRect b="0" l="0" r="0" t="0"/>
          <a:stretch/>
        </p:blipFill>
        <p:spPr>
          <a:xfrm>
            <a:off x="731520" y="4096512"/>
            <a:ext cx="347472" cy="347472"/>
          </a:xfrm>
          <a:prstGeom prst="rect">
            <a:avLst/>
          </a:prstGeom>
          <a:noFill/>
          <a:ln>
            <a:noFill/>
          </a:ln>
        </p:spPr>
      </p:pic>
      <p:sp>
        <p:nvSpPr>
          <p:cNvPr id="420" name="Google Shape;420;p21"/>
          <p:cNvSpPr txBox="1"/>
          <p:nvPr/>
        </p:nvSpPr>
        <p:spPr>
          <a:xfrm>
            <a:off x="1234440" y="3931920"/>
            <a:ext cx="722376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CFE6E1"/>
              </a:buClr>
              <a:buSzPts val="1400"/>
              <a:buFont typeface="Calibri"/>
              <a:buNone/>
            </a:pPr>
            <a:r>
              <a:rPr b="0" i="1" lang="en-US" sz="1400" u="none" cap="none" strike="noStrike">
                <a:solidFill>
                  <a:srgbClr val="CFE6E1"/>
                </a:solidFill>
                <a:latin typeface="Calibri"/>
                <a:ea typeface="Calibri"/>
                <a:cs typeface="Calibri"/>
                <a:sym typeface="Calibri"/>
              </a:rPr>
              <a:t>All layers stay the same; only the plotted variable and its name change.</a:t>
            </a:r>
            <a:endParaRPr b="0" i="0" sz="1400" u="none" cap="none" strike="noStrike">
              <a:solidFill>
                <a:schemeClr val="dk1"/>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25" name="Shape 425"/>
        <p:cNvGrpSpPr/>
        <p:nvPr/>
      </p:nvGrpSpPr>
      <p:grpSpPr>
        <a:xfrm>
          <a:off x="0" y="0"/>
          <a:ext cx="0" cy="0"/>
          <a:chOff x="0" y="0"/>
          <a:chExt cx="0" cy="0"/>
        </a:xfrm>
      </p:grpSpPr>
      <p:sp>
        <p:nvSpPr>
          <p:cNvPr id="426" name="Google Shape;426;p22"/>
          <p:cNvSpPr txBox="1"/>
          <p:nvPr/>
        </p:nvSpPr>
        <p:spPr>
          <a:xfrm>
            <a:off x="457200" y="274320"/>
            <a:ext cx="6949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2800"/>
              <a:buFont typeface="Cambria"/>
              <a:buNone/>
            </a:pPr>
            <a:r>
              <a:rPr b="1" i="0" lang="en-US" sz="2800" u="none" cap="none" strike="noStrike">
                <a:solidFill>
                  <a:srgbClr val="0B3C49"/>
                </a:solidFill>
                <a:latin typeface="Cambria"/>
                <a:ea typeface="Cambria"/>
                <a:cs typeface="Cambria"/>
                <a:sym typeface="Cambria"/>
              </a:rPr>
              <a:t>Solution · Exercise 3</a:t>
            </a:r>
            <a:endParaRPr b="0" i="0" sz="2800" u="none" cap="none" strike="noStrike">
              <a:solidFill>
                <a:schemeClr val="dk1"/>
              </a:solidFill>
              <a:latin typeface="Calibri"/>
              <a:ea typeface="Calibri"/>
              <a:cs typeface="Calibri"/>
              <a:sym typeface="Calibri"/>
            </a:endParaRPr>
          </a:p>
        </p:txBody>
      </p:sp>
      <p:sp>
        <p:nvSpPr>
          <p:cNvPr id="427" name="Google Shape;427;p22"/>
          <p:cNvSpPr/>
          <p:nvPr/>
        </p:nvSpPr>
        <p:spPr>
          <a:xfrm>
            <a:off x="7498080" y="411480"/>
            <a:ext cx="1188720" cy="384048"/>
          </a:xfrm>
          <a:prstGeom prst="roundRect">
            <a:avLst>
              <a:gd fmla="val 50000"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8" name="Google Shape;428;p22"/>
          <p:cNvSpPr txBox="1"/>
          <p:nvPr/>
        </p:nvSpPr>
        <p:spPr>
          <a:xfrm>
            <a:off x="7498080" y="411480"/>
            <a:ext cx="11887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9C86"/>
              </a:buClr>
              <a:buSzPts val="1100"/>
              <a:buFont typeface="Calibri"/>
              <a:buNone/>
            </a:pPr>
            <a:r>
              <a:rPr b="1" i="0" lang="en-US" sz="1100" u="none" cap="none" strike="noStrike">
                <a:solidFill>
                  <a:srgbClr val="2E9C86"/>
                </a:solidFill>
                <a:latin typeface="Calibri"/>
                <a:ea typeface="Calibri"/>
                <a:cs typeface="Calibri"/>
                <a:sym typeface="Calibri"/>
              </a:rPr>
              <a:t>4 · Alpha</a:t>
            </a:r>
            <a:endParaRPr b="0" i="0" sz="1100" u="none" cap="none" strike="noStrike">
              <a:solidFill>
                <a:schemeClr val="dk1"/>
              </a:solidFill>
              <a:latin typeface="Calibri"/>
              <a:ea typeface="Calibri"/>
              <a:cs typeface="Calibri"/>
              <a:sym typeface="Calibri"/>
            </a:endParaRPr>
          </a:p>
        </p:txBody>
      </p:sp>
      <p:sp>
        <p:nvSpPr>
          <p:cNvPr id="429" name="Google Shape;429;p22"/>
          <p:cNvSpPr/>
          <p:nvPr/>
        </p:nvSpPr>
        <p:spPr>
          <a:xfrm>
            <a:off x="457200" y="1143000"/>
            <a:ext cx="5577840" cy="3611880"/>
          </a:xfrm>
          <a:prstGeom prst="roundRect">
            <a:avLst>
              <a:gd fmla="val 3038" name="adj"/>
            </a:avLst>
          </a:prstGeom>
          <a:solidFill>
            <a:srgbClr val="15262D"/>
          </a:solidFill>
          <a:ln cap="flat" cmpd="sng" w="12700">
            <a:solidFill>
              <a:srgbClr val="1526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22"/>
          <p:cNvSpPr txBox="1"/>
          <p:nvPr/>
        </p:nvSpPr>
        <p:spPr>
          <a:xfrm>
            <a:off x="548640" y="1234440"/>
            <a:ext cx="5394960" cy="3429000"/>
          </a:xfrm>
          <a:prstGeom prst="rect">
            <a:avLst/>
          </a:prstGeom>
          <a:noFill/>
          <a:ln>
            <a:noFill/>
          </a:ln>
        </p:spPr>
        <p:txBody>
          <a:bodyPr anchorCtr="0" anchor="t" bIns="1000" lIns="1000" spcFirstLastPara="1" rIns="1000" wrap="square" tIns="1000">
            <a:noAutofit/>
          </a:bodyPr>
          <a:lstStyle/>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ggplot(alpha,</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A7A"/>
              </a:buClr>
              <a:buSzPts val="1100"/>
              <a:buFont typeface="Courier New"/>
              <a:buNone/>
            </a:pPr>
            <a:r>
              <a:rPr b="1" i="0" lang="en-US" sz="1100" u="none" cap="none" strike="noStrike">
                <a:solidFill>
                  <a:srgbClr val="FF9A7A"/>
                </a:solidFill>
                <a:latin typeface="Courier New"/>
                <a:ea typeface="Courier New"/>
                <a:cs typeface="Courier New"/>
                <a:sym typeface="Courier New"/>
              </a:rPr>
              <a:t>       aes(x = product, y = Shannon,</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color = product))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stat_summary(fun.min = min, fun.max = max,</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geom = "linerange", color = "grey60")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geom_point(size = 3)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stat_summary(fun = mean, geom = "point",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shape = 18, size = 5, color = "black")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A7A"/>
              </a:buClr>
              <a:buSzPts val="1100"/>
              <a:buFont typeface="Courier New"/>
              <a:buNone/>
            </a:pPr>
            <a:r>
              <a:rPr b="1" i="0" lang="en-US" sz="1100" u="none" cap="none" strike="noStrike">
                <a:solidFill>
                  <a:srgbClr val="FF9A7A"/>
                </a:solidFill>
                <a:latin typeface="Courier New"/>
                <a:ea typeface="Courier New"/>
                <a:cs typeface="Courier New"/>
                <a:sym typeface="Courier New"/>
              </a:rPr>
              <a:t>  labs(title = "Shannon diversity",</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subtitle = "Black diamond = mean; grey line = range",</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x = "Product",</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FF9A7A"/>
              </a:buClr>
              <a:buSzPts val="1100"/>
              <a:buFont typeface="Courier New"/>
              <a:buNone/>
            </a:pPr>
            <a:r>
              <a:rPr b="1" i="0" lang="en-US" sz="1100" u="none" cap="none" strike="noStrike">
                <a:solidFill>
                  <a:srgbClr val="FF9A7A"/>
                </a:solidFill>
                <a:latin typeface="Courier New"/>
                <a:ea typeface="Courier New"/>
                <a:cs typeface="Courier New"/>
                <a:sym typeface="Courier New"/>
              </a:rPr>
              <a:t>       y = "Shannon index")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theme_minimal() +</a:t>
            </a:r>
            <a:endParaRPr b="0" i="0" sz="11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100"/>
              <a:buFont typeface="Courier New"/>
              <a:buNone/>
            </a:pPr>
            <a:r>
              <a:rPr b="0" i="0" lang="en-US" sz="1100" u="none" cap="none" strike="noStrike">
                <a:solidFill>
                  <a:srgbClr val="E6EEF0"/>
                </a:solidFill>
                <a:latin typeface="Courier New"/>
                <a:ea typeface="Courier New"/>
                <a:cs typeface="Courier New"/>
                <a:sym typeface="Courier New"/>
              </a:rPr>
              <a:t>  theme(legend.position = "none")</a:t>
            </a:r>
            <a:endParaRPr b="0" i="0" sz="1100" u="none" cap="none" strike="noStrike">
              <a:solidFill>
                <a:schemeClr val="dk1"/>
              </a:solidFill>
              <a:latin typeface="Calibri"/>
              <a:ea typeface="Calibri"/>
              <a:cs typeface="Calibri"/>
              <a:sym typeface="Calibri"/>
            </a:endParaRPr>
          </a:p>
        </p:txBody>
      </p:sp>
      <p:sp>
        <p:nvSpPr>
          <p:cNvPr id="431" name="Google Shape;431;p22"/>
          <p:cNvSpPr/>
          <p:nvPr/>
        </p:nvSpPr>
        <p:spPr>
          <a:xfrm>
            <a:off x="6309360" y="1143000"/>
            <a:ext cx="2377440" cy="1828800"/>
          </a:xfrm>
          <a:prstGeom prst="roundRect">
            <a:avLst>
              <a:gd fmla="val 5000" name="adj"/>
            </a:avLst>
          </a:prstGeom>
          <a:solidFill>
            <a:srgbClr val="FDECE6"/>
          </a:solidFill>
          <a:ln cap="flat" cmpd="sng" w="12700">
            <a:solidFill>
              <a:srgbClr val="FDE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22"/>
          <p:cNvSpPr txBox="1"/>
          <p:nvPr/>
        </p:nvSpPr>
        <p:spPr>
          <a:xfrm>
            <a:off x="6446520" y="1252728"/>
            <a:ext cx="2103120" cy="64008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E8603C"/>
              </a:buClr>
              <a:buSzPts val="3000"/>
              <a:buFont typeface="Cambria"/>
              <a:buNone/>
            </a:pPr>
            <a:r>
              <a:rPr b="1" i="0" lang="en-US" sz="3000" u="none" cap="none" strike="noStrike">
                <a:solidFill>
                  <a:srgbClr val="E8603C"/>
                </a:solidFill>
                <a:latin typeface="Cambria"/>
                <a:ea typeface="Cambria"/>
                <a:cs typeface="Cambria"/>
                <a:sym typeface="Cambria"/>
              </a:rPr>
              <a:t>3 changes</a:t>
            </a:r>
            <a:endParaRPr b="0" i="0" sz="3000" u="none" cap="none" strike="noStrike">
              <a:solidFill>
                <a:schemeClr val="dk1"/>
              </a:solidFill>
              <a:latin typeface="Calibri"/>
              <a:ea typeface="Calibri"/>
              <a:cs typeface="Calibri"/>
              <a:sym typeface="Calibri"/>
            </a:endParaRPr>
          </a:p>
        </p:txBody>
      </p:sp>
      <p:sp>
        <p:nvSpPr>
          <p:cNvPr id="433" name="Google Shape;433;p22"/>
          <p:cNvSpPr txBox="1"/>
          <p:nvPr/>
        </p:nvSpPr>
        <p:spPr>
          <a:xfrm>
            <a:off x="6446520" y="1920240"/>
            <a:ext cx="2103120" cy="960120"/>
          </a:xfrm>
          <a:prstGeom prst="rect">
            <a:avLst/>
          </a:prstGeom>
          <a:noFill/>
          <a:ln>
            <a:noFill/>
          </a:ln>
        </p:spPr>
        <p:txBody>
          <a:bodyPr anchorCtr="0" anchor="t" bIns="0" lIns="0" spcFirstLastPara="1" rIns="0" wrap="square" tIns="0">
            <a:noAutofit/>
          </a:bodyPr>
          <a:lstStyle/>
          <a:p>
            <a:pPr indent="0" lvl="0" marL="0" marR="0" rtl="0" algn="ctr">
              <a:spcBef>
                <a:spcPts val="0"/>
              </a:spcBef>
              <a:spcAft>
                <a:spcPts val="0"/>
              </a:spcAft>
              <a:buClr>
                <a:srgbClr val="1F2D33"/>
              </a:buClr>
              <a:buSzPts val="1200"/>
              <a:buFont typeface="Calibri"/>
              <a:buNone/>
            </a:pPr>
            <a:r>
              <a:rPr b="0" i="0" lang="en-US" sz="1200" u="none" cap="none" strike="noStrike">
                <a:solidFill>
                  <a:srgbClr val="1F2D33"/>
                </a:solidFill>
                <a:latin typeface="Calibri"/>
                <a:ea typeface="Calibri"/>
                <a:cs typeface="Calibri"/>
                <a:sym typeface="Calibri"/>
              </a:rPr>
              <a:t>y variable, title and y-axis label</a:t>
            </a:r>
            <a:endParaRPr b="0" i="0" sz="1200" u="none" cap="none" strike="noStrike">
              <a:solidFill>
                <a:schemeClr val="dk1"/>
              </a:solidFill>
              <a:latin typeface="Calibri"/>
              <a:ea typeface="Calibri"/>
              <a:cs typeface="Calibri"/>
              <a:sym typeface="Calibri"/>
            </a:endParaRPr>
          </a:p>
        </p:txBody>
      </p:sp>
      <p:sp>
        <p:nvSpPr>
          <p:cNvPr id="434" name="Google Shape;434;p22"/>
          <p:cNvSpPr txBox="1"/>
          <p:nvPr/>
        </p:nvSpPr>
        <p:spPr>
          <a:xfrm>
            <a:off x="6309360" y="3154680"/>
            <a:ext cx="23774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7278"/>
              </a:buClr>
              <a:buSzPts val="1250"/>
              <a:buFont typeface="Calibri"/>
              <a:buNone/>
            </a:pPr>
            <a:r>
              <a:rPr b="0" i="1" lang="en-US" sz="1250" u="none" cap="none" strike="noStrike">
                <a:solidFill>
                  <a:srgbClr val="5E7278"/>
                </a:solidFill>
                <a:latin typeface="Calibri"/>
                <a:ea typeface="Calibri"/>
                <a:cs typeface="Calibri"/>
                <a:sym typeface="Calibri"/>
              </a:rPr>
              <a:t>The highlighted lines in the code are the only ones modified.</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39" name="Shape 439"/>
        <p:cNvGrpSpPr/>
        <p:nvPr/>
      </p:nvGrpSpPr>
      <p:grpSpPr>
        <a:xfrm>
          <a:off x="0" y="0"/>
          <a:ext cx="0" cy="0"/>
          <a:chOff x="0" y="0"/>
          <a:chExt cx="0" cy="0"/>
        </a:xfrm>
      </p:grpSpPr>
      <p:sp>
        <p:nvSpPr>
          <p:cNvPr id="440" name="Google Shape;440;p23"/>
          <p:cNvSpPr txBox="1"/>
          <p:nvPr/>
        </p:nvSpPr>
        <p:spPr>
          <a:xfrm>
            <a:off x="457200" y="274320"/>
            <a:ext cx="6949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2800"/>
              <a:buFont typeface="Cambria"/>
              <a:buNone/>
            </a:pPr>
            <a:r>
              <a:rPr b="1" i="0" lang="en-US" sz="2800" u="none" cap="none" strike="noStrike">
                <a:solidFill>
                  <a:srgbClr val="0B3C49"/>
                </a:solidFill>
                <a:latin typeface="Cambria"/>
                <a:ea typeface="Cambria"/>
                <a:cs typeface="Cambria"/>
                <a:sym typeface="Cambria"/>
              </a:rPr>
              <a:t>Beta diversity: comparing communities</a:t>
            </a:r>
            <a:endParaRPr b="0" i="0" sz="2800" u="none" cap="none" strike="noStrike">
              <a:solidFill>
                <a:schemeClr val="dk1"/>
              </a:solidFill>
              <a:latin typeface="Calibri"/>
              <a:ea typeface="Calibri"/>
              <a:cs typeface="Calibri"/>
              <a:sym typeface="Calibri"/>
            </a:endParaRPr>
          </a:p>
        </p:txBody>
      </p:sp>
      <p:sp>
        <p:nvSpPr>
          <p:cNvPr id="441" name="Google Shape;441;p23"/>
          <p:cNvSpPr/>
          <p:nvPr/>
        </p:nvSpPr>
        <p:spPr>
          <a:xfrm>
            <a:off x="7498080" y="411480"/>
            <a:ext cx="1188720" cy="384048"/>
          </a:xfrm>
          <a:prstGeom prst="roundRect">
            <a:avLst>
              <a:gd fmla="val 50000"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2" name="Google Shape;442;p23"/>
          <p:cNvSpPr txBox="1"/>
          <p:nvPr/>
        </p:nvSpPr>
        <p:spPr>
          <a:xfrm>
            <a:off x="7498080" y="411480"/>
            <a:ext cx="11887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9C86"/>
              </a:buClr>
              <a:buSzPts val="1100"/>
              <a:buFont typeface="Calibri"/>
              <a:buNone/>
            </a:pPr>
            <a:r>
              <a:rPr b="1" i="0" lang="en-US" sz="1100" u="none" cap="none" strike="noStrike">
                <a:solidFill>
                  <a:srgbClr val="2E9C86"/>
                </a:solidFill>
                <a:latin typeface="Calibri"/>
                <a:ea typeface="Calibri"/>
                <a:cs typeface="Calibri"/>
                <a:sym typeface="Calibri"/>
              </a:rPr>
              <a:t>5 · Beta</a:t>
            </a:r>
            <a:endParaRPr b="0" i="0" sz="1100" u="none" cap="none" strike="noStrike">
              <a:solidFill>
                <a:schemeClr val="dk1"/>
              </a:solidFill>
              <a:latin typeface="Calibri"/>
              <a:ea typeface="Calibri"/>
              <a:cs typeface="Calibri"/>
              <a:sym typeface="Calibri"/>
            </a:endParaRPr>
          </a:p>
        </p:txBody>
      </p:sp>
      <p:sp>
        <p:nvSpPr>
          <p:cNvPr id="443" name="Google Shape;443;p23"/>
          <p:cNvSpPr/>
          <p:nvPr/>
        </p:nvSpPr>
        <p:spPr>
          <a:xfrm>
            <a:off x="457200" y="1188720"/>
            <a:ext cx="3566160" cy="868680"/>
          </a:xfrm>
          <a:prstGeom prst="roundRect">
            <a:avLst>
              <a:gd fmla="val 10526"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4" name="Google Shape;444;p23"/>
          <p:cNvSpPr txBox="1"/>
          <p:nvPr/>
        </p:nvSpPr>
        <p:spPr>
          <a:xfrm>
            <a:off x="640080" y="1188720"/>
            <a:ext cx="320040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1600"/>
              <a:buFont typeface="Calibri"/>
              <a:buNone/>
            </a:pPr>
            <a:r>
              <a:rPr b="1" i="0" lang="en-US" sz="1600" u="none" cap="none" strike="noStrike">
                <a:solidFill>
                  <a:srgbClr val="0B3C49"/>
                </a:solidFill>
                <a:latin typeface="Calibri"/>
                <a:ea typeface="Calibri"/>
                <a:cs typeface="Calibri"/>
                <a:sym typeface="Calibri"/>
              </a:rPr>
              <a:t>Samples</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E7278"/>
              </a:buClr>
              <a:buSzPts val="1200"/>
              <a:buFont typeface="Calibri"/>
              <a:buNone/>
            </a:pPr>
            <a:r>
              <a:rPr b="0" i="0" lang="en-US" sz="1200" u="none" cap="none" strike="noStrike">
                <a:solidFill>
                  <a:srgbClr val="5E7278"/>
                </a:solidFill>
                <a:latin typeface="Calibri"/>
                <a:ea typeface="Calibri"/>
                <a:cs typeface="Calibri"/>
                <a:sym typeface="Calibri"/>
              </a:rPr>
              <a:t>Complete composition of each one</a:t>
            </a:r>
            <a:endParaRPr b="0" i="0" sz="1600" u="none" cap="none" strike="noStrike">
              <a:solidFill>
                <a:schemeClr val="dk1"/>
              </a:solidFill>
              <a:latin typeface="Calibri"/>
              <a:ea typeface="Calibri"/>
              <a:cs typeface="Calibri"/>
              <a:sym typeface="Calibri"/>
            </a:endParaRPr>
          </a:p>
        </p:txBody>
      </p:sp>
      <p:cxnSp>
        <p:nvCxnSpPr>
          <p:cNvPr id="445" name="Google Shape;445;p23"/>
          <p:cNvCxnSpPr/>
          <p:nvPr/>
        </p:nvCxnSpPr>
        <p:spPr>
          <a:xfrm>
            <a:off x="2240280" y="2075688"/>
            <a:ext cx="0" cy="274320"/>
          </a:xfrm>
          <a:prstGeom prst="straightConnector1">
            <a:avLst/>
          </a:prstGeom>
          <a:noFill/>
          <a:ln cap="flat" cmpd="sng" w="25400">
            <a:solidFill>
              <a:srgbClr val="2E9C86"/>
            </a:solidFill>
            <a:prstDash val="solid"/>
            <a:round/>
            <a:headEnd len="sm" w="sm" type="none"/>
            <a:tailEnd len="med" w="med" type="triangle"/>
          </a:ln>
        </p:spPr>
      </p:cxnSp>
      <p:sp>
        <p:nvSpPr>
          <p:cNvPr id="446" name="Google Shape;446;p23"/>
          <p:cNvSpPr/>
          <p:nvPr/>
        </p:nvSpPr>
        <p:spPr>
          <a:xfrm>
            <a:off x="457200" y="2377440"/>
            <a:ext cx="3566160" cy="868680"/>
          </a:xfrm>
          <a:prstGeom prst="roundRect">
            <a:avLst>
              <a:gd fmla="val 10526"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7" name="Google Shape;447;p23"/>
          <p:cNvSpPr txBox="1"/>
          <p:nvPr/>
        </p:nvSpPr>
        <p:spPr>
          <a:xfrm>
            <a:off x="640080" y="2377440"/>
            <a:ext cx="320040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1600"/>
              <a:buFont typeface="Calibri"/>
              <a:buNone/>
            </a:pPr>
            <a:r>
              <a:rPr b="1" i="0" lang="en-US" sz="1600" u="none" cap="none" strike="noStrike">
                <a:solidFill>
                  <a:srgbClr val="0B3C49"/>
                </a:solidFill>
                <a:latin typeface="Calibri"/>
                <a:ea typeface="Calibri"/>
                <a:cs typeface="Calibri"/>
                <a:sym typeface="Calibri"/>
              </a:rPr>
              <a:t>Bray-Curtis</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5E7278"/>
              </a:buClr>
              <a:buSzPts val="1200"/>
              <a:buFont typeface="Calibri"/>
              <a:buNone/>
            </a:pPr>
            <a:r>
              <a:rPr b="0" i="0" lang="en-US" sz="1200" u="none" cap="none" strike="noStrike">
                <a:solidFill>
                  <a:srgbClr val="5E7278"/>
                </a:solidFill>
                <a:latin typeface="Calibri"/>
                <a:ea typeface="Calibri"/>
                <a:cs typeface="Calibri"/>
                <a:sym typeface="Calibri"/>
              </a:rPr>
              <a:t>Distance between every pair of samples</a:t>
            </a:r>
            <a:endParaRPr b="0" i="0" sz="1600" u="none" cap="none" strike="noStrike">
              <a:solidFill>
                <a:schemeClr val="dk1"/>
              </a:solidFill>
              <a:latin typeface="Calibri"/>
              <a:ea typeface="Calibri"/>
              <a:cs typeface="Calibri"/>
              <a:sym typeface="Calibri"/>
            </a:endParaRPr>
          </a:p>
        </p:txBody>
      </p:sp>
      <p:cxnSp>
        <p:nvCxnSpPr>
          <p:cNvPr id="448" name="Google Shape;448;p23"/>
          <p:cNvCxnSpPr/>
          <p:nvPr/>
        </p:nvCxnSpPr>
        <p:spPr>
          <a:xfrm>
            <a:off x="2240280" y="3264408"/>
            <a:ext cx="0" cy="274320"/>
          </a:xfrm>
          <a:prstGeom prst="straightConnector1">
            <a:avLst/>
          </a:prstGeom>
          <a:noFill/>
          <a:ln cap="flat" cmpd="sng" w="25400">
            <a:solidFill>
              <a:srgbClr val="2E9C86"/>
            </a:solidFill>
            <a:prstDash val="solid"/>
            <a:round/>
            <a:headEnd len="sm" w="sm" type="none"/>
            <a:tailEnd len="med" w="med" type="triangle"/>
          </a:ln>
        </p:spPr>
      </p:cxnSp>
      <p:sp>
        <p:nvSpPr>
          <p:cNvPr id="449" name="Google Shape;449;p23"/>
          <p:cNvSpPr/>
          <p:nvPr/>
        </p:nvSpPr>
        <p:spPr>
          <a:xfrm>
            <a:off x="457200" y="3566160"/>
            <a:ext cx="3566160" cy="868680"/>
          </a:xfrm>
          <a:prstGeom prst="roundRect">
            <a:avLst>
              <a:gd fmla="val 10526" name="adj"/>
            </a:avLst>
          </a:prstGeom>
          <a:solidFill>
            <a:srgbClr val="0B3C49"/>
          </a:solidFill>
          <a:ln cap="flat" cmpd="sng" w="12700">
            <a:solidFill>
              <a:srgbClr val="0B3C4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0" name="Google Shape;450;p23"/>
          <p:cNvSpPr txBox="1"/>
          <p:nvPr/>
        </p:nvSpPr>
        <p:spPr>
          <a:xfrm>
            <a:off x="640080" y="3566160"/>
            <a:ext cx="3200400" cy="8686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600"/>
              <a:buFont typeface="Calibri"/>
              <a:buNone/>
            </a:pPr>
            <a:r>
              <a:rPr b="1" i="0" lang="en-US" sz="1600" u="none" cap="none" strike="noStrike">
                <a:solidFill>
                  <a:srgbClr val="FFFFFF"/>
                </a:solidFill>
                <a:latin typeface="Calibri"/>
                <a:ea typeface="Calibri"/>
                <a:cs typeface="Calibri"/>
                <a:sym typeface="Calibri"/>
              </a:rPr>
              <a:t>PCoA</a:t>
            </a:r>
            <a:endParaRPr b="0" i="0" sz="16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CFE6E1"/>
              </a:buClr>
              <a:buSzPts val="1200"/>
              <a:buFont typeface="Calibri"/>
              <a:buNone/>
            </a:pPr>
            <a:r>
              <a:rPr b="0" i="0" lang="en-US" sz="1200" u="none" cap="none" strike="noStrike">
                <a:solidFill>
                  <a:srgbClr val="CFE6E1"/>
                </a:solidFill>
                <a:latin typeface="Calibri"/>
                <a:ea typeface="Calibri"/>
                <a:cs typeface="Calibri"/>
                <a:sym typeface="Calibri"/>
              </a:rPr>
              <a:t>Distances shown on 2 axes</a:t>
            </a:r>
            <a:endParaRPr b="0" i="0" sz="1600" u="none" cap="none" strike="noStrike">
              <a:solidFill>
                <a:schemeClr val="dk1"/>
              </a:solidFill>
              <a:latin typeface="Calibri"/>
              <a:ea typeface="Calibri"/>
              <a:cs typeface="Calibri"/>
              <a:sym typeface="Calibri"/>
            </a:endParaRPr>
          </a:p>
        </p:txBody>
      </p:sp>
      <p:sp>
        <p:nvSpPr>
          <p:cNvPr id="451" name="Google Shape;451;p23"/>
          <p:cNvSpPr/>
          <p:nvPr/>
        </p:nvSpPr>
        <p:spPr>
          <a:xfrm>
            <a:off x="4572000" y="1188720"/>
            <a:ext cx="4114800" cy="2971800"/>
          </a:xfrm>
          <a:prstGeom prst="rect">
            <a:avLst/>
          </a:prstGeom>
          <a:solidFill>
            <a:srgbClr val="F7FAF9"/>
          </a:solidFill>
          <a:ln cap="flat" cmpd="sng" w="12700">
            <a:solidFill>
              <a:srgbClr val="D5E3E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2" name="Google Shape;452;p23"/>
          <p:cNvSpPr/>
          <p:nvPr/>
        </p:nvSpPr>
        <p:spPr>
          <a:xfrm>
            <a:off x="5120640" y="1645920"/>
            <a:ext cx="274320" cy="274320"/>
          </a:xfrm>
          <a:prstGeom prst="ellipse">
            <a:avLst/>
          </a:prstGeom>
          <a:solidFill>
            <a:srgbClr val="0B3C49"/>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3" name="Google Shape;453;p23"/>
          <p:cNvSpPr/>
          <p:nvPr/>
        </p:nvSpPr>
        <p:spPr>
          <a:xfrm>
            <a:off x="5440680" y="1920240"/>
            <a:ext cx="274320" cy="274320"/>
          </a:xfrm>
          <a:prstGeom prst="ellipse">
            <a:avLst/>
          </a:prstGeom>
          <a:solidFill>
            <a:srgbClr val="0B3C49"/>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23"/>
          <p:cNvSpPr/>
          <p:nvPr/>
        </p:nvSpPr>
        <p:spPr>
          <a:xfrm>
            <a:off x="7040880" y="3108960"/>
            <a:ext cx="274320" cy="274320"/>
          </a:xfrm>
          <a:prstGeom prst="ellipse">
            <a:avLst/>
          </a:prstGeom>
          <a:solidFill>
            <a:srgbClr val="2E9C86"/>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5" name="Google Shape;455;p23"/>
          <p:cNvSpPr/>
          <p:nvPr/>
        </p:nvSpPr>
        <p:spPr>
          <a:xfrm>
            <a:off x="7315200" y="2880360"/>
            <a:ext cx="274320" cy="274320"/>
          </a:xfrm>
          <a:prstGeom prst="ellipse">
            <a:avLst/>
          </a:prstGeom>
          <a:solidFill>
            <a:srgbClr val="2E9C86"/>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23"/>
          <p:cNvSpPr/>
          <p:nvPr/>
        </p:nvSpPr>
        <p:spPr>
          <a:xfrm>
            <a:off x="7863840" y="1737360"/>
            <a:ext cx="274320" cy="274320"/>
          </a:xfrm>
          <a:prstGeom prst="ellipse">
            <a:avLst/>
          </a:prstGeom>
          <a:solidFill>
            <a:srgbClr val="E8603C"/>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7" name="Google Shape;457;p23"/>
          <p:cNvSpPr/>
          <p:nvPr/>
        </p:nvSpPr>
        <p:spPr>
          <a:xfrm>
            <a:off x="8138160" y="2057400"/>
            <a:ext cx="274320" cy="274320"/>
          </a:xfrm>
          <a:prstGeom prst="ellipse">
            <a:avLst/>
          </a:prstGeom>
          <a:solidFill>
            <a:srgbClr val="E8603C"/>
          </a:solidFill>
          <a:ln cap="flat" cmpd="sng" w="12700">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8" name="Google Shape;458;p23"/>
          <p:cNvSpPr txBox="1"/>
          <p:nvPr/>
        </p:nvSpPr>
        <p:spPr>
          <a:xfrm>
            <a:off x="4754880" y="3429000"/>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1200"/>
              <a:buFont typeface="Calibri"/>
              <a:buNone/>
            </a:pPr>
            <a:r>
              <a:rPr b="1" i="0" lang="en-US" sz="1200" u="none" cap="none" strike="noStrike">
                <a:solidFill>
                  <a:srgbClr val="0B3C49"/>
                </a:solidFill>
                <a:latin typeface="Calibri"/>
                <a:ea typeface="Calibri"/>
                <a:cs typeface="Calibri"/>
                <a:sym typeface="Calibri"/>
              </a:rPr>
              <a:t>Close = similar communities</a:t>
            </a:r>
            <a:endParaRPr b="0" i="0" sz="1200" u="none" cap="none" strike="noStrike">
              <a:solidFill>
                <a:schemeClr val="dk1"/>
              </a:solidFill>
              <a:latin typeface="Calibri"/>
              <a:ea typeface="Calibri"/>
              <a:cs typeface="Calibri"/>
              <a:sym typeface="Calibri"/>
            </a:endParaRPr>
          </a:p>
        </p:txBody>
      </p:sp>
      <p:sp>
        <p:nvSpPr>
          <p:cNvPr id="459" name="Google Shape;459;p23"/>
          <p:cNvSpPr txBox="1"/>
          <p:nvPr/>
        </p:nvSpPr>
        <p:spPr>
          <a:xfrm>
            <a:off x="4754880" y="3703320"/>
            <a:ext cx="3749040" cy="27432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03C"/>
              </a:buClr>
              <a:buSzPts val="1200"/>
              <a:buFont typeface="Calibri"/>
              <a:buNone/>
            </a:pPr>
            <a:r>
              <a:rPr b="1" i="0" lang="en-US" sz="1200" u="none" cap="none" strike="noStrike">
                <a:solidFill>
                  <a:srgbClr val="E8603C"/>
                </a:solidFill>
                <a:latin typeface="Calibri"/>
                <a:ea typeface="Calibri"/>
                <a:cs typeface="Calibri"/>
                <a:sym typeface="Calibri"/>
              </a:rPr>
              <a:t>Far apart = different communities</a:t>
            </a:r>
            <a:endParaRPr b="0" i="0" sz="1200" u="none" cap="none" strike="noStrike">
              <a:solidFill>
                <a:schemeClr val="dk1"/>
              </a:solidFill>
              <a:latin typeface="Calibri"/>
              <a:ea typeface="Calibri"/>
              <a:cs typeface="Calibri"/>
              <a:sym typeface="Calibri"/>
            </a:endParaRPr>
          </a:p>
        </p:txBody>
      </p:sp>
      <p:sp>
        <p:nvSpPr>
          <p:cNvPr id="460" name="Google Shape;460;p23"/>
          <p:cNvSpPr txBox="1"/>
          <p:nvPr/>
        </p:nvSpPr>
        <p:spPr>
          <a:xfrm>
            <a:off x="4572000" y="4251960"/>
            <a:ext cx="4114800" cy="274320"/>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5E7278"/>
              </a:buClr>
              <a:buSzPts val="1000"/>
              <a:buFont typeface="Calibri"/>
              <a:buNone/>
            </a:pPr>
            <a:r>
              <a:rPr b="0" i="1" lang="en-US" sz="1000" u="none" cap="none" strike="noStrike">
                <a:solidFill>
                  <a:srgbClr val="5E7278"/>
                </a:solidFill>
                <a:latin typeface="Calibri"/>
                <a:ea typeface="Calibri"/>
                <a:cs typeface="Calibri"/>
                <a:sym typeface="Calibri"/>
              </a:rPr>
              <a:t>Illustrative diagram</a:t>
            </a:r>
            <a:endParaRPr b="0" i="0" sz="10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65" name="Shape 465"/>
        <p:cNvGrpSpPr/>
        <p:nvPr/>
      </p:nvGrpSpPr>
      <p:grpSpPr>
        <a:xfrm>
          <a:off x="0" y="0"/>
          <a:ext cx="0" cy="0"/>
          <a:chOff x="0" y="0"/>
          <a:chExt cx="0" cy="0"/>
        </a:xfrm>
      </p:grpSpPr>
      <p:sp>
        <p:nvSpPr>
          <p:cNvPr id="466" name="Google Shape;466;p24"/>
          <p:cNvSpPr txBox="1"/>
          <p:nvPr/>
        </p:nvSpPr>
        <p:spPr>
          <a:xfrm>
            <a:off x="457200" y="274320"/>
            <a:ext cx="694944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0B3C49"/>
              </a:buClr>
              <a:buSzPts val="2800"/>
              <a:buFont typeface="Cambria"/>
              <a:buNone/>
            </a:pPr>
            <a:r>
              <a:rPr b="1" i="0" lang="en-US" sz="2800" u="none" cap="none" strike="noStrike">
                <a:solidFill>
                  <a:srgbClr val="0B3C49"/>
                </a:solidFill>
                <a:latin typeface="Cambria"/>
                <a:ea typeface="Cambria"/>
                <a:cs typeface="Cambria"/>
                <a:sym typeface="Cambria"/>
              </a:rPr>
              <a:t>PCoA with phyloseq</a:t>
            </a:r>
            <a:endParaRPr b="0" i="0" sz="2800" u="none" cap="none" strike="noStrike">
              <a:solidFill>
                <a:schemeClr val="dk1"/>
              </a:solidFill>
              <a:latin typeface="Calibri"/>
              <a:ea typeface="Calibri"/>
              <a:cs typeface="Calibri"/>
              <a:sym typeface="Calibri"/>
            </a:endParaRPr>
          </a:p>
        </p:txBody>
      </p:sp>
      <p:sp>
        <p:nvSpPr>
          <p:cNvPr id="467" name="Google Shape;467;p24"/>
          <p:cNvSpPr/>
          <p:nvPr/>
        </p:nvSpPr>
        <p:spPr>
          <a:xfrm>
            <a:off x="7498080" y="411480"/>
            <a:ext cx="1188720" cy="384048"/>
          </a:xfrm>
          <a:prstGeom prst="roundRect">
            <a:avLst>
              <a:gd fmla="val 50000" name="adj"/>
            </a:avLst>
          </a:prstGeom>
          <a:solidFill>
            <a:srgbClr val="EAF3F1"/>
          </a:solidFill>
          <a:ln cap="flat" cmpd="sng" w="12700">
            <a:solidFill>
              <a:srgbClr val="EAF3F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8" name="Google Shape;468;p24"/>
          <p:cNvSpPr txBox="1"/>
          <p:nvPr/>
        </p:nvSpPr>
        <p:spPr>
          <a:xfrm>
            <a:off x="7498080" y="411480"/>
            <a:ext cx="1188720" cy="384048"/>
          </a:xfrm>
          <a:prstGeom prst="rect">
            <a:avLst/>
          </a:prstGeom>
          <a:noFill/>
          <a:ln>
            <a:noFill/>
          </a:ln>
        </p:spPr>
        <p:txBody>
          <a:bodyPr anchorCtr="0" anchor="ctr" bIns="0" lIns="0" spcFirstLastPara="1" rIns="0" wrap="square" tIns="0">
            <a:noAutofit/>
          </a:bodyPr>
          <a:lstStyle/>
          <a:p>
            <a:pPr indent="0" lvl="0" marL="0" marR="0" rtl="0" algn="ctr">
              <a:spcBef>
                <a:spcPts val="0"/>
              </a:spcBef>
              <a:spcAft>
                <a:spcPts val="0"/>
              </a:spcAft>
              <a:buClr>
                <a:srgbClr val="2E9C86"/>
              </a:buClr>
              <a:buSzPts val="1100"/>
              <a:buFont typeface="Calibri"/>
              <a:buNone/>
            </a:pPr>
            <a:r>
              <a:rPr b="1" i="0" lang="en-US" sz="1100" u="none" cap="none" strike="noStrike">
                <a:solidFill>
                  <a:srgbClr val="2E9C86"/>
                </a:solidFill>
                <a:latin typeface="Calibri"/>
                <a:ea typeface="Calibri"/>
                <a:cs typeface="Calibri"/>
                <a:sym typeface="Calibri"/>
              </a:rPr>
              <a:t>5 · Beta</a:t>
            </a:r>
            <a:endParaRPr b="0" i="0" sz="1100" u="none" cap="none" strike="noStrike">
              <a:solidFill>
                <a:schemeClr val="dk1"/>
              </a:solidFill>
              <a:latin typeface="Calibri"/>
              <a:ea typeface="Calibri"/>
              <a:cs typeface="Calibri"/>
              <a:sym typeface="Calibri"/>
            </a:endParaRPr>
          </a:p>
        </p:txBody>
      </p:sp>
      <p:sp>
        <p:nvSpPr>
          <p:cNvPr id="469" name="Google Shape;469;p24"/>
          <p:cNvSpPr/>
          <p:nvPr/>
        </p:nvSpPr>
        <p:spPr>
          <a:xfrm>
            <a:off x="457200" y="1143000"/>
            <a:ext cx="5577840" cy="3611880"/>
          </a:xfrm>
          <a:prstGeom prst="roundRect">
            <a:avLst>
              <a:gd fmla="val 3038" name="adj"/>
            </a:avLst>
          </a:prstGeom>
          <a:solidFill>
            <a:srgbClr val="15262D"/>
          </a:solidFill>
          <a:ln cap="flat" cmpd="sng" w="12700">
            <a:solidFill>
              <a:srgbClr val="15262D"/>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0" name="Google Shape;470;p24"/>
          <p:cNvSpPr txBox="1"/>
          <p:nvPr/>
        </p:nvSpPr>
        <p:spPr>
          <a:xfrm>
            <a:off x="548640" y="1234440"/>
            <a:ext cx="5394960" cy="3429000"/>
          </a:xfrm>
          <a:prstGeom prst="rect">
            <a:avLst/>
          </a:prstGeom>
          <a:noFill/>
          <a:ln>
            <a:noFill/>
          </a:ln>
        </p:spPr>
        <p:txBody>
          <a:bodyPr anchorCtr="0" anchor="t" bIns="1000" lIns="1000" spcFirstLastPara="1" rIns="1000" wrap="square" tIns="1000">
            <a:noAutofit/>
          </a:bodyPr>
          <a:lstStyle/>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pcoa &lt;- ordinate(ps, method = "PCoA",</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distance = "bray")</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plot_ordination(ps, pcoa, type = "samples",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color = "product")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geom_point(size = 4)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labs(title = "PCoA of Bray-Curtis distances",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subtitle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"Closer samples have more similar compositions",</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color = "Product") +</a:t>
            </a:r>
            <a:endParaRPr b="0" i="0" sz="1200" u="none" cap="none" strike="noStrike">
              <a:solidFill>
                <a:schemeClr val="dk1"/>
              </a:solidFill>
              <a:latin typeface="Calibri"/>
              <a:ea typeface="Calibri"/>
              <a:cs typeface="Calibri"/>
              <a:sym typeface="Calibri"/>
            </a:endParaRPr>
          </a:p>
          <a:p>
            <a:pPr indent="0" lvl="0" marL="0" marR="0" rtl="0" algn="l">
              <a:spcBef>
                <a:spcPts val="0"/>
              </a:spcBef>
              <a:spcAft>
                <a:spcPts val="0"/>
              </a:spcAft>
              <a:buClr>
                <a:srgbClr val="E6EEF0"/>
              </a:buClr>
              <a:buSzPts val="1200"/>
              <a:buFont typeface="Courier New"/>
              <a:buNone/>
            </a:pPr>
            <a:r>
              <a:rPr b="0" i="0" lang="en-US" sz="1200" u="none" cap="none" strike="noStrike">
                <a:solidFill>
                  <a:srgbClr val="E6EEF0"/>
                </a:solidFill>
                <a:latin typeface="Courier New"/>
                <a:ea typeface="Courier New"/>
                <a:cs typeface="Courier New"/>
                <a:sym typeface="Courier New"/>
              </a:rPr>
              <a:t>  theme_minimal()</a:t>
            </a:r>
            <a:endParaRPr b="0" i="0" sz="1200" u="none" cap="none" strike="noStrike">
              <a:solidFill>
                <a:schemeClr val="dk1"/>
              </a:solidFill>
              <a:latin typeface="Calibri"/>
              <a:ea typeface="Calibri"/>
              <a:cs typeface="Calibri"/>
              <a:sym typeface="Calibri"/>
            </a:endParaRPr>
          </a:p>
        </p:txBody>
      </p:sp>
      <p:sp>
        <p:nvSpPr>
          <p:cNvPr id="471" name="Google Shape;471;p24"/>
          <p:cNvSpPr/>
          <p:nvPr/>
        </p:nvSpPr>
        <p:spPr>
          <a:xfrm>
            <a:off x="6309360" y="1143000"/>
            <a:ext cx="2377440" cy="2011680"/>
          </a:xfrm>
          <a:prstGeom prst="roundRect">
            <a:avLst>
              <a:gd fmla="val 4545" name="adj"/>
            </a:avLst>
          </a:prstGeom>
          <a:solidFill>
            <a:srgbClr val="FDECE6"/>
          </a:solidFill>
          <a:ln cap="flat" cmpd="sng" w="12700">
            <a:solidFill>
              <a:srgbClr val="FDECE6"/>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2" name="Google Shape;472;p24"/>
          <p:cNvSpPr/>
          <p:nvPr/>
        </p:nvSpPr>
        <p:spPr>
          <a:xfrm>
            <a:off x="6446520" y="1280160"/>
            <a:ext cx="411480" cy="411480"/>
          </a:xfrm>
          <a:prstGeom prst="ellipse">
            <a:avLst/>
          </a:prstGeom>
          <a:solidFill>
            <a:srgbClr val="E8603C"/>
          </a:solidFill>
          <a:ln cap="flat" cmpd="sng" w="12700">
            <a:solidFill>
              <a:srgbClr val="E860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473" name="Google Shape;473;p24"/>
          <p:cNvPicPr preferRelativeResize="0"/>
          <p:nvPr/>
        </p:nvPicPr>
        <p:blipFill rotWithShape="1">
          <a:blip r:embed="rId3">
            <a:alphaModFix/>
          </a:blip>
          <a:srcRect b="0" l="0" r="0" t="0"/>
          <a:stretch/>
        </p:blipFill>
        <p:spPr>
          <a:xfrm>
            <a:off x="6553505" y="1387145"/>
            <a:ext cx="197510" cy="197510"/>
          </a:xfrm>
          <a:prstGeom prst="rect">
            <a:avLst/>
          </a:prstGeom>
          <a:noFill/>
          <a:ln>
            <a:noFill/>
          </a:ln>
        </p:spPr>
      </p:pic>
      <p:sp>
        <p:nvSpPr>
          <p:cNvPr id="474" name="Google Shape;474;p24"/>
          <p:cNvSpPr txBox="1"/>
          <p:nvPr/>
        </p:nvSpPr>
        <p:spPr>
          <a:xfrm>
            <a:off x="6949440" y="1280160"/>
            <a:ext cx="1645920" cy="41148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E8603C"/>
              </a:buClr>
              <a:buSzPts val="1500"/>
              <a:buFont typeface="Calibri"/>
              <a:buNone/>
            </a:pPr>
            <a:r>
              <a:rPr b="1" i="0" lang="en-US" sz="1500" u="none" cap="none" strike="noStrike">
                <a:solidFill>
                  <a:srgbClr val="E8603C"/>
                </a:solidFill>
                <a:latin typeface="Calibri"/>
                <a:ea typeface="Calibri"/>
                <a:cs typeface="Calibri"/>
                <a:sym typeface="Calibri"/>
              </a:rPr>
              <a:t>Question</a:t>
            </a:r>
            <a:endParaRPr b="0" i="0" sz="1500" u="none" cap="none" strike="noStrike">
              <a:solidFill>
                <a:schemeClr val="dk1"/>
              </a:solidFill>
              <a:latin typeface="Calibri"/>
              <a:ea typeface="Calibri"/>
              <a:cs typeface="Calibri"/>
              <a:sym typeface="Calibri"/>
            </a:endParaRPr>
          </a:p>
        </p:txBody>
      </p:sp>
      <p:sp>
        <p:nvSpPr>
          <p:cNvPr id="475" name="Google Shape;475;p24"/>
          <p:cNvSpPr txBox="1"/>
          <p:nvPr/>
        </p:nvSpPr>
        <p:spPr>
          <a:xfrm>
            <a:off x="6446520" y="1828800"/>
            <a:ext cx="2103120" cy="118872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1F2D33"/>
              </a:buClr>
              <a:buSzPts val="1400"/>
              <a:buFont typeface="Calibri"/>
              <a:buNone/>
            </a:pPr>
            <a:r>
              <a:rPr b="0" i="0" lang="en-US" sz="1400" u="none" cap="none" strike="noStrike">
                <a:solidFill>
                  <a:srgbClr val="1F2D33"/>
                </a:solidFill>
                <a:latin typeface="Calibri"/>
                <a:ea typeface="Calibri"/>
                <a:cs typeface="Calibri"/>
                <a:sym typeface="Calibri"/>
              </a:rPr>
              <a:t>Which samples are close and which are separated?</a:t>
            </a:r>
            <a:endParaRPr b="0" i="0" sz="1400" u="none" cap="none" strike="noStrike">
              <a:solidFill>
                <a:schemeClr val="dk1"/>
              </a:solidFill>
              <a:latin typeface="Calibri"/>
              <a:ea typeface="Calibri"/>
              <a:cs typeface="Calibri"/>
              <a:sym typeface="Calibri"/>
            </a:endParaRPr>
          </a:p>
        </p:txBody>
      </p:sp>
      <p:sp>
        <p:nvSpPr>
          <p:cNvPr id="476" name="Google Shape;476;p24"/>
          <p:cNvSpPr txBox="1"/>
          <p:nvPr/>
        </p:nvSpPr>
        <p:spPr>
          <a:xfrm>
            <a:off x="6309360" y="3383280"/>
            <a:ext cx="2377440" cy="91440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5E7278"/>
              </a:buClr>
              <a:buSzPts val="1250"/>
              <a:buFont typeface="Calibri"/>
              <a:buNone/>
            </a:pPr>
            <a:r>
              <a:rPr b="0" i="1" lang="en-US" sz="1250" u="none" cap="none" strike="noStrike">
                <a:solidFill>
                  <a:srgbClr val="5E7278"/>
                </a:solidFill>
                <a:latin typeface="Calibri"/>
                <a:ea typeface="Calibri"/>
                <a:cs typeface="Calibri"/>
                <a:sym typeface="Calibri"/>
              </a:rPr>
              <a:t>PCoA is a visualisation, not a statistical test.</a:t>
            </a:r>
            <a:endParaRPr b="0" i="0" sz="125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B3C49"/>
        </a:solidFill>
      </p:bgPr>
    </p:bg>
    <p:spTree>
      <p:nvGrpSpPr>
        <p:cNvPr id="481" name="Shape 481"/>
        <p:cNvGrpSpPr/>
        <p:nvPr/>
      </p:nvGrpSpPr>
      <p:grpSpPr>
        <a:xfrm>
          <a:off x="0" y="0"/>
          <a:ext cx="0" cy="0"/>
          <a:chOff x="0" y="0"/>
          <a:chExt cx="0" cy="0"/>
        </a:xfrm>
      </p:grpSpPr>
      <p:sp>
        <p:nvSpPr>
          <p:cNvPr id="482" name="Google Shape;482;p25"/>
          <p:cNvSpPr txBox="1"/>
          <p:nvPr/>
        </p:nvSpPr>
        <p:spPr>
          <a:xfrm>
            <a:off x="457200" y="320040"/>
            <a:ext cx="8229600" cy="6858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3200"/>
              <a:buFont typeface="Cambria"/>
              <a:buNone/>
            </a:pPr>
            <a:r>
              <a:rPr b="1" i="0" lang="en-US" sz="3200" u="none" cap="none" strike="noStrike">
                <a:solidFill>
                  <a:srgbClr val="FFFFFF"/>
                </a:solidFill>
                <a:latin typeface="Cambria"/>
                <a:ea typeface="Cambria"/>
                <a:cs typeface="Cambria"/>
                <a:sym typeface="Cambria"/>
              </a:rPr>
              <a:t>Take-home message</a:t>
            </a:r>
            <a:endParaRPr b="0" i="0" sz="3200" u="none" cap="none" strike="noStrike">
              <a:solidFill>
                <a:schemeClr val="dk1"/>
              </a:solidFill>
              <a:latin typeface="Calibri"/>
              <a:ea typeface="Calibri"/>
              <a:cs typeface="Calibri"/>
              <a:sym typeface="Calibri"/>
            </a:endParaRPr>
          </a:p>
        </p:txBody>
      </p:sp>
      <p:sp>
        <p:nvSpPr>
          <p:cNvPr id="483" name="Google Shape;483;p25"/>
          <p:cNvSpPr/>
          <p:nvPr/>
        </p:nvSpPr>
        <p:spPr>
          <a:xfrm>
            <a:off x="457200" y="1234440"/>
            <a:ext cx="2606040" cy="1600200"/>
          </a:xfrm>
          <a:prstGeom prst="roundRect">
            <a:avLst>
              <a:gd fmla="val 5714" name="adj"/>
            </a:avLst>
          </a:prstGeom>
          <a:solidFill>
            <a:srgbClr val="15525F"/>
          </a:solidFill>
          <a:ln cap="flat" cmpd="sng" w="12700">
            <a:solidFill>
              <a:srgbClr val="1552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25"/>
          <p:cNvSpPr txBox="1"/>
          <p:nvPr/>
        </p:nvSpPr>
        <p:spPr>
          <a:xfrm>
            <a:off x="640080" y="1371600"/>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D3C3"/>
              </a:buClr>
              <a:buSzPts val="2400"/>
              <a:buFont typeface="Cambria"/>
              <a:buNone/>
            </a:pPr>
            <a:r>
              <a:rPr b="1" i="0" lang="en-US" sz="2400" u="none" cap="none" strike="noStrike">
                <a:solidFill>
                  <a:srgbClr val="8FD3C3"/>
                </a:solidFill>
                <a:latin typeface="Cambria"/>
                <a:ea typeface="Cambria"/>
                <a:cs typeface="Cambria"/>
                <a:sym typeface="Cambria"/>
              </a:rPr>
              <a:t>1</a:t>
            </a:r>
            <a:endParaRPr b="0" i="0" sz="2400" u="none" cap="none" strike="noStrike">
              <a:solidFill>
                <a:schemeClr val="dk1"/>
              </a:solidFill>
              <a:latin typeface="Calibri"/>
              <a:ea typeface="Calibri"/>
              <a:cs typeface="Calibri"/>
              <a:sym typeface="Calibri"/>
            </a:endParaRPr>
          </a:p>
        </p:txBody>
      </p:sp>
      <p:sp>
        <p:nvSpPr>
          <p:cNvPr id="485" name="Google Shape;485;p25"/>
          <p:cNvSpPr txBox="1"/>
          <p:nvPr/>
        </p:nvSpPr>
        <p:spPr>
          <a:xfrm>
            <a:off x="640080" y="1828800"/>
            <a:ext cx="22402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Relative abundance</a:t>
            </a:r>
            <a:endParaRPr b="0" i="0" sz="1500" u="none" cap="none" strike="noStrike">
              <a:solidFill>
                <a:schemeClr val="dk1"/>
              </a:solidFill>
              <a:latin typeface="Calibri"/>
              <a:ea typeface="Calibri"/>
              <a:cs typeface="Calibri"/>
              <a:sym typeface="Calibri"/>
            </a:endParaRPr>
          </a:p>
        </p:txBody>
      </p:sp>
      <p:sp>
        <p:nvSpPr>
          <p:cNvPr id="486" name="Google Shape;486;p25"/>
          <p:cNvSpPr txBox="1"/>
          <p:nvPr/>
        </p:nvSpPr>
        <p:spPr>
          <a:xfrm>
            <a:off x="640080" y="2148840"/>
            <a:ext cx="224028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FE6E1"/>
              </a:buClr>
              <a:buSzPts val="1200"/>
              <a:buFont typeface="Calibri"/>
              <a:buNone/>
            </a:pPr>
            <a:r>
              <a:rPr b="0" i="0" lang="en-US" sz="1200" u="none" cap="none" strike="noStrike">
                <a:solidFill>
                  <a:srgbClr val="CFE6E1"/>
                </a:solidFill>
                <a:latin typeface="Calibri"/>
                <a:ea typeface="Calibri"/>
                <a:cs typeface="Calibri"/>
                <a:sym typeface="Calibri"/>
              </a:rPr>
              <a:t>The percentage occupied by one taxon</a:t>
            </a:r>
            <a:endParaRPr b="0" i="0" sz="1200" u="none" cap="none" strike="noStrike">
              <a:solidFill>
                <a:schemeClr val="dk1"/>
              </a:solidFill>
              <a:latin typeface="Calibri"/>
              <a:ea typeface="Calibri"/>
              <a:cs typeface="Calibri"/>
              <a:sym typeface="Calibri"/>
            </a:endParaRPr>
          </a:p>
        </p:txBody>
      </p:sp>
      <p:sp>
        <p:nvSpPr>
          <p:cNvPr id="487" name="Google Shape;487;p25"/>
          <p:cNvSpPr/>
          <p:nvPr/>
        </p:nvSpPr>
        <p:spPr>
          <a:xfrm>
            <a:off x="3246120" y="1234440"/>
            <a:ext cx="2606040" cy="1600200"/>
          </a:xfrm>
          <a:prstGeom prst="roundRect">
            <a:avLst>
              <a:gd fmla="val 5714" name="adj"/>
            </a:avLst>
          </a:prstGeom>
          <a:solidFill>
            <a:srgbClr val="15525F"/>
          </a:solidFill>
          <a:ln cap="flat" cmpd="sng" w="12700">
            <a:solidFill>
              <a:srgbClr val="1552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8" name="Google Shape;488;p25"/>
          <p:cNvSpPr txBox="1"/>
          <p:nvPr/>
        </p:nvSpPr>
        <p:spPr>
          <a:xfrm>
            <a:off x="3429000" y="1371600"/>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D3C3"/>
              </a:buClr>
              <a:buSzPts val="2400"/>
              <a:buFont typeface="Cambria"/>
              <a:buNone/>
            </a:pPr>
            <a:r>
              <a:rPr b="1" i="0" lang="en-US" sz="2400" u="none" cap="none" strike="noStrike">
                <a:solidFill>
                  <a:srgbClr val="8FD3C3"/>
                </a:solidFill>
                <a:latin typeface="Cambria"/>
                <a:ea typeface="Cambria"/>
                <a:cs typeface="Cambria"/>
                <a:sym typeface="Cambria"/>
              </a:rPr>
              <a:t>2</a:t>
            </a:r>
            <a:endParaRPr b="0" i="0" sz="2400" u="none" cap="none" strike="noStrike">
              <a:solidFill>
                <a:schemeClr val="dk1"/>
              </a:solidFill>
              <a:latin typeface="Calibri"/>
              <a:ea typeface="Calibri"/>
              <a:cs typeface="Calibri"/>
              <a:sym typeface="Calibri"/>
            </a:endParaRPr>
          </a:p>
        </p:txBody>
      </p:sp>
      <p:sp>
        <p:nvSpPr>
          <p:cNvPr id="489" name="Google Shape;489;p25"/>
          <p:cNvSpPr txBox="1"/>
          <p:nvPr/>
        </p:nvSpPr>
        <p:spPr>
          <a:xfrm>
            <a:off x="3429000" y="1828800"/>
            <a:ext cx="22402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t-test</a:t>
            </a:r>
            <a:endParaRPr b="0" i="0" sz="1500" u="none" cap="none" strike="noStrike">
              <a:solidFill>
                <a:schemeClr val="dk1"/>
              </a:solidFill>
              <a:latin typeface="Calibri"/>
              <a:ea typeface="Calibri"/>
              <a:cs typeface="Calibri"/>
              <a:sym typeface="Calibri"/>
            </a:endParaRPr>
          </a:p>
        </p:txBody>
      </p:sp>
      <p:sp>
        <p:nvSpPr>
          <p:cNvPr id="490" name="Google Shape;490;p25"/>
          <p:cNvSpPr txBox="1"/>
          <p:nvPr/>
        </p:nvSpPr>
        <p:spPr>
          <a:xfrm>
            <a:off x="3429000" y="2148840"/>
            <a:ext cx="224028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FE6E1"/>
              </a:buClr>
              <a:buSzPts val="1200"/>
              <a:buFont typeface="Calibri"/>
              <a:buNone/>
            </a:pPr>
            <a:r>
              <a:rPr b="0" i="0" lang="en-US" sz="1200" u="none" cap="none" strike="noStrike">
                <a:solidFill>
                  <a:srgbClr val="CFE6E1"/>
                </a:solidFill>
                <a:latin typeface="Calibri"/>
                <a:ea typeface="Calibri"/>
                <a:cs typeface="Calibri"/>
                <a:sym typeface="Calibri"/>
              </a:rPr>
              <a:t>Compares one numerical variable between two groups</a:t>
            </a:r>
            <a:endParaRPr b="0" i="0" sz="1200" u="none" cap="none" strike="noStrike">
              <a:solidFill>
                <a:schemeClr val="dk1"/>
              </a:solidFill>
              <a:latin typeface="Calibri"/>
              <a:ea typeface="Calibri"/>
              <a:cs typeface="Calibri"/>
              <a:sym typeface="Calibri"/>
            </a:endParaRPr>
          </a:p>
        </p:txBody>
      </p:sp>
      <p:sp>
        <p:nvSpPr>
          <p:cNvPr id="491" name="Google Shape;491;p25"/>
          <p:cNvSpPr/>
          <p:nvPr/>
        </p:nvSpPr>
        <p:spPr>
          <a:xfrm>
            <a:off x="6035040" y="1234440"/>
            <a:ext cx="2606040" cy="1600200"/>
          </a:xfrm>
          <a:prstGeom prst="roundRect">
            <a:avLst>
              <a:gd fmla="val 5714" name="adj"/>
            </a:avLst>
          </a:prstGeom>
          <a:solidFill>
            <a:srgbClr val="15525F"/>
          </a:solidFill>
          <a:ln cap="flat" cmpd="sng" w="12700">
            <a:solidFill>
              <a:srgbClr val="1552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2" name="Google Shape;492;p25"/>
          <p:cNvSpPr txBox="1"/>
          <p:nvPr/>
        </p:nvSpPr>
        <p:spPr>
          <a:xfrm>
            <a:off x="6217920" y="1371600"/>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D3C3"/>
              </a:buClr>
              <a:buSzPts val="2400"/>
              <a:buFont typeface="Cambria"/>
              <a:buNone/>
            </a:pPr>
            <a:r>
              <a:rPr b="1" i="0" lang="en-US" sz="2400" u="none" cap="none" strike="noStrike">
                <a:solidFill>
                  <a:srgbClr val="8FD3C3"/>
                </a:solidFill>
                <a:latin typeface="Cambria"/>
                <a:ea typeface="Cambria"/>
                <a:cs typeface="Cambria"/>
                <a:sym typeface="Cambria"/>
              </a:rPr>
              <a:t>3</a:t>
            </a:r>
            <a:endParaRPr b="0" i="0" sz="2400" u="none" cap="none" strike="noStrike">
              <a:solidFill>
                <a:schemeClr val="dk1"/>
              </a:solidFill>
              <a:latin typeface="Calibri"/>
              <a:ea typeface="Calibri"/>
              <a:cs typeface="Calibri"/>
              <a:sym typeface="Calibri"/>
            </a:endParaRPr>
          </a:p>
        </p:txBody>
      </p:sp>
      <p:sp>
        <p:nvSpPr>
          <p:cNvPr id="493" name="Google Shape;493;p25"/>
          <p:cNvSpPr txBox="1"/>
          <p:nvPr/>
        </p:nvSpPr>
        <p:spPr>
          <a:xfrm>
            <a:off x="6217920" y="1828800"/>
            <a:ext cx="22402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Composition</a:t>
            </a:r>
            <a:endParaRPr b="0" i="0" sz="1500" u="none" cap="none" strike="noStrike">
              <a:solidFill>
                <a:schemeClr val="dk1"/>
              </a:solidFill>
              <a:latin typeface="Calibri"/>
              <a:ea typeface="Calibri"/>
              <a:cs typeface="Calibri"/>
              <a:sym typeface="Calibri"/>
            </a:endParaRPr>
          </a:p>
        </p:txBody>
      </p:sp>
      <p:sp>
        <p:nvSpPr>
          <p:cNvPr id="494" name="Google Shape;494;p25"/>
          <p:cNvSpPr txBox="1"/>
          <p:nvPr/>
        </p:nvSpPr>
        <p:spPr>
          <a:xfrm>
            <a:off x="6217920" y="2148840"/>
            <a:ext cx="224028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FE6E1"/>
              </a:buClr>
              <a:buSzPts val="1200"/>
              <a:buFont typeface="Calibri"/>
              <a:buNone/>
            </a:pPr>
            <a:r>
              <a:rPr b="0" i="0" lang="en-US" sz="1200" u="none" cap="none" strike="noStrike">
                <a:solidFill>
                  <a:srgbClr val="CFE6E1"/>
                </a:solidFill>
                <a:latin typeface="Calibri"/>
                <a:ea typeface="Calibri"/>
                <a:cs typeface="Calibri"/>
                <a:sym typeface="Calibri"/>
              </a:rPr>
              <a:t>Can be shown at different taxonomic ranks</a:t>
            </a:r>
            <a:endParaRPr b="0" i="0" sz="1200" u="none" cap="none" strike="noStrike">
              <a:solidFill>
                <a:schemeClr val="dk1"/>
              </a:solidFill>
              <a:latin typeface="Calibri"/>
              <a:ea typeface="Calibri"/>
              <a:cs typeface="Calibri"/>
              <a:sym typeface="Calibri"/>
            </a:endParaRPr>
          </a:p>
        </p:txBody>
      </p:sp>
      <p:sp>
        <p:nvSpPr>
          <p:cNvPr id="495" name="Google Shape;495;p25"/>
          <p:cNvSpPr/>
          <p:nvPr/>
        </p:nvSpPr>
        <p:spPr>
          <a:xfrm>
            <a:off x="457200" y="3063240"/>
            <a:ext cx="2606040" cy="1600200"/>
          </a:xfrm>
          <a:prstGeom prst="roundRect">
            <a:avLst>
              <a:gd fmla="val 5714" name="adj"/>
            </a:avLst>
          </a:prstGeom>
          <a:solidFill>
            <a:srgbClr val="15525F"/>
          </a:solidFill>
          <a:ln cap="flat" cmpd="sng" w="12700">
            <a:solidFill>
              <a:srgbClr val="1552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6" name="Google Shape;496;p25"/>
          <p:cNvSpPr txBox="1"/>
          <p:nvPr/>
        </p:nvSpPr>
        <p:spPr>
          <a:xfrm>
            <a:off x="640080" y="3200400"/>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D3C3"/>
              </a:buClr>
              <a:buSzPts val="2400"/>
              <a:buFont typeface="Cambria"/>
              <a:buNone/>
            </a:pPr>
            <a:r>
              <a:rPr b="1" i="0" lang="en-US" sz="2400" u="none" cap="none" strike="noStrike">
                <a:solidFill>
                  <a:srgbClr val="8FD3C3"/>
                </a:solidFill>
                <a:latin typeface="Cambria"/>
                <a:ea typeface="Cambria"/>
                <a:cs typeface="Cambria"/>
                <a:sym typeface="Cambria"/>
              </a:rPr>
              <a:t>4</a:t>
            </a:r>
            <a:endParaRPr b="0" i="0" sz="2400" u="none" cap="none" strike="noStrike">
              <a:solidFill>
                <a:schemeClr val="dk1"/>
              </a:solidFill>
              <a:latin typeface="Calibri"/>
              <a:ea typeface="Calibri"/>
              <a:cs typeface="Calibri"/>
              <a:sym typeface="Calibri"/>
            </a:endParaRPr>
          </a:p>
        </p:txBody>
      </p:sp>
      <p:sp>
        <p:nvSpPr>
          <p:cNvPr id="497" name="Google Shape;497;p25"/>
          <p:cNvSpPr txBox="1"/>
          <p:nvPr/>
        </p:nvSpPr>
        <p:spPr>
          <a:xfrm>
            <a:off x="640080" y="3657600"/>
            <a:ext cx="22402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Alpha diversity</a:t>
            </a:r>
            <a:endParaRPr b="0" i="0" sz="1500" u="none" cap="none" strike="noStrike">
              <a:solidFill>
                <a:schemeClr val="dk1"/>
              </a:solidFill>
              <a:latin typeface="Calibri"/>
              <a:ea typeface="Calibri"/>
              <a:cs typeface="Calibri"/>
              <a:sym typeface="Calibri"/>
            </a:endParaRPr>
          </a:p>
        </p:txBody>
      </p:sp>
      <p:sp>
        <p:nvSpPr>
          <p:cNvPr id="498" name="Google Shape;498;p25"/>
          <p:cNvSpPr txBox="1"/>
          <p:nvPr/>
        </p:nvSpPr>
        <p:spPr>
          <a:xfrm>
            <a:off x="640080" y="3977640"/>
            <a:ext cx="224028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FE6E1"/>
              </a:buClr>
              <a:buSzPts val="1200"/>
              <a:buFont typeface="Calibri"/>
              <a:buNone/>
            </a:pPr>
            <a:r>
              <a:rPr b="0" i="0" lang="en-US" sz="1200" u="none" cap="none" strike="noStrike">
                <a:solidFill>
                  <a:srgbClr val="CFE6E1"/>
                </a:solidFill>
                <a:latin typeface="Calibri"/>
                <a:ea typeface="Calibri"/>
                <a:cs typeface="Calibri"/>
                <a:sym typeface="Calibri"/>
              </a:rPr>
              <a:t>Describes one sample</a:t>
            </a:r>
            <a:endParaRPr b="0" i="0" sz="1200" u="none" cap="none" strike="noStrike">
              <a:solidFill>
                <a:schemeClr val="dk1"/>
              </a:solidFill>
              <a:latin typeface="Calibri"/>
              <a:ea typeface="Calibri"/>
              <a:cs typeface="Calibri"/>
              <a:sym typeface="Calibri"/>
            </a:endParaRPr>
          </a:p>
        </p:txBody>
      </p:sp>
      <p:sp>
        <p:nvSpPr>
          <p:cNvPr id="499" name="Google Shape;499;p25"/>
          <p:cNvSpPr/>
          <p:nvPr/>
        </p:nvSpPr>
        <p:spPr>
          <a:xfrm>
            <a:off x="3246120" y="3063240"/>
            <a:ext cx="2606040" cy="1600200"/>
          </a:xfrm>
          <a:prstGeom prst="roundRect">
            <a:avLst>
              <a:gd fmla="val 5714" name="adj"/>
            </a:avLst>
          </a:prstGeom>
          <a:solidFill>
            <a:srgbClr val="15525F"/>
          </a:solidFill>
          <a:ln cap="flat" cmpd="sng" w="12700">
            <a:solidFill>
              <a:srgbClr val="15525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0" name="Google Shape;500;p25"/>
          <p:cNvSpPr txBox="1"/>
          <p:nvPr/>
        </p:nvSpPr>
        <p:spPr>
          <a:xfrm>
            <a:off x="3429000" y="3200400"/>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8FD3C3"/>
              </a:buClr>
              <a:buSzPts val="2400"/>
              <a:buFont typeface="Cambria"/>
              <a:buNone/>
            </a:pPr>
            <a:r>
              <a:rPr b="1" i="0" lang="en-US" sz="2400" u="none" cap="none" strike="noStrike">
                <a:solidFill>
                  <a:srgbClr val="8FD3C3"/>
                </a:solidFill>
                <a:latin typeface="Cambria"/>
                <a:ea typeface="Cambria"/>
                <a:cs typeface="Cambria"/>
                <a:sym typeface="Cambria"/>
              </a:rPr>
              <a:t>5</a:t>
            </a:r>
            <a:endParaRPr b="0" i="0" sz="2400" u="none" cap="none" strike="noStrike">
              <a:solidFill>
                <a:schemeClr val="dk1"/>
              </a:solidFill>
              <a:latin typeface="Calibri"/>
              <a:ea typeface="Calibri"/>
              <a:cs typeface="Calibri"/>
              <a:sym typeface="Calibri"/>
            </a:endParaRPr>
          </a:p>
        </p:txBody>
      </p:sp>
      <p:sp>
        <p:nvSpPr>
          <p:cNvPr id="501" name="Google Shape;501;p25"/>
          <p:cNvSpPr txBox="1"/>
          <p:nvPr/>
        </p:nvSpPr>
        <p:spPr>
          <a:xfrm>
            <a:off x="3429000" y="3657600"/>
            <a:ext cx="22402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Beta diversity</a:t>
            </a:r>
            <a:endParaRPr b="0" i="0" sz="1500" u="none" cap="none" strike="noStrike">
              <a:solidFill>
                <a:schemeClr val="dk1"/>
              </a:solidFill>
              <a:latin typeface="Calibri"/>
              <a:ea typeface="Calibri"/>
              <a:cs typeface="Calibri"/>
              <a:sym typeface="Calibri"/>
            </a:endParaRPr>
          </a:p>
        </p:txBody>
      </p:sp>
      <p:sp>
        <p:nvSpPr>
          <p:cNvPr id="502" name="Google Shape;502;p25"/>
          <p:cNvSpPr txBox="1"/>
          <p:nvPr/>
        </p:nvSpPr>
        <p:spPr>
          <a:xfrm>
            <a:off x="3429000" y="3977640"/>
            <a:ext cx="224028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CFE6E1"/>
              </a:buClr>
              <a:buSzPts val="1200"/>
              <a:buFont typeface="Calibri"/>
              <a:buNone/>
            </a:pPr>
            <a:r>
              <a:rPr b="0" i="0" lang="en-US" sz="1200" u="none" cap="none" strike="noStrike">
                <a:solidFill>
                  <a:srgbClr val="CFE6E1"/>
                </a:solidFill>
                <a:latin typeface="Calibri"/>
                <a:ea typeface="Calibri"/>
                <a:cs typeface="Calibri"/>
                <a:sym typeface="Calibri"/>
              </a:rPr>
              <a:t>Compares complete communities between samples</a:t>
            </a:r>
            <a:endParaRPr b="0" i="0" sz="1200" u="none" cap="none" strike="noStrike">
              <a:solidFill>
                <a:schemeClr val="dk1"/>
              </a:solidFill>
              <a:latin typeface="Calibri"/>
              <a:ea typeface="Calibri"/>
              <a:cs typeface="Calibri"/>
              <a:sym typeface="Calibri"/>
            </a:endParaRPr>
          </a:p>
        </p:txBody>
      </p:sp>
      <p:sp>
        <p:nvSpPr>
          <p:cNvPr id="503" name="Google Shape;503;p25"/>
          <p:cNvSpPr/>
          <p:nvPr/>
        </p:nvSpPr>
        <p:spPr>
          <a:xfrm>
            <a:off x="6035040" y="3063240"/>
            <a:ext cx="2606040" cy="1600200"/>
          </a:xfrm>
          <a:prstGeom prst="roundRect">
            <a:avLst>
              <a:gd fmla="val 5714" name="adj"/>
            </a:avLst>
          </a:prstGeom>
          <a:solidFill>
            <a:srgbClr val="E8603C"/>
          </a:solidFill>
          <a:ln cap="flat" cmpd="sng" w="12700">
            <a:solidFill>
              <a:srgbClr val="E8603C"/>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25"/>
          <p:cNvSpPr txBox="1"/>
          <p:nvPr/>
        </p:nvSpPr>
        <p:spPr>
          <a:xfrm>
            <a:off x="6217920" y="3200400"/>
            <a:ext cx="457200" cy="45720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2400"/>
              <a:buFont typeface="Cambria"/>
              <a:buNone/>
            </a:pPr>
            <a:r>
              <a:rPr b="1" i="0" lang="en-US" sz="2400" u="none" cap="none" strike="noStrike">
                <a:solidFill>
                  <a:srgbClr val="FFFFFF"/>
                </a:solidFill>
                <a:latin typeface="Cambria"/>
                <a:ea typeface="Cambria"/>
                <a:cs typeface="Cambria"/>
                <a:sym typeface="Cambria"/>
              </a:rPr>
              <a:t>6</a:t>
            </a:r>
            <a:endParaRPr b="0" i="0" sz="2400" u="none" cap="none" strike="noStrike">
              <a:solidFill>
                <a:schemeClr val="dk1"/>
              </a:solidFill>
              <a:latin typeface="Calibri"/>
              <a:ea typeface="Calibri"/>
              <a:cs typeface="Calibri"/>
              <a:sym typeface="Calibri"/>
            </a:endParaRPr>
          </a:p>
        </p:txBody>
      </p:sp>
      <p:sp>
        <p:nvSpPr>
          <p:cNvPr id="505" name="Google Shape;505;p25"/>
          <p:cNvSpPr txBox="1"/>
          <p:nvPr/>
        </p:nvSpPr>
        <p:spPr>
          <a:xfrm>
            <a:off x="6217920" y="3657600"/>
            <a:ext cx="2240280" cy="320040"/>
          </a:xfrm>
          <a:prstGeom prst="rect">
            <a:avLst/>
          </a:prstGeom>
          <a:noFill/>
          <a:ln>
            <a:noFill/>
          </a:ln>
        </p:spPr>
        <p:txBody>
          <a:bodyPr anchorCtr="0" anchor="ctr" bIns="0" lIns="0" spcFirstLastPara="1" rIns="0" wrap="square" tIns="0">
            <a:noAutofit/>
          </a:bodyPr>
          <a:lstStyle/>
          <a:p>
            <a:pPr indent="0" lvl="0" marL="0" marR="0" rtl="0" algn="l">
              <a:spcBef>
                <a:spcPts val="0"/>
              </a:spcBef>
              <a:spcAft>
                <a:spcPts val="0"/>
              </a:spcAft>
              <a:buClr>
                <a:srgbClr val="FFFFFF"/>
              </a:buClr>
              <a:buSzPts val="1500"/>
              <a:buFont typeface="Calibri"/>
              <a:buNone/>
            </a:pPr>
            <a:r>
              <a:rPr b="1" i="0" lang="en-US" sz="1500" u="none" cap="none" strike="noStrike">
                <a:solidFill>
                  <a:srgbClr val="FFFFFF"/>
                </a:solidFill>
                <a:latin typeface="Calibri"/>
                <a:ea typeface="Calibri"/>
                <a:cs typeface="Calibri"/>
                <a:sym typeface="Calibri"/>
              </a:rPr>
              <a:t>Caution</a:t>
            </a:r>
            <a:endParaRPr b="0" i="0" sz="1500" u="none" cap="none" strike="noStrike">
              <a:solidFill>
                <a:schemeClr val="dk1"/>
              </a:solidFill>
              <a:latin typeface="Calibri"/>
              <a:ea typeface="Calibri"/>
              <a:cs typeface="Calibri"/>
              <a:sym typeface="Calibri"/>
            </a:endParaRPr>
          </a:p>
        </p:txBody>
      </p:sp>
      <p:sp>
        <p:nvSpPr>
          <p:cNvPr id="506" name="Google Shape;506;p25"/>
          <p:cNvSpPr txBox="1"/>
          <p:nvPr/>
        </p:nvSpPr>
        <p:spPr>
          <a:xfrm>
            <a:off x="6217920" y="3977640"/>
            <a:ext cx="2240280" cy="594360"/>
          </a:xfrm>
          <a:prstGeom prst="rect">
            <a:avLst/>
          </a:prstGeom>
          <a:noFill/>
          <a:ln>
            <a:noFill/>
          </a:ln>
        </p:spPr>
        <p:txBody>
          <a:bodyPr anchorCtr="0" anchor="t" bIns="0" lIns="0" spcFirstLastPara="1" rIns="0" wrap="square" tIns="0">
            <a:noAutofit/>
          </a:bodyPr>
          <a:lstStyle/>
          <a:p>
            <a:pPr indent="0" lvl="0" marL="0" marR="0" rtl="0" algn="l">
              <a:spcBef>
                <a:spcPts val="0"/>
              </a:spcBef>
              <a:spcAft>
                <a:spcPts val="0"/>
              </a:spcAft>
              <a:buClr>
                <a:srgbClr val="FFFFFF"/>
              </a:buClr>
              <a:buSzPts val="1200"/>
              <a:buFont typeface="Calibri"/>
              <a:buNone/>
            </a:pPr>
            <a:r>
              <a:rPr b="0" i="0" lang="en-US" sz="1200" u="none" cap="none" strike="noStrike">
                <a:solidFill>
                  <a:srgbClr val="FFFFFF"/>
                </a:solidFill>
                <a:latin typeface="Calibri"/>
                <a:ea typeface="Calibri"/>
                <a:cs typeface="Calibri"/>
                <a:sym typeface="Calibri"/>
              </a:rPr>
              <a:t>With two replicates per group, the results are exploratory</a:t>
            </a:r>
            <a:endParaRPr b="0" i="0" sz="1200"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2026-09-16T06:30:56Z</dcterms:created>
  <dc:creator>PptxGenJS</dc:creator>
</cp:coreProperties>
</file>
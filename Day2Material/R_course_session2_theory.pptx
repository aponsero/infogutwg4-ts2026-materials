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89" r:id="rId14"/>
    <p:sldId id="269" r:id="rId15"/>
    <p:sldId id="270" r:id="rId16"/>
    <p:sldId id="271" r:id="rId17"/>
    <p:sldId id="272" r:id="rId18"/>
    <p:sldId id="287" r:id="rId19"/>
    <p:sldId id="288" r:id="rId20"/>
    <p:sldId id="274" r:id="rId21"/>
    <p:sldId id="286" r:id="rId22"/>
    <p:sldId id="275" r:id="rId23"/>
    <p:sldId id="276" r:id="rId24"/>
    <p:sldId id="277" r:id="rId25"/>
    <p:sldId id="283" r:id="rId26"/>
    <p:sldId id="285" r:id="rId27"/>
    <p:sldId id="282" r:id="rId2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jPmmv4x5zkAMc50skMZ/4zlt3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" name="Google Shape;2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" name="Google Shape;7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i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63CC17E3-DA08-A031-8FF6-160C762E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:notes">
            <a:extLst>
              <a:ext uri="{FF2B5EF4-FFF2-40B4-BE49-F238E27FC236}">
                <a16:creationId xmlns:a16="http://schemas.microsoft.com/office/drawing/2014/main" id="{65169620-E40D-0E47-186F-DC99895F9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26:notes">
            <a:extLst>
              <a:ext uri="{FF2B5EF4-FFF2-40B4-BE49-F238E27FC236}">
                <a16:creationId xmlns:a16="http://schemas.microsoft.com/office/drawing/2014/main" id="{529A397B-614B-57CE-9104-F54C32400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p26:notes">
            <a:extLst>
              <a:ext uri="{FF2B5EF4-FFF2-40B4-BE49-F238E27FC236}">
                <a16:creationId xmlns:a16="http://schemas.microsoft.com/office/drawing/2014/main" id="{55A1C8E2-06D6-5F07-F214-1173D3327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75055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>
          <a:extLst>
            <a:ext uri="{FF2B5EF4-FFF2-40B4-BE49-F238E27FC236}">
              <a16:creationId xmlns:a16="http://schemas.microsoft.com/office/drawing/2014/main" id="{C3557707-AED2-6DBE-EFBD-58F7D56C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:notes">
            <a:extLst>
              <a:ext uri="{FF2B5EF4-FFF2-40B4-BE49-F238E27FC236}">
                <a16:creationId xmlns:a16="http://schemas.microsoft.com/office/drawing/2014/main" id="{B6DF096E-9E20-25BC-C59D-6CFB64AD7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26:notes">
            <a:extLst>
              <a:ext uri="{FF2B5EF4-FFF2-40B4-BE49-F238E27FC236}">
                <a16:creationId xmlns:a16="http://schemas.microsoft.com/office/drawing/2014/main" id="{F6679EDE-461E-2312-6518-420BDECC0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p26:notes">
            <a:extLst>
              <a:ext uri="{FF2B5EF4-FFF2-40B4-BE49-F238E27FC236}">
                <a16:creationId xmlns:a16="http://schemas.microsoft.com/office/drawing/2014/main" id="{564EEA46-82EE-7918-220D-F433A7D430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960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9" name="Google Shape;549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1417320"/>
            <a:ext cx="2377440" cy="475488"/>
          </a:xfrm>
          <a:prstGeom prst="roundRect">
            <a:avLst>
              <a:gd name="adj" fmla="val 19231"/>
            </a:avLst>
          </a:prstGeom>
          <a:solidFill>
            <a:srgbClr val="40916C"/>
          </a:solidFill>
          <a:ln w="12700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85800" y="141732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85800" y="2103120"/>
            <a:ext cx="1081735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Handling tables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85800" y="3063240"/>
            <a:ext cx="9902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dplyr      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685800" y="3886200"/>
            <a:ext cx="2926080" cy="0"/>
          </a:xfrm>
          <a:prstGeom prst="straightConnector1">
            <a:avLst/>
          </a:prstGeom>
          <a:noFill/>
          <a:ln w="381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1"/>
          <p:cNvSpPr txBox="1"/>
          <p:nvPr/>
        </p:nvSpPr>
        <p:spPr>
          <a:xfrm>
            <a:off x="685800" y="41148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Same data as last time. Now we make it talk.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Getting started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85800" y="1417320"/>
            <a:ext cx="10817352" cy="1862328"/>
          </a:xfrm>
          <a:prstGeom prst="roundRect">
            <a:avLst>
              <a:gd name="adj" fmla="val 2946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886968" y="1581912"/>
            <a:ext cx="10415016" cy="153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# install.packages("dplyr")</a:t>
            </a: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only the very first time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library(dplyr)</a:t>
            </a: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every session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acids   &lt;- read.csv("input/acids.csv")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483102" y="3520440"/>
            <a:ext cx="5225796" cy="1371600"/>
          </a:xfrm>
          <a:prstGeom prst="roundRect">
            <a:avLst>
              <a:gd name="adj" fmla="val 3333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3684270" y="368503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acids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3684270" y="4050792"/>
            <a:ext cx="48234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6 rows and 9 columns. One row per vessel: the six organic acids measured once in each.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5800" y="512064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DF1EC"/>
          </a:solidFill>
          <a:ln w="9525" cap="flat" cmpd="sng">
            <a:solidFill>
              <a:srgbClr val="F3C9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886968" y="519379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Install once, load every session. If library(dplyr) fails, the package is not installed on this machine.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1. DPLYR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six verbs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85800" y="141732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914400" y="1581912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914400" y="19202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picks ROWS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914400" y="219456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trims the table vertically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383024" y="141732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4611624" y="1581912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select()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611624" y="19202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picks COLUMNS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4611624" y="219456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trims the table horizontally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080248" y="141732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8308848" y="1581912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arrange()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8308848" y="19202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SORTS the rows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8308848" y="219456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same table, different order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85800" y="283464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914400" y="2999232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mutate()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914400" y="333756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ADDS a column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914400" y="361188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computed from the others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383024" y="283464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4611624" y="2999232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summarise()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4611624" y="333756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REDUCES to one number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4611624" y="361188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many rows become one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080248" y="2834640"/>
            <a:ext cx="342290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8308848" y="2999232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group_by()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8308848" y="333756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does it PER GROUP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8308848" y="3611880"/>
            <a:ext cx="29657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makes summarise work by group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85800" y="438912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1051560" y="4389120"/>
            <a:ext cx="1008583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They are all written the same way, and the first argument is ALWAYS the table:      verb(table, what_I_want)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2. FILTER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filter(): picking rows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You give it a condition. It keeps the rows that meet it and touches nothing else.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85800" y="1828800"/>
            <a:ext cx="6057717" cy="1566672"/>
          </a:xfrm>
          <a:prstGeom prst="roundRect">
            <a:avLst>
              <a:gd name="adj" fmla="val 3502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886968" y="1993392"/>
            <a:ext cx="5655381" cy="1497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# keep only the rows of product B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filter(acids, product == "B")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6 rows -&gt; 2 remain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filter(acids, butyric &gt; 1000)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6 rows -&gt; 3 remain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176211" y="1828800"/>
            <a:ext cx="4326941" cy="1234440"/>
          </a:xfrm>
          <a:prstGeom prst="roundRect">
            <a:avLst>
              <a:gd name="adj" fmla="val 3704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7377379" y="1993392"/>
            <a:ext cx="3924605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columns stay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7377379" y="2359152"/>
            <a:ext cx="3924605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Every column is still there. Only the number of rows changes.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176211" y="3200400"/>
            <a:ext cx="4326941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7377379" y="3364992"/>
            <a:ext cx="3924605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It does not save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7377379" y="3730752"/>
            <a:ext cx="3924605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It shows the result. To keep it you need  &lt;-  , as always.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85800" y="475488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DF1EC"/>
          </a:solidFill>
          <a:ln w="9525" cap="flat" cmpd="sng">
            <a:solidFill>
              <a:srgbClr val="F3C9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886968" y="482803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To compare you write a DOUBLE equals sign  ==  . A single  =  means something else entirely.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Your first filter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85800" y="1828800"/>
            <a:ext cx="10817352" cy="1252728"/>
          </a:xfrm>
          <a:prstGeom prst="roundRect">
            <a:avLst>
              <a:gd name="adj" fmla="val 3650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1005840" y="2121408"/>
            <a:ext cx="1017727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a) Keep only the Control rows of  acids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b) Now with a number: keep the rows whose acetic acid is above 3000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685800" y="3264408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85800" y="3648456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685800" y="3721608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685800" y="4032504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picks rows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511552" y="3648456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2511552" y="3721608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2511552" y="4032504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is equal 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685800" y="4855464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3. SELECT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select(): picking columns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opposite of filter(). All the rows are kept; you choose which columns to see.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85800" y="1828800"/>
            <a:ext cx="6057717" cy="1566672"/>
          </a:xfrm>
          <a:prstGeom prst="roundRect">
            <a:avLst>
              <a:gd name="adj" fmla="val 3502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886968" y="1993392"/>
            <a:ext cx="5655381" cy="1497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# keep just two columns: sample and butyric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select(acids, sample, butyric)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6 rows, but 2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select(acids, -formic)</a:t>
            </a: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a minus REMOVES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select(acids, formic:citric)</a:t>
            </a: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a range of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7176211" y="1828800"/>
            <a:ext cx="4326941" cy="1234440"/>
          </a:xfrm>
          <a:prstGeom prst="roundRect">
            <a:avLst>
              <a:gd name="adj" fmla="val 3704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7377379" y="1993392"/>
            <a:ext cx="3924605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No quotes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7377379" y="2359152"/>
            <a:ext cx="3924605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Column names are written bare, without quotation marks.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7176211" y="3200400"/>
            <a:ext cx="4326941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7377379" y="3364992"/>
            <a:ext cx="3924605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Order matters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7377379" y="3730752"/>
            <a:ext cx="3924605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columns come out in the order you asked for them.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685800" y="4754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filter trims vertically, select trims horizontally. Between the two you can reach any part of a table.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Choosing columns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685800" y="1828800"/>
            <a:ext cx="10817352" cy="1252728"/>
          </a:xfrm>
          <a:prstGeom prst="roundRect">
            <a:avLst>
              <a:gd name="adj" fmla="val 3650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1005840" y="2121408"/>
            <a:ext cx="1017727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a) Keep only the columns  sample,  product  and  acetic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b) Now the reverse: show every column EXCEPT propionic (the minus sign)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685800" y="3264408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685800" y="3648456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685800" y="3721608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select()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685800" y="4032504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picks columns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685800" y="4855464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4. ARRANGE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arrange(): sorting the rows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It removes nothing and adds nothing. It only changes the order.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85800" y="1828800"/>
            <a:ext cx="10817352" cy="1000760"/>
          </a:xfrm>
          <a:prstGeom prst="roundRect">
            <a:avLst>
              <a:gd name="adj" fmla="val 5482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886968" y="1993392"/>
            <a:ext cx="10415016" cy="93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# sort the samples by butyric acid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arrange(acids, butyric)</a:t>
            </a:r>
            <a:r>
              <a:rPr lang="en-US" sz="15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from lowest to highest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arrange(acids, desc(butyric))</a:t>
            </a:r>
            <a:r>
              <a:rPr lang="en-US" sz="15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desc = from highest to lowest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685800" y="3200400"/>
            <a:ext cx="10817352" cy="1097280"/>
          </a:xfrm>
          <a:prstGeom prst="roundRect">
            <a:avLst>
              <a:gd name="adj" fmla="val 4167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886968" y="3364992"/>
            <a:ext cx="1041501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Why it matters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886968" y="3730752"/>
            <a:ext cx="1041501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Sorting is how you find the extremes without computing anything: the first row is the smallest, the last one is the largest.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Sorting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685800" y="1828800"/>
            <a:ext cx="10817352" cy="1252728"/>
          </a:xfrm>
          <a:prstGeom prst="roundRect">
            <a:avLst>
              <a:gd name="adj" fmla="val 3650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1005840" y="2121408"/>
            <a:ext cx="1017727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a) Sort the samples from highest to lowest propionic acid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b) Now without desc(): sort from lowest to highest formic acid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685800" y="3264408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685800" y="3648456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685800" y="3721608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arrange()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685800" y="4032504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sorts rows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2511552" y="3648456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2511552" y="3721608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desc()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2511552" y="4032504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685800" y="4855464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5. MUTATE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mutate(): adding a column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685800" y="13258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It computes something from the columns you already have and sticks the result on at the end.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685800" y="1828800"/>
            <a:ext cx="10817352" cy="1271016"/>
          </a:xfrm>
          <a:prstGeom prst="roundRect">
            <a:avLst>
              <a:gd name="adj" fmla="val 4317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886968" y="1993392"/>
            <a:ext cx="10415016" cy="120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# add the two good acids into one column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mutate(acids, scfa = butyric + propionic)</a:t>
            </a: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9 columns -&gt; 10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acids &lt;- mutate(acids, scfa = butyric + propionic)</a:t>
            </a: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now it is kept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685800" y="3566160"/>
            <a:ext cx="10817352" cy="100584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1051560" y="3566160"/>
            <a:ext cx="1008583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mutate() only shows the new column on screen. Without  &lt;-  the table is unchanged.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685800" y="48006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scfa = short chain fatty acids: butyric plus propionic, the two the hypothesis is about.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A new column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685800" y="1828800"/>
            <a:ext cx="10817352" cy="1252728"/>
          </a:xfrm>
          <a:prstGeom prst="roundRect">
            <a:avLst>
              <a:gd name="adj" fmla="val 3650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1005840" y="2121408"/>
            <a:ext cx="1017727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a) Create a column  ratio  that is  butyric  divided by  acetic</a:t>
            </a:r>
            <a:endParaRPr sz="1600" b="0" i="0" u="none" strike="noStrike" cap="none">
              <a:solidFill>
                <a:schemeClr val="dk1"/>
              </a:solidFill>
              <a:highlight>
                <a:srgbClr val="9C3A2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b) Easier one: create a column acetic_lactic that adds acetic and lactic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685800" y="3264408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685800" y="3648456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685800" y="3721608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mutate()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685800" y="4032504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adds a column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685800" y="4855464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6. SUMMARISE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summarise(): reducing to one number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685800" y="1325880"/>
            <a:ext cx="522579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In session 1 we would have written this: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685800" y="1691640"/>
            <a:ext cx="5225796" cy="679704"/>
          </a:xfrm>
          <a:prstGeom prst="roundRect">
            <a:avLst>
              <a:gd name="adj" fmla="val 8072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886968" y="1856232"/>
            <a:ext cx="482346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mean(acids$butyric)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6277356" y="1325880"/>
            <a:ext cx="522579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summarise() does the same, but returns a TABLE: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6277356" y="1691640"/>
            <a:ext cx="5225796" cy="975360"/>
          </a:xfrm>
          <a:prstGeom prst="roundRect">
            <a:avLst>
              <a:gd name="adj" fmla="val 5625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6478524" y="1856232"/>
            <a:ext cx="4823460" cy="906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# average butyric, as a one-row table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summarise(acids,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mean_butyric = mean(butyric))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685800" y="2834640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You can ask for several numbers at once: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685800" y="3200400"/>
            <a:ext cx="10817352" cy="1271016"/>
          </a:xfrm>
          <a:prstGeom prst="roundRect">
            <a:avLst>
              <a:gd name="adj" fmla="val 4317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886968" y="3364992"/>
            <a:ext cx="10415016" cy="94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summarise(acids,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mean_butyric   = mean(butyric),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mean_propionic = mean(propionic))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685800" y="475488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1051560" y="4754880"/>
            <a:ext cx="1008583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 why bother, if mean() already worked? Because of what comes next: summarise() can do it per group, and plain mean() cannot.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5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Two numbers at once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85800" y="1828800"/>
            <a:ext cx="10817352" cy="2203704"/>
          </a:xfrm>
          <a:prstGeom prst="roundRect">
            <a:avLst>
              <a:gd name="adj" fmla="val 2075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005840" y="2121408"/>
            <a:ext cx="10177272" cy="174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Calculate the mean acetic acid AND the highest acetic acid of the 6 samples, in one table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685800" y="4215384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685800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85800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summarise()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85800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reduces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2511552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2511552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2511552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4337304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4337304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max()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337304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highest value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7. GROUP_BY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group_by(): one number per group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685800" y="1325880"/>
            <a:ext cx="108173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Everything so far gives ONE number for the whole table. What we want is one for Control, one for A and one for B, so we can compare them.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685800" y="1920240"/>
            <a:ext cx="51800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E76F51"/>
                </a:solidFill>
                <a:latin typeface="Cambria"/>
                <a:ea typeface="Cambria"/>
                <a:cs typeface="Cambria"/>
                <a:sym typeface="Cambria"/>
              </a:rPr>
              <a:t>By hand: 6 lines for 3 products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685800" y="2286000"/>
            <a:ext cx="5180076" cy="2043684"/>
          </a:xfrm>
          <a:prstGeom prst="roundRect">
            <a:avLst>
              <a:gd name="adj" fmla="val 2685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886968" y="2450592"/>
            <a:ext cx="477774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control_rows &lt;- filter(acids,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product == "Control")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mean(control_rows$butyric)</a:t>
            </a:r>
            <a:r>
              <a:rPr lang="en-US" sz="125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491.8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# ... and the same again for A,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# and again for B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6323076" y="1920240"/>
            <a:ext cx="51800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With group_by: 2 lines, any number of products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6323076" y="2286000"/>
            <a:ext cx="5180076" cy="2048256"/>
          </a:xfrm>
          <a:prstGeom prst="roundRect">
            <a:avLst>
              <a:gd name="adj" fmla="val 2679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6524244" y="2450592"/>
            <a:ext cx="4777740" cy="197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ourier New"/>
              <a:buNone/>
            </a:pPr>
            <a:r>
              <a:rPr lang="en-US" sz="1400" b="0" i="0" u="none" strike="noStrike" cap="none" dirty="0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# average butyric per product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 dirty="0" err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by_product</a:t>
            </a:r>
            <a:r>
              <a:rPr lang="en-US" sz="135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&lt;- </a:t>
            </a:r>
            <a:r>
              <a:rPr lang="en-US" sz="1350" b="1" i="0" u="none" strike="noStrike" cap="none" dirty="0" err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group_by</a:t>
            </a:r>
            <a:r>
              <a:rPr lang="en-US" sz="135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(acids,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product)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 dirty="0" err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summarise</a:t>
            </a:r>
            <a:r>
              <a:rPr lang="en-US" sz="135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1" i="0" u="none" strike="noStrike" cap="none" dirty="0" err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by_product</a:t>
            </a:r>
            <a:r>
              <a:rPr lang="en-US" sz="135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50"/>
              <a:buFont typeface="Courier New"/>
              <a:buNone/>
            </a:pPr>
            <a:r>
              <a:rPr lang="en-US" sz="135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50" b="1" i="0" u="none" strike="noStrike" cap="none" dirty="0" err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mean_butyric</a:t>
            </a:r>
            <a:r>
              <a:rPr lang="en-US" sz="135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= mean(butyric))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685800" y="461772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DF1EC"/>
          </a:solidFill>
          <a:ln w="9525" cap="flat" cmpd="sng">
            <a:solidFill>
              <a:srgbClr val="F3C9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886968" y="469087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group_by() displays nothing new. It only marks which rows belong together. The work is done by the summarise() that follows it.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685800" y="4572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685800" y="4572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685800" y="109728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One number per product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685800" y="1828800"/>
            <a:ext cx="5225796" cy="2377440"/>
          </a:xfrm>
          <a:prstGeom prst="roundRect">
            <a:avLst>
              <a:gd name="adj" fmla="val 1923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960120" y="2011680"/>
            <a:ext cx="46771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Exercise 6a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960120" y="2468880"/>
            <a:ext cx="467715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lang="en-US" sz="15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The mean of PROPIONIC acid per product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lang="en-US" sz="15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Two lines: first group, then summarise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6277356" y="1828800"/>
            <a:ext cx="5225796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6551676" y="2011680"/>
            <a:ext cx="46771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Exercise 6b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6551676" y="2468880"/>
            <a:ext cx="467715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lang="en-US" sz="150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 different question: how MANY samples does each product have?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6302B"/>
              </a:buClr>
              <a:buSzPts val="1500"/>
              <a:buFont typeface="Calibri"/>
              <a:buChar char="▪"/>
            </a:pPr>
            <a:r>
              <a:rPr lang="en-US" sz="150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Use n() to count the rows in each group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685800" y="4389120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685800" y="4773168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685800" y="4846320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50"/>
              <a:buFont typeface="Courier New"/>
              <a:buNone/>
            </a:pPr>
            <a:r>
              <a:rPr lang="en-US" sz="12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group_by()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685800" y="5157216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tags groups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2511552" y="4773168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2511552" y="4846320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50"/>
              <a:buFont typeface="Courier New"/>
              <a:buNone/>
            </a:pPr>
            <a:r>
              <a:rPr lang="en-US" sz="12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summarise()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2511552" y="5157216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reduces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4337304" y="4773168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4337304" y="4846320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50"/>
              <a:buFont typeface="Courier New"/>
              <a:buNone/>
            </a:pPr>
            <a:r>
              <a:rPr lang="en-US" sz="12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4337304" y="5157216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163056" y="4773168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6163056" y="4846320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250"/>
              <a:buFont typeface="Courier New"/>
              <a:buNone/>
            </a:pPr>
            <a:r>
              <a:rPr lang="en-US" sz="1250" b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2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6163056" y="5157216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counts rows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685800" y="56692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8. ONE VERB IS NEVER ENOUGH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Chaining steps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685800" y="132588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To do several things in a row, store each step in a variable and hand it to the next verb. An assembly line.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685800" y="1874520"/>
            <a:ext cx="10817352" cy="1271016"/>
          </a:xfrm>
          <a:prstGeom prst="roundRect">
            <a:avLst>
              <a:gd name="adj" fmla="val 4317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886968" y="2039112"/>
            <a:ext cx="10415016" cy="94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r1_only &lt;- filter(acids, replicate == 1)</a:t>
            </a: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6 rows -&gt; 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small   &lt;- select(r1_only, sample, formic, acetic)</a:t>
            </a:r>
            <a:r>
              <a:rPr lang="en-US" sz="140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from that, keep 3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small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685800" y="3520440"/>
            <a:ext cx="5225796" cy="1234440"/>
          </a:xfrm>
          <a:prstGeom prst="roundRect">
            <a:avLst>
              <a:gd name="adj" fmla="val 3704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886968" y="368503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output is the input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886968" y="4050792"/>
            <a:ext cx="482346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result of step 1 is the table that step 2 works on.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6277356" y="3520440"/>
            <a:ext cx="5225796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6478524" y="3685032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Name them well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 txBox="1"/>
          <p:nvPr/>
        </p:nvSpPr>
        <p:spPr>
          <a:xfrm>
            <a:off x="6478524" y="4050792"/>
            <a:ext cx="482346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Names that say what they contain, not step1 and step2.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685800" y="493776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450"/>
              <a:buFont typeface="Calibri"/>
              <a:buNone/>
            </a:pPr>
            <a:r>
              <a:rPr lang="en-US" sz="1450" b="0" i="1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The "pipe"  |&gt;  chains the same steps in one line:   acids |&gt; filter(replicate == 1) |&gt; select(sample, formic, acetic).  Optional </a:t>
            </a:r>
            <a:r>
              <a:rPr lang="en-US" sz="1450" i="1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450" b="0" i="1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 we just show it once so it does not surprise you online.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685800" y="1828800"/>
            <a:ext cx="10817352" cy="1728216"/>
          </a:xfrm>
          <a:prstGeom prst="roundRect">
            <a:avLst>
              <a:gd name="adj" fmla="val 2646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1005840" y="2121408"/>
            <a:ext cx="10177272" cy="127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Keep the rows of product 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Sort them from highest to lowest butyric acid, storing each step in a variable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6660"/>
              </a:buClr>
              <a:buSzPts val="1500"/>
              <a:buFont typeface="Calibri"/>
              <a:buChar char="▪"/>
            </a:pPr>
            <a:r>
              <a:rPr lang="en-US" sz="1500" b="0" i="1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Optional: redo it in ONE line with the pipe  |&gt;  (no in-between variables)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685800" y="3739896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685800" y="4123944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685800" y="4197096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685800" y="4507992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picks rows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2511552" y="4123944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2511552" y="4197096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arrange()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2511552" y="4507992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sorts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4337304" y="4123944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4337304" y="4197096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desc()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4337304" y="4507992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6163056" y="4123944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6163056" y="4197096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6163056" y="4507992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stores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685800" y="5330952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</a:t>
            </a:r>
            <a:r>
              <a:rPr lang="en-US" sz="1300" b="1" dirty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85800" y="1828800"/>
            <a:ext cx="10817352" cy="2203704"/>
          </a:xfrm>
          <a:prstGeom prst="roundRect">
            <a:avLst>
              <a:gd name="adj" fmla="val 2075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005840" y="2121408"/>
            <a:ext cx="10177272" cy="174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-228600"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Keep only the samples whose butyric acid is above the average butyric acid of all six. Don't type the number, put the calculation inside the condition</a:t>
            </a:r>
          </a:p>
          <a:p>
            <a:pPr marL="228600" lvl="0" indent="-228600"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Sort them from highest to lowest butyric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685800" y="4215384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6204753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6204753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mean()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6204753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09;p19">
            <a:extLst>
              <a:ext uri="{FF2B5EF4-FFF2-40B4-BE49-F238E27FC236}">
                <a16:creationId xmlns:a16="http://schemas.microsoft.com/office/drawing/2014/main" id="{813049AB-B5A1-757C-C013-3D2215B2E7E7}"/>
              </a:ext>
            </a:extLst>
          </p:cNvPr>
          <p:cNvSpPr/>
          <p:nvPr/>
        </p:nvSpPr>
        <p:spPr>
          <a:xfrm>
            <a:off x="721401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10;p19">
            <a:extLst>
              <a:ext uri="{FF2B5EF4-FFF2-40B4-BE49-F238E27FC236}">
                <a16:creationId xmlns:a16="http://schemas.microsoft.com/office/drawing/2014/main" id="{4FC6720A-1910-6387-AD91-C992A5396E97}"/>
              </a:ext>
            </a:extLst>
          </p:cNvPr>
          <p:cNvSpPr txBox="1"/>
          <p:nvPr/>
        </p:nvSpPr>
        <p:spPr>
          <a:xfrm>
            <a:off x="721401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1;p19">
            <a:extLst>
              <a:ext uri="{FF2B5EF4-FFF2-40B4-BE49-F238E27FC236}">
                <a16:creationId xmlns:a16="http://schemas.microsoft.com/office/drawing/2014/main" id="{92B182FD-A55D-0059-11DC-67106117AE45}"/>
              </a:ext>
            </a:extLst>
          </p:cNvPr>
          <p:cNvSpPr txBox="1"/>
          <p:nvPr/>
        </p:nvSpPr>
        <p:spPr>
          <a:xfrm>
            <a:off x="721401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picks rows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12;p19">
            <a:extLst>
              <a:ext uri="{FF2B5EF4-FFF2-40B4-BE49-F238E27FC236}">
                <a16:creationId xmlns:a16="http://schemas.microsoft.com/office/drawing/2014/main" id="{C5A1D33E-F5C0-1156-C953-16B48A1219A8}"/>
              </a:ext>
            </a:extLst>
          </p:cNvPr>
          <p:cNvSpPr/>
          <p:nvPr/>
        </p:nvSpPr>
        <p:spPr>
          <a:xfrm>
            <a:off x="2547153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13;p19">
            <a:extLst>
              <a:ext uri="{FF2B5EF4-FFF2-40B4-BE49-F238E27FC236}">
                <a16:creationId xmlns:a16="http://schemas.microsoft.com/office/drawing/2014/main" id="{AC68C280-09CF-8A3F-DD67-B36DC928F6F5}"/>
              </a:ext>
            </a:extLst>
          </p:cNvPr>
          <p:cNvSpPr txBox="1"/>
          <p:nvPr/>
        </p:nvSpPr>
        <p:spPr>
          <a:xfrm>
            <a:off x="2547153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arrange()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14;p19">
            <a:extLst>
              <a:ext uri="{FF2B5EF4-FFF2-40B4-BE49-F238E27FC236}">
                <a16:creationId xmlns:a16="http://schemas.microsoft.com/office/drawing/2014/main" id="{F4D26F6B-6F7A-7AB7-7F7F-B4E16D9B1B3A}"/>
              </a:ext>
            </a:extLst>
          </p:cNvPr>
          <p:cNvSpPr txBox="1"/>
          <p:nvPr/>
        </p:nvSpPr>
        <p:spPr>
          <a:xfrm>
            <a:off x="2547153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sorts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15;p19">
            <a:extLst>
              <a:ext uri="{FF2B5EF4-FFF2-40B4-BE49-F238E27FC236}">
                <a16:creationId xmlns:a16="http://schemas.microsoft.com/office/drawing/2014/main" id="{80BE34D3-E36B-2FA3-668A-08A37768ECD0}"/>
              </a:ext>
            </a:extLst>
          </p:cNvPr>
          <p:cNvSpPr/>
          <p:nvPr/>
        </p:nvSpPr>
        <p:spPr>
          <a:xfrm>
            <a:off x="4372905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316;p19">
            <a:extLst>
              <a:ext uri="{FF2B5EF4-FFF2-40B4-BE49-F238E27FC236}">
                <a16:creationId xmlns:a16="http://schemas.microsoft.com/office/drawing/2014/main" id="{9814963D-89C9-4C62-D55F-2F0AA0B61685}"/>
              </a:ext>
            </a:extLst>
          </p:cNvPr>
          <p:cNvSpPr txBox="1"/>
          <p:nvPr/>
        </p:nvSpPr>
        <p:spPr>
          <a:xfrm>
            <a:off x="4372905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desc()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17;p19">
            <a:extLst>
              <a:ext uri="{FF2B5EF4-FFF2-40B4-BE49-F238E27FC236}">
                <a16:creationId xmlns:a16="http://schemas.microsoft.com/office/drawing/2014/main" id="{133A1069-07DF-24A7-CA77-38D40E73A8D6}"/>
              </a:ext>
            </a:extLst>
          </p:cNvPr>
          <p:cNvSpPr txBox="1"/>
          <p:nvPr/>
        </p:nvSpPr>
        <p:spPr>
          <a:xfrm>
            <a:off x="4372905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10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85800" y="1828800"/>
            <a:ext cx="10817352" cy="2203704"/>
          </a:xfrm>
          <a:prstGeom prst="roundRect">
            <a:avLst>
              <a:gd name="adj" fmla="val 2075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005840" y="2121408"/>
            <a:ext cx="10177272" cy="174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Using the  scfa  column, keep only the samples whose  scfa  is above 1000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Count how many samples of each product survived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685800" y="4215384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685800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85800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85800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picks rows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2511552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2511552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group_by()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2511552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tags groups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4337304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4337304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summarise()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337304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reduces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163056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6163056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n()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6163056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counts rows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11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85800" y="1828800"/>
            <a:ext cx="10817352" cy="2203704"/>
          </a:xfrm>
          <a:prstGeom prst="roundRect">
            <a:avLst>
              <a:gd name="adj" fmla="val 2075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005840" y="2121408"/>
            <a:ext cx="10177272" cy="174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Keep the rows of replicate 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Sort them from highest to lowest propionic acid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Save the result in  output/replicate2_propionic.csv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685800" y="4215384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685800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85800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85800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picks rows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2511552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2511552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arrange()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2511552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sorts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4337304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4337304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desc()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337304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163056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6163056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write.csv()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6163056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saves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685800" y="4572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 w="1270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85800" y="457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EXERCISE 12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85800" y="1828800"/>
            <a:ext cx="10817352" cy="2203704"/>
          </a:xfrm>
          <a:prstGeom prst="roundRect">
            <a:avLst>
              <a:gd name="adj" fmla="val 2075"/>
            </a:avLst>
          </a:prstGeom>
          <a:solidFill>
            <a:srgbClr val="EDF7E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005840" y="2121408"/>
            <a:ext cx="10177272" cy="174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Add a column </a:t>
            </a:r>
            <a:r>
              <a:rPr lang="en-US" sz="1600" b="0" i="0" u="none" strike="noStrike" cap="none" dirty="0" err="1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butyric_pct</a:t>
            </a: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: butyric as a percentage of </a:t>
            </a:r>
            <a:r>
              <a:rPr lang="en-US" sz="1600" b="0" i="0" u="none" strike="noStrike" cap="none" dirty="0" err="1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scfa</a:t>
            </a: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, that is 100 * butyric / </a:t>
            </a:r>
            <a:r>
              <a:rPr lang="en-US" sz="1600" b="0" i="0" u="none" strike="noStrike" cap="none" dirty="0" err="1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scfa</a:t>
            </a: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Group by product and calculate the mean </a:t>
            </a:r>
            <a:r>
              <a:rPr lang="en-US" sz="1600" b="0" i="0" u="none" strike="noStrike" cap="none" dirty="0" err="1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butyric_pct</a:t>
            </a: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 of each one 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Sort the result from highest to lowest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600"/>
              <a:buFont typeface="Calibri"/>
              <a:buChar char="▪"/>
            </a:pPr>
            <a:r>
              <a:rPr lang="en-US" sz="160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Save it in output/butyric_pct_per_product.csv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685800" y="4215384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Functions you have already seen: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685800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85800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mutate()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85800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adds a column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2511552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2511552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group_by()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2511552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tags groups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4337304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4337304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summarise()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337304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reduces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163056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6163056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arrange()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6163056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sorts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Your turn - try it in your own script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53;p21"/>
          <p:cNvSpPr/>
          <p:nvPr/>
        </p:nvSpPr>
        <p:spPr>
          <a:xfrm>
            <a:off x="7988808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54;p21"/>
          <p:cNvSpPr txBox="1"/>
          <p:nvPr/>
        </p:nvSpPr>
        <p:spPr>
          <a:xfrm>
            <a:off x="7988808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desc()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55;p21"/>
          <p:cNvSpPr txBox="1"/>
          <p:nvPr/>
        </p:nvSpPr>
        <p:spPr>
          <a:xfrm>
            <a:off x="7988808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353;p21"/>
          <p:cNvSpPr/>
          <p:nvPr/>
        </p:nvSpPr>
        <p:spPr>
          <a:xfrm>
            <a:off x="9814560" y="4599432"/>
            <a:ext cx="1688592" cy="713232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 w="9525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54;p21"/>
          <p:cNvSpPr txBox="1"/>
          <p:nvPr/>
        </p:nvSpPr>
        <p:spPr>
          <a:xfrm>
            <a:off x="9814560" y="4672584"/>
            <a:ext cx="1688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write.csv()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55;p21"/>
          <p:cNvSpPr txBox="1"/>
          <p:nvPr/>
        </p:nvSpPr>
        <p:spPr>
          <a:xfrm>
            <a:off x="9814560" y="4983480"/>
            <a:ext cx="1688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saves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/>
          <p:nvPr/>
        </p:nvSpPr>
        <p:spPr>
          <a:xfrm>
            <a:off x="685800" y="2286000"/>
            <a:ext cx="914400" cy="9144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6858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2011680" y="2240280"/>
            <a:ext cx="9491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 the two replicates agree?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2011680" y="3063240"/>
            <a:ext cx="94914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Before you summarise anything, check that the experiment repeats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"/>
          <p:cNvSpPr txBox="1"/>
          <p:nvPr/>
        </p:nvSpPr>
        <p:spPr>
          <a:xfrm>
            <a:off x="685800" y="347472"/>
            <a:ext cx="10817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THE DISTINCTION OF THE COURSE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685800" y="603504"/>
            <a:ext cx="108174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Biological replicates vs technical repetitions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685800" y="1325880"/>
            <a:ext cx="10817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Both are "repeating the measurement". They do not mean the same thing, and they do not count the same.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685800" y="1828800"/>
            <a:ext cx="5180100" cy="2743200"/>
          </a:xfrm>
          <a:prstGeom prst="roundRect">
            <a:avLst>
              <a:gd name="adj" fmla="val 2000"/>
            </a:avLst>
          </a:prstGeom>
          <a:solidFill>
            <a:srgbClr val="D8F3DC"/>
          </a:solidFill>
          <a:ln w="12700" cap="flat" cmpd="sng">
            <a:solidFill>
              <a:srgbClr val="4091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1005840" y="2011680"/>
            <a:ext cx="4539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Biological replicate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1005840" y="2395728"/>
            <a:ext cx="4539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40916C"/>
                </a:solidFill>
                <a:latin typeface="Courier New"/>
                <a:ea typeface="Courier New"/>
                <a:cs typeface="Courier New"/>
                <a:sym typeface="Courier New"/>
              </a:rPr>
              <a:t>R1 and R2  -  the  replicate  column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1005840" y="2788920"/>
            <a:ext cx="45399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lang="en-US" sz="145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Two separate fermentation vessels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lang="en-US" sz="145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Two real repetitions of the experiment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lang="en-US" sz="145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They measure how repeatable the BIOLOGY is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6323076" y="1828800"/>
            <a:ext cx="51801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6643116" y="2011680"/>
            <a:ext cx="4539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E76F51"/>
                </a:solidFill>
                <a:latin typeface="Cambria"/>
                <a:ea typeface="Cambria"/>
                <a:cs typeface="Cambria"/>
                <a:sym typeface="Cambria"/>
              </a:rPr>
              <a:t>Technical repetition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 txBox="1"/>
          <p:nvPr/>
        </p:nvSpPr>
        <p:spPr>
          <a:xfrm>
            <a:off x="6643116" y="2395728"/>
            <a:ext cx="4539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1, 2, 3  -  the  experiment  column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 txBox="1"/>
          <p:nvPr/>
        </p:nvSpPr>
        <p:spPr>
          <a:xfrm>
            <a:off x="6643116" y="2788920"/>
            <a:ext cx="45399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lang="en-US" sz="145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The SAME liquid put on cells three times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lang="en-US" sz="145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A different batch of cells each time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6302B"/>
              </a:buClr>
              <a:buSzPts val="1450"/>
              <a:buFont typeface="Calibri"/>
              <a:buChar char="▪"/>
            </a:pPr>
            <a:r>
              <a:rPr lang="en-US" sz="1450" b="0" i="0" u="none" strike="noStrike" cap="none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They measure how repeatable the ASSAY is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685800" y="4846320"/>
            <a:ext cx="10817400" cy="567000"/>
          </a:xfrm>
          <a:prstGeom prst="roundRect">
            <a:avLst>
              <a:gd name="adj" fmla="val 8065"/>
            </a:avLst>
          </a:prstGeom>
          <a:solidFill>
            <a:srgbClr val="FDF1EC"/>
          </a:solidFill>
          <a:ln w="9525" cap="flat" cmpd="sng">
            <a:solidFill>
              <a:srgbClr val="F3C9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 txBox="1"/>
          <p:nvPr/>
        </p:nvSpPr>
        <p:spPr>
          <a:xfrm>
            <a:off x="886968" y="4919472"/>
            <a:ext cx="10415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Treating technical repetitions as if they were independent samples inflates your sample size and hands you significance that is not real.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"/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10. BUILDING IT STEP BY STEP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Comparing the two replicates, acid by acid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685800" y="1325880"/>
            <a:ext cx="1081735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0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5A6660"/>
                </a:solidFill>
                <a:latin typeface="Calibri"/>
                <a:ea typeface="Calibri"/>
                <a:cs typeface="Calibri"/>
                <a:sym typeface="Calibri"/>
              </a:rPr>
              <a:t>All six acids, not just one: if we looked at a single acid, the answer would depend on which one we happened to pick.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685800" y="1828800"/>
            <a:ext cx="10817352" cy="2930652"/>
          </a:xfrm>
          <a:prstGeom prst="roundRect">
            <a:avLst>
              <a:gd name="adj" fmla="val 1872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886968" y="1993392"/>
            <a:ext cx="10415016" cy="2601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r1 &lt;- filter(acids, replicate == 1)</a:t>
            </a:r>
            <a:r>
              <a:rPr lang="en-US" sz="1300" b="0" i="0" u="none" strike="noStrike" cap="none" dirty="0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Control_R1, A_R1, B_R1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r2 &lt;- filter(acids, replicate == 2)</a:t>
            </a:r>
            <a:r>
              <a:rPr lang="en-US" sz="1300" b="0" i="0" u="none" strike="noStrike" cap="none" dirty="0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Control_R2, A_R2, B_R2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values_r1 &lt;- select(r1, </a:t>
            </a:r>
            <a:r>
              <a:rPr lang="en-US" sz="1400" b="1" i="0" u="none" strike="noStrike" cap="none" dirty="0" err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formic:citric</a:t>
            </a: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300" b="0" i="0" u="none" strike="noStrike" cap="none" dirty="0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just the six acids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values_r2 &lt;- select(r2, </a:t>
            </a:r>
            <a:r>
              <a:rPr lang="en-US" sz="1400" b="1" i="0" u="none" strike="noStrike" cap="none" dirty="0" err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formic:citric</a:t>
            </a: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gap      &lt;- abs(values_r1 - values_r2)</a:t>
            </a:r>
            <a:r>
              <a:rPr lang="en-US" sz="1300" b="0" i="0" u="none" strike="noStrike" cap="none" dirty="0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how far apart they are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average  &lt;- (values_r1 + values_r2) / 2</a:t>
            </a:r>
            <a:r>
              <a:rPr lang="en-US" sz="1300" b="0" i="0" u="none" strike="noStrike" cap="none" dirty="0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the typical value there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Courier New"/>
              <a:buNone/>
            </a:pPr>
            <a:r>
              <a:rPr lang="en-US" sz="1400" b="1" i="0" u="none" strike="noStrike" cap="none" dirty="0" err="1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diff_pct</a:t>
            </a:r>
            <a:r>
              <a:rPr lang="en-US" sz="1400" b="1" i="0" u="none" strike="noStrike" cap="none" dirty="0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 &lt;- round(100 * gap / average, 1)</a:t>
            </a:r>
            <a:r>
              <a:rPr lang="en-US" sz="1300" b="0" i="0" u="none" strike="noStrike" cap="none" dirty="0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the gap, as a %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685800" y="553212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DF1EC"/>
          </a:solidFill>
          <a:ln w="9525" cap="flat" cmpd="sng">
            <a:solidFill>
              <a:srgbClr val="F3C9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886968" y="5605272"/>
            <a:ext cx="104150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9C3A20"/>
                </a:solidFill>
                <a:latin typeface="Calibri"/>
                <a:ea typeface="Calibri"/>
                <a:cs typeface="Calibri"/>
                <a:sym typeface="Calibri"/>
              </a:rPr>
              <a:t>Subtracting two tables of the same size works cell by cell: all 18 numbers at once. And abs() drops the minus sign, because we want how far apart they are, not which one was bigger.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8">
          <a:extLst>
            <a:ext uri="{FF2B5EF4-FFF2-40B4-BE49-F238E27FC236}">
              <a16:creationId xmlns:a16="http://schemas.microsoft.com/office/drawing/2014/main" id="{D5B5C9E6-ED1C-F8B2-5391-5CB25813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479;p26">
            <a:extLst>
              <a:ext uri="{FF2B5EF4-FFF2-40B4-BE49-F238E27FC236}">
                <a16:creationId xmlns:a16="http://schemas.microsoft.com/office/drawing/2014/main" id="{4C6D824C-FACF-AA9B-E709-34564045E522}"/>
              </a:ext>
            </a:extLst>
          </p:cNvPr>
          <p:cNvSpPr/>
          <p:nvPr/>
        </p:nvSpPr>
        <p:spPr>
          <a:xfrm>
            <a:off x="8412480" y="2653481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6">
            <a:extLst>
              <a:ext uri="{FF2B5EF4-FFF2-40B4-BE49-F238E27FC236}">
                <a16:creationId xmlns:a16="http://schemas.microsoft.com/office/drawing/2014/main" id="{32B00F3E-E25F-3994-64B9-F8AF6CD0947B}"/>
              </a:ext>
            </a:extLst>
          </p:cNvPr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12. READING 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>
            <a:extLst>
              <a:ext uri="{FF2B5EF4-FFF2-40B4-BE49-F238E27FC236}">
                <a16:creationId xmlns:a16="http://schemas.microsoft.com/office/drawing/2014/main" id="{6F599B87-1F85-7C6E-1CC8-9225BF7938F3}"/>
              </a:ext>
            </a:extLst>
          </p:cNvPr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result: one table, everything visible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>
            <a:extLst>
              <a:ext uri="{FF2B5EF4-FFF2-40B4-BE49-F238E27FC236}">
                <a16:creationId xmlns:a16="http://schemas.microsoft.com/office/drawing/2014/main" id="{DFF90C4A-1AB5-E17C-6DB3-8C47604CF5DE}"/>
              </a:ext>
            </a:extLst>
          </p:cNvPr>
          <p:cNvSpPr/>
          <p:nvPr/>
        </p:nvSpPr>
        <p:spPr>
          <a:xfrm>
            <a:off x="685800" y="1371600"/>
            <a:ext cx="10817352" cy="673354"/>
          </a:xfrm>
          <a:prstGeom prst="roundRect">
            <a:avLst>
              <a:gd name="adj" fmla="val 8148"/>
            </a:avLst>
          </a:prstGeom>
          <a:solidFill>
            <a:srgbClr val="F1F4F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6">
            <a:extLst>
              <a:ext uri="{FF2B5EF4-FFF2-40B4-BE49-F238E27FC236}">
                <a16:creationId xmlns:a16="http://schemas.microsoft.com/office/drawing/2014/main" id="{2460728E-6427-1B99-34B1-21F361352788}"/>
              </a:ext>
            </a:extLst>
          </p:cNvPr>
          <p:cNvSpPr txBox="1"/>
          <p:nvPr/>
        </p:nvSpPr>
        <p:spPr>
          <a:xfrm>
            <a:off x="886968" y="1536192"/>
            <a:ext cx="10415016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50"/>
              <a:buFont typeface="Courier New"/>
              <a:buNone/>
            </a:pPr>
            <a:r>
              <a:rPr lang="en-US" sz="1450" b="1" i="0" u="none" strike="noStrike" cap="none">
                <a:solidFill>
                  <a:srgbClr val="1B4332"/>
                </a:solidFill>
                <a:latin typeface="Courier New"/>
                <a:ea typeface="Courier New"/>
                <a:cs typeface="Courier New"/>
                <a:sym typeface="Courier New"/>
              </a:rPr>
              <a:t>comparison &lt;- data.frame(product = r1$product, diff_pct)</a:t>
            </a:r>
            <a:r>
              <a:rPr lang="en-US" sz="1350" b="0" i="0" u="none" strike="noStrike" cap="none">
                <a:solidFill>
                  <a:srgbClr val="5A6660"/>
                </a:solidFill>
                <a:latin typeface="Courier New"/>
                <a:ea typeface="Courier New"/>
                <a:cs typeface="Courier New"/>
                <a:sym typeface="Courier New"/>
              </a:rPr>
              <a:t>   # glue the names back 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>
            <a:extLst>
              <a:ext uri="{FF2B5EF4-FFF2-40B4-BE49-F238E27FC236}">
                <a16:creationId xmlns:a16="http://schemas.microsoft.com/office/drawing/2014/main" id="{FF21483A-6784-6BF0-A28B-703BE40749BF}"/>
              </a:ext>
            </a:extLst>
          </p:cNvPr>
          <p:cNvSpPr/>
          <p:nvPr/>
        </p:nvSpPr>
        <p:spPr>
          <a:xfrm>
            <a:off x="685800" y="2148840"/>
            <a:ext cx="1545336" cy="502920"/>
          </a:xfrm>
          <a:prstGeom prst="rect">
            <a:avLst/>
          </a:prstGeom>
          <a:solidFill>
            <a:srgbClr val="1B433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6">
            <a:extLst>
              <a:ext uri="{FF2B5EF4-FFF2-40B4-BE49-F238E27FC236}">
                <a16:creationId xmlns:a16="http://schemas.microsoft.com/office/drawing/2014/main" id="{D3145A3A-76EB-CF83-6FE0-00A718E6CB00}"/>
              </a:ext>
            </a:extLst>
          </p:cNvPr>
          <p:cNvSpPr txBox="1"/>
          <p:nvPr/>
        </p:nvSpPr>
        <p:spPr>
          <a:xfrm>
            <a:off x="685800" y="214884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>
            <a:extLst>
              <a:ext uri="{FF2B5EF4-FFF2-40B4-BE49-F238E27FC236}">
                <a16:creationId xmlns:a16="http://schemas.microsoft.com/office/drawing/2014/main" id="{405FD98B-4CE0-3192-9D6D-6297BBA1491B}"/>
              </a:ext>
            </a:extLst>
          </p:cNvPr>
          <p:cNvSpPr/>
          <p:nvPr/>
        </p:nvSpPr>
        <p:spPr>
          <a:xfrm>
            <a:off x="2231136" y="2148840"/>
            <a:ext cx="1545336" cy="502920"/>
          </a:xfrm>
          <a:prstGeom prst="rect">
            <a:avLst/>
          </a:prstGeom>
          <a:solidFill>
            <a:srgbClr val="1B433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6">
            <a:extLst>
              <a:ext uri="{FF2B5EF4-FFF2-40B4-BE49-F238E27FC236}">
                <a16:creationId xmlns:a16="http://schemas.microsoft.com/office/drawing/2014/main" id="{B336B75D-3514-4E08-2D22-D2FFEF0DCC18}"/>
              </a:ext>
            </a:extLst>
          </p:cNvPr>
          <p:cNvSpPr txBox="1"/>
          <p:nvPr/>
        </p:nvSpPr>
        <p:spPr>
          <a:xfrm>
            <a:off x="2231136" y="214884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formic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>
            <a:extLst>
              <a:ext uri="{FF2B5EF4-FFF2-40B4-BE49-F238E27FC236}">
                <a16:creationId xmlns:a16="http://schemas.microsoft.com/office/drawing/2014/main" id="{94E57C56-2862-D3BD-DD63-578AD9CAAA00}"/>
              </a:ext>
            </a:extLst>
          </p:cNvPr>
          <p:cNvSpPr/>
          <p:nvPr/>
        </p:nvSpPr>
        <p:spPr>
          <a:xfrm>
            <a:off x="3776472" y="2148840"/>
            <a:ext cx="1545336" cy="502920"/>
          </a:xfrm>
          <a:prstGeom prst="rect">
            <a:avLst/>
          </a:prstGeom>
          <a:solidFill>
            <a:srgbClr val="1B433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6">
            <a:extLst>
              <a:ext uri="{FF2B5EF4-FFF2-40B4-BE49-F238E27FC236}">
                <a16:creationId xmlns:a16="http://schemas.microsoft.com/office/drawing/2014/main" id="{E3CBD547-B6CB-5760-A52A-6BDC905AD592}"/>
              </a:ext>
            </a:extLst>
          </p:cNvPr>
          <p:cNvSpPr txBox="1"/>
          <p:nvPr/>
        </p:nvSpPr>
        <p:spPr>
          <a:xfrm>
            <a:off x="3776472" y="214884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acetic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>
            <a:extLst>
              <a:ext uri="{FF2B5EF4-FFF2-40B4-BE49-F238E27FC236}">
                <a16:creationId xmlns:a16="http://schemas.microsoft.com/office/drawing/2014/main" id="{9DD92307-7B41-FF40-F8D0-97E370F0B150}"/>
              </a:ext>
            </a:extLst>
          </p:cNvPr>
          <p:cNvSpPr/>
          <p:nvPr/>
        </p:nvSpPr>
        <p:spPr>
          <a:xfrm>
            <a:off x="5321808" y="2148840"/>
            <a:ext cx="1545336" cy="502920"/>
          </a:xfrm>
          <a:prstGeom prst="rect">
            <a:avLst/>
          </a:prstGeom>
          <a:solidFill>
            <a:srgbClr val="1B433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6">
            <a:extLst>
              <a:ext uri="{FF2B5EF4-FFF2-40B4-BE49-F238E27FC236}">
                <a16:creationId xmlns:a16="http://schemas.microsoft.com/office/drawing/2014/main" id="{F6AEFF64-AE33-C04C-DC40-3A5F7C80AA06}"/>
              </a:ext>
            </a:extLst>
          </p:cNvPr>
          <p:cNvSpPr txBox="1"/>
          <p:nvPr/>
        </p:nvSpPr>
        <p:spPr>
          <a:xfrm>
            <a:off x="5321808" y="214884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propionic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>
            <a:extLst>
              <a:ext uri="{FF2B5EF4-FFF2-40B4-BE49-F238E27FC236}">
                <a16:creationId xmlns:a16="http://schemas.microsoft.com/office/drawing/2014/main" id="{BBE0128F-96AA-3948-E794-DB705987B7F3}"/>
              </a:ext>
            </a:extLst>
          </p:cNvPr>
          <p:cNvSpPr/>
          <p:nvPr/>
        </p:nvSpPr>
        <p:spPr>
          <a:xfrm>
            <a:off x="6867144" y="2148840"/>
            <a:ext cx="1545336" cy="502920"/>
          </a:xfrm>
          <a:prstGeom prst="rect">
            <a:avLst/>
          </a:prstGeom>
          <a:solidFill>
            <a:srgbClr val="1B433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6">
            <a:extLst>
              <a:ext uri="{FF2B5EF4-FFF2-40B4-BE49-F238E27FC236}">
                <a16:creationId xmlns:a16="http://schemas.microsoft.com/office/drawing/2014/main" id="{52B4572F-F248-0A1A-E50B-9FE09F940A54}"/>
              </a:ext>
            </a:extLst>
          </p:cNvPr>
          <p:cNvSpPr txBox="1"/>
          <p:nvPr/>
        </p:nvSpPr>
        <p:spPr>
          <a:xfrm>
            <a:off x="6867144" y="214884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lactic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>
            <a:extLst>
              <a:ext uri="{FF2B5EF4-FFF2-40B4-BE49-F238E27FC236}">
                <a16:creationId xmlns:a16="http://schemas.microsoft.com/office/drawing/2014/main" id="{5F894152-0EC8-15C9-1AB9-096F32DDF727}"/>
              </a:ext>
            </a:extLst>
          </p:cNvPr>
          <p:cNvSpPr/>
          <p:nvPr/>
        </p:nvSpPr>
        <p:spPr>
          <a:xfrm>
            <a:off x="8412480" y="2148840"/>
            <a:ext cx="1545336" cy="502920"/>
          </a:xfrm>
          <a:prstGeom prst="rect">
            <a:avLst/>
          </a:prstGeom>
          <a:solidFill>
            <a:srgbClr val="1B433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>
            <a:extLst>
              <a:ext uri="{FF2B5EF4-FFF2-40B4-BE49-F238E27FC236}">
                <a16:creationId xmlns:a16="http://schemas.microsoft.com/office/drawing/2014/main" id="{8E2B97B9-6FAC-D078-1C6B-7C2EE15F5E60}"/>
              </a:ext>
            </a:extLst>
          </p:cNvPr>
          <p:cNvSpPr txBox="1"/>
          <p:nvPr/>
        </p:nvSpPr>
        <p:spPr>
          <a:xfrm>
            <a:off x="8412480" y="214884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butyric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>
            <a:extLst>
              <a:ext uri="{FF2B5EF4-FFF2-40B4-BE49-F238E27FC236}">
                <a16:creationId xmlns:a16="http://schemas.microsoft.com/office/drawing/2014/main" id="{792C148A-4FDD-8EF4-4878-A1C2735BCD31}"/>
              </a:ext>
            </a:extLst>
          </p:cNvPr>
          <p:cNvSpPr/>
          <p:nvPr/>
        </p:nvSpPr>
        <p:spPr>
          <a:xfrm>
            <a:off x="9957816" y="2148840"/>
            <a:ext cx="1545336" cy="502920"/>
          </a:xfrm>
          <a:prstGeom prst="rect">
            <a:avLst/>
          </a:prstGeom>
          <a:solidFill>
            <a:srgbClr val="1B4332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6">
            <a:extLst>
              <a:ext uri="{FF2B5EF4-FFF2-40B4-BE49-F238E27FC236}">
                <a16:creationId xmlns:a16="http://schemas.microsoft.com/office/drawing/2014/main" id="{D4936F22-D8D7-F33D-9407-14ED5747654D}"/>
              </a:ext>
            </a:extLst>
          </p:cNvPr>
          <p:cNvSpPr txBox="1"/>
          <p:nvPr/>
        </p:nvSpPr>
        <p:spPr>
          <a:xfrm>
            <a:off x="9957816" y="214884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citric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>
            <a:extLst>
              <a:ext uri="{FF2B5EF4-FFF2-40B4-BE49-F238E27FC236}">
                <a16:creationId xmlns:a16="http://schemas.microsoft.com/office/drawing/2014/main" id="{678A3D6A-2111-32F5-F61C-63BB9D2F0A3D}"/>
              </a:ext>
            </a:extLst>
          </p:cNvPr>
          <p:cNvSpPr/>
          <p:nvPr/>
        </p:nvSpPr>
        <p:spPr>
          <a:xfrm>
            <a:off x="685800" y="2651760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6">
            <a:extLst>
              <a:ext uri="{FF2B5EF4-FFF2-40B4-BE49-F238E27FC236}">
                <a16:creationId xmlns:a16="http://schemas.microsoft.com/office/drawing/2014/main" id="{F15C17C0-975D-C7D2-F6E3-60723994BEA7}"/>
              </a:ext>
            </a:extLst>
          </p:cNvPr>
          <p:cNvSpPr txBox="1"/>
          <p:nvPr/>
        </p:nvSpPr>
        <p:spPr>
          <a:xfrm>
            <a:off x="685800" y="265176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Control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>
            <a:extLst>
              <a:ext uri="{FF2B5EF4-FFF2-40B4-BE49-F238E27FC236}">
                <a16:creationId xmlns:a16="http://schemas.microsoft.com/office/drawing/2014/main" id="{203B22C0-72F0-9247-FCCE-71555119EF46}"/>
              </a:ext>
            </a:extLst>
          </p:cNvPr>
          <p:cNvSpPr/>
          <p:nvPr/>
        </p:nvSpPr>
        <p:spPr>
          <a:xfrm>
            <a:off x="2231136" y="2651760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6">
            <a:extLst>
              <a:ext uri="{FF2B5EF4-FFF2-40B4-BE49-F238E27FC236}">
                <a16:creationId xmlns:a16="http://schemas.microsoft.com/office/drawing/2014/main" id="{FB4700D5-1545-D75A-5F3D-7912469CEA41}"/>
              </a:ext>
            </a:extLst>
          </p:cNvPr>
          <p:cNvSpPr txBox="1"/>
          <p:nvPr/>
        </p:nvSpPr>
        <p:spPr>
          <a:xfrm>
            <a:off x="2231136" y="265176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2.7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>
            <a:extLst>
              <a:ext uri="{FF2B5EF4-FFF2-40B4-BE49-F238E27FC236}">
                <a16:creationId xmlns:a16="http://schemas.microsoft.com/office/drawing/2014/main" id="{A116C973-D00E-B8F1-AA69-17E2EAC09D46}"/>
              </a:ext>
            </a:extLst>
          </p:cNvPr>
          <p:cNvSpPr/>
          <p:nvPr/>
        </p:nvSpPr>
        <p:spPr>
          <a:xfrm>
            <a:off x="3776472" y="2651760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>
            <a:extLst>
              <a:ext uri="{FF2B5EF4-FFF2-40B4-BE49-F238E27FC236}">
                <a16:creationId xmlns:a16="http://schemas.microsoft.com/office/drawing/2014/main" id="{3BD052DE-F17F-236D-DAA4-A229B96D2012}"/>
              </a:ext>
            </a:extLst>
          </p:cNvPr>
          <p:cNvSpPr txBox="1"/>
          <p:nvPr/>
        </p:nvSpPr>
        <p:spPr>
          <a:xfrm>
            <a:off x="3776472" y="265176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4.9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>
            <a:extLst>
              <a:ext uri="{FF2B5EF4-FFF2-40B4-BE49-F238E27FC236}">
                <a16:creationId xmlns:a16="http://schemas.microsoft.com/office/drawing/2014/main" id="{865A5A79-8F82-B494-0685-0E898D228EC3}"/>
              </a:ext>
            </a:extLst>
          </p:cNvPr>
          <p:cNvSpPr/>
          <p:nvPr/>
        </p:nvSpPr>
        <p:spPr>
          <a:xfrm>
            <a:off x="6867144" y="2651760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6">
            <a:extLst>
              <a:ext uri="{FF2B5EF4-FFF2-40B4-BE49-F238E27FC236}">
                <a16:creationId xmlns:a16="http://schemas.microsoft.com/office/drawing/2014/main" id="{E50F8706-7EEB-7265-AC46-D00F911FC552}"/>
              </a:ext>
            </a:extLst>
          </p:cNvPr>
          <p:cNvSpPr txBox="1"/>
          <p:nvPr/>
        </p:nvSpPr>
        <p:spPr>
          <a:xfrm>
            <a:off x="6867144" y="2661594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4.6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>
            <a:extLst>
              <a:ext uri="{FF2B5EF4-FFF2-40B4-BE49-F238E27FC236}">
                <a16:creationId xmlns:a16="http://schemas.microsoft.com/office/drawing/2014/main" id="{08824DE2-E10B-13AB-73CB-B013C96E6B02}"/>
              </a:ext>
            </a:extLst>
          </p:cNvPr>
          <p:cNvSpPr txBox="1"/>
          <p:nvPr/>
        </p:nvSpPr>
        <p:spPr>
          <a:xfrm>
            <a:off x="8412481" y="2663166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00"/>
              <a:buFont typeface="Courier New"/>
              <a:buNone/>
            </a:pPr>
            <a:r>
              <a:rPr lang="en-US" sz="1300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37.9</a:t>
            </a:r>
            <a:endParaRPr sz="13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>
            <a:extLst>
              <a:ext uri="{FF2B5EF4-FFF2-40B4-BE49-F238E27FC236}">
                <a16:creationId xmlns:a16="http://schemas.microsoft.com/office/drawing/2014/main" id="{E12B3622-F067-F0C3-F71B-BC00375DDC0F}"/>
              </a:ext>
            </a:extLst>
          </p:cNvPr>
          <p:cNvSpPr/>
          <p:nvPr/>
        </p:nvSpPr>
        <p:spPr>
          <a:xfrm>
            <a:off x="9957816" y="2651760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6">
            <a:extLst>
              <a:ext uri="{FF2B5EF4-FFF2-40B4-BE49-F238E27FC236}">
                <a16:creationId xmlns:a16="http://schemas.microsoft.com/office/drawing/2014/main" id="{EB1C39BA-0AE2-ED31-7629-D239C56781DC}"/>
              </a:ext>
            </a:extLst>
          </p:cNvPr>
          <p:cNvSpPr txBox="1"/>
          <p:nvPr/>
        </p:nvSpPr>
        <p:spPr>
          <a:xfrm>
            <a:off x="9977482" y="265176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2.9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475;p26">
            <a:extLst>
              <a:ext uri="{FF2B5EF4-FFF2-40B4-BE49-F238E27FC236}">
                <a16:creationId xmlns:a16="http://schemas.microsoft.com/office/drawing/2014/main" id="{F1F6F25B-C8FC-DE8F-9905-57EFE050A0ED}"/>
              </a:ext>
            </a:extLst>
          </p:cNvPr>
          <p:cNvSpPr/>
          <p:nvPr/>
        </p:nvSpPr>
        <p:spPr>
          <a:xfrm>
            <a:off x="5321808" y="2653334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>
            <a:extLst>
              <a:ext uri="{FF2B5EF4-FFF2-40B4-BE49-F238E27FC236}">
                <a16:creationId xmlns:a16="http://schemas.microsoft.com/office/drawing/2014/main" id="{B04933DE-9704-F64D-8724-993905A4AD1F}"/>
              </a:ext>
            </a:extLst>
          </p:cNvPr>
          <p:cNvSpPr txBox="1"/>
          <p:nvPr/>
        </p:nvSpPr>
        <p:spPr>
          <a:xfrm>
            <a:off x="5323331" y="2650186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00"/>
              <a:buFont typeface="Courier New"/>
              <a:buNone/>
            </a:pPr>
            <a:r>
              <a:rPr lang="en-US" sz="1300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60.1</a:t>
            </a:r>
            <a:endParaRPr sz="13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479;p26">
            <a:extLst>
              <a:ext uri="{FF2B5EF4-FFF2-40B4-BE49-F238E27FC236}">
                <a16:creationId xmlns:a16="http://schemas.microsoft.com/office/drawing/2014/main" id="{92D81FD3-5E8A-497C-B1A2-6EB3D3B044D6}"/>
              </a:ext>
            </a:extLst>
          </p:cNvPr>
          <p:cNvSpPr/>
          <p:nvPr/>
        </p:nvSpPr>
        <p:spPr>
          <a:xfrm>
            <a:off x="2231133" y="3169328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479;p26">
            <a:extLst>
              <a:ext uri="{FF2B5EF4-FFF2-40B4-BE49-F238E27FC236}">
                <a16:creationId xmlns:a16="http://schemas.microsoft.com/office/drawing/2014/main" id="{63BB9C4B-5379-E483-0D0A-6115F6729E18}"/>
              </a:ext>
            </a:extLst>
          </p:cNvPr>
          <p:cNvSpPr/>
          <p:nvPr/>
        </p:nvSpPr>
        <p:spPr>
          <a:xfrm>
            <a:off x="685800" y="3165888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479;p26">
            <a:extLst>
              <a:ext uri="{FF2B5EF4-FFF2-40B4-BE49-F238E27FC236}">
                <a16:creationId xmlns:a16="http://schemas.microsoft.com/office/drawing/2014/main" id="{F93F1B8A-E273-1ACB-4A70-056EF39DB5D2}"/>
              </a:ext>
            </a:extLst>
          </p:cNvPr>
          <p:cNvSpPr/>
          <p:nvPr/>
        </p:nvSpPr>
        <p:spPr>
          <a:xfrm>
            <a:off x="5321802" y="3169035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479;p26">
            <a:extLst>
              <a:ext uri="{FF2B5EF4-FFF2-40B4-BE49-F238E27FC236}">
                <a16:creationId xmlns:a16="http://schemas.microsoft.com/office/drawing/2014/main" id="{0B3514E6-1193-26FC-1A5E-1481C7A6052B}"/>
              </a:ext>
            </a:extLst>
          </p:cNvPr>
          <p:cNvSpPr/>
          <p:nvPr/>
        </p:nvSpPr>
        <p:spPr>
          <a:xfrm>
            <a:off x="3776469" y="3169331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479;p26">
            <a:extLst>
              <a:ext uri="{FF2B5EF4-FFF2-40B4-BE49-F238E27FC236}">
                <a16:creationId xmlns:a16="http://schemas.microsoft.com/office/drawing/2014/main" id="{42838CA2-7D50-6722-D426-B4282FA3A748}"/>
              </a:ext>
            </a:extLst>
          </p:cNvPr>
          <p:cNvSpPr/>
          <p:nvPr/>
        </p:nvSpPr>
        <p:spPr>
          <a:xfrm>
            <a:off x="8412468" y="3165888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479;p26">
            <a:extLst>
              <a:ext uri="{FF2B5EF4-FFF2-40B4-BE49-F238E27FC236}">
                <a16:creationId xmlns:a16="http://schemas.microsoft.com/office/drawing/2014/main" id="{7C2AABD4-708D-DAC0-F39E-03427E9A4101}"/>
              </a:ext>
            </a:extLst>
          </p:cNvPr>
          <p:cNvSpPr/>
          <p:nvPr/>
        </p:nvSpPr>
        <p:spPr>
          <a:xfrm>
            <a:off x="6867135" y="3162448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479;p26">
            <a:extLst>
              <a:ext uri="{FF2B5EF4-FFF2-40B4-BE49-F238E27FC236}">
                <a16:creationId xmlns:a16="http://schemas.microsoft.com/office/drawing/2014/main" id="{510170C7-C197-156F-532A-FFF621DD0ACE}"/>
              </a:ext>
            </a:extLst>
          </p:cNvPr>
          <p:cNvSpPr/>
          <p:nvPr/>
        </p:nvSpPr>
        <p:spPr>
          <a:xfrm>
            <a:off x="9957818" y="3162938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82;p26">
            <a:extLst>
              <a:ext uri="{FF2B5EF4-FFF2-40B4-BE49-F238E27FC236}">
                <a16:creationId xmlns:a16="http://schemas.microsoft.com/office/drawing/2014/main" id="{8762C8A4-4319-9670-C221-4A953DCF7AE4}"/>
              </a:ext>
            </a:extLst>
          </p:cNvPr>
          <p:cNvSpPr txBox="1"/>
          <p:nvPr/>
        </p:nvSpPr>
        <p:spPr>
          <a:xfrm>
            <a:off x="685801" y="3175622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484;p26">
            <a:extLst>
              <a:ext uri="{FF2B5EF4-FFF2-40B4-BE49-F238E27FC236}">
                <a16:creationId xmlns:a16="http://schemas.microsoft.com/office/drawing/2014/main" id="{3077B8D4-7177-664B-BB31-E89E2AD42962}"/>
              </a:ext>
            </a:extLst>
          </p:cNvPr>
          <p:cNvSpPr txBox="1"/>
          <p:nvPr/>
        </p:nvSpPr>
        <p:spPr>
          <a:xfrm>
            <a:off x="2240969" y="3164512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0.7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86;p26">
            <a:extLst>
              <a:ext uri="{FF2B5EF4-FFF2-40B4-BE49-F238E27FC236}">
                <a16:creationId xmlns:a16="http://schemas.microsoft.com/office/drawing/2014/main" id="{A4772AB6-A3C8-D748-26D5-3C7160604AB7}"/>
              </a:ext>
            </a:extLst>
          </p:cNvPr>
          <p:cNvSpPr txBox="1"/>
          <p:nvPr/>
        </p:nvSpPr>
        <p:spPr>
          <a:xfrm>
            <a:off x="3786297" y="3168989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11.7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488;p26">
            <a:extLst>
              <a:ext uri="{FF2B5EF4-FFF2-40B4-BE49-F238E27FC236}">
                <a16:creationId xmlns:a16="http://schemas.microsoft.com/office/drawing/2014/main" id="{8E375167-9E8D-B008-05E5-3E4616CEA769}"/>
              </a:ext>
            </a:extLst>
          </p:cNvPr>
          <p:cNvSpPr txBox="1"/>
          <p:nvPr/>
        </p:nvSpPr>
        <p:spPr>
          <a:xfrm>
            <a:off x="5321798" y="3173466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00"/>
              <a:buFont typeface="Courier New"/>
              <a:buNone/>
            </a:pPr>
            <a:r>
              <a:rPr lang="en-US" sz="1300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43.6</a:t>
            </a:r>
            <a:endParaRPr sz="13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90;p26">
            <a:extLst>
              <a:ext uri="{FF2B5EF4-FFF2-40B4-BE49-F238E27FC236}">
                <a16:creationId xmlns:a16="http://schemas.microsoft.com/office/drawing/2014/main" id="{D1E5229F-D0BC-8D6B-DD26-57F6EA3C6818}"/>
              </a:ext>
            </a:extLst>
          </p:cNvPr>
          <p:cNvSpPr txBox="1"/>
          <p:nvPr/>
        </p:nvSpPr>
        <p:spPr>
          <a:xfrm>
            <a:off x="6876966" y="3175622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29.2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490;p26">
            <a:extLst>
              <a:ext uri="{FF2B5EF4-FFF2-40B4-BE49-F238E27FC236}">
                <a16:creationId xmlns:a16="http://schemas.microsoft.com/office/drawing/2014/main" id="{9E537A80-2D2D-2875-7CBA-1556271089DC}"/>
              </a:ext>
            </a:extLst>
          </p:cNvPr>
          <p:cNvSpPr txBox="1"/>
          <p:nvPr/>
        </p:nvSpPr>
        <p:spPr>
          <a:xfrm>
            <a:off x="8415712" y="3168938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64.3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490;p26">
            <a:extLst>
              <a:ext uri="{FF2B5EF4-FFF2-40B4-BE49-F238E27FC236}">
                <a16:creationId xmlns:a16="http://schemas.microsoft.com/office/drawing/2014/main" id="{678E06BB-E5E5-7044-F5ED-D4174BC5C6B8}"/>
              </a:ext>
            </a:extLst>
          </p:cNvPr>
          <p:cNvSpPr txBox="1"/>
          <p:nvPr/>
        </p:nvSpPr>
        <p:spPr>
          <a:xfrm>
            <a:off x="9964290" y="317228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32.9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479;p26">
            <a:extLst>
              <a:ext uri="{FF2B5EF4-FFF2-40B4-BE49-F238E27FC236}">
                <a16:creationId xmlns:a16="http://schemas.microsoft.com/office/drawing/2014/main" id="{CF46D7E3-3189-1A84-9A39-60ED80DF9C92}"/>
              </a:ext>
            </a:extLst>
          </p:cNvPr>
          <p:cNvSpPr/>
          <p:nvPr/>
        </p:nvSpPr>
        <p:spPr>
          <a:xfrm>
            <a:off x="2236048" y="3674809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479;p26">
            <a:extLst>
              <a:ext uri="{FF2B5EF4-FFF2-40B4-BE49-F238E27FC236}">
                <a16:creationId xmlns:a16="http://schemas.microsoft.com/office/drawing/2014/main" id="{EF78B8DD-FF3C-F3E7-9F9F-E069B656BBD0}"/>
              </a:ext>
            </a:extLst>
          </p:cNvPr>
          <p:cNvSpPr/>
          <p:nvPr/>
        </p:nvSpPr>
        <p:spPr>
          <a:xfrm>
            <a:off x="690715" y="3681201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479;p26">
            <a:extLst>
              <a:ext uri="{FF2B5EF4-FFF2-40B4-BE49-F238E27FC236}">
                <a16:creationId xmlns:a16="http://schemas.microsoft.com/office/drawing/2014/main" id="{23D56C34-B19D-66CC-A1AC-8915855A8550}"/>
              </a:ext>
            </a:extLst>
          </p:cNvPr>
          <p:cNvSpPr/>
          <p:nvPr/>
        </p:nvSpPr>
        <p:spPr>
          <a:xfrm>
            <a:off x="5326717" y="3674516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479;p26">
            <a:extLst>
              <a:ext uri="{FF2B5EF4-FFF2-40B4-BE49-F238E27FC236}">
                <a16:creationId xmlns:a16="http://schemas.microsoft.com/office/drawing/2014/main" id="{8081D730-E413-F267-D9DD-0EBA6F244807}"/>
              </a:ext>
            </a:extLst>
          </p:cNvPr>
          <p:cNvSpPr/>
          <p:nvPr/>
        </p:nvSpPr>
        <p:spPr>
          <a:xfrm>
            <a:off x="3781384" y="3674812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479;p26">
            <a:extLst>
              <a:ext uri="{FF2B5EF4-FFF2-40B4-BE49-F238E27FC236}">
                <a16:creationId xmlns:a16="http://schemas.microsoft.com/office/drawing/2014/main" id="{2907CCF1-2354-3E8A-44D3-0F617382E147}"/>
              </a:ext>
            </a:extLst>
          </p:cNvPr>
          <p:cNvSpPr/>
          <p:nvPr/>
        </p:nvSpPr>
        <p:spPr>
          <a:xfrm>
            <a:off x="8417383" y="3681201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479;p26">
            <a:extLst>
              <a:ext uri="{FF2B5EF4-FFF2-40B4-BE49-F238E27FC236}">
                <a16:creationId xmlns:a16="http://schemas.microsoft.com/office/drawing/2014/main" id="{7E824CE2-B20E-BAF5-6BF6-355854AFB7B0}"/>
              </a:ext>
            </a:extLst>
          </p:cNvPr>
          <p:cNvSpPr/>
          <p:nvPr/>
        </p:nvSpPr>
        <p:spPr>
          <a:xfrm>
            <a:off x="6872050" y="3677761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479;p26">
            <a:extLst>
              <a:ext uri="{FF2B5EF4-FFF2-40B4-BE49-F238E27FC236}">
                <a16:creationId xmlns:a16="http://schemas.microsoft.com/office/drawing/2014/main" id="{AE87E260-BB0C-2E48-7592-F03B4280757C}"/>
              </a:ext>
            </a:extLst>
          </p:cNvPr>
          <p:cNvSpPr/>
          <p:nvPr/>
        </p:nvSpPr>
        <p:spPr>
          <a:xfrm>
            <a:off x="9962733" y="3678251"/>
            <a:ext cx="1545336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6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482;p26">
            <a:extLst>
              <a:ext uri="{FF2B5EF4-FFF2-40B4-BE49-F238E27FC236}">
                <a16:creationId xmlns:a16="http://schemas.microsoft.com/office/drawing/2014/main" id="{B4480B7C-7D1F-762A-C6F8-39D26FD91E99}"/>
              </a:ext>
            </a:extLst>
          </p:cNvPr>
          <p:cNvSpPr txBox="1"/>
          <p:nvPr/>
        </p:nvSpPr>
        <p:spPr>
          <a:xfrm>
            <a:off x="690716" y="3690935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484;p26">
            <a:extLst>
              <a:ext uri="{FF2B5EF4-FFF2-40B4-BE49-F238E27FC236}">
                <a16:creationId xmlns:a16="http://schemas.microsoft.com/office/drawing/2014/main" id="{058BAA1F-5778-5845-6954-08491014FC67}"/>
              </a:ext>
            </a:extLst>
          </p:cNvPr>
          <p:cNvSpPr txBox="1"/>
          <p:nvPr/>
        </p:nvSpPr>
        <p:spPr>
          <a:xfrm>
            <a:off x="2245884" y="3669993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15.7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486;p26">
            <a:extLst>
              <a:ext uri="{FF2B5EF4-FFF2-40B4-BE49-F238E27FC236}">
                <a16:creationId xmlns:a16="http://schemas.microsoft.com/office/drawing/2014/main" id="{653D7585-93AB-3B0C-EDDF-9F02EA0E449D}"/>
              </a:ext>
            </a:extLst>
          </p:cNvPr>
          <p:cNvSpPr txBox="1"/>
          <p:nvPr/>
        </p:nvSpPr>
        <p:spPr>
          <a:xfrm>
            <a:off x="3791212" y="3674470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.7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488;p26">
            <a:extLst>
              <a:ext uri="{FF2B5EF4-FFF2-40B4-BE49-F238E27FC236}">
                <a16:creationId xmlns:a16="http://schemas.microsoft.com/office/drawing/2014/main" id="{193A8308-E9B7-A4D6-55B6-54A038FF248C}"/>
              </a:ext>
            </a:extLst>
          </p:cNvPr>
          <p:cNvSpPr txBox="1"/>
          <p:nvPr/>
        </p:nvSpPr>
        <p:spPr>
          <a:xfrm>
            <a:off x="5326713" y="3678947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A20"/>
              </a:buClr>
              <a:buSzPts val="1300"/>
              <a:buFont typeface="Courier New"/>
              <a:buNone/>
            </a:pPr>
            <a:r>
              <a:rPr lang="en-US" sz="1300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25.1</a:t>
            </a:r>
            <a:endParaRPr sz="13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490;p26">
            <a:extLst>
              <a:ext uri="{FF2B5EF4-FFF2-40B4-BE49-F238E27FC236}">
                <a16:creationId xmlns:a16="http://schemas.microsoft.com/office/drawing/2014/main" id="{1F4BD9CB-6626-AA48-5251-D0873A5EEA11}"/>
              </a:ext>
            </a:extLst>
          </p:cNvPr>
          <p:cNvSpPr txBox="1"/>
          <p:nvPr/>
        </p:nvSpPr>
        <p:spPr>
          <a:xfrm>
            <a:off x="6881881" y="3690935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3.7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490;p26">
            <a:extLst>
              <a:ext uri="{FF2B5EF4-FFF2-40B4-BE49-F238E27FC236}">
                <a16:creationId xmlns:a16="http://schemas.microsoft.com/office/drawing/2014/main" id="{6F881627-C19C-6BCB-A6BA-117376D887AD}"/>
              </a:ext>
            </a:extLst>
          </p:cNvPr>
          <p:cNvSpPr txBox="1"/>
          <p:nvPr/>
        </p:nvSpPr>
        <p:spPr>
          <a:xfrm>
            <a:off x="8420627" y="3684251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5.5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490;p26">
            <a:extLst>
              <a:ext uri="{FF2B5EF4-FFF2-40B4-BE49-F238E27FC236}">
                <a16:creationId xmlns:a16="http://schemas.microsoft.com/office/drawing/2014/main" id="{606EFD05-A6B4-F668-2567-5D438F004B32}"/>
              </a:ext>
            </a:extLst>
          </p:cNvPr>
          <p:cNvSpPr txBox="1"/>
          <p:nvPr/>
        </p:nvSpPr>
        <p:spPr>
          <a:xfrm>
            <a:off x="9969205" y="3687593"/>
            <a:ext cx="15453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16302B"/>
                </a:solidFill>
                <a:latin typeface="Courier New"/>
                <a:ea typeface="Courier New"/>
                <a:cs typeface="Courier New"/>
                <a:sym typeface="Courier New"/>
              </a:rPr>
              <a:t>14.6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09;p26">
            <a:extLst>
              <a:ext uri="{FF2B5EF4-FFF2-40B4-BE49-F238E27FC236}">
                <a16:creationId xmlns:a16="http://schemas.microsoft.com/office/drawing/2014/main" id="{F0380838-4C6B-4B04-9409-2220471C7D28}"/>
              </a:ext>
            </a:extLst>
          </p:cNvPr>
          <p:cNvSpPr txBox="1"/>
          <p:nvPr/>
        </p:nvSpPr>
        <p:spPr>
          <a:xfrm>
            <a:off x="705466" y="4471515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1550"/>
              <a:buFont typeface="Calibri"/>
              <a:buNone/>
            </a:pPr>
            <a:r>
              <a:rPr lang="en-US" sz="1550" b="0" i="0" u="none" strike="noStrike" cap="none" dirty="0">
                <a:solidFill>
                  <a:srgbClr val="16302B"/>
                </a:solidFill>
                <a:latin typeface="Calibri"/>
                <a:ea typeface="Calibri"/>
                <a:cs typeface="Calibri"/>
                <a:sym typeface="Calibri"/>
              </a:rPr>
              <a:t>Each number is how much the two replicates differ, as a percentage of the normal value there. Small = they agree.</a:t>
            </a: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10;p26">
            <a:extLst>
              <a:ext uri="{FF2B5EF4-FFF2-40B4-BE49-F238E27FC236}">
                <a16:creationId xmlns:a16="http://schemas.microsoft.com/office/drawing/2014/main" id="{43BD80DF-A6B0-024C-3BEB-5BAB7E54280F}"/>
              </a:ext>
            </a:extLst>
          </p:cNvPr>
          <p:cNvSpPr txBox="1"/>
          <p:nvPr/>
        </p:nvSpPr>
        <p:spPr>
          <a:xfrm>
            <a:off x="724540" y="4871098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50"/>
              <a:buFont typeface="Calibri"/>
              <a:buNone/>
            </a:pPr>
            <a:r>
              <a:rPr lang="en-US" sz="1550" b="1" i="0" u="none" strike="noStrike" cap="none" dirty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Read it two ways: along a row, is this condition reproducible? Down a column, is this acid reliable?</a:t>
            </a: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7332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8">
          <a:extLst>
            <a:ext uri="{FF2B5EF4-FFF2-40B4-BE49-F238E27FC236}">
              <a16:creationId xmlns:a16="http://schemas.microsoft.com/office/drawing/2014/main" id="{FA4208CF-7B33-2F41-5FC9-06FBA973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">
            <a:extLst>
              <a:ext uri="{FF2B5EF4-FFF2-40B4-BE49-F238E27FC236}">
                <a16:creationId xmlns:a16="http://schemas.microsoft.com/office/drawing/2014/main" id="{756ACCE9-37E9-1FC6-4C3C-FE5C405ACB61}"/>
              </a:ext>
            </a:extLst>
          </p:cNvPr>
          <p:cNvSpPr txBox="1"/>
          <p:nvPr/>
        </p:nvSpPr>
        <p:spPr>
          <a:xfrm>
            <a:off x="685800" y="347472"/>
            <a:ext cx="10817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12. READING 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>
            <a:extLst>
              <a:ext uri="{FF2B5EF4-FFF2-40B4-BE49-F238E27FC236}">
                <a16:creationId xmlns:a16="http://schemas.microsoft.com/office/drawing/2014/main" id="{A1467CF0-96ED-17F3-7F10-7871951422BA}"/>
              </a:ext>
            </a:extLst>
          </p:cNvPr>
          <p:cNvSpPr txBox="1"/>
          <p:nvPr/>
        </p:nvSpPr>
        <p:spPr>
          <a:xfrm>
            <a:off x="685800" y="603504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result: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BD67662-4FB4-E0E4-4BC6-E722D5BBF182}"/>
              </a:ext>
            </a:extLst>
          </p:cNvPr>
          <p:cNvGrpSpPr/>
          <p:nvPr/>
        </p:nvGrpSpPr>
        <p:grpSpPr>
          <a:xfrm>
            <a:off x="2944237" y="1499616"/>
            <a:ext cx="5334525" cy="4648405"/>
            <a:chOff x="2944237" y="1499616"/>
            <a:chExt cx="5334525" cy="464840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80BBCE6-598B-EC81-0DDF-9015F2E17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615" r="32379" b="51528"/>
            <a:stretch>
              <a:fillRect/>
            </a:stretch>
          </p:blipFill>
          <p:spPr>
            <a:xfrm>
              <a:off x="3392128" y="1499616"/>
              <a:ext cx="4886634" cy="4340628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76875194-B9D3-697F-784C-7494FBEBC7A4}"/>
                </a:ext>
              </a:extLst>
            </p:cNvPr>
            <p:cNvSpPr txBox="1"/>
            <p:nvPr/>
          </p:nvSpPr>
          <p:spPr>
            <a:xfrm>
              <a:off x="4500129" y="5840244"/>
              <a:ext cx="31886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Control                  A                        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9BE4A071-A0D7-3331-F0C6-ED62E8599980}"/>
                    </a:ext>
                  </a:extLst>
                </p:cNvPr>
                <p:cNvSpPr txBox="1"/>
                <p:nvPr/>
              </p:nvSpPr>
              <p:spPr>
                <a:xfrm rot="16200000">
                  <a:off x="2104103" y="3371985"/>
                  <a:ext cx="198804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dirty="0" err="1"/>
                    <a:t>Concentration</a:t>
                  </a:r>
                  <a:r>
                    <a:rPr lang="es-ES" dirty="0"/>
                    <a:t> (</a:t>
                  </a:r>
                  <a14:m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nor/>
                        </m:rPr>
                        <a:rPr lang="es-ES" i="0" smtClean="0">
                          <a:latin typeface="Cambria Math" panose="02040503050406030204" pitchFamily="18" charset="0"/>
                        </a:rPr>
                        <m:t>g/ml</m:t>
                      </m:r>
                    </m:oMath>
                  </a14:m>
                  <a:r>
                    <a:rPr lang="es-ES" dirty="0"/>
                    <a:t>) </a:t>
                  </a:r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9BE4A071-A0D7-3331-F0C6-ED62E8599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104103" y="3371985"/>
                  <a:ext cx="1988045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4000" r="-20000" b="-92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44418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"/>
          <p:cNvSpPr txBox="1"/>
          <p:nvPr/>
        </p:nvSpPr>
        <p:spPr>
          <a:xfrm>
            <a:off x="685800" y="457200"/>
            <a:ext cx="108173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What to take away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685800" y="1371600"/>
            <a:ext cx="5180076" cy="566928"/>
          </a:xfrm>
          <a:prstGeom prst="roundRect">
            <a:avLst>
              <a:gd name="adj" fmla="val 8065"/>
            </a:avLst>
          </a:prstGeom>
          <a:solidFill>
            <a:srgbClr val="24523E"/>
          </a:solidFill>
          <a:ln w="9525" cap="flat" cmpd="sng">
            <a:solidFill>
              <a:srgbClr val="2F6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"/>
          <p:cNvSpPr txBox="1"/>
          <p:nvPr/>
        </p:nvSpPr>
        <p:spPr>
          <a:xfrm>
            <a:off x="886968" y="1371600"/>
            <a:ext cx="47777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r>
              <a:rPr lang="en-US" sz="1350" b="0" i="0" u="none" strike="noStrike" cap="non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picks ROWS, trims vertically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6323076" y="1371600"/>
            <a:ext cx="5180076" cy="566928"/>
          </a:xfrm>
          <a:prstGeom prst="roundRect">
            <a:avLst>
              <a:gd name="adj" fmla="val 8065"/>
            </a:avLst>
          </a:prstGeom>
          <a:solidFill>
            <a:srgbClr val="24523E"/>
          </a:solidFill>
          <a:ln w="9525" cap="flat" cmpd="sng">
            <a:solidFill>
              <a:srgbClr val="2F6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"/>
          <p:cNvSpPr txBox="1"/>
          <p:nvPr/>
        </p:nvSpPr>
        <p:spPr>
          <a:xfrm>
            <a:off x="6524244" y="1371600"/>
            <a:ext cx="47777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select()</a:t>
            </a:r>
            <a:r>
              <a:rPr lang="en-US" sz="1350" b="0" i="0" u="none" strike="noStrike" cap="non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picks COLUMNS, trims horizontally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685800" y="2057400"/>
            <a:ext cx="5180076" cy="566928"/>
          </a:xfrm>
          <a:prstGeom prst="roundRect">
            <a:avLst>
              <a:gd name="adj" fmla="val 8065"/>
            </a:avLst>
          </a:prstGeom>
          <a:solidFill>
            <a:srgbClr val="24523E"/>
          </a:solidFill>
          <a:ln w="9525" cap="flat" cmpd="sng">
            <a:solidFill>
              <a:srgbClr val="2F6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9"/>
          <p:cNvSpPr txBox="1"/>
          <p:nvPr/>
        </p:nvSpPr>
        <p:spPr>
          <a:xfrm>
            <a:off x="886968" y="2057400"/>
            <a:ext cx="47777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arrange()</a:t>
            </a:r>
            <a:r>
              <a:rPr lang="en-US" sz="1350" b="0" i="0" u="none" strike="noStrike" cap="non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sorts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6323076" y="2057400"/>
            <a:ext cx="5180076" cy="566928"/>
          </a:xfrm>
          <a:prstGeom prst="roundRect">
            <a:avLst>
              <a:gd name="adj" fmla="val 8065"/>
            </a:avLst>
          </a:prstGeom>
          <a:solidFill>
            <a:srgbClr val="24523E"/>
          </a:solidFill>
          <a:ln w="9525" cap="flat" cmpd="sng">
            <a:solidFill>
              <a:srgbClr val="2F6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9"/>
          <p:cNvSpPr txBox="1"/>
          <p:nvPr/>
        </p:nvSpPr>
        <p:spPr>
          <a:xfrm>
            <a:off x="6524244" y="2057400"/>
            <a:ext cx="47777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mutate()</a:t>
            </a:r>
            <a:r>
              <a:rPr lang="en-US" sz="1350" b="0" i="0" u="none" strike="noStrike" cap="non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adds a column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685800" y="2743200"/>
            <a:ext cx="5180076" cy="566928"/>
          </a:xfrm>
          <a:prstGeom prst="roundRect">
            <a:avLst>
              <a:gd name="adj" fmla="val 8065"/>
            </a:avLst>
          </a:prstGeom>
          <a:solidFill>
            <a:srgbClr val="24523E"/>
          </a:solidFill>
          <a:ln w="9525" cap="flat" cmpd="sng">
            <a:solidFill>
              <a:srgbClr val="2F6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9"/>
          <p:cNvSpPr txBox="1"/>
          <p:nvPr/>
        </p:nvSpPr>
        <p:spPr>
          <a:xfrm>
            <a:off x="886968" y="2743200"/>
            <a:ext cx="47777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summarise()</a:t>
            </a:r>
            <a:r>
              <a:rPr lang="en-US" sz="1350" b="0" i="0" u="none" strike="noStrike" cap="non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reduces to one number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6323076" y="2743200"/>
            <a:ext cx="5180076" cy="566928"/>
          </a:xfrm>
          <a:prstGeom prst="roundRect">
            <a:avLst>
              <a:gd name="adj" fmla="val 8065"/>
            </a:avLst>
          </a:prstGeom>
          <a:solidFill>
            <a:srgbClr val="24523E"/>
          </a:solidFill>
          <a:ln w="9525" cap="flat" cmpd="sng">
            <a:solidFill>
              <a:srgbClr val="2F6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9"/>
          <p:cNvSpPr txBox="1"/>
          <p:nvPr/>
        </p:nvSpPr>
        <p:spPr>
          <a:xfrm>
            <a:off x="6524244" y="2743200"/>
            <a:ext cx="47777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50"/>
              <a:buFont typeface="Courier New"/>
              <a:buNone/>
            </a:pPr>
            <a:r>
              <a:rPr lang="en-US" sz="1350" b="1" i="0" u="none" strike="noStrike" cap="none">
                <a:solidFill>
                  <a:srgbClr val="E9C46A"/>
                </a:solidFill>
                <a:latin typeface="Courier New"/>
                <a:ea typeface="Courier New"/>
                <a:cs typeface="Courier New"/>
                <a:sym typeface="Courier New"/>
              </a:rPr>
              <a:t>group_by()</a:t>
            </a:r>
            <a:r>
              <a:rPr lang="en-US" sz="1350" b="0" i="0" u="none" strike="noStrike" cap="non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makes summarise work per group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 txBox="1"/>
          <p:nvPr/>
        </p:nvSpPr>
        <p:spPr>
          <a:xfrm>
            <a:off x="685800" y="36576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 steps by storing each result in a variable.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9"/>
          <p:cNvSpPr txBox="1"/>
          <p:nvPr/>
        </p:nvSpPr>
        <p:spPr>
          <a:xfrm>
            <a:off x="685800" y="406908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700"/>
              <a:buFont typeface="Calibri"/>
              <a:buNone/>
            </a:pPr>
            <a:r>
              <a:rPr lang="en-US" sz="1700" b="1" i="0" u="none" strike="noStrike" cap="none" dirty="0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Check the replicates.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2266</Words>
  <Application>Microsoft Office PowerPoint</Application>
  <PresentationFormat>Panorámica</PresentationFormat>
  <Paragraphs>355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</vt:lpstr>
      <vt:lpstr>Cambria Math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Basic R Course</dc:creator>
  <cp:lastModifiedBy>Alba Pérez Cuervo</cp:lastModifiedBy>
  <cp:revision>8</cp:revision>
  <dcterms:created xsi:type="dcterms:W3CDTF">2026-09-10T13:49:29Z</dcterms:created>
  <dcterms:modified xsi:type="dcterms:W3CDTF">2026-09-27T07:57:19Z</dcterms:modified>
</cp:coreProperties>
</file>
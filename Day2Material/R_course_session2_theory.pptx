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2" roundtripDataSignature="AMtx7mhjPmmv4x5zkAMc50skMZ/4zlt3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" name="Google Shape;2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" name="Google Shape;3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" name="Google Shape;7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" name="Google Shape;9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8" name="Google Shape;10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" name="Google Shape;12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0" name="Google Shape;14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i="1"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6" name="Google Shape;25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4" name="Google Shape;284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1" name="Google Shape;30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5" name="Google Shape;325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5" name="Google Shape;33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6" name="Google Shape;336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0" name="Google Shape;360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9" name="Google Shape;369;p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7" name="Google Shape;387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9" name="Google Shape;39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7" name="Google Shape;447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3" name="Google Shape;513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4" name="Google Shape;514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5" name="Google Shape;525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6" name="Google Shape;526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9" name="Google Shape;549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433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417320"/>
            <a:ext cx="2377440" cy="475488"/>
          </a:xfrm>
          <a:prstGeom prst="roundRect">
            <a:avLst>
              <a:gd fmla="val 19231" name="adj"/>
            </a:avLst>
          </a:prstGeom>
          <a:solidFill>
            <a:srgbClr val="40916C"/>
          </a:solidFill>
          <a:ln cap="flat" cmpd="sng" w="12700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685800" y="141732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685800" y="2103120"/>
            <a:ext cx="1081735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Handling tables and plotting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685800" y="3063240"/>
            <a:ext cx="9902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dplyr      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85800" y="3886200"/>
            <a:ext cx="2926080" cy="0"/>
          </a:xfrm>
          <a:prstGeom prst="straightConnector1">
            <a:avLst/>
          </a:prstGeom>
          <a:noFill/>
          <a:ln cap="flat" cmpd="sng" w="381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1"/>
          <p:cNvSpPr txBox="1"/>
          <p:nvPr/>
        </p:nvSpPr>
        <p:spPr>
          <a:xfrm>
            <a:off x="685800" y="4114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Same data as last time. Now we make it talk.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SETUP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Getting started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685800" y="1417320"/>
            <a:ext cx="10817352" cy="1862328"/>
          </a:xfrm>
          <a:prstGeom prst="roundRect">
            <a:avLst>
              <a:gd fmla="val 2946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886968" y="1581912"/>
            <a:ext cx="10415016" cy="15331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install.packages("dplyr")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only the very first time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library(dplyr)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every session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  &lt;- read.csv("input/acids.csv")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3483102" y="3520440"/>
            <a:ext cx="5225796" cy="1371600"/>
          </a:xfrm>
          <a:prstGeom prst="roundRect">
            <a:avLst>
              <a:gd fmla="val 3333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3684270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acids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3684270" y="4050792"/>
            <a:ext cx="48234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6 rows and 9 columns. One row per vessel: the six organic acids measured once in each.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85800" y="5120640"/>
            <a:ext cx="10817352" cy="566928"/>
          </a:xfrm>
          <a:prstGeom prst="roundRect">
            <a:avLst>
              <a:gd fmla="val 806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86968" y="519379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Install once, load every session. If library(dplyr) fails, the package is not installed on this machine.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1. DPLYR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six verbs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685800" y="141732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914400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914400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 txBox="1"/>
          <p:nvPr/>
        </p:nvSpPr>
        <p:spPr>
          <a:xfrm>
            <a:off x="914400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vertically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4383024" y="141732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4611624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 txBox="1"/>
          <p:nvPr/>
        </p:nvSpPr>
        <p:spPr>
          <a:xfrm>
            <a:off x="4611624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4611624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horizontally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8080248" y="141732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8308848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8308848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SORTS the rows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8308848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same table, different order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85800" y="283464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914400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914400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914400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computed from the others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383024" y="283464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4611624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REDUCES to one number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many rows become one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080248" y="2834640"/>
            <a:ext cx="3422904" cy="123444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8308848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308848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does it PER GROUP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8308848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makes summarise work by group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85800" y="4389120"/>
            <a:ext cx="10817352" cy="914400"/>
          </a:xfrm>
          <a:prstGeom prst="roundRect">
            <a:avLst>
              <a:gd fmla="val 6000" name="adj"/>
            </a:avLst>
          </a:prstGeom>
          <a:solidFill>
            <a:srgbClr val="1B4332"/>
          </a:solidFill>
          <a:ln cap="flat" cmpd="sng" w="12700">
            <a:solidFill>
              <a:srgbClr val="1B43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1051560" y="438912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They are all written the same way, and the first argument is ALWAYS the table:      verb(table, what_I_want)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2. FILTER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filter(): picking rows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give it a condition. It keeps the rows that meet it and touches nothing else.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fmla="val 3502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only the rows of product 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product == "B")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2 remain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butyric &gt; 1000)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 remain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fmla="val 370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columns stay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 column is still there. Only the number of rows changes.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It does not save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shows the result. To keep it you need  &lt;-  , as always.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85800" y="4754880"/>
            <a:ext cx="10817352" cy="566928"/>
          </a:xfrm>
          <a:prstGeom prst="roundRect">
            <a:avLst>
              <a:gd fmla="val 806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6"/>
          <p:cNvSpPr txBox="1"/>
          <p:nvPr/>
        </p:nvSpPr>
        <p:spPr>
          <a:xfrm>
            <a:off x="886968" y="482803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To compare you write a DOUBLE equals sign  ==  . A single  =  means something else entirely.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Your first filter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fmla="val 3650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Control rows of  acids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 a number: keep the rows whose acetic acid is above 3000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is equal 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3. SELECT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select(): picking columns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opposite of filter(). All the rows are kept; you choose which columns to see.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fmla="val 3502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just two columns: sample and butyric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sample, butyric)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rows, but 2 columns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-formic)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minus REMOVES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formic:citric)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range of columns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fmla="val 370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No quotes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Column names are written bare, without quotation marks.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Order matters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columns come out in the order you asked for them.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685800" y="4754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filter trims vertically, select trims horizontally. Between the two you can reach any part of a table.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Choosing columns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fmla="val 3650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columns  sample,  product  and  acetic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the reverse: show every column EXCEPT propionic (the minus sign)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4. ARRANGE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arrange(): sorting the rows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removes nothing and adds nothing. It only changes the order.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685800" y="1828800"/>
            <a:ext cx="10817352" cy="1000760"/>
          </a:xfrm>
          <a:prstGeom prst="roundRect">
            <a:avLst>
              <a:gd fmla="val 5482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0"/>
          <p:cNvSpPr txBox="1"/>
          <p:nvPr/>
        </p:nvSpPr>
        <p:spPr>
          <a:xfrm>
            <a:off x="886968" y="1993392"/>
            <a:ext cx="10415016" cy="9315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sort the samples by butyric acid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butyric)</a:t>
            </a:r>
            <a:r>
              <a:rPr b="0" i="0" lang="en-US" sz="15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lowest to highest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b="1" i="0" lang="en-US" sz="16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desc(butyric))</a:t>
            </a:r>
            <a:r>
              <a:rPr b="0" i="0" lang="en-US" sz="15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desc = from highest to lowest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685800" y="3200400"/>
            <a:ext cx="10817352" cy="1097280"/>
          </a:xfrm>
          <a:prstGeom prst="roundRect">
            <a:avLst>
              <a:gd fmla="val 4167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 txBox="1"/>
          <p:nvPr/>
        </p:nvSpPr>
        <p:spPr>
          <a:xfrm>
            <a:off x="886968" y="3364992"/>
            <a:ext cx="1041501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Why it matters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886968" y="3730752"/>
            <a:ext cx="1041501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Sorting is how you find the extremes without computing anything: the first row is the smallest, the last one is the largest.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Sorting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fmla="val 3650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propionic acid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without desc(): sort from lowest to highest formic acid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 rows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1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5. MUTATE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mutate(): adding a column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computes something from the columns you already have and sticks the result on at the end.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685800" y="1828800"/>
            <a:ext cx="10817352" cy="1271016"/>
          </a:xfrm>
          <a:prstGeom prst="roundRect">
            <a:avLst>
              <a:gd fmla="val 4317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2"/>
          <p:cNvSpPr txBox="1"/>
          <p:nvPr/>
        </p:nvSpPr>
        <p:spPr>
          <a:xfrm>
            <a:off x="886968" y="1993392"/>
            <a:ext cx="10415016" cy="1201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add the two good acids into one column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mutate(acids, scfa = butyric + propionic)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9 columns -&gt; 10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&lt;- mutate(acids, scfa = butyric + propionic)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now it is kept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685800" y="3566160"/>
            <a:ext cx="10817352" cy="1005840"/>
          </a:xfrm>
          <a:prstGeom prst="roundRect">
            <a:avLst>
              <a:gd fmla="val 5455" name="adj"/>
            </a:avLst>
          </a:prstGeom>
          <a:solidFill>
            <a:srgbClr val="1B4332"/>
          </a:solidFill>
          <a:ln cap="flat" cmpd="sng" w="12700">
            <a:solidFill>
              <a:srgbClr val="1B43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"/>
          <p:cNvSpPr txBox="1"/>
          <p:nvPr/>
        </p:nvSpPr>
        <p:spPr>
          <a:xfrm>
            <a:off x="1051560" y="3566160"/>
            <a:ext cx="1008583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mutate() only shows the new column on screen. Without  &lt;-  the table is unchanged.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 txBox="1"/>
          <p:nvPr/>
        </p:nvSpPr>
        <p:spPr>
          <a:xfrm>
            <a:off x="685800" y="4800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scfa = short chain fatty acids: butyric plus propionic, the two the hypothesis is about.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 new column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fmla="val 3650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3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Create a column  ratio  that is  butyric  divided by  acetic</a:t>
            </a:r>
            <a:endParaRPr b="0" i="0" sz="1600" u="none" cap="none" strike="noStrike">
              <a:solidFill>
                <a:schemeClr val="dk1"/>
              </a:solidFill>
              <a:highlight>
                <a:srgbClr val="9C3A2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Easier one: create a column acetic_lactic that adds acetic and lactic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3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3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3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3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3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round()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rounding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</a:t>
            </a:r>
            <a:r>
              <a:rPr b="1" lang="en-US" sz="130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4.1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Quick review: arrange + select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fmla="val 2646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 scfa  (the column you made with mutate)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Then show only the columns  sample  and  scfa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6. SUMMARISE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summarise(): reducing to one number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685800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In session 1 we would have written this: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685800" y="1691640"/>
            <a:ext cx="5225796" cy="679704"/>
          </a:xfrm>
          <a:prstGeom prst="roundRect">
            <a:avLst>
              <a:gd fmla="val 8072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886968" y="1856232"/>
            <a:ext cx="4823460" cy="35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mean(acids$butyric)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6277356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summarise() does the same, but returns a TABLE: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6277356" y="1691640"/>
            <a:ext cx="5225796" cy="975360"/>
          </a:xfrm>
          <a:prstGeom prst="roundRect">
            <a:avLst>
              <a:gd fmla="val 5625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6478524" y="1856232"/>
            <a:ext cx="4823460" cy="906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butyric, as a one-row table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mean_butyric = mean(butyric))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685800" y="283464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can ask for several numbers at once: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685800" y="3200400"/>
            <a:ext cx="10817352" cy="1271016"/>
          </a:xfrm>
          <a:prstGeom prst="roundRect">
            <a:avLst>
              <a:gd fmla="val 4317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886968" y="336499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mean_butyric   = mean(butyric),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mean_propionic = mean(propionic))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685800" y="4754880"/>
            <a:ext cx="10817352" cy="914400"/>
          </a:xfrm>
          <a:prstGeom prst="roundRect">
            <a:avLst>
              <a:gd fmla="val 6000" name="adj"/>
            </a:avLst>
          </a:prstGeom>
          <a:solidFill>
            <a:srgbClr val="1B4332"/>
          </a:solidFill>
          <a:ln cap="flat" cmpd="sng" w="12700">
            <a:solidFill>
              <a:srgbClr val="1B43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1051560" y="475488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 why bother, if mean() already worked? Because of what comes next: summarise() can do it per group, and plain mean() cannot.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7. GROUP_BY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group_by(): one number per group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6"/>
          <p:cNvSpPr txBox="1"/>
          <p:nvPr/>
        </p:nvSpPr>
        <p:spPr>
          <a:xfrm>
            <a:off x="685800" y="1325880"/>
            <a:ext cx="1081735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Everything so far gives ONE number for the whole table. What we want is one for Control, one for A and one for B, so we can compare them.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6"/>
          <p:cNvSpPr txBox="1"/>
          <p:nvPr/>
        </p:nvSpPr>
        <p:spPr>
          <a:xfrm>
            <a:off x="685800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By hand: 6 lines for 3 products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685800" y="2286000"/>
            <a:ext cx="5180076" cy="2043684"/>
          </a:xfrm>
          <a:prstGeom prst="roundRect">
            <a:avLst>
              <a:gd fmla="val 2685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6"/>
          <p:cNvSpPr txBox="1"/>
          <p:nvPr/>
        </p:nvSpPr>
        <p:spPr>
          <a:xfrm>
            <a:off x="886968" y="2450592"/>
            <a:ext cx="477774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control_rows &lt;- filter(acids,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product == "Control")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mean(control_rows$butyric)</a:t>
            </a:r>
            <a:r>
              <a:rPr b="0" i="0" lang="en-US" sz="125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491.8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... and the same again for A,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and again for B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6"/>
          <p:cNvSpPr txBox="1"/>
          <p:nvPr/>
        </p:nvSpPr>
        <p:spPr>
          <a:xfrm>
            <a:off x="6323076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With group_by: 2 lines, any number of products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6323076" y="2286000"/>
            <a:ext cx="5180076" cy="2048256"/>
          </a:xfrm>
          <a:prstGeom prst="roundRect">
            <a:avLst>
              <a:gd fmla="val 2679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 txBox="1"/>
          <p:nvPr/>
        </p:nvSpPr>
        <p:spPr>
          <a:xfrm>
            <a:off x="6524244" y="2450592"/>
            <a:ext cx="4777740" cy="19790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 per product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 &lt;- group_by(acids,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product)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summarise(by_product,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mean_butyric = mean(butyric))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685800" y="4617720"/>
            <a:ext cx="10817352" cy="566928"/>
          </a:xfrm>
          <a:prstGeom prst="roundRect">
            <a:avLst>
              <a:gd fmla="val 806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6"/>
          <p:cNvSpPr txBox="1"/>
          <p:nvPr/>
        </p:nvSpPr>
        <p:spPr>
          <a:xfrm>
            <a:off x="886968" y="46908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group_by() displays nothing new. It only marks which rows belong together. The work is done by the summarise() that follows it.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685800" y="457200"/>
            <a:ext cx="246888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 txBox="1"/>
          <p:nvPr/>
        </p:nvSpPr>
        <p:spPr>
          <a:xfrm>
            <a:off x="685800" y="45720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One number per product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685800" y="1828800"/>
            <a:ext cx="5225796" cy="2377440"/>
          </a:xfrm>
          <a:prstGeom prst="roundRect">
            <a:avLst>
              <a:gd fmla="val 1923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 txBox="1"/>
          <p:nvPr/>
        </p:nvSpPr>
        <p:spPr>
          <a:xfrm>
            <a:off x="960120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7"/>
          <p:cNvSpPr txBox="1"/>
          <p:nvPr/>
        </p:nvSpPr>
        <p:spPr>
          <a:xfrm>
            <a:off x="960120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b="0" i="0" lang="en-US" sz="15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mean of PROPIONIC acid per product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b="0" i="0" lang="en-US" sz="15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lines: first group, then summarise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6277356" y="1828800"/>
            <a:ext cx="5225796" cy="2377440"/>
          </a:xfrm>
          <a:prstGeom prst="roundRect">
            <a:avLst>
              <a:gd fmla="val 1923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 txBox="1"/>
          <p:nvPr/>
        </p:nvSpPr>
        <p:spPr>
          <a:xfrm>
            <a:off x="6551676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6b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7"/>
          <p:cNvSpPr txBox="1"/>
          <p:nvPr/>
        </p:nvSpPr>
        <p:spPr>
          <a:xfrm>
            <a:off x="6551676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question: how MANY samples does each product have?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Use n() to count the rows in each group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85800" y="438912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685800" y="4773168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685800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b="1" i="0" lang="en-US" sz="12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7"/>
          <p:cNvSpPr txBox="1"/>
          <p:nvPr/>
        </p:nvSpPr>
        <p:spPr>
          <a:xfrm>
            <a:off x="685800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2511552" y="4773168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2511552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b="1" i="0" lang="en-US" sz="12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7"/>
          <p:cNvSpPr txBox="1"/>
          <p:nvPr/>
        </p:nvSpPr>
        <p:spPr>
          <a:xfrm>
            <a:off x="2511552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4337304" y="4773168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 txBox="1"/>
          <p:nvPr/>
        </p:nvSpPr>
        <p:spPr>
          <a:xfrm>
            <a:off x="4337304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b="1" i="0" lang="en-US" sz="12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7"/>
          <p:cNvSpPr txBox="1"/>
          <p:nvPr/>
        </p:nvSpPr>
        <p:spPr>
          <a:xfrm>
            <a:off x="4337304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6163056" y="4773168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 txBox="1"/>
          <p:nvPr/>
        </p:nvSpPr>
        <p:spPr>
          <a:xfrm>
            <a:off x="6163056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b="1" lang="en-US" sz="125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b="1" i="0" lang="en-US" sz="12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6163056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685800" y="56692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8. ONE VERB IS NEVER ENOUGH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Chaining steps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To do several things in a row, store each step in a variable and hand it to the next verb. An assembly line.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8"/>
          <p:cNvSpPr/>
          <p:nvPr/>
        </p:nvSpPr>
        <p:spPr>
          <a:xfrm>
            <a:off x="685800" y="1874520"/>
            <a:ext cx="10817352" cy="1271016"/>
          </a:xfrm>
          <a:prstGeom prst="roundRect">
            <a:avLst>
              <a:gd fmla="val 4317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886968" y="203911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r1_only &lt;- filter(acids, replicate == 1)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   &lt;- select(r1_only, sample, formic, acetic)</a:t>
            </a:r>
            <a:r>
              <a:rPr b="0" i="0" lang="en-US" sz="14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that, keep 3 columns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685800" y="3520440"/>
            <a:ext cx="5225796" cy="1234440"/>
          </a:xfrm>
          <a:prstGeom prst="roundRect">
            <a:avLst>
              <a:gd fmla="val 3704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886968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output is the input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 txBox="1"/>
          <p:nvPr/>
        </p:nvSpPr>
        <p:spPr>
          <a:xfrm>
            <a:off x="886968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result of step 1 is the table that step 2 works on.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6277356" y="3520440"/>
            <a:ext cx="5225796" cy="1234440"/>
          </a:xfrm>
          <a:prstGeom prst="roundRect">
            <a:avLst>
              <a:gd fmla="val 3704" name="adj"/>
            </a:avLst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6478524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Name them well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6478524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Names that say what they contain, not step1 and step2.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685800" y="493776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"pipe"  |&gt;  chains the same steps in one line:   acids |&gt; filter(replicate == 1) |&gt; select(sample, formic, acetic).  Optional </a:t>
            </a:r>
            <a:r>
              <a:rPr i="1" lang="en-US" sz="1450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0" i="1" lang="en-US" sz="14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 we just show it once so it does not surprise you online.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steps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9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fmla="val 2646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product 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butyric acid, storing each step in a variable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Char char="▪"/>
            </a:pPr>
            <a:r>
              <a:rPr b="0" i="1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Optional: redo it in ONE line with the pipe  |&gt;  (no in-between variables)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9"/>
          <p:cNvSpPr/>
          <p:nvPr/>
        </p:nvSpPr>
        <p:spPr>
          <a:xfrm>
            <a:off x="6163056" y="4123944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9"/>
          <p:cNvSpPr txBox="1"/>
          <p:nvPr/>
        </p:nvSpPr>
        <p:spPr>
          <a:xfrm>
            <a:off x="6163056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163056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stores it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0"/>
          <p:cNvSpPr txBox="1"/>
          <p:nvPr/>
        </p:nvSpPr>
        <p:spPr>
          <a:xfrm>
            <a:off x="685800" y="347472"/>
            <a:ext cx="10817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9. THREE VERBS CHAINED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 txBox="1"/>
          <p:nvPr/>
        </p:nvSpPr>
        <p:spPr>
          <a:xfrm>
            <a:off x="685800" y="603504"/>
            <a:ext cx="108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summary table 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0"/>
          <p:cNvSpPr/>
          <p:nvPr/>
        </p:nvSpPr>
        <p:spPr>
          <a:xfrm>
            <a:off x="685800" y="1559701"/>
            <a:ext cx="10817400" cy="2364600"/>
          </a:xfrm>
          <a:prstGeom prst="roundRect">
            <a:avLst>
              <a:gd fmla="val 2320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20"/>
          <p:cNvSpPr txBox="1"/>
          <p:nvPr/>
        </p:nvSpPr>
        <p:spPr>
          <a:xfrm>
            <a:off x="886968" y="1724293"/>
            <a:ext cx="10415100" cy="20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 &lt;- group_by(acids, product)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1) group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summary_table &lt;- summarise(by_product,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2) one mean per group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butyric   = round(mean(butyric), 1),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propionic = round(mean(propionic), 1))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summary_table &lt;- arrange(summary_table, desc(butyric))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3) sort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0"/>
          <p:cNvSpPr/>
          <p:nvPr/>
        </p:nvSpPr>
        <p:spPr>
          <a:xfrm>
            <a:off x="685800" y="4797278"/>
            <a:ext cx="10817400" cy="660600"/>
          </a:xfrm>
          <a:prstGeom prst="roundRect">
            <a:avLst>
              <a:gd fmla="val 8304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886968" y="4961870"/>
            <a:ext cx="10415100" cy="3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write.csv(summary_table, "output/acids_summary.csv", row.names = FALSE)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Filter, sort, save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fmla="val 2075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replicate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propionic acid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the result in  output/replicate2_propionic.csv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fmla="val 7692" name="adj"/>
            </a:avLst>
          </a:prstGeom>
          <a:solidFill>
            <a:srgbClr val="F1F4F2"/>
          </a:solidFill>
          <a:ln cap="flat" cmpd="sng" w="9525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4332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"/>
          <p:cNvSpPr/>
          <p:nvPr/>
        </p:nvSpPr>
        <p:spPr>
          <a:xfrm>
            <a:off x="685800" y="2286000"/>
            <a:ext cx="914400" cy="9144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685800" y="22860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2011680" y="2240280"/>
            <a:ext cx="94914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 the two replicates agree?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2011680" y="3063240"/>
            <a:ext cx="9491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Before you summarise anything, check that the experiment repeats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3"/>
          <p:cNvSpPr txBox="1"/>
          <p:nvPr/>
        </p:nvSpPr>
        <p:spPr>
          <a:xfrm>
            <a:off x="685800" y="347472"/>
            <a:ext cx="10817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THE DISTINCTION OF THE COURSE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3"/>
          <p:cNvSpPr txBox="1"/>
          <p:nvPr/>
        </p:nvSpPr>
        <p:spPr>
          <a:xfrm>
            <a:off x="685800" y="603504"/>
            <a:ext cx="108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replicates vs technical repetitions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 txBox="1"/>
          <p:nvPr/>
        </p:nvSpPr>
        <p:spPr>
          <a:xfrm>
            <a:off x="685800" y="1325880"/>
            <a:ext cx="1081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Both are "repeating the measurement". They do not mean the same thing, and they do not count the same.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/>
          <p:nvPr/>
        </p:nvSpPr>
        <p:spPr>
          <a:xfrm>
            <a:off x="685800" y="1828800"/>
            <a:ext cx="5180100" cy="2743200"/>
          </a:xfrm>
          <a:prstGeom prst="roundRect">
            <a:avLst>
              <a:gd fmla="val 2000" name="adj"/>
            </a:avLst>
          </a:prstGeom>
          <a:solidFill>
            <a:srgbClr val="D8F3DC"/>
          </a:solidFill>
          <a:ln cap="flat" cmpd="sng" w="12700">
            <a:solidFill>
              <a:srgbClr val="4091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 txBox="1"/>
          <p:nvPr/>
        </p:nvSpPr>
        <p:spPr>
          <a:xfrm>
            <a:off x="1005840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3"/>
          <p:cNvSpPr txBox="1"/>
          <p:nvPr/>
        </p:nvSpPr>
        <p:spPr>
          <a:xfrm>
            <a:off x="1005840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ourier New"/>
                <a:ea typeface="Courier New"/>
                <a:cs typeface="Courier New"/>
                <a:sym typeface="Courier New"/>
              </a:rPr>
              <a:t>R1 and R2  -  the  replicate  column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3"/>
          <p:cNvSpPr txBox="1"/>
          <p:nvPr/>
        </p:nvSpPr>
        <p:spPr>
          <a:xfrm>
            <a:off x="1005840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separate fermentation vessels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real repetitions of the experiment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BIOLOGY is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6323076" y="1828800"/>
            <a:ext cx="5180100" cy="2743200"/>
          </a:xfrm>
          <a:prstGeom prst="roundRect">
            <a:avLst>
              <a:gd fmla="val 2000" name="adj"/>
            </a:avLst>
          </a:prstGeom>
          <a:solidFill>
            <a:srgbClr val="FFFFFF"/>
          </a:solidFill>
          <a:ln cap="flat" cmpd="sng" w="12700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3"/>
          <p:cNvSpPr txBox="1"/>
          <p:nvPr/>
        </p:nvSpPr>
        <p:spPr>
          <a:xfrm>
            <a:off x="6643116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Technical repetition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3"/>
          <p:cNvSpPr txBox="1"/>
          <p:nvPr/>
        </p:nvSpPr>
        <p:spPr>
          <a:xfrm>
            <a:off x="6643116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1, 2, 3  -  the  experiment  column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3"/>
          <p:cNvSpPr txBox="1"/>
          <p:nvPr/>
        </p:nvSpPr>
        <p:spPr>
          <a:xfrm>
            <a:off x="6643116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SAME liquid put on cells three times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batch of cells each time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b="0" i="0" lang="en-US" sz="14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ASSAY is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3"/>
          <p:cNvSpPr/>
          <p:nvPr/>
        </p:nvSpPr>
        <p:spPr>
          <a:xfrm>
            <a:off x="685800" y="4846320"/>
            <a:ext cx="10817400" cy="567000"/>
          </a:xfrm>
          <a:prstGeom prst="roundRect">
            <a:avLst>
              <a:gd fmla="val 806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3"/>
          <p:cNvSpPr txBox="1"/>
          <p:nvPr/>
        </p:nvSpPr>
        <p:spPr>
          <a:xfrm>
            <a:off x="886968" y="4919472"/>
            <a:ext cx="104151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Treating technical repetitions as if they were independent samples inflates your sample size and hands you significance that is not real.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10. BUILDING IT 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Comparing the two replicates, acid by acid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685800" y="1325880"/>
            <a:ext cx="108173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All six acids, not just one: if we looked at a single acid, the answer would depend on which one we happened to pick.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685800" y="1828800"/>
            <a:ext cx="10817352" cy="2930652"/>
          </a:xfrm>
          <a:prstGeom prst="roundRect">
            <a:avLst>
              <a:gd fmla="val 1872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4"/>
          <p:cNvSpPr txBox="1"/>
          <p:nvPr/>
        </p:nvSpPr>
        <p:spPr>
          <a:xfrm>
            <a:off x="886968" y="1993392"/>
            <a:ext cx="10415016" cy="2601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 &lt;- filter(acids, replicate == 1)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Control_R1, A_R1, B_R1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r2 &lt;- filter(acids, replicate == 2)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Control_R2, A_R2, B_R2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values_r1 &lt;- select(r1, formic:citric)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just the six acids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values_r2 &lt;- select(r2, formic:citric)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gap      &lt;- abs(values_r1 - values_r2)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how far apart they are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average  &lt;- (values_r1 + values_r2) / 2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typical value there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diff_pct &lt;- round(100 * gap / average, 1)</a:t>
            </a:r>
            <a:r>
              <a:rPr b="0" i="0" lang="en-US" sz="130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gap, as a 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fmla="val 806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886968" y="56052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Subtracting two tables of the same size works cell by cell: all 18 numbers at once. And abs() drops the minus sign, because we want how far apart they are, not which one was bigger.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5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11. THE KEY IDEA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5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Why do we divide by the average?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5"/>
          <p:cNvSpPr txBox="1"/>
          <p:nvPr/>
        </p:nvSpPr>
        <p:spPr>
          <a:xfrm>
            <a:off x="685800" y="132588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Two real numbers from this table: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5"/>
          <p:cNvSpPr/>
          <p:nvPr/>
        </p:nvSpPr>
        <p:spPr>
          <a:xfrm>
            <a:off x="685800" y="1737360"/>
            <a:ext cx="274320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5"/>
          <p:cNvSpPr txBox="1"/>
          <p:nvPr/>
        </p:nvSpPr>
        <p:spPr>
          <a:xfrm>
            <a:off x="685800" y="1737360"/>
            <a:ext cx="27432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76200" lIns="76200" spcFirstLastPara="1" rIns="76200" wrap="square" tIns="76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5"/>
          <p:cNvSpPr/>
          <p:nvPr/>
        </p:nvSpPr>
        <p:spPr>
          <a:xfrm>
            <a:off x="3429000" y="1737360"/>
            <a:ext cx="155448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5"/>
          <p:cNvSpPr txBox="1"/>
          <p:nvPr/>
        </p:nvSpPr>
        <p:spPr>
          <a:xfrm>
            <a:off x="3429000" y="1737360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5"/>
          <p:cNvSpPr/>
          <p:nvPr/>
        </p:nvSpPr>
        <p:spPr>
          <a:xfrm>
            <a:off x="4983480" y="1737360"/>
            <a:ext cx="155448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5"/>
          <p:cNvSpPr txBox="1"/>
          <p:nvPr/>
        </p:nvSpPr>
        <p:spPr>
          <a:xfrm>
            <a:off x="4983480" y="1737360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5"/>
          <p:cNvSpPr/>
          <p:nvPr/>
        </p:nvSpPr>
        <p:spPr>
          <a:xfrm>
            <a:off x="6537960" y="1737360"/>
            <a:ext cx="155448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5"/>
          <p:cNvSpPr txBox="1"/>
          <p:nvPr/>
        </p:nvSpPr>
        <p:spPr>
          <a:xfrm>
            <a:off x="6537960" y="1737360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gap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5"/>
          <p:cNvSpPr/>
          <p:nvPr/>
        </p:nvSpPr>
        <p:spPr>
          <a:xfrm>
            <a:off x="8092440" y="1737360"/>
            <a:ext cx="173736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5"/>
          <p:cNvSpPr txBox="1"/>
          <p:nvPr/>
        </p:nvSpPr>
        <p:spPr>
          <a:xfrm>
            <a:off x="8092440" y="1737360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typical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5"/>
          <p:cNvSpPr/>
          <p:nvPr/>
        </p:nvSpPr>
        <p:spPr>
          <a:xfrm>
            <a:off x="9829800" y="1737360"/>
            <a:ext cx="1280160" cy="475488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5"/>
          <p:cNvSpPr txBox="1"/>
          <p:nvPr/>
        </p:nvSpPr>
        <p:spPr>
          <a:xfrm>
            <a:off x="9829800" y="1737360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5"/>
          <p:cNvSpPr/>
          <p:nvPr/>
        </p:nvSpPr>
        <p:spPr>
          <a:xfrm>
            <a:off x="685800" y="2212848"/>
            <a:ext cx="274320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25"/>
          <p:cNvSpPr txBox="1"/>
          <p:nvPr/>
        </p:nvSpPr>
        <p:spPr>
          <a:xfrm>
            <a:off x="685800" y="2212848"/>
            <a:ext cx="27432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76200" lIns="76200" spcFirstLastPara="1" rIns="76200" wrap="square" tIns="76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butyric in 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5"/>
          <p:cNvSpPr/>
          <p:nvPr/>
        </p:nvSpPr>
        <p:spPr>
          <a:xfrm>
            <a:off x="3429000" y="2212848"/>
            <a:ext cx="155448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5"/>
          <p:cNvSpPr txBox="1"/>
          <p:nvPr/>
        </p:nvSpPr>
        <p:spPr>
          <a:xfrm>
            <a:off x="3429000" y="2212848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5"/>
          <p:cNvSpPr/>
          <p:nvPr/>
        </p:nvSpPr>
        <p:spPr>
          <a:xfrm>
            <a:off x="4983480" y="2212848"/>
            <a:ext cx="155448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25"/>
          <p:cNvSpPr txBox="1"/>
          <p:nvPr/>
        </p:nvSpPr>
        <p:spPr>
          <a:xfrm>
            <a:off x="4983480" y="2212848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839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5"/>
          <p:cNvSpPr/>
          <p:nvPr/>
        </p:nvSpPr>
        <p:spPr>
          <a:xfrm>
            <a:off x="6537960" y="2212848"/>
            <a:ext cx="155448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5"/>
          <p:cNvSpPr txBox="1"/>
          <p:nvPr/>
        </p:nvSpPr>
        <p:spPr>
          <a:xfrm>
            <a:off x="6537960" y="2212848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796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5"/>
          <p:cNvSpPr/>
          <p:nvPr/>
        </p:nvSpPr>
        <p:spPr>
          <a:xfrm>
            <a:off x="8092440" y="2212848"/>
            <a:ext cx="173736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5"/>
          <p:cNvSpPr txBox="1"/>
          <p:nvPr/>
        </p:nvSpPr>
        <p:spPr>
          <a:xfrm>
            <a:off x="8092440" y="2212848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1238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5"/>
          <p:cNvSpPr/>
          <p:nvPr/>
        </p:nvSpPr>
        <p:spPr>
          <a:xfrm>
            <a:off x="9829800" y="2212848"/>
            <a:ext cx="1280160" cy="475488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5"/>
          <p:cNvSpPr txBox="1"/>
          <p:nvPr/>
        </p:nvSpPr>
        <p:spPr>
          <a:xfrm>
            <a:off x="9829800" y="2212848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5"/>
          <p:cNvSpPr/>
          <p:nvPr/>
        </p:nvSpPr>
        <p:spPr>
          <a:xfrm>
            <a:off x="685800" y="2688336"/>
            <a:ext cx="274320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5"/>
          <p:cNvSpPr txBox="1"/>
          <p:nvPr/>
        </p:nvSpPr>
        <p:spPr>
          <a:xfrm>
            <a:off x="685800" y="2688336"/>
            <a:ext cx="27432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76200" lIns="76200" spcFirstLastPara="1" rIns="76200" wrap="square" tIns="76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formic in 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5"/>
          <p:cNvSpPr/>
          <p:nvPr/>
        </p:nvSpPr>
        <p:spPr>
          <a:xfrm>
            <a:off x="3429000" y="2688336"/>
            <a:ext cx="155448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25"/>
          <p:cNvSpPr txBox="1"/>
          <p:nvPr/>
        </p:nvSpPr>
        <p:spPr>
          <a:xfrm>
            <a:off x="3429000" y="2688336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22334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5"/>
          <p:cNvSpPr/>
          <p:nvPr/>
        </p:nvSpPr>
        <p:spPr>
          <a:xfrm>
            <a:off x="4983480" y="2688336"/>
            <a:ext cx="155448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25"/>
          <p:cNvSpPr txBox="1"/>
          <p:nvPr/>
        </p:nvSpPr>
        <p:spPr>
          <a:xfrm>
            <a:off x="4983480" y="2688336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26137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5"/>
          <p:cNvSpPr/>
          <p:nvPr/>
        </p:nvSpPr>
        <p:spPr>
          <a:xfrm>
            <a:off x="6537960" y="2688336"/>
            <a:ext cx="155448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5"/>
          <p:cNvSpPr txBox="1"/>
          <p:nvPr/>
        </p:nvSpPr>
        <p:spPr>
          <a:xfrm>
            <a:off x="6537960" y="2688336"/>
            <a:ext cx="1554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3804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5"/>
          <p:cNvSpPr/>
          <p:nvPr/>
        </p:nvSpPr>
        <p:spPr>
          <a:xfrm>
            <a:off x="8092440" y="2688336"/>
            <a:ext cx="173736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25"/>
          <p:cNvSpPr txBox="1"/>
          <p:nvPr/>
        </p:nvSpPr>
        <p:spPr>
          <a:xfrm>
            <a:off x="8092440" y="2688336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24236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5"/>
          <p:cNvSpPr/>
          <p:nvPr/>
        </p:nvSpPr>
        <p:spPr>
          <a:xfrm>
            <a:off x="9829800" y="2688336"/>
            <a:ext cx="1280160" cy="475488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25"/>
          <p:cNvSpPr txBox="1"/>
          <p:nvPr/>
        </p:nvSpPr>
        <p:spPr>
          <a:xfrm>
            <a:off x="9829800" y="2688336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5"/>
          <p:cNvSpPr txBox="1"/>
          <p:nvPr/>
        </p:nvSpPr>
        <p:spPr>
          <a:xfrm>
            <a:off x="685800" y="333756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If we stopped at the gap, the formic acid of B (3804) would look five times worse than the butyric acid of A (796). It is the other way round: 3804 out of 24000 is small change, while 796 out of 1238 is enormous.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5"/>
          <p:cNvSpPr/>
          <p:nvPr/>
        </p:nvSpPr>
        <p:spPr>
          <a:xfrm>
            <a:off x="685800" y="4023360"/>
            <a:ext cx="10817352" cy="1051560"/>
          </a:xfrm>
          <a:prstGeom prst="roundRect">
            <a:avLst>
              <a:gd fmla="val 5217" name="adj"/>
            </a:avLst>
          </a:prstGeom>
          <a:solidFill>
            <a:srgbClr val="1B4332"/>
          </a:solidFill>
          <a:ln cap="flat" cmpd="sng" w="12700">
            <a:solidFill>
              <a:srgbClr val="1B43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25"/>
          <p:cNvSpPr txBox="1"/>
          <p:nvPr/>
        </p:nvSpPr>
        <p:spPr>
          <a:xfrm>
            <a:off x="1051560" y="4023360"/>
            <a:ext cx="10085832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Two people measuring something and disagreeing by 1 cm. On a 2 m table that is nothing; on a 3 cm screw it is a disaster. Same centimetre.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5"/>
          <p:cNvSpPr txBox="1"/>
          <p:nvPr/>
        </p:nvSpPr>
        <p:spPr>
          <a:xfrm>
            <a:off x="685800" y="5257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Dividing also makes the six acids comparable with each other, which is what lets us read the whole table at once.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 one table, everything visible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/>
          <p:cNvSpPr/>
          <p:nvPr/>
        </p:nvSpPr>
        <p:spPr>
          <a:xfrm>
            <a:off x="685800" y="1371600"/>
            <a:ext cx="10817352" cy="673354"/>
          </a:xfrm>
          <a:prstGeom prst="roundRect">
            <a:avLst>
              <a:gd fmla="val 8148" name="adj"/>
            </a:avLst>
          </a:prstGeom>
          <a:solidFill>
            <a:srgbClr val="F1F4F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6"/>
          <p:cNvSpPr txBox="1"/>
          <p:nvPr/>
        </p:nvSpPr>
        <p:spPr>
          <a:xfrm>
            <a:off x="886968" y="1536192"/>
            <a:ext cx="10415016" cy="344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50"/>
              <a:buFont typeface="Courier New"/>
              <a:buNone/>
            </a:pPr>
            <a:r>
              <a:rPr b="1" i="0" lang="en-US" sz="1450" u="none" cap="none" strike="noStrik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comparison &lt;- data.frame(product = r1$product, diff_pct)</a:t>
            </a:r>
            <a:r>
              <a:rPr b="0" i="0" lang="en-US" sz="1350" u="none" cap="none" strike="noStrik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glue the names back 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6"/>
          <p:cNvSpPr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6"/>
          <p:cNvSpPr txBox="1"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/>
          <p:cNvSpPr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6"/>
          <p:cNvSpPr txBox="1"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6"/>
          <p:cNvSpPr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6"/>
          <p:cNvSpPr txBox="1"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acetic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/>
          <p:cNvSpPr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6"/>
          <p:cNvSpPr txBox="1"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propionic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6"/>
          <p:cNvSpPr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26"/>
          <p:cNvSpPr txBox="1"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lactic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6"/>
          <p:cNvSpPr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6"/>
          <p:cNvSpPr txBox="1"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butyric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6"/>
          <p:cNvSpPr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solidFill>
            <a:srgbClr val="1B4332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6"/>
          <p:cNvSpPr txBox="1"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citric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6"/>
          <p:cNvSpPr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6"/>
          <p:cNvSpPr txBox="1"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Control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6"/>
          <p:cNvSpPr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6"/>
          <p:cNvSpPr txBox="1"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6"/>
          <p:cNvSpPr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6"/>
          <p:cNvSpPr txBox="1"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6"/>
          <p:cNvSpPr/>
          <p:nvPr/>
        </p:nvSpPr>
        <p:spPr>
          <a:xfrm>
            <a:off x="5321808" y="265176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6"/>
          <p:cNvSpPr txBox="1"/>
          <p:nvPr/>
        </p:nvSpPr>
        <p:spPr>
          <a:xfrm>
            <a:off x="5321808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60.1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/>
          <p:cNvSpPr/>
          <p:nvPr/>
        </p:nvSpPr>
        <p:spPr>
          <a:xfrm>
            <a:off x="6867144" y="265176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26"/>
          <p:cNvSpPr txBox="1"/>
          <p:nvPr/>
        </p:nvSpPr>
        <p:spPr>
          <a:xfrm>
            <a:off x="6867144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6"/>
          <p:cNvSpPr/>
          <p:nvPr/>
        </p:nvSpPr>
        <p:spPr>
          <a:xfrm>
            <a:off x="8412480" y="265176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26"/>
          <p:cNvSpPr txBox="1"/>
          <p:nvPr/>
        </p:nvSpPr>
        <p:spPr>
          <a:xfrm>
            <a:off x="8412480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37.9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9957816" y="265176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6"/>
          <p:cNvSpPr txBox="1"/>
          <p:nvPr/>
        </p:nvSpPr>
        <p:spPr>
          <a:xfrm>
            <a:off x="9957816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685800" y="3154680"/>
            <a:ext cx="1545336" cy="502920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6"/>
          <p:cNvSpPr txBox="1"/>
          <p:nvPr/>
        </p:nvSpPr>
        <p:spPr>
          <a:xfrm>
            <a:off x="685800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6"/>
          <p:cNvSpPr/>
          <p:nvPr/>
        </p:nvSpPr>
        <p:spPr>
          <a:xfrm>
            <a:off x="2231136" y="3154680"/>
            <a:ext cx="1545336" cy="502920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26"/>
          <p:cNvSpPr txBox="1"/>
          <p:nvPr/>
        </p:nvSpPr>
        <p:spPr>
          <a:xfrm>
            <a:off x="2231136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0.7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6"/>
          <p:cNvSpPr/>
          <p:nvPr/>
        </p:nvSpPr>
        <p:spPr>
          <a:xfrm>
            <a:off x="3776472" y="3154680"/>
            <a:ext cx="1545336" cy="502920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26"/>
          <p:cNvSpPr txBox="1"/>
          <p:nvPr/>
        </p:nvSpPr>
        <p:spPr>
          <a:xfrm>
            <a:off x="3776472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11.7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5321808" y="315468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6"/>
          <p:cNvSpPr txBox="1"/>
          <p:nvPr/>
        </p:nvSpPr>
        <p:spPr>
          <a:xfrm>
            <a:off x="5321808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43.6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6"/>
          <p:cNvSpPr/>
          <p:nvPr/>
        </p:nvSpPr>
        <p:spPr>
          <a:xfrm>
            <a:off x="6867144" y="3154680"/>
            <a:ext cx="1545336" cy="502920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26"/>
          <p:cNvSpPr txBox="1"/>
          <p:nvPr/>
        </p:nvSpPr>
        <p:spPr>
          <a:xfrm>
            <a:off x="6867144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29.2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6"/>
          <p:cNvSpPr/>
          <p:nvPr/>
        </p:nvSpPr>
        <p:spPr>
          <a:xfrm>
            <a:off x="8412480" y="315468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26"/>
          <p:cNvSpPr txBox="1"/>
          <p:nvPr/>
        </p:nvSpPr>
        <p:spPr>
          <a:xfrm>
            <a:off x="8412480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64.3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9957816" y="3154680"/>
            <a:ext cx="1545336" cy="502920"/>
          </a:xfrm>
          <a:prstGeom prst="rect">
            <a:avLst/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6"/>
          <p:cNvSpPr txBox="1"/>
          <p:nvPr/>
        </p:nvSpPr>
        <p:spPr>
          <a:xfrm>
            <a:off x="9957816" y="31546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32.9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26"/>
          <p:cNvSpPr/>
          <p:nvPr/>
        </p:nvSpPr>
        <p:spPr>
          <a:xfrm>
            <a:off x="685800" y="365760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26"/>
          <p:cNvSpPr txBox="1"/>
          <p:nvPr/>
        </p:nvSpPr>
        <p:spPr>
          <a:xfrm>
            <a:off x="685800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6"/>
          <p:cNvSpPr/>
          <p:nvPr/>
        </p:nvSpPr>
        <p:spPr>
          <a:xfrm>
            <a:off x="2231136" y="365760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6"/>
          <p:cNvSpPr txBox="1"/>
          <p:nvPr/>
        </p:nvSpPr>
        <p:spPr>
          <a:xfrm>
            <a:off x="2231136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15.7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3776472" y="365760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6"/>
          <p:cNvSpPr txBox="1"/>
          <p:nvPr/>
        </p:nvSpPr>
        <p:spPr>
          <a:xfrm>
            <a:off x="3776472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6"/>
          <p:cNvSpPr/>
          <p:nvPr/>
        </p:nvSpPr>
        <p:spPr>
          <a:xfrm>
            <a:off x="5321808" y="365760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6"/>
          <p:cNvSpPr txBox="1"/>
          <p:nvPr/>
        </p:nvSpPr>
        <p:spPr>
          <a:xfrm>
            <a:off x="5321808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25.1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6"/>
          <p:cNvSpPr/>
          <p:nvPr/>
        </p:nvSpPr>
        <p:spPr>
          <a:xfrm>
            <a:off x="6867144" y="365760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26"/>
          <p:cNvSpPr txBox="1"/>
          <p:nvPr/>
        </p:nvSpPr>
        <p:spPr>
          <a:xfrm>
            <a:off x="6867144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3.7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6"/>
          <p:cNvSpPr/>
          <p:nvPr/>
        </p:nvSpPr>
        <p:spPr>
          <a:xfrm>
            <a:off x="8412480" y="3657600"/>
            <a:ext cx="1545336" cy="502920"/>
          </a:xfrm>
          <a:prstGeom prst="rect">
            <a:avLst/>
          </a:prstGeom>
          <a:solidFill>
            <a:srgbClr val="FDF1EC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6"/>
          <p:cNvSpPr txBox="1"/>
          <p:nvPr/>
        </p:nvSpPr>
        <p:spPr>
          <a:xfrm>
            <a:off x="8412480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9C3A20"/>
                </a:solidFill>
                <a:latin typeface="Courier New"/>
                <a:ea typeface="Courier New"/>
                <a:cs typeface="Courier New"/>
                <a:sym typeface="Courier New"/>
              </a:rPr>
              <a:t>5.5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6"/>
          <p:cNvSpPr/>
          <p:nvPr/>
        </p:nvSpPr>
        <p:spPr>
          <a:xfrm>
            <a:off x="9957816" y="3657600"/>
            <a:ext cx="1545336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26"/>
          <p:cNvSpPr txBox="1"/>
          <p:nvPr/>
        </p:nvSpPr>
        <p:spPr>
          <a:xfrm>
            <a:off x="9957816" y="365760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14.6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6"/>
          <p:cNvSpPr txBox="1"/>
          <p:nvPr/>
        </p:nvSpPr>
        <p:spPr>
          <a:xfrm>
            <a:off x="685800" y="4114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Each number is how much the two replicates differ, as a percentage of the normal value there. Small = they agree.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6"/>
          <p:cNvSpPr txBox="1"/>
          <p:nvPr/>
        </p:nvSpPr>
        <p:spPr>
          <a:xfrm>
            <a:off x="685800" y="45262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Read it two ways: along a row, is this condition reproducible? Down a column, is this acid reliable?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27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fmla="val 16000" name="adj"/>
            </a:avLst>
          </a:prstGeom>
          <a:solidFill>
            <a:srgbClr val="E9C46A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7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No code: just read the table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7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fmla="val 2646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Along the rows: which product has the most reproducible replicates, that is, the smallest numbers?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b="0" i="0" lang="en-US" sz="1600" u="none" cap="none" strike="noStrik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Down the columns: which TWO acids give the biggest numbers in all three products?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685800" y="3739896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Hint: small number = the two replicates agree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7"/>
          <p:cNvSpPr txBox="1"/>
          <p:nvPr/>
        </p:nvSpPr>
        <p:spPr>
          <a:xfrm>
            <a:off x="685800" y="4425696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2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What that table tells us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8"/>
          <p:cNvSpPr/>
          <p:nvPr/>
        </p:nvSpPr>
        <p:spPr>
          <a:xfrm>
            <a:off x="685800" y="1417320"/>
            <a:ext cx="10817352" cy="1078992"/>
          </a:xfrm>
          <a:prstGeom prst="roundRect">
            <a:avLst>
              <a:gd fmla="val 5085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8"/>
          <p:cNvSpPr/>
          <p:nvPr/>
        </p:nvSpPr>
        <p:spPr>
          <a:xfrm>
            <a:off x="941832" y="1737360"/>
            <a:ext cx="411480" cy="411480"/>
          </a:xfrm>
          <a:prstGeom prst="ellipse">
            <a:avLst/>
          </a:prstGeom>
          <a:solidFill>
            <a:srgbClr val="1B43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28"/>
          <p:cNvSpPr txBox="1"/>
          <p:nvPr/>
        </p:nvSpPr>
        <p:spPr>
          <a:xfrm>
            <a:off x="941832" y="173736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8"/>
          <p:cNvSpPr txBox="1"/>
          <p:nvPr/>
        </p:nvSpPr>
        <p:spPr>
          <a:xfrm>
            <a:off x="1554480" y="1572768"/>
            <a:ext cx="96286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 is the most reproducible, A the least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8"/>
          <p:cNvSpPr txBox="1"/>
          <p:nvPr/>
        </p:nvSpPr>
        <p:spPr>
          <a:xfrm>
            <a:off x="1554480" y="1938528"/>
            <a:ext cx="96286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And now we can say it looking at a whole row, not at a single number.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8"/>
          <p:cNvSpPr/>
          <p:nvPr/>
        </p:nvSpPr>
        <p:spPr>
          <a:xfrm>
            <a:off x="685800" y="2651760"/>
            <a:ext cx="10817352" cy="1078992"/>
          </a:xfrm>
          <a:prstGeom prst="roundRect">
            <a:avLst>
              <a:gd fmla="val 5085" name="adj"/>
            </a:avLst>
          </a:prstGeom>
          <a:solidFill>
            <a:srgbClr val="EDF7EF"/>
          </a:solidFill>
          <a:ln cap="flat" cmpd="sng" w="9525">
            <a:solidFill>
              <a:srgbClr val="D6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28"/>
          <p:cNvSpPr/>
          <p:nvPr/>
        </p:nvSpPr>
        <p:spPr>
          <a:xfrm>
            <a:off x="941832" y="2971800"/>
            <a:ext cx="411480" cy="411480"/>
          </a:xfrm>
          <a:prstGeom prst="ellipse">
            <a:avLst/>
          </a:prstGeom>
          <a:solidFill>
            <a:srgbClr val="1B43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28"/>
          <p:cNvSpPr txBox="1"/>
          <p:nvPr/>
        </p:nvSpPr>
        <p:spPr>
          <a:xfrm>
            <a:off x="941832" y="297180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8"/>
          <p:cNvSpPr txBox="1"/>
          <p:nvPr/>
        </p:nvSpPr>
        <p:spPr>
          <a:xfrm>
            <a:off x="1554480" y="2807208"/>
            <a:ext cx="96286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Formic, acetic and lactic repeat almost exactly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8"/>
          <p:cNvSpPr txBox="1"/>
          <p:nvPr/>
        </p:nvSpPr>
        <p:spPr>
          <a:xfrm>
            <a:off x="1554480" y="3172968"/>
            <a:ext cx="96286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Under 12% nearly everywhere. Propionic and butyric are the noisy ones, in every condition.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8"/>
          <p:cNvSpPr/>
          <p:nvPr/>
        </p:nvSpPr>
        <p:spPr>
          <a:xfrm>
            <a:off x="685800" y="3886200"/>
            <a:ext cx="10817352" cy="1078992"/>
          </a:xfrm>
          <a:prstGeom prst="roundRect">
            <a:avLst>
              <a:gd fmla="val 5085" name="adj"/>
            </a:avLst>
          </a:prstGeom>
          <a:solidFill>
            <a:srgbClr val="FDF1EC"/>
          </a:solidFill>
          <a:ln cap="flat" cmpd="sng" w="9525">
            <a:solidFill>
              <a:srgbClr val="F3C9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8"/>
          <p:cNvSpPr/>
          <p:nvPr/>
        </p:nvSpPr>
        <p:spPr>
          <a:xfrm>
            <a:off x="941832" y="4206240"/>
            <a:ext cx="411480" cy="4114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8"/>
          <p:cNvSpPr txBox="1"/>
          <p:nvPr/>
        </p:nvSpPr>
        <p:spPr>
          <a:xfrm>
            <a:off x="941832" y="420624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8"/>
          <p:cNvSpPr txBox="1"/>
          <p:nvPr/>
        </p:nvSpPr>
        <p:spPr>
          <a:xfrm>
            <a:off x="1554480" y="4041648"/>
            <a:ext cx="96286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9C3A20"/>
                </a:solidFill>
                <a:latin typeface="Cambria"/>
                <a:ea typeface="Cambria"/>
                <a:cs typeface="Cambria"/>
                <a:sym typeface="Cambria"/>
              </a:rPr>
              <a:t>And those two are exactly the ones we care about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8"/>
          <p:cNvSpPr txBox="1"/>
          <p:nvPr/>
        </p:nvSpPr>
        <p:spPr>
          <a:xfrm>
            <a:off x="1554480" y="4407408"/>
            <a:ext cx="96286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Propionic and butyric are the acids linked to insulin in our hypothesis. The measurements that matter most are the least reproducible.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8"/>
          <p:cNvSpPr txBox="1"/>
          <p:nvPr/>
        </p:nvSpPr>
        <p:spPr>
          <a:xfrm>
            <a:off x="685800" y="516636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That is exactly why the authors of the original paper reported these acids descriptively, without statistics.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8"/>
          <p:cNvSpPr txBox="1"/>
          <p:nvPr/>
        </p:nvSpPr>
        <p:spPr>
          <a:xfrm>
            <a:off x="685800" y="55778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Reproducibility is not the same in every condition or for every measurement. You have to LOOK at it rather than assume it.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4332"/>
        </a:solidFill>
      </p:bgPr>
    </p:bg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9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What to take away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/>
          <p:nvPr/>
        </p:nvSpPr>
        <p:spPr>
          <a:xfrm>
            <a:off x="685800" y="13716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9"/>
          <p:cNvSpPr txBox="1"/>
          <p:nvPr/>
        </p:nvSpPr>
        <p:spPr>
          <a:xfrm>
            <a:off x="886968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ROWS, trims vertically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6323076" y="13716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9"/>
          <p:cNvSpPr txBox="1"/>
          <p:nvPr/>
        </p:nvSpPr>
        <p:spPr>
          <a:xfrm>
            <a:off x="6524244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COLUMNS, trims horizontally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9"/>
          <p:cNvSpPr/>
          <p:nvPr/>
        </p:nvSpPr>
        <p:spPr>
          <a:xfrm>
            <a:off x="685800" y="20574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9"/>
          <p:cNvSpPr txBox="1"/>
          <p:nvPr/>
        </p:nvSpPr>
        <p:spPr>
          <a:xfrm>
            <a:off x="886968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sorts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9"/>
          <p:cNvSpPr/>
          <p:nvPr/>
        </p:nvSpPr>
        <p:spPr>
          <a:xfrm>
            <a:off x="6323076" y="20574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9"/>
          <p:cNvSpPr txBox="1"/>
          <p:nvPr/>
        </p:nvSpPr>
        <p:spPr>
          <a:xfrm>
            <a:off x="6524244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adds a column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685800" y="27432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9"/>
          <p:cNvSpPr txBox="1"/>
          <p:nvPr/>
        </p:nvSpPr>
        <p:spPr>
          <a:xfrm>
            <a:off x="886968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reduces to one number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9"/>
          <p:cNvSpPr/>
          <p:nvPr/>
        </p:nvSpPr>
        <p:spPr>
          <a:xfrm>
            <a:off x="6323076" y="2743200"/>
            <a:ext cx="5180076" cy="566928"/>
          </a:xfrm>
          <a:prstGeom prst="roundRect">
            <a:avLst>
              <a:gd fmla="val 8065" name="adj"/>
            </a:avLst>
          </a:prstGeom>
          <a:solidFill>
            <a:srgbClr val="24523E"/>
          </a:solidFill>
          <a:ln cap="flat" cmpd="sng" w="9525">
            <a:solidFill>
              <a:srgbClr val="2F6B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9"/>
          <p:cNvSpPr txBox="1"/>
          <p:nvPr/>
        </p:nvSpPr>
        <p:spPr>
          <a:xfrm>
            <a:off x="6524244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b="1" i="0" lang="en-US" sz="1350" u="none" cap="none" strike="noStrik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r>
              <a:rPr b="0" i="0" lang="en-US" sz="1350" u="none" cap="none" strike="noStrik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makes summarise work per group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9"/>
          <p:cNvSpPr txBox="1"/>
          <p:nvPr/>
        </p:nvSpPr>
        <p:spPr>
          <a:xfrm>
            <a:off x="685800" y="3657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Chain steps by storing each result in a variable.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9"/>
          <p:cNvSpPr txBox="1"/>
          <p:nvPr/>
        </p:nvSpPr>
        <p:spPr>
          <a:xfrm>
            <a:off x="685800" y="40690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Check the replicates BEFORE summarising them.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2026-09-10T13:49:29Z</dcterms:created>
  <dc:creator>Basic R Course</dc:creator>
</cp:coreProperties>
</file>
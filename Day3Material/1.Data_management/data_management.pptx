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7" r:id="rId2"/>
    <p:sldId id="256" r:id="rId3"/>
    <p:sldId id="290" r:id="rId4"/>
    <p:sldId id="291" r:id="rId5"/>
    <p:sldId id="260" r:id="rId6"/>
    <p:sldId id="282" r:id="rId7"/>
    <p:sldId id="261" r:id="rId8"/>
    <p:sldId id="259" r:id="rId9"/>
    <p:sldId id="263" r:id="rId10"/>
    <p:sldId id="292" r:id="rId11"/>
    <p:sldId id="264" r:id="rId12"/>
    <p:sldId id="293" r:id="rId13"/>
    <p:sldId id="286" r:id="rId14"/>
    <p:sldId id="266" r:id="rId15"/>
    <p:sldId id="287" r:id="rId16"/>
    <p:sldId id="271" r:id="rId17"/>
    <p:sldId id="272" r:id="rId18"/>
    <p:sldId id="288" r:id="rId19"/>
    <p:sldId id="269" r:id="rId20"/>
    <p:sldId id="302" r:id="rId21"/>
    <p:sldId id="273" r:id="rId22"/>
    <p:sldId id="303" r:id="rId23"/>
    <p:sldId id="270" r:id="rId24"/>
    <p:sldId id="311" r:id="rId25"/>
    <p:sldId id="310" r:id="rId26"/>
    <p:sldId id="309" r:id="rId27"/>
    <p:sldId id="308" r:id="rId28"/>
    <p:sldId id="307" r:id="rId29"/>
    <p:sldId id="294" r:id="rId30"/>
    <p:sldId id="296" r:id="rId31"/>
    <p:sldId id="297" r:id="rId32"/>
    <p:sldId id="298" r:id="rId33"/>
    <p:sldId id="275" r:id="rId34"/>
    <p:sldId id="299" r:id="rId35"/>
    <p:sldId id="300" r:id="rId36"/>
    <p:sldId id="276" r:id="rId37"/>
    <p:sldId id="277" r:id="rId38"/>
    <p:sldId id="267" r:id="rId39"/>
    <p:sldId id="278" r:id="rId40"/>
    <p:sldId id="301" r:id="rId41"/>
    <p:sldId id="281" r:id="rId42"/>
    <p:sldId id="28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2480B0-77F0-EC46-9392-8FE83A8039B0}" type="datetimeFigureOut">
              <a:rPr lang="en-US" smtClean="0"/>
              <a:t>9/29/26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6C15E3-1715-9549-B367-E3A4FCFB049C}" type="slidenum">
              <a:rPr lang="en-US" smtClean="0"/>
              <a:t>‹#›</a:t>
            </a:fld>
            <a:endParaRPr lang="en-US"/>
          </a:p>
        </p:txBody>
      </p:sp>
    </p:spTree>
    <p:extLst>
      <p:ext uri="{BB962C8B-B14F-4D97-AF65-F5344CB8AC3E}">
        <p14:creationId xmlns:p14="http://schemas.microsoft.com/office/powerpoint/2010/main" val="2267615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9C91-1E8B-7BA2-16F9-1FD6CED26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A11E0-C813-61CA-2ED3-A461BD91B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EEBAA2-B9F9-8FCA-671F-A2D03416F5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E8A718-7E8E-E643-8BDE-79E5136C6CC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7009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2CCCB-CB6C-F938-FC8C-838341960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09B02-58BB-3693-5C18-1930A3381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9D1DA6-307E-A235-374D-B8CD863C7F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942D55-02CF-77EE-092B-4E92A9D6ECB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02249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7FFD-CCA2-9F7E-D5E1-7336C1599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78214A-E318-8D1E-13A9-A63C373B7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4146C-BA16-913E-0693-177D60EA4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AD789-4F4E-5F7A-406E-2C264DBD03F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42675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508C1-80AE-F4C8-38C0-76173306D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7BCC1-1BF5-057F-8E90-7977B78A4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A9FE5-282A-21A9-CD6F-D960B58D80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47EE1E-345C-FED6-8774-21A1912036B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5121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1CD61-27B2-ED25-9EA9-39AE17F22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1B3F4-7896-F2BE-30B4-425DC6AC1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E2E01-6867-E85A-083C-1E4128C2BE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0536F6-4E09-0DD7-B1F4-177DC43646E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146624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639F6-91F9-48CB-3A8F-4C2344964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60171-C61D-A97A-1CF8-186ABD091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22EB0-966C-6CC2-8DE8-14F7A55AB5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CAF4F9-C64C-F343-F283-4E46AE6FD98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74701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D333B-393E-293D-EE5A-1346920BA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E2D913-280A-53AA-240B-4E0C6098C3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6BECD-A467-C86A-FE3F-4F9BD520CE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F2D97B-4D4A-BC2A-3FB0-552DCCB00C1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74244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461862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81461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E0B2-6001-E435-CE02-C6981B24B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1BB45-A013-AA87-7E1B-FB5FBB376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CEFA1-4D23-72B6-FFF2-016547E89C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659F0C-1089-CBFC-6725-0367749CAD5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7520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038494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72041-39A7-5733-6DE4-0E9EAA0CE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24B9B-A457-087E-1240-C3CDBF519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085942-5405-D1B8-38E5-80ED3EAE0B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F5D7EE-CCCE-6363-207F-B597E2F34C12}"/>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86484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620357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64FD-4B26-6C0C-16A1-B6DF21D66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B9666-1362-FB10-4073-DC1DB6281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D78A6-8F9D-F0B4-2375-526A9C91C2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FD6E5-00C1-E8EC-EC68-6A79901C610C}"/>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3076907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47571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6B671-91AA-52DE-AB98-6171C563B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1721D-6FD8-8FE7-556A-3B6C3CBC1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76C00-4548-09BA-0269-6420A96E03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903534-F2B8-2945-8ED3-CFD5617485A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5655636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565BF-D591-9F53-86B8-8469F59CB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24791-5EE4-BF84-6483-34199FD12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38B06-A1DC-C503-3D9F-6C7E7B1319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BAA877-7BF9-FC9B-9B9E-B59683313479}"/>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8469906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A6C01-91D1-2374-F3DF-E611D57AC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BB7B6-910C-6274-FD0F-3A2A8AB93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8A6AB-F658-8584-A370-8513F6C415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DF6F39-E2E6-92BC-2B4E-5F37449E3ADA}"/>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1359701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2C1EC-4B97-6335-65B7-49B0639F3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B4F8C-BE4C-8C34-F9B2-52F5BC30F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E5BFAE-ADE0-C22F-4EFE-B617E5414C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F01059-9174-F95B-878D-95BA679AD4B0}"/>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0625384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155B5-5428-A534-D30D-039EDEAB1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75424-0027-017E-CAC4-EA57B3F58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84520-2E01-E9FF-A507-4BE58F1A6E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9A8F1B-CA18-FC30-8AC8-3F51DBAC1446}"/>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9682594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8830-A21C-7AF5-9191-FD0844E14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ABB40-2D95-6F70-CA7F-68F2C5F663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ADCABA-FB9A-4AA0-3083-0991894150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E15299-E74B-CFFD-CCFA-F5838D08EEFF}"/>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3847622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F316-E88E-5403-467D-B4658BE8A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2F977-C9F4-620E-318C-65951EB82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4EF46-A384-8305-D034-935ED4B991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6767DE-A48A-B41A-3E89-F571CC605917}"/>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877695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F3226-5B48-7A21-82FA-58973B155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31B15-38FD-AEA2-F3F3-5B106A95B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7FCFD-755B-B4DC-FE3D-6B58AE6FFC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FA7573-A01F-D5C6-7182-38869F9C5720}"/>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201825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2810D-B175-CC57-C3ED-66C9EC0C6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9A029-2511-806B-E45F-326AA7FA2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83FE2-6015-359A-807D-9B06382779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AC8E1-7676-0E89-DF61-25E2065208A7}"/>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3095622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7ADFC-0692-1DF3-A2EF-3F18F3A97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BCB78-91F2-09D6-A097-87ABE5800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9D2AB-BF7B-5DF2-5390-C7AEE31EEE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4864C7-2963-DCC0-93C8-CC39C5F8567C}"/>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33050407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60AEC-EDF3-0750-142B-468CCA26A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B33BE-39DE-CDCB-0C56-B93B30697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D3119-ABA8-AA56-B97C-596506A985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7CADE1-5E0A-6819-C837-7BF3B014965C}"/>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4011990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B8CB2-39E5-77FA-FA47-ED9CF3948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D3E23-0AFB-9897-B4A1-53FC418EB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7A1ED-1922-2EAF-30B4-AE346AA45E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72C06-7021-802C-FF62-0119C362A2D6}"/>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643098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7A1FA-4C3C-7563-30CE-D5ED3BFE4AD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3BF66BB-A655-2E90-BC23-E0F5C75C8D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7B5A7A0-1ACC-11B6-CF26-6F90E1A7E760}"/>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5" name="Footer Placeholder 4">
            <a:extLst>
              <a:ext uri="{FF2B5EF4-FFF2-40B4-BE49-F238E27FC236}">
                <a16:creationId xmlns:a16="http://schemas.microsoft.com/office/drawing/2014/main" id="{4BB1E125-2A40-12E3-1FB3-F30B11CDD2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36345-CCC7-62EF-9AEA-16861AA87D3C}"/>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601604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620DD-8F04-5090-94A6-6E3ECCE1B1D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88C6E3-6D49-A0CF-C99A-BFECC162CA5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FBC8C3C-830B-F7FF-5B98-22B0D0A8B079}"/>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5" name="Footer Placeholder 4">
            <a:extLst>
              <a:ext uri="{FF2B5EF4-FFF2-40B4-BE49-F238E27FC236}">
                <a16:creationId xmlns:a16="http://schemas.microsoft.com/office/drawing/2014/main" id="{D7489F24-8B2A-854E-614D-D074811B3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B5E44-5F80-5C67-B3CF-C8A347BFEA4A}"/>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1088865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EDFBB-6157-2AE2-2816-2CC781DE6CB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BD7882E-40E0-0142-E802-743E5E5B78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0DBFC09-3BA1-C952-EA55-AEF99798084F}"/>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5" name="Footer Placeholder 4">
            <a:extLst>
              <a:ext uri="{FF2B5EF4-FFF2-40B4-BE49-F238E27FC236}">
                <a16:creationId xmlns:a16="http://schemas.microsoft.com/office/drawing/2014/main" id="{4CD40B2B-8E47-DE89-7E0B-B62B8951DA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78C533-FCE1-4C05-1572-B0D83DF43258}"/>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42905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5CFFB-7F1C-78E3-3302-005FF282372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1955CAC-15A8-C3A2-01CC-6D05BA2CB9E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7F5FE33-2FE2-15D9-B23E-61D36BDACA3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17394B7-D455-9F4B-BC3D-22A242608A47}"/>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6" name="Footer Placeholder 5">
            <a:extLst>
              <a:ext uri="{FF2B5EF4-FFF2-40B4-BE49-F238E27FC236}">
                <a16:creationId xmlns:a16="http://schemas.microsoft.com/office/drawing/2014/main" id="{55E148B4-E34D-F56F-505F-B44E2CEE53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675E63-3AD1-924B-B16C-F4C9310D7505}"/>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2760978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2FB92-7104-5BEE-0526-9D0E4176494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82A76F0-6FC1-1033-CE05-C609D2F50D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5C85A79-F5E6-950B-901A-508451C802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E4E7982-EFE4-7379-CC9A-EF8A1ECF3D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7C67855-E124-8D06-409A-5B8190C3295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19E1013-6F3E-0E03-7AA3-7C805D8C5107}"/>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8" name="Footer Placeholder 7">
            <a:extLst>
              <a:ext uri="{FF2B5EF4-FFF2-40B4-BE49-F238E27FC236}">
                <a16:creationId xmlns:a16="http://schemas.microsoft.com/office/drawing/2014/main" id="{5B678FF5-7043-440B-9B8B-B92D101094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30FA5F-70B7-22BB-7DB3-8A11D613B4FE}"/>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924761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4277-35FA-2DE8-B320-61026697300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E50C497-F6AB-74E9-3D60-48D94094F9F8}"/>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4" name="Footer Placeholder 3">
            <a:extLst>
              <a:ext uri="{FF2B5EF4-FFF2-40B4-BE49-F238E27FC236}">
                <a16:creationId xmlns:a16="http://schemas.microsoft.com/office/drawing/2014/main" id="{361F914D-3203-04B1-265E-A677662A8F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1E62DB-E912-A714-84A6-0219353E1A44}"/>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1268706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402722-7A77-B3F8-D9B9-DB164858E830}"/>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3" name="Footer Placeholder 2">
            <a:extLst>
              <a:ext uri="{FF2B5EF4-FFF2-40B4-BE49-F238E27FC236}">
                <a16:creationId xmlns:a16="http://schemas.microsoft.com/office/drawing/2014/main" id="{1E8C1888-8A16-2429-8133-54D8B07464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3BD475-FD17-F22B-C307-7A42C3CBDD1A}"/>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4027265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C7924-3321-8BDB-22DA-88830AE2F39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456D5E2-3F3D-1217-8B0A-8E7BBA0985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4D13DC8-0836-C59E-1913-21CBE54518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C0E43F1-929A-BEB1-3624-D1660060B560}"/>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6" name="Footer Placeholder 5">
            <a:extLst>
              <a:ext uri="{FF2B5EF4-FFF2-40B4-BE49-F238E27FC236}">
                <a16:creationId xmlns:a16="http://schemas.microsoft.com/office/drawing/2014/main" id="{CAF3D5D0-0842-F412-7AE5-EDAB185131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416D34-172D-886F-E3AF-8D0BFE855A9D}"/>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4149036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57D1D-850B-DF26-4DBE-D0D0EA45EC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3ABC075-CE84-5264-6C62-6D2FA93F246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BC500D-60BB-4E9A-F6DC-98FFBCBC3F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A35678-0358-7559-0188-D21D903281DA}"/>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6" name="Footer Placeholder 5">
            <a:extLst>
              <a:ext uri="{FF2B5EF4-FFF2-40B4-BE49-F238E27FC236}">
                <a16:creationId xmlns:a16="http://schemas.microsoft.com/office/drawing/2014/main" id="{AB33AD4D-FD8B-3448-ED24-A1A774EA4F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87596-15A3-90F5-CF7C-EBCA1B9EEA00}"/>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2072176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261E-024F-A6E6-0392-0A8329D3F2B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232E781-FA64-646C-A4F3-0177CDBE681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2D8545B-E2A8-2103-58B5-9E207E7916A2}"/>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5" name="Footer Placeholder 4">
            <a:extLst>
              <a:ext uri="{FF2B5EF4-FFF2-40B4-BE49-F238E27FC236}">
                <a16:creationId xmlns:a16="http://schemas.microsoft.com/office/drawing/2014/main" id="{816FBFD2-DF56-4ADC-4C0C-3949B0CE35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E002DA-929F-CE99-94B5-9590B8DB6172}"/>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4091947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924148-74B2-8F2B-344B-39E046149E0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F0505B-36DC-30C7-D13E-635656DEA4F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209677-68F9-0813-98A6-B1796EF1CCF8}"/>
              </a:ext>
            </a:extLst>
          </p:cNvPr>
          <p:cNvSpPr>
            <a:spLocks noGrp="1"/>
          </p:cNvSpPr>
          <p:nvPr>
            <p:ph type="dt" sz="half" idx="10"/>
          </p:nvPr>
        </p:nvSpPr>
        <p:spPr/>
        <p:txBody>
          <a:bodyPr/>
          <a:lstStyle/>
          <a:p>
            <a:fld id="{D542F6C1-E4B6-E549-A709-9AF4CAC01F6D}" type="datetimeFigureOut">
              <a:rPr lang="en-US" smtClean="0"/>
              <a:t>9/29/26</a:t>
            </a:fld>
            <a:endParaRPr lang="en-US"/>
          </a:p>
        </p:txBody>
      </p:sp>
      <p:sp>
        <p:nvSpPr>
          <p:cNvPr id="5" name="Footer Placeholder 4">
            <a:extLst>
              <a:ext uri="{FF2B5EF4-FFF2-40B4-BE49-F238E27FC236}">
                <a16:creationId xmlns:a16="http://schemas.microsoft.com/office/drawing/2014/main" id="{4549BAFD-923A-E5C7-0732-B1DD64A98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7362A2-78DC-E3B7-6EFD-9FE48894E627}"/>
              </a:ext>
            </a:extLst>
          </p:cNvPr>
          <p:cNvSpPr>
            <a:spLocks noGrp="1"/>
          </p:cNvSpPr>
          <p:nvPr>
            <p:ph type="sldNum" sz="quarter" idx="12"/>
          </p:nvPr>
        </p:nvSpPr>
        <p:spPr/>
        <p:txBody>
          <a:bodyPr/>
          <a:lstStyle/>
          <a:p>
            <a:fld id="{73440DEF-BCFE-4345-84DC-42ECA7D805B4}" type="slidenum">
              <a:rPr lang="en-US" smtClean="0"/>
              <a:t>‹#›</a:t>
            </a:fld>
            <a:endParaRPr lang="en-US"/>
          </a:p>
        </p:txBody>
      </p:sp>
    </p:spTree>
    <p:extLst>
      <p:ext uri="{BB962C8B-B14F-4D97-AF65-F5344CB8AC3E}">
        <p14:creationId xmlns:p14="http://schemas.microsoft.com/office/powerpoint/2010/main" val="1145006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092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663295-57A9-670C-1ACD-539A94AE56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DF1088-2F3C-5304-2711-E40BD81E17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9F3842B-DBE5-0993-E0FB-CE183E1CE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42F6C1-E4B6-E549-A709-9AF4CAC01F6D}" type="datetimeFigureOut">
              <a:rPr lang="en-US" smtClean="0"/>
              <a:t>9/29/26</a:t>
            </a:fld>
            <a:endParaRPr lang="en-US"/>
          </a:p>
        </p:txBody>
      </p:sp>
      <p:sp>
        <p:nvSpPr>
          <p:cNvPr id="5" name="Footer Placeholder 4">
            <a:extLst>
              <a:ext uri="{FF2B5EF4-FFF2-40B4-BE49-F238E27FC236}">
                <a16:creationId xmlns:a16="http://schemas.microsoft.com/office/drawing/2014/main" id="{CDC2540E-5DF4-CF21-A734-06BC0B328C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FB59E15-5346-8BF5-5355-66900F4633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440DEF-BCFE-4345-84DC-42ECA7D805B4}" type="slidenum">
              <a:rPr lang="en-US" smtClean="0"/>
              <a:t>‹#›</a:t>
            </a:fld>
            <a:endParaRPr lang="en-US"/>
          </a:p>
        </p:txBody>
      </p:sp>
    </p:spTree>
    <p:extLst>
      <p:ext uri="{BB962C8B-B14F-4D97-AF65-F5344CB8AC3E}">
        <p14:creationId xmlns:p14="http://schemas.microsoft.com/office/powerpoint/2010/main" val="2760948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17.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5.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F8D5DB"/>
          </a:solidFill>
          <a:ln w="12700">
            <a:solidFill>
              <a:srgbClr val="F8D5DB"/>
            </a:solidFill>
            <a:prstDash val="solid"/>
          </a:ln>
        </p:spPr>
        <p:txBody>
          <a:bodyPr/>
          <a:lstStyle/>
          <a:p>
            <a:endParaRPr lang="en-US"/>
          </a:p>
        </p:txBody>
      </p:sp>
      <p:pic>
        <p:nvPicPr>
          <p:cNvPr id="3" name="Image 0" descr="tpl/ppt/media/image6.png"/>
          <p:cNvPicPr>
            <a:picLocks noChangeAspect="1"/>
          </p:cNvPicPr>
          <p:nvPr/>
        </p:nvPicPr>
        <p:blipFill>
          <a:blip r:embed="rId3"/>
          <a:stretch>
            <a:fillRect/>
          </a:stretch>
        </p:blipFill>
        <p:spPr>
          <a:xfrm>
            <a:off x="777240" y="2414016"/>
            <a:ext cx="2606040" cy="1572768"/>
          </a:xfrm>
          <a:prstGeom prst="rect">
            <a:avLst/>
          </a:prstGeom>
        </p:spPr>
      </p:pic>
      <p:sp>
        <p:nvSpPr>
          <p:cNvPr id="4" name="Text 1"/>
          <p:cNvSpPr/>
          <p:nvPr/>
        </p:nvSpPr>
        <p:spPr>
          <a:xfrm>
            <a:off x="548640" y="4151376"/>
            <a:ext cx="3063240" cy="320040"/>
          </a:xfrm>
          <a:prstGeom prst="rect">
            <a:avLst/>
          </a:prstGeom>
          <a:noFill/>
          <a:ln/>
        </p:spPr>
        <p:txBody>
          <a:bodyPr wrap="square" lIns="0" tIns="0" rIns="0" bIns="0" rtlCol="0" anchor="ctr"/>
          <a:lstStyle/>
          <a:p>
            <a:pPr marL="0" indent="0" algn="ctr">
              <a:buNone/>
            </a:pPr>
            <a:r>
              <a:rPr lang="en-US" sz="1500" b="1" dirty="0">
                <a:solidFill>
                  <a:srgbClr val="C00000"/>
                </a:solidFill>
                <a:latin typeface="Calibri" pitchFamily="34" charset="0"/>
                <a:ea typeface="Calibri" pitchFamily="34" charset="-122"/>
                <a:cs typeface="Calibri" pitchFamily="34" charset="-120"/>
              </a:rPr>
              <a:t>Action CA23110</a:t>
            </a:r>
            <a:endParaRPr lang="en-US" sz="1500" dirty="0"/>
          </a:p>
        </p:txBody>
      </p:sp>
      <p:pic>
        <p:nvPicPr>
          <p:cNvPr id="6" name="Image 1" descr="tpl/ppt/media/image4.jpeg"/>
          <p:cNvPicPr>
            <a:picLocks noChangeAspect="1"/>
          </p:cNvPicPr>
          <p:nvPr/>
        </p:nvPicPr>
        <p:blipFill>
          <a:blip r:embed="rId4"/>
          <a:stretch>
            <a:fillRect/>
          </a:stretch>
        </p:blipFill>
        <p:spPr>
          <a:xfrm>
            <a:off x="10774680" y="6190488"/>
            <a:ext cx="1417320" cy="667512"/>
          </a:xfrm>
          <a:prstGeom prst="rect">
            <a:avLst/>
          </a:prstGeom>
        </p:spPr>
      </p:pic>
      <p:pic>
        <p:nvPicPr>
          <p:cNvPr id="7" name="Image 2" descr="tpl/ppt/media/image5.jpeg"/>
          <p:cNvPicPr>
            <a:picLocks noChangeAspect="1"/>
          </p:cNvPicPr>
          <p:nvPr/>
        </p:nvPicPr>
        <p:blipFill>
          <a:blip r:embed="rId5"/>
          <a:stretch>
            <a:fillRect/>
          </a:stretch>
        </p:blipFill>
        <p:spPr>
          <a:xfrm>
            <a:off x="9037320" y="6333027"/>
            <a:ext cx="1737360" cy="365760"/>
          </a:xfrm>
          <a:prstGeom prst="rect">
            <a:avLst/>
          </a:prstGeom>
        </p:spPr>
      </p:pic>
      <p:sp>
        <p:nvSpPr>
          <p:cNvPr id="8" name="Text 3"/>
          <p:cNvSpPr/>
          <p:nvPr/>
        </p:nvSpPr>
        <p:spPr>
          <a:xfrm>
            <a:off x="4663440" y="218650"/>
            <a:ext cx="7132320" cy="731520"/>
          </a:xfrm>
          <a:prstGeom prst="rect">
            <a:avLst/>
          </a:prstGeom>
          <a:noFill/>
          <a:ln/>
        </p:spPr>
        <p:txBody>
          <a:bodyPr wrap="square" lIns="0" tIns="0" rIns="0" bIns="0" rtlCol="0" anchor="ctr"/>
          <a:lstStyle/>
          <a:p>
            <a:pPr marL="0" indent="0">
              <a:lnSpc>
                <a:spcPts val="1700"/>
              </a:lnSpc>
              <a:buNone/>
            </a:pPr>
            <a:r>
              <a:rPr lang="en-US" sz="1250" i="1" dirty="0">
                <a:solidFill>
                  <a:srgbClr val="7F7F7F"/>
                </a:solidFill>
                <a:latin typeface="Calibri" pitchFamily="34" charset="0"/>
                <a:ea typeface="Calibri" pitchFamily="34" charset="-122"/>
                <a:cs typeface="Calibri" pitchFamily="34" charset="-120"/>
              </a:rPr>
              <a:t>International networking on in vitro colon models</a:t>
            </a:r>
            <a:endParaRPr lang="en-US" sz="1250" dirty="0"/>
          </a:p>
          <a:p>
            <a:pPr marL="0" indent="0">
              <a:lnSpc>
                <a:spcPts val="1700"/>
              </a:lnSpc>
              <a:buNone/>
            </a:pPr>
            <a:r>
              <a:rPr lang="en-US" sz="1250" i="1" dirty="0">
                <a:solidFill>
                  <a:srgbClr val="7F7F7F"/>
                </a:solidFill>
                <a:latin typeface="Calibri" pitchFamily="34" charset="0"/>
                <a:ea typeface="Calibri" pitchFamily="34" charset="-122"/>
                <a:cs typeface="Calibri" pitchFamily="34" charset="-120"/>
              </a:rPr>
              <a:t>simulating gut microbiota mediated interactions</a:t>
            </a:r>
            <a:endParaRPr lang="en-US" sz="1250" dirty="0"/>
          </a:p>
        </p:txBody>
      </p:sp>
      <p:sp>
        <p:nvSpPr>
          <p:cNvPr id="9" name="Text 4"/>
          <p:cNvSpPr/>
          <p:nvPr/>
        </p:nvSpPr>
        <p:spPr>
          <a:xfrm>
            <a:off x="4663440" y="1610151"/>
            <a:ext cx="7132320" cy="1371600"/>
          </a:xfrm>
          <a:prstGeom prst="rect">
            <a:avLst/>
          </a:prstGeom>
          <a:noFill/>
          <a:ln/>
        </p:spPr>
        <p:txBody>
          <a:bodyPr wrap="square" lIns="0" tIns="0" rIns="0" bIns="0" rtlCol="0" anchor="ctr"/>
          <a:lstStyle/>
          <a:p>
            <a:pPr>
              <a:lnSpc>
                <a:spcPts val="4000"/>
              </a:lnSpc>
            </a:pPr>
            <a:r>
              <a:rPr lang="en-US" sz="2800" dirty="0">
                <a:solidFill>
                  <a:srgbClr val="C00000"/>
                </a:solidFill>
                <a:latin typeface="Tahoma" pitchFamily="34" charset="0"/>
                <a:ea typeface="Tahoma" pitchFamily="34" charset="-122"/>
                <a:cs typeface="Tahoma" pitchFamily="34" charset="-120"/>
              </a:rPr>
              <a:t>Data management and FAIR principles</a:t>
            </a:r>
            <a:endParaRPr lang="en-US" sz="2800" dirty="0"/>
          </a:p>
        </p:txBody>
      </p:sp>
      <p:sp>
        <p:nvSpPr>
          <p:cNvPr id="10" name="Shape 5"/>
          <p:cNvSpPr/>
          <p:nvPr/>
        </p:nvSpPr>
        <p:spPr>
          <a:xfrm>
            <a:off x="4663440" y="2771977"/>
            <a:ext cx="6858000" cy="0"/>
          </a:xfrm>
          <a:prstGeom prst="line">
            <a:avLst/>
          </a:prstGeom>
          <a:noFill/>
          <a:ln w="12700">
            <a:solidFill>
              <a:srgbClr val="C00000"/>
            </a:solidFill>
            <a:prstDash val="solid"/>
          </a:ln>
        </p:spPr>
        <p:txBody>
          <a:bodyPr/>
          <a:lstStyle/>
          <a:p>
            <a:endParaRPr lang="en-US"/>
          </a:p>
        </p:txBody>
      </p:sp>
      <p:sp>
        <p:nvSpPr>
          <p:cNvPr id="11" name="Text 6"/>
          <p:cNvSpPr/>
          <p:nvPr/>
        </p:nvSpPr>
        <p:spPr>
          <a:xfrm>
            <a:off x="4663440" y="2914517"/>
            <a:ext cx="7132320" cy="365760"/>
          </a:xfrm>
          <a:prstGeom prst="rect">
            <a:avLst/>
          </a:prstGeom>
          <a:noFill/>
          <a:ln/>
        </p:spPr>
        <p:txBody>
          <a:bodyPr wrap="square" lIns="0" tIns="0" rIns="0" bIns="0" rtlCol="0" anchor="ctr"/>
          <a:lstStyle/>
          <a:p>
            <a:pPr marL="0" indent="0">
              <a:buNone/>
            </a:pPr>
            <a:r>
              <a:rPr lang="en-US" sz="1700" dirty="0"/>
              <a:t>INFOGUT 3</a:t>
            </a:r>
            <a:r>
              <a:rPr lang="en-US" sz="1700" baseline="30000" dirty="0"/>
              <a:t>rd</a:t>
            </a:r>
            <a:r>
              <a:rPr lang="en-US" sz="1700" dirty="0"/>
              <a:t> Training school</a:t>
            </a:r>
          </a:p>
        </p:txBody>
      </p:sp>
      <p:sp>
        <p:nvSpPr>
          <p:cNvPr id="13" name="Text 8"/>
          <p:cNvSpPr/>
          <p:nvPr/>
        </p:nvSpPr>
        <p:spPr>
          <a:xfrm>
            <a:off x="4663440" y="4524667"/>
            <a:ext cx="7132320" cy="320040"/>
          </a:xfrm>
          <a:prstGeom prst="rect">
            <a:avLst/>
          </a:prstGeom>
          <a:noFill/>
          <a:ln/>
        </p:spPr>
        <p:txBody>
          <a:bodyPr wrap="square" lIns="0" tIns="0" rIns="0" bIns="0" rtlCol="0" anchor="ctr"/>
          <a:lstStyle/>
          <a:p>
            <a:pPr marL="0" indent="0">
              <a:buNone/>
            </a:pPr>
            <a:r>
              <a:rPr lang="en-US" sz="1600" b="1" dirty="0">
                <a:solidFill>
                  <a:srgbClr val="262626"/>
                </a:solidFill>
                <a:latin typeface="Calibri" pitchFamily="34" charset="0"/>
                <a:ea typeface="Calibri" pitchFamily="34" charset="-122"/>
                <a:cs typeface="Calibri" pitchFamily="34" charset="-120"/>
              </a:rPr>
              <a:t>Alise Ponsero</a:t>
            </a:r>
            <a:endParaRPr lang="en-US" sz="1600" dirty="0"/>
          </a:p>
        </p:txBody>
      </p:sp>
      <p:sp>
        <p:nvSpPr>
          <p:cNvPr id="14" name="Text 9"/>
          <p:cNvSpPr/>
          <p:nvPr/>
        </p:nvSpPr>
        <p:spPr>
          <a:xfrm>
            <a:off x="4663440" y="4844707"/>
            <a:ext cx="7132320" cy="320040"/>
          </a:xfrm>
          <a:prstGeom prst="rect">
            <a:avLst/>
          </a:prstGeom>
          <a:noFill/>
          <a:ln/>
        </p:spPr>
        <p:txBody>
          <a:bodyPr wrap="square" lIns="0" tIns="0" rIns="0" bIns="0" rtlCol="0" anchor="ctr"/>
          <a:lstStyle/>
          <a:p>
            <a:pPr marL="0" indent="0">
              <a:buNone/>
            </a:pPr>
            <a:r>
              <a:rPr lang="en-US" sz="1300" dirty="0">
                <a:solidFill>
                  <a:srgbClr val="7F7F7F"/>
                </a:solidFill>
                <a:latin typeface="Calibri" pitchFamily="34" charset="0"/>
                <a:ea typeface="Calibri" pitchFamily="34" charset="-122"/>
                <a:cs typeface="Calibri" pitchFamily="34" charset="-120"/>
              </a:rPr>
              <a:t>Quadram Institute Bioscience, Norwich, UK</a:t>
            </a:r>
            <a:endParaRPr lang="en-US" sz="1300" dirty="0"/>
          </a:p>
        </p:txBody>
      </p:sp>
      <p:sp>
        <p:nvSpPr>
          <p:cNvPr id="15" name="Text 10"/>
          <p:cNvSpPr/>
          <p:nvPr/>
        </p:nvSpPr>
        <p:spPr>
          <a:xfrm>
            <a:off x="4663440" y="6378747"/>
            <a:ext cx="7132320" cy="320040"/>
          </a:xfrm>
          <a:prstGeom prst="rect">
            <a:avLst/>
          </a:prstGeom>
          <a:noFill/>
          <a:ln/>
        </p:spPr>
        <p:txBody>
          <a:bodyPr wrap="square" lIns="0" tIns="0" rIns="0" bIns="0" rtlCol="0" anchor="ctr"/>
          <a:lstStyle/>
          <a:p>
            <a:pPr marL="0" indent="0">
              <a:buNone/>
            </a:pPr>
            <a:r>
              <a:rPr lang="en-US" sz="1250" dirty="0">
                <a:solidFill>
                  <a:srgbClr val="C00000"/>
                </a:solidFill>
                <a:latin typeface="Calibri" pitchFamily="34" charset="0"/>
                <a:ea typeface="Calibri" pitchFamily="34" charset="-122"/>
                <a:cs typeface="Calibri" pitchFamily="34" charset="-120"/>
              </a:rPr>
              <a:t>INFOGUT 3rd Training school 2026 | September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Three questions, before we start</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WARM UP</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p:cNvSpPr/>
          <p:nvPr/>
        </p:nvSpPr>
        <p:spPr>
          <a:xfrm>
            <a:off x="502920"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737360"/>
            <a:ext cx="621792" cy="621792"/>
          </a:xfrm>
          <a:prstGeom prst="rect">
            <a:avLst/>
          </a:prstGeom>
        </p:spPr>
      </p:pic>
      <p:sp>
        <p:nvSpPr>
          <p:cNvPr id="12" name="Text 8"/>
          <p:cNvSpPr txBox="1"/>
          <p:nvPr/>
        </p:nvSpPr>
        <p:spPr>
          <a:xfrm>
            <a:off x="822960" y="2542032"/>
            <a:ext cx="2843784"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Could you re-run it?</a:t>
            </a:r>
            <a:endParaRPr lang="en-US" sz="2000" dirty="0"/>
          </a:p>
        </p:txBody>
      </p:sp>
      <p:sp>
        <p:nvSpPr>
          <p:cNvPr id="13" name="Text 9"/>
          <p:cNvSpPr txBox="1"/>
          <p:nvPr/>
        </p:nvSpPr>
        <p:spPr>
          <a:xfrm>
            <a:off x="822960" y="3035808"/>
            <a:ext cx="2843784" cy="173736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Take the last figure you published or presented. Starting from the raw files, could you reproduce that exact number today?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50533-B677-C32E-D6E9-27F79DB8D5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8E7A2A-BCAA-9BDB-0D0C-7B030974265A}"/>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331B2B36-5165-83DB-8053-51A47089FD44}"/>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97971663-40F4-B9FE-48B3-4E523A3889C5}"/>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F7D40BD5-C2E6-9684-8D59-63C167BB4B83}"/>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a:t>
            </a:r>
            <a:endParaRPr lang="en-US" sz="900" dirty="0"/>
          </a:p>
        </p:txBody>
      </p:sp>
      <p:sp>
        <p:nvSpPr>
          <p:cNvPr id="6" name="Text 3">
            <a:extLst>
              <a:ext uri="{FF2B5EF4-FFF2-40B4-BE49-F238E27FC236}">
                <a16:creationId xmlns:a16="http://schemas.microsoft.com/office/drawing/2014/main" id="{DF48DF75-79A2-7E35-9124-D3B779906B86}"/>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Three questions, before we start</a:t>
            </a:r>
            <a:endParaRPr lang="en-US" sz="2000" dirty="0"/>
          </a:p>
        </p:txBody>
      </p:sp>
      <p:sp>
        <p:nvSpPr>
          <p:cNvPr id="7" name="Text 4">
            <a:extLst>
              <a:ext uri="{FF2B5EF4-FFF2-40B4-BE49-F238E27FC236}">
                <a16:creationId xmlns:a16="http://schemas.microsoft.com/office/drawing/2014/main" id="{4ED4293A-35F4-5E0E-3B54-698D64F812CC}"/>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WARM UP</a:t>
            </a:r>
            <a:endParaRPr lang="en-US" sz="1150" dirty="0"/>
          </a:p>
        </p:txBody>
      </p:sp>
      <p:sp>
        <p:nvSpPr>
          <p:cNvPr id="8" name="Shape 5">
            <a:extLst>
              <a:ext uri="{FF2B5EF4-FFF2-40B4-BE49-F238E27FC236}">
                <a16:creationId xmlns:a16="http://schemas.microsoft.com/office/drawing/2014/main" id="{C6553496-F5D7-1001-2F6B-815B8FB7B88B}"/>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7151BF32-1FCD-C121-534D-2B9A52EA724A}"/>
              </a:ext>
            </a:extLst>
          </p:cNvPr>
          <p:cNvSpPr/>
          <p:nvPr/>
        </p:nvSpPr>
        <p:spPr>
          <a:xfrm>
            <a:off x="502920"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1" name="Image 1" descr="preencoded.png">
            <a:extLst>
              <a:ext uri="{FF2B5EF4-FFF2-40B4-BE49-F238E27FC236}">
                <a16:creationId xmlns:a16="http://schemas.microsoft.com/office/drawing/2014/main" id="{BDA355C2-F0F8-3B0D-0BF5-E88A5C63A3CE}"/>
              </a:ext>
            </a:extLst>
          </p:cNvPr>
          <p:cNvPicPr>
            <a:picLocks noChangeAspect="1"/>
          </p:cNvPicPr>
          <p:nvPr/>
        </p:nvPicPr>
        <p:blipFill>
          <a:blip r:embed="rId4"/>
          <a:stretch>
            <a:fillRect/>
          </a:stretch>
        </p:blipFill>
        <p:spPr>
          <a:xfrm>
            <a:off x="822960" y="1737360"/>
            <a:ext cx="621792" cy="621792"/>
          </a:xfrm>
          <a:prstGeom prst="rect">
            <a:avLst/>
          </a:prstGeom>
        </p:spPr>
      </p:pic>
      <p:sp>
        <p:nvSpPr>
          <p:cNvPr id="12" name="Text 8">
            <a:extLst>
              <a:ext uri="{FF2B5EF4-FFF2-40B4-BE49-F238E27FC236}">
                <a16:creationId xmlns:a16="http://schemas.microsoft.com/office/drawing/2014/main" id="{25AF9596-EDFF-DA37-AF37-E85FDCC6C603}"/>
              </a:ext>
            </a:extLst>
          </p:cNvPr>
          <p:cNvSpPr txBox="1"/>
          <p:nvPr/>
        </p:nvSpPr>
        <p:spPr>
          <a:xfrm>
            <a:off x="822960" y="2542032"/>
            <a:ext cx="2843784"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Could you re-run it?</a:t>
            </a:r>
            <a:endParaRPr lang="en-US" sz="2000" dirty="0"/>
          </a:p>
        </p:txBody>
      </p:sp>
      <p:sp>
        <p:nvSpPr>
          <p:cNvPr id="13" name="Text 9">
            <a:extLst>
              <a:ext uri="{FF2B5EF4-FFF2-40B4-BE49-F238E27FC236}">
                <a16:creationId xmlns:a16="http://schemas.microsoft.com/office/drawing/2014/main" id="{453E56CE-D170-F8FB-845B-6F8DC74491F7}"/>
              </a:ext>
            </a:extLst>
          </p:cNvPr>
          <p:cNvSpPr txBox="1"/>
          <p:nvPr/>
        </p:nvSpPr>
        <p:spPr>
          <a:xfrm>
            <a:off x="822960" y="3035808"/>
            <a:ext cx="2843784" cy="173736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Take the last figure you published or presented. Starting from the raw files, could you reproduce that exact number today?</a:t>
            </a:r>
            <a:endParaRPr lang="en-US" sz="1600" dirty="0"/>
          </a:p>
        </p:txBody>
      </p:sp>
      <p:sp>
        <p:nvSpPr>
          <p:cNvPr id="14" name="Shape 10">
            <a:extLst>
              <a:ext uri="{FF2B5EF4-FFF2-40B4-BE49-F238E27FC236}">
                <a16:creationId xmlns:a16="http://schemas.microsoft.com/office/drawing/2014/main" id="{258C7207-3A6C-56F3-AD1A-F32F910484DB}"/>
              </a:ext>
            </a:extLst>
          </p:cNvPr>
          <p:cNvSpPr/>
          <p:nvPr/>
        </p:nvSpPr>
        <p:spPr>
          <a:xfrm>
            <a:off x="4352544"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5" name="Image 2" descr="preencoded.png">
            <a:extLst>
              <a:ext uri="{FF2B5EF4-FFF2-40B4-BE49-F238E27FC236}">
                <a16:creationId xmlns:a16="http://schemas.microsoft.com/office/drawing/2014/main" id="{046CC54D-AF1C-16F2-D5FD-78163375E8DC}"/>
              </a:ext>
            </a:extLst>
          </p:cNvPr>
          <p:cNvPicPr>
            <a:picLocks noChangeAspect="1"/>
          </p:cNvPicPr>
          <p:nvPr/>
        </p:nvPicPr>
        <p:blipFill>
          <a:blip r:embed="rId5"/>
          <a:stretch>
            <a:fillRect/>
          </a:stretch>
        </p:blipFill>
        <p:spPr>
          <a:xfrm>
            <a:off x="4672584" y="1737360"/>
            <a:ext cx="621792" cy="621792"/>
          </a:xfrm>
          <a:prstGeom prst="rect">
            <a:avLst/>
          </a:prstGeom>
        </p:spPr>
      </p:pic>
      <p:sp>
        <p:nvSpPr>
          <p:cNvPr id="16" name="Text 11">
            <a:extLst>
              <a:ext uri="{FF2B5EF4-FFF2-40B4-BE49-F238E27FC236}">
                <a16:creationId xmlns:a16="http://schemas.microsoft.com/office/drawing/2014/main" id="{58A346C6-AC17-A433-1C9B-105B12A6BECE}"/>
              </a:ext>
            </a:extLst>
          </p:cNvPr>
          <p:cNvSpPr txBox="1"/>
          <p:nvPr/>
        </p:nvSpPr>
        <p:spPr>
          <a:xfrm>
            <a:off x="4672584" y="2542032"/>
            <a:ext cx="2843784"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Where is it written?</a:t>
            </a:r>
            <a:endParaRPr lang="en-US" sz="2000" dirty="0"/>
          </a:p>
        </p:txBody>
      </p:sp>
      <p:sp>
        <p:nvSpPr>
          <p:cNvPr id="17" name="Text 12">
            <a:extLst>
              <a:ext uri="{FF2B5EF4-FFF2-40B4-BE49-F238E27FC236}">
                <a16:creationId xmlns:a16="http://schemas.microsoft.com/office/drawing/2014/main" id="{A64FA43C-3D09-E646-AABD-8AA394A5810F}"/>
              </a:ext>
            </a:extLst>
          </p:cNvPr>
          <p:cNvSpPr txBox="1"/>
          <p:nvPr/>
        </p:nvSpPr>
        <p:spPr>
          <a:xfrm>
            <a:off x="4672584" y="3035808"/>
            <a:ext cx="2843784" cy="173736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A reviewer asks which samples you excluded, and why. Where is that recorded, and could you find it this afternoon?</a:t>
            </a:r>
            <a:endParaRPr lang="en-US" sz="1600" dirty="0"/>
          </a:p>
        </p:txBody>
      </p:sp>
    </p:spTree>
    <p:extLst>
      <p:ext uri="{BB962C8B-B14F-4D97-AF65-F5344CB8AC3E}">
        <p14:creationId xmlns:p14="http://schemas.microsoft.com/office/powerpoint/2010/main" val="1907228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0183F-1DFF-D716-D079-87296B1A18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CE9A20-B5AB-6057-FCCB-8F2131D30DB3}"/>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AA360049-6044-CFD6-E02B-A17F1DE7FBBB}"/>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CC5A5436-FF72-D85C-2DB4-813EE10F180D}"/>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C4C5D636-FDBC-A562-CFAC-4FE82BC98228}"/>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a:t>
            </a:r>
            <a:endParaRPr lang="en-US" sz="900" dirty="0"/>
          </a:p>
        </p:txBody>
      </p:sp>
      <p:sp>
        <p:nvSpPr>
          <p:cNvPr id="6" name="Text 3">
            <a:extLst>
              <a:ext uri="{FF2B5EF4-FFF2-40B4-BE49-F238E27FC236}">
                <a16:creationId xmlns:a16="http://schemas.microsoft.com/office/drawing/2014/main" id="{A68EA1DB-CF6C-193D-2F5C-EE4108F36CB1}"/>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Three questions, before we start</a:t>
            </a:r>
            <a:endParaRPr lang="en-US" sz="2000" dirty="0"/>
          </a:p>
        </p:txBody>
      </p:sp>
      <p:sp>
        <p:nvSpPr>
          <p:cNvPr id="7" name="Text 4">
            <a:extLst>
              <a:ext uri="{FF2B5EF4-FFF2-40B4-BE49-F238E27FC236}">
                <a16:creationId xmlns:a16="http://schemas.microsoft.com/office/drawing/2014/main" id="{1BF4A19C-0D59-A8FE-1740-82562F216241}"/>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WARM UP</a:t>
            </a:r>
            <a:endParaRPr lang="en-US" sz="1150" dirty="0"/>
          </a:p>
        </p:txBody>
      </p:sp>
      <p:sp>
        <p:nvSpPr>
          <p:cNvPr id="8" name="Shape 5">
            <a:extLst>
              <a:ext uri="{FF2B5EF4-FFF2-40B4-BE49-F238E27FC236}">
                <a16:creationId xmlns:a16="http://schemas.microsoft.com/office/drawing/2014/main" id="{F91896F2-FFE4-E695-A93A-80F48EE490A9}"/>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C7A646D4-2CB9-4134-DEDC-A4EBDF1BF2C0}"/>
              </a:ext>
            </a:extLst>
          </p:cNvPr>
          <p:cNvSpPr/>
          <p:nvPr/>
        </p:nvSpPr>
        <p:spPr>
          <a:xfrm>
            <a:off x="502920"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1" name="Image 1" descr="preencoded.png">
            <a:extLst>
              <a:ext uri="{FF2B5EF4-FFF2-40B4-BE49-F238E27FC236}">
                <a16:creationId xmlns:a16="http://schemas.microsoft.com/office/drawing/2014/main" id="{E12A2123-7A9C-D11A-52B9-19D2365F5CD9}"/>
              </a:ext>
            </a:extLst>
          </p:cNvPr>
          <p:cNvPicPr>
            <a:picLocks noChangeAspect="1"/>
          </p:cNvPicPr>
          <p:nvPr/>
        </p:nvPicPr>
        <p:blipFill>
          <a:blip r:embed="rId4"/>
          <a:stretch>
            <a:fillRect/>
          </a:stretch>
        </p:blipFill>
        <p:spPr>
          <a:xfrm>
            <a:off x="822960" y="1737360"/>
            <a:ext cx="621792" cy="621792"/>
          </a:xfrm>
          <a:prstGeom prst="rect">
            <a:avLst/>
          </a:prstGeom>
        </p:spPr>
      </p:pic>
      <p:sp>
        <p:nvSpPr>
          <p:cNvPr id="12" name="Text 8">
            <a:extLst>
              <a:ext uri="{FF2B5EF4-FFF2-40B4-BE49-F238E27FC236}">
                <a16:creationId xmlns:a16="http://schemas.microsoft.com/office/drawing/2014/main" id="{89C6B210-36B8-7720-37E4-22B388E0312B}"/>
              </a:ext>
            </a:extLst>
          </p:cNvPr>
          <p:cNvSpPr txBox="1"/>
          <p:nvPr/>
        </p:nvSpPr>
        <p:spPr>
          <a:xfrm>
            <a:off x="822960" y="2542032"/>
            <a:ext cx="2843784"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Could you re-run it?</a:t>
            </a:r>
            <a:endParaRPr lang="en-US" sz="2000" dirty="0"/>
          </a:p>
        </p:txBody>
      </p:sp>
      <p:sp>
        <p:nvSpPr>
          <p:cNvPr id="13" name="Text 9">
            <a:extLst>
              <a:ext uri="{FF2B5EF4-FFF2-40B4-BE49-F238E27FC236}">
                <a16:creationId xmlns:a16="http://schemas.microsoft.com/office/drawing/2014/main" id="{89E6282D-07FF-796E-0188-7B9A856DF90C}"/>
              </a:ext>
            </a:extLst>
          </p:cNvPr>
          <p:cNvSpPr txBox="1"/>
          <p:nvPr/>
        </p:nvSpPr>
        <p:spPr>
          <a:xfrm>
            <a:off x="822960" y="3035808"/>
            <a:ext cx="2843784" cy="173736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Take the last figure you published or presented. Starting from the raw files, could you reproduce that exact number today?</a:t>
            </a:r>
            <a:endParaRPr lang="en-US" sz="1600" dirty="0"/>
          </a:p>
        </p:txBody>
      </p:sp>
      <p:sp>
        <p:nvSpPr>
          <p:cNvPr id="14" name="Shape 10">
            <a:extLst>
              <a:ext uri="{FF2B5EF4-FFF2-40B4-BE49-F238E27FC236}">
                <a16:creationId xmlns:a16="http://schemas.microsoft.com/office/drawing/2014/main" id="{DDE60688-C166-B7FD-5D12-16039CC9A6FB}"/>
              </a:ext>
            </a:extLst>
          </p:cNvPr>
          <p:cNvSpPr/>
          <p:nvPr/>
        </p:nvSpPr>
        <p:spPr>
          <a:xfrm>
            <a:off x="4352544"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5" name="Image 2" descr="preencoded.png">
            <a:extLst>
              <a:ext uri="{FF2B5EF4-FFF2-40B4-BE49-F238E27FC236}">
                <a16:creationId xmlns:a16="http://schemas.microsoft.com/office/drawing/2014/main" id="{719B8355-2605-A01D-60C8-9216D9F872C6}"/>
              </a:ext>
            </a:extLst>
          </p:cNvPr>
          <p:cNvPicPr>
            <a:picLocks noChangeAspect="1"/>
          </p:cNvPicPr>
          <p:nvPr/>
        </p:nvPicPr>
        <p:blipFill>
          <a:blip r:embed="rId5"/>
          <a:stretch>
            <a:fillRect/>
          </a:stretch>
        </p:blipFill>
        <p:spPr>
          <a:xfrm>
            <a:off x="4672584" y="1737360"/>
            <a:ext cx="621792" cy="621792"/>
          </a:xfrm>
          <a:prstGeom prst="rect">
            <a:avLst/>
          </a:prstGeom>
        </p:spPr>
      </p:pic>
      <p:sp>
        <p:nvSpPr>
          <p:cNvPr id="16" name="Text 11">
            <a:extLst>
              <a:ext uri="{FF2B5EF4-FFF2-40B4-BE49-F238E27FC236}">
                <a16:creationId xmlns:a16="http://schemas.microsoft.com/office/drawing/2014/main" id="{E20DA9B8-8EF8-0F61-2A02-92B017557DDD}"/>
              </a:ext>
            </a:extLst>
          </p:cNvPr>
          <p:cNvSpPr txBox="1"/>
          <p:nvPr/>
        </p:nvSpPr>
        <p:spPr>
          <a:xfrm>
            <a:off x="4672584" y="2542032"/>
            <a:ext cx="2843784"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Where is it written?</a:t>
            </a:r>
            <a:endParaRPr lang="en-US" sz="2000" dirty="0"/>
          </a:p>
        </p:txBody>
      </p:sp>
      <p:sp>
        <p:nvSpPr>
          <p:cNvPr id="17" name="Text 12">
            <a:extLst>
              <a:ext uri="{FF2B5EF4-FFF2-40B4-BE49-F238E27FC236}">
                <a16:creationId xmlns:a16="http://schemas.microsoft.com/office/drawing/2014/main" id="{5EDD1026-D7D4-3DE4-831C-DFCDC4417291}"/>
              </a:ext>
            </a:extLst>
          </p:cNvPr>
          <p:cNvSpPr txBox="1"/>
          <p:nvPr/>
        </p:nvSpPr>
        <p:spPr>
          <a:xfrm>
            <a:off x="4672584" y="3035808"/>
            <a:ext cx="2843784" cy="173736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A reviewer asks which samples you excluded, and why. Where is that recorded, and could you find it this afternoon?</a:t>
            </a:r>
            <a:endParaRPr lang="en-US" sz="1600" dirty="0"/>
          </a:p>
        </p:txBody>
      </p:sp>
      <p:sp>
        <p:nvSpPr>
          <p:cNvPr id="18" name="Shape 13">
            <a:extLst>
              <a:ext uri="{FF2B5EF4-FFF2-40B4-BE49-F238E27FC236}">
                <a16:creationId xmlns:a16="http://schemas.microsoft.com/office/drawing/2014/main" id="{341DF2FD-776E-FBF5-E7A1-1C6E8C0E26BC}"/>
              </a:ext>
            </a:extLst>
          </p:cNvPr>
          <p:cNvSpPr/>
          <p:nvPr/>
        </p:nvSpPr>
        <p:spPr>
          <a:xfrm>
            <a:off x="8202168"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9" name="Image 3" descr="preencoded.png">
            <a:extLst>
              <a:ext uri="{FF2B5EF4-FFF2-40B4-BE49-F238E27FC236}">
                <a16:creationId xmlns:a16="http://schemas.microsoft.com/office/drawing/2014/main" id="{52A30CD9-0AB5-8E8F-D355-A0C7CC7A102B}"/>
              </a:ext>
            </a:extLst>
          </p:cNvPr>
          <p:cNvPicPr>
            <a:picLocks noChangeAspect="1"/>
          </p:cNvPicPr>
          <p:nvPr/>
        </p:nvPicPr>
        <p:blipFill>
          <a:blip r:embed="rId6"/>
          <a:stretch>
            <a:fillRect/>
          </a:stretch>
        </p:blipFill>
        <p:spPr>
          <a:xfrm>
            <a:off x="8522208" y="1737360"/>
            <a:ext cx="621792" cy="621792"/>
          </a:xfrm>
          <a:prstGeom prst="rect">
            <a:avLst/>
          </a:prstGeom>
        </p:spPr>
      </p:pic>
      <p:sp>
        <p:nvSpPr>
          <p:cNvPr id="20" name="Text 14">
            <a:extLst>
              <a:ext uri="{FF2B5EF4-FFF2-40B4-BE49-F238E27FC236}">
                <a16:creationId xmlns:a16="http://schemas.microsoft.com/office/drawing/2014/main" id="{2C2ADCA7-4C64-8E07-AB72-0A1A3B5A4A58}"/>
              </a:ext>
            </a:extLst>
          </p:cNvPr>
          <p:cNvSpPr txBox="1"/>
          <p:nvPr/>
        </p:nvSpPr>
        <p:spPr>
          <a:xfrm>
            <a:off x="8522207" y="2542032"/>
            <a:ext cx="3042263"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Could someone take over?</a:t>
            </a:r>
            <a:endParaRPr lang="en-US" sz="2000" dirty="0"/>
          </a:p>
        </p:txBody>
      </p:sp>
      <p:sp>
        <p:nvSpPr>
          <p:cNvPr id="21" name="Text 15">
            <a:extLst>
              <a:ext uri="{FF2B5EF4-FFF2-40B4-BE49-F238E27FC236}">
                <a16:creationId xmlns:a16="http://schemas.microsoft.com/office/drawing/2014/main" id="{41AFCFA4-541E-600A-4435-DDE1D9E7650D}"/>
              </a:ext>
            </a:extLst>
          </p:cNvPr>
          <p:cNvSpPr txBox="1"/>
          <p:nvPr/>
        </p:nvSpPr>
        <p:spPr>
          <a:xfrm>
            <a:off x="8522208" y="3035808"/>
            <a:ext cx="2843784" cy="173736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If you left tomorrow, how long would a colleague need to pick up your project and carry on with it?</a:t>
            </a:r>
            <a:endParaRPr lang="en-US" sz="1600" dirty="0"/>
          </a:p>
        </p:txBody>
      </p:sp>
    </p:spTree>
    <p:extLst>
      <p:ext uri="{BB962C8B-B14F-4D97-AF65-F5344CB8AC3E}">
        <p14:creationId xmlns:p14="http://schemas.microsoft.com/office/powerpoint/2010/main" val="3207862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4</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Same lab, same protocol, two years apart</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AN INVENTED SCENARIO</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endParaRPr lang="en-US" sz="1400" dirty="0"/>
          </a:p>
        </p:txBody>
      </p:sp>
      <p:sp>
        <p:nvSpPr>
          <p:cNvPr id="10" name="Shape 7"/>
          <p:cNvSpPr/>
          <p:nvPr/>
        </p:nvSpPr>
        <p:spPr>
          <a:xfrm>
            <a:off x="502920" y="1371600"/>
            <a:ext cx="5212080" cy="3108960"/>
          </a:xfrm>
          <a:prstGeom prst="roundRect">
            <a:avLst>
              <a:gd name="adj" fmla="val 2353"/>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645920"/>
            <a:ext cx="548640" cy="548640"/>
          </a:xfrm>
          <a:prstGeom prst="rect">
            <a:avLst/>
          </a:prstGeom>
        </p:spPr>
      </p:pic>
      <p:sp>
        <p:nvSpPr>
          <p:cNvPr id="12" name="Text 8"/>
          <p:cNvSpPr txBox="1"/>
          <p:nvPr/>
        </p:nvSpPr>
        <p:spPr>
          <a:xfrm>
            <a:off x="1459006" y="1854080"/>
            <a:ext cx="4572000" cy="256032"/>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RUN 1</a:t>
            </a:r>
            <a:endParaRPr lang="en-US" sz="1400" dirty="0"/>
          </a:p>
        </p:txBody>
      </p:sp>
      <p:sp>
        <p:nvSpPr>
          <p:cNvPr id="13" name="Text 9"/>
          <p:cNvSpPr txBox="1"/>
          <p:nvPr/>
        </p:nvSpPr>
        <p:spPr>
          <a:xfrm>
            <a:off x="822960" y="2292858"/>
            <a:ext cx="4572000" cy="36576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A clean result</a:t>
            </a:r>
            <a:endParaRPr lang="en-US" dirty="0"/>
          </a:p>
        </p:txBody>
      </p:sp>
      <p:sp>
        <p:nvSpPr>
          <p:cNvPr id="14" name="Text 10"/>
          <p:cNvSpPr txBox="1"/>
          <p:nvPr/>
        </p:nvSpPr>
        <p:spPr>
          <a:xfrm>
            <a:off x="822960" y="2887218"/>
            <a:ext cx="4572000" cy="1280160"/>
          </a:xfrm>
          <a:prstGeom prst="rect">
            <a:avLst/>
          </a:prstGeom>
          <a:noFill/>
          <a:ln/>
        </p:spPr>
        <p:txBody>
          <a:bodyPr wrap="square" lIns="0" tIns="0" rIns="0" bIns="0" rtlCol="0" anchor="t"/>
          <a:lstStyle/>
          <a:p>
            <a:pPr marL="0" indent="0">
              <a:lnSpc>
                <a:spcPct val="120000"/>
              </a:lnSpc>
              <a:buNone/>
            </a:pPr>
            <a:r>
              <a:rPr lang="en-US" sz="1600" dirty="0">
                <a:solidFill>
                  <a:srgbClr val="262626"/>
                </a:solidFill>
                <a:latin typeface="Calibri" pitchFamily="34" charset="0"/>
                <a:ea typeface="Calibri" pitchFamily="34" charset="-122"/>
                <a:cs typeface="Calibri" pitchFamily="34" charset="-120"/>
              </a:rPr>
              <a:t>A postdoc runs the colon model: one control, two treatments, technical replicates, community composition at endpoint. Treatment A produces a strong and convincing shift. The work is written up.</a:t>
            </a:r>
            <a:endParaRPr lang="en-US" sz="1600" dirty="0"/>
          </a:p>
        </p:txBody>
      </p:sp>
      <p:sp>
        <p:nvSpPr>
          <p:cNvPr id="15" name="Shape 11"/>
          <p:cNvSpPr/>
          <p:nvPr/>
        </p:nvSpPr>
        <p:spPr>
          <a:xfrm>
            <a:off x="5829300" y="2834640"/>
            <a:ext cx="164592" cy="237744"/>
          </a:xfrm>
          <a:prstGeom prst="rightArrow">
            <a:avLst/>
          </a:prstGeom>
          <a:solidFill>
            <a:srgbClr val="C00000"/>
          </a:solidFill>
          <a:ln w="12700">
            <a:solidFill>
              <a:srgbClr val="C00000"/>
            </a:solidFill>
            <a:prstDash val="solid"/>
          </a:ln>
        </p:spPr>
        <p:txBody>
          <a:bodyPr/>
          <a:lstStyle/>
          <a:p>
            <a:endParaRPr lang="en-US"/>
          </a:p>
        </p:txBody>
      </p:sp>
      <p:sp>
        <p:nvSpPr>
          <p:cNvPr id="16" name="Shape 12"/>
          <p:cNvSpPr/>
          <p:nvPr/>
        </p:nvSpPr>
        <p:spPr>
          <a:xfrm>
            <a:off x="6108192" y="1371600"/>
            <a:ext cx="5577840" cy="3108960"/>
          </a:xfrm>
          <a:prstGeom prst="roundRect">
            <a:avLst>
              <a:gd name="adj" fmla="val 2353"/>
            </a:avLst>
          </a:prstGeom>
          <a:solidFill>
            <a:srgbClr val="FFFFFF"/>
          </a:solidFill>
          <a:ln w="12700">
            <a:solidFill>
              <a:srgbClr val="DCDCDC"/>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428232" y="1645920"/>
            <a:ext cx="548640" cy="548640"/>
          </a:xfrm>
          <a:prstGeom prst="rect">
            <a:avLst/>
          </a:prstGeom>
        </p:spPr>
      </p:pic>
      <p:sp>
        <p:nvSpPr>
          <p:cNvPr id="18" name="Text 13"/>
          <p:cNvSpPr txBox="1"/>
          <p:nvPr/>
        </p:nvSpPr>
        <p:spPr>
          <a:xfrm>
            <a:off x="7141464" y="1815084"/>
            <a:ext cx="4937760" cy="256032"/>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RUN 2, TWO YEARS LATER</a:t>
            </a:r>
            <a:endParaRPr lang="en-US" sz="1400" dirty="0"/>
          </a:p>
        </p:txBody>
      </p:sp>
      <p:sp>
        <p:nvSpPr>
          <p:cNvPr id="19" name="Text 14"/>
          <p:cNvSpPr txBox="1"/>
          <p:nvPr/>
        </p:nvSpPr>
        <p:spPr>
          <a:xfrm>
            <a:off x="6428232" y="2292858"/>
            <a:ext cx="4937760" cy="36576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Nothing happens</a:t>
            </a:r>
            <a:endParaRPr lang="en-US" dirty="0"/>
          </a:p>
        </p:txBody>
      </p:sp>
      <p:sp>
        <p:nvSpPr>
          <p:cNvPr id="20" name="Text 15"/>
          <p:cNvSpPr txBox="1"/>
          <p:nvPr/>
        </p:nvSpPr>
        <p:spPr>
          <a:xfrm>
            <a:off x="6428232" y="2887218"/>
            <a:ext cx="4937760" cy="1280160"/>
          </a:xfrm>
          <a:prstGeom prst="rect">
            <a:avLst/>
          </a:prstGeom>
          <a:noFill/>
          <a:ln/>
        </p:spPr>
        <p:txBody>
          <a:bodyPr wrap="square" lIns="0" tIns="0" rIns="0" bIns="0" rtlCol="0" anchor="t"/>
          <a:lstStyle/>
          <a:p>
            <a:pPr marL="0" indent="0">
              <a:lnSpc>
                <a:spcPct val="120000"/>
              </a:lnSpc>
              <a:buNone/>
            </a:pPr>
            <a:r>
              <a:rPr lang="en-US" sz="1600" dirty="0">
                <a:solidFill>
                  <a:srgbClr val="262626"/>
                </a:solidFill>
                <a:latin typeface="Calibri" pitchFamily="34" charset="0"/>
                <a:ea typeface="Calibri" pitchFamily="34" charset="-122"/>
                <a:cs typeface="Calibri" pitchFamily="34" charset="-120"/>
              </a:rPr>
              <a:t>A new PhD student repeats it as the starting point of her own project. Same lab. Same protocol document. Same inoculum source. Treatment A does almost nothing.</a:t>
            </a:r>
            <a:endParaRPr lang="en-US" sz="1600" dirty="0"/>
          </a:p>
        </p:txBody>
      </p:sp>
      <p:sp>
        <p:nvSpPr>
          <p:cNvPr id="21" name="Shape 16"/>
          <p:cNvSpPr/>
          <p:nvPr/>
        </p:nvSpPr>
        <p:spPr>
          <a:xfrm>
            <a:off x="502920" y="4709160"/>
            <a:ext cx="11183112" cy="868680"/>
          </a:xfrm>
          <a:prstGeom prst="roundRect">
            <a:avLst>
              <a:gd name="adj" fmla="val 8421"/>
            </a:avLst>
          </a:prstGeom>
          <a:solidFill>
            <a:srgbClr val="F8D5DB"/>
          </a:solidFill>
          <a:ln w="12700">
            <a:solidFill>
              <a:srgbClr val="C00000"/>
            </a:solidFill>
            <a:prstDash val="solid"/>
          </a:ln>
        </p:spPr>
        <p:txBody>
          <a:bodyPr/>
          <a:lstStyle/>
          <a:p>
            <a:endParaRPr lang="en-US"/>
          </a:p>
        </p:txBody>
      </p:sp>
      <p:sp>
        <p:nvSpPr>
          <p:cNvPr id="22" name="Text 17"/>
          <p:cNvSpPr txBox="1"/>
          <p:nvPr/>
        </p:nvSpPr>
        <p:spPr>
          <a:xfrm>
            <a:off x="502920" y="4709160"/>
            <a:ext cx="11183112" cy="868680"/>
          </a:xfrm>
          <a:prstGeom prst="rect">
            <a:avLst/>
          </a:prstGeom>
          <a:noFill/>
          <a:ln/>
        </p:spPr>
        <p:txBody>
          <a:bodyPr wrap="square" lIns="0" tIns="0" rIns="0" bIns="0" rtlCol="0" anchor="ctr"/>
          <a:lstStyle/>
          <a:p>
            <a:pPr marL="0" indent="0" algn="ctr">
              <a:buNone/>
            </a:pPr>
            <a:r>
              <a:rPr lang="en-US" sz="2000" dirty="0">
                <a:solidFill>
                  <a:srgbClr val="C00000"/>
                </a:solidFill>
                <a:latin typeface="Tahoma" pitchFamily="34" charset="0"/>
                <a:ea typeface="Tahoma" pitchFamily="34" charset="-122"/>
                <a:cs typeface="Tahoma" pitchFamily="34" charset="-120"/>
              </a:rPr>
              <a:t>Nobody did anything wrong. So, what could have changed?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21BBD-9A82-4E97-8E4E-F9D21207B8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C7E3E5-4EC1-910E-1245-5076BF775FC8}"/>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A4AC8189-1CD3-7535-C6AE-35423AAADD95}"/>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19E110F8-147A-7E2C-F7EE-FB3A4073CC93}"/>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270115FB-3D7C-6DF2-0D3F-ACA3E471DE86}"/>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5</a:t>
            </a:r>
            <a:endParaRPr lang="en-US" sz="900" dirty="0"/>
          </a:p>
        </p:txBody>
      </p:sp>
      <p:sp>
        <p:nvSpPr>
          <p:cNvPr id="6" name="Text 3">
            <a:extLst>
              <a:ext uri="{FF2B5EF4-FFF2-40B4-BE49-F238E27FC236}">
                <a16:creationId xmlns:a16="http://schemas.microsoft.com/office/drawing/2014/main" id="{7259E050-A27B-F720-AD9D-1AE096FE3F72}"/>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Everything that could have changed</a:t>
            </a:r>
            <a:endParaRPr lang="en-US" sz="2000" dirty="0"/>
          </a:p>
        </p:txBody>
      </p:sp>
      <p:sp>
        <p:nvSpPr>
          <p:cNvPr id="7" name="Text 4">
            <a:extLst>
              <a:ext uri="{FF2B5EF4-FFF2-40B4-BE49-F238E27FC236}">
                <a16:creationId xmlns:a16="http://schemas.microsoft.com/office/drawing/2014/main" id="{516000E8-41AB-7575-D2AA-BF8D34744308}"/>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COLLECT FROM THE ROOM</a:t>
            </a:r>
            <a:endParaRPr lang="en-US" sz="1150" dirty="0"/>
          </a:p>
        </p:txBody>
      </p:sp>
      <p:sp>
        <p:nvSpPr>
          <p:cNvPr id="8" name="Shape 5">
            <a:extLst>
              <a:ext uri="{FF2B5EF4-FFF2-40B4-BE49-F238E27FC236}">
                <a16:creationId xmlns:a16="http://schemas.microsoft.com/office/drawing/2014/main" id="{A83E5876-7428-69DF-A57A-0FBB0ABF5140}"/>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E2C15A29-CCB8-84EB-0ADE-735AC80081CF}"/>
              </a:ext>
            </a:extLst>
          </p:cNvPr>
          <p:cNvSpPr/>
          <p:nvPr/>
        </p:nvSpPr>
        <p:spPr>
          <a:xfrm>
            <a:off x="502920" y="1417320"/>
            <a:ext cx="5408676" cy="3566160"/>
          </a:xfrm>
          <a:prstGeom prst="roundRect">
            <a:avLst>
              <a:gd name="adj" fmla="val 2051"/>
            </a:avLst>
          </a:prstGeom>
          <a:solidFill>
            <a:srgbClr val="FFFFFF"/>
          </a:solidFill>
          <a:ln w="12700">
            <a:solidFill>
              <a:srgbClr val="DCDCDC"/>
            </a:solidFill>
            <a:prstDash val="solid"/>
          </a:ln>
        </p:spPr>
        <p:txBody>
          <a:bodyPr/>
          <a:lstStyle/>
          <a:p>
            <a:endParaRPr lang="en-US"/>
          </a:p>
        </p:txBody>
      </p:sp>
      <p:pic>
        <p:nvPicPr>
          <p:cNvPr id="11" name="Image 1" descr="preencoded.png">
            <a:extLst>
              <a:ext uri="{FF2B5EF4-FFF2-40B4-BE49-F238E27FC236}">
                <a16:creationId xmlns:a16="http://schemas.microsoft.com/office/drawing/2014/main" id="{949183A0-E509-6E29-E919-FF15979DFF27}"/>
              </a:ext>
            </a:extLst>
          </p:cNvPr>
          <p:cNvPicPr>
            <a:picLocks noChangeAspect="1"/>
          </p:cNvPicPr>
          <p:nvPr/>
        </p:nvPicPr>
        <p:blipFill>
          <a:blip r:embed="rId4"/>
          <a:stretch>
            <a:fillRect/>
          </a:stretch>
        </p:blipFill>
        <p:spPr>
          <a:xfrm>
            <a:off x="822960" y="1737360"/>
            <a:ext cx="594360" cy="594360"/>
          </a:xfrm>
          <a:prstGeom prst="rect">
            <a:avLst/>
          </a:prstGeom>
        </p:spPr>
      </p:pic>
      <p:sp>
        <p:nvSpPr>
          <p:cNvPr id="12" name="Text 8">
            <a:extLst>
              <a:ext uri="{FF2B5EF4-FFF2-40B4-BE49-F238E27FC236}">
                <a16:creationId xmlns:a16="http://schemas.microsoft.com/office/drawing/2014/main" id="{9B0CDDB0-E6C1-CC6F-BE02-4DEC513709E4}"/>
              </a:ext>
            </a:extLst>
          </p:cNvPr>
          <p:cNvSpPr txBox="1"/>
          <p:nvPr/>
        </p:nvSpPr>
        <p:spPr>
          <a:xfrm>
            <a:off x="1522476" y="1876807"/>
            <a:ext cx="475488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At the bench</a:t>
            </a:r>
            <a:endParaRPr lang="en-US" sz="2000" dirty="0"/>
          </a:p>
        </p:txBody>
      </p:sp>
      <p:sp>
        <p:nvSpPr>
          <p:cNvPr id="14" name="Shape 10">
            <a:extLst>
              <a:ext uri="{FF2B5EF4-FFF2-40B4-BE49-F238E27FC236}">
                <a16:creationId xmlns:a16="http://schemas.microsoft.com/office/drawing/2014/main" id="{0F452600-4F25-6382-5FC1-7B454CDA0E5B}"/>
              </a:ext>
            </a:extLst>
          </p:cNvPr>
          <p:cNvSpPr/>
          <p:nvPr/>
        </p:nvSpPr>
        <p:spPr>
          <a:xfrm>
            <a:off x="6277356" y="1417320"/>
            <a:ext cx="5408676" cy="3566160"/>
          </a:xfrm>
          <a:prstGeom prst="roundRect">
            <a:avLst>
              <a:gd name="adj" fmla="val 2051"/>
            </a:avLst>
          </a:prstGeom>
          <a:solidFill>
            <a:srgbClr val="FFFFFF"/>
          </a:solidFill>
          <a:ln w="12700">
            <a:solidFill>
              <a:srgbClr val="DCDCDC"/>
            </a:solidFill>
            <a:prstDash val="solid"/>
          </a:ln>
        </p:spPr>
        <p:txBody>
          <a:bodyPr/>
          <a:lstStyle/>
          <a:p>
            <a:endParaRPr lang="en-US"/>
          </a:p>
        </p:txBody>
      </p:sp>
      <p:pic>
        <p:nvPicPr>
          <p:cNvPr id="15" name="Image 2" descr="preencoded.png">
            <a:extLst>
              <a:ext uri="{FF2B5EF4-FFF2-40B4-BE49-F238E27FC236}">
                <a16:creationId xmlns:a16="http://schemas.microsoft.com/office/drawing/2014/main" id="{2CF0817E-8A22-CFC7-2ED5-E581CE9F2C70}"/>
              </a:ext>
            </a:extLst>
          </p:cNvPr>
          <p:cNvPicPr>
            <a:picLocks noChangeAspect="1"/>
          </p:cNvPicPr>
          <p:nvPr/>
        </p:nvPicPr>
        <p:blipFill>
          <a:blip r:embed="rId5"/>
          <a:stretch>
            <a:fillRect/>
          </a:stretch>
        </p:blipFill>
        <p:spPr>
          <a:xfrm>
            <a:off x="6597396" y="1737360"/>
            <a:ext cx="594360" cy="594360"/>
          </a:xfrm>
          <a:prstGeom prst="rect">
            <a:avLst/>
          </a:prstGeom>
        </p:spPr>
      </p:pic>
      <p:sp>
        <p:nvSpPr>
          <p:cNvPr id="16" name="Text 11">
            <a:extLst>
              <a:ext uri="{FF2B5EF4-FFF2-40B4-BE49-F238E27FC236}">
                <a16:creationId xmlns:a16="http://schemas.microsoft.com/office/drawing/2014/main" id="{E3769EBF-A96D-E651-4BAD-F05121BD53BD}"/>
              </a:ext>
            </a:extLst>
          </p:cNvPr>
          <p:cNvSpPr txBox="1"/>
          <p:nvPr/>
        </p:nvSpPr>
        <p:spPr>
          <a:xfrm>
            <a:off x="7315200" y="1849374"/>
            <a:ext cx="475488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At the keyboard</a:t>
            </a:r>
            <a:endParaRPr lang="en-US" sz="2000" dirty="0"/>
          </a:p>
        </p:txBody>
      </p:sp>
    </p:spTree>
    <p:extLst>
      <p:ext uri="{BB962C8B-B14F-4D97-AF65-F5344CB8AC3E}">
        <p14:creationId xmlns:p14="http://schemas.microsoft.com/office/powerpoint/2010/main" val="337895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5</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Everything that could have changed</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COLLECT FROM THE ROOM</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p:cNvSpPr/>
          <p:nvPr/>
        </p:nvSpPr>
        <p:spPr>
          <a:xfrm>
            <a:off x="502920" y="1417320"/>
            <a:ext cx="5408676" cy="3566160"/>
          </a:xfrm>
          <a:prstGeom prst="roundRect">
            <a:avLst>
              <a:gd name="adj" fmla="val 2051"/>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737360"/>
            <a:ext cx="594360" cy="594360"/>
          </a:xfrm>
          <a:prstGeom prst="rect">
            <a:avLst/>
          </a:prstGeom>
        </p:spPr>
      </p:pic>
      <p:sp>
        <p:nvSpPr>
          <p:cNvPr id="12" name="Text 8"/>
          <p:cNvSpPr txBox="1"/>
          <p:nvPr/>
        </p:nvSpPr>
        <p:spPr>
          <a:xfrm>
            <a:off x="1522476" y="1876807"/>
            <a:ext cx="475488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At the bench</a:t>
            </a:r>
            <a:endParaRPr lang="en-US" sz="2000" dirty="0"/>
          </a:p>
        </p:txBody>
      </p:sp>
      <p:sp>
        <p:nvSpPr>
          <p:cNvPr id="13" name="Text 9"/>
          <p:cNvSpPr txBox="1"/>
          <p:nvPr/>
        </p:nvSpPr>
        <p:spPr>
          <a:xfrm>
            <a:off x="952052" y="2543511"/>
            <a:ext cx="4754880" cy="2011680"/>
          </a:xfrm>
          <a:prstGeom prst="rect">
            <a:avLst/>
          </a:prstGeom>
          <a:noFill/>
          <a:ln/>
        </p:spPr>
        <p:txBody>
          <a:bodyPr wrap="square" lIns="0" tIns="0" rIns="0" bIns="0" rtlCol="0" anchor="t"/>
          <a:lstStyle/>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Medium batch and supplier</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Inoculum donor, storage and thawing</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Vessel, working volume, pH control</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Incubation and sampling times</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Extraction kit and lot number</a:t>
            </a:r>
            <a:endParaRPr lang="en-US" sz="1600" dirty="0"/>
          </a:p>
          <a:p>
            <a:pPr marL="0" indent="0">
              <a:buNone/>
            </a:pPr>
            <a:r>
              <a:rPr lang="en-US" sz="1600" dirty="0">
                <a:solidFill>
                  <a:srgbClr val="262626"/>
                </a:solidFill>
                <a:latin typeface="Calibri" pitchFamily="34" charset="0"/>
                <a:ea typeface="Calibri" pitchFamily="34" charset="-122"/>
                <a:cs typeface="Calibri" pitchFamily="34" charset="-120"/>
              </a:rPr>
              <a:t>Primer set and library preparation</a:t>
            </a:r>
            <a:endParaRPr lang="en-US" sz="1600" dirty="0"/>
          </a:p>
        </p:txBody>
      </p:sp>
      <p:sp>
        <p:nvSpPr>
          <p:cNvPr id="14" name="Shape 10"/>
          <p:cNvSpPr/>
          <p:nvPr/>
        </p:nvSpPr>
        <p:spPr>
          <a:xfrm>
            <a:off x="6277356" y="1417320"/>
            <a:ext cx="5408676" cy="3566160"/>
          </a:xfrm>
          <a:prstGeom prst="roundRect">
            <a:avLst>
              <a:gd name="adj" fmla="val 2051"/>
            </a:avLst>
          </a:prstGeom>
          <a:solidFill>
            <a:srgbClr val="FFFFFF"/>
          </a:solidFill>
          <a:ln w="12700">
            <a:solidFill>
              <a:srgbClr val="DCDCD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597396" y="1737360"/>
            <a:ext cx="594360" cy="594360"/>
          </a:xfrm>
          <a:prstGeom prst="rect">
            <a:avLst/>
          </a:prstGeom>
        </p:spPr>
      </p:pic>
      <p:sp>
        <p:nvSpPr>
          <p:cNvPr id="16" name="Text 11"/>
          <p:cNvSpPr txBox="1"/>
          <p:nvPr/>
        </p:nvSpPr>
        <p:spPr>
          <a:xfrm>
            <a:off x="7315200" y="1849374"/>
            <a:ext cx="475488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At the keyboard</a:t>
            </a:r>
            <a:endParaRPr lang="en-US" sz="2000" dirty="0"/>
          </a:p>
        </p:txBody>
      </p:sp>
      <p:sp>
        <p:nvSpPr>
          <p:cNvPr id="17" name="Text 12"/>
          <p:cNvSpPr txBox="1"/>
          <p:nvPr/>
        </p:nvSpPr>
        <p:spPr>
          <a:xfrm>
            <a:off x="6597396" y="2543511"/>
            <a:ext cx="4754880" cy="2011680"/>
          </a:xfrm>
          <a:prstGeom prst="rect">
            <a:avLst/>
          </a:prstGeom>
          <a:noFill/>
          <a:ln/>
        </p:spPr>
        <p:txBody>
          <a:bodyPr wrap="square" lIns="0" tIns="0" rIns="0" bIns="0" rtlCol="0" anchor="t"/>
          <a:lstStyle/>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Sequencing run and depth</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Pipeline and software versions</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Reference database release</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Filtering and normalisation thresholds</a:t>
            </a:r>
            <a:endParaRPr lang="en-US" sz="1600" dirty="0"/>
          </a:p>
          <a:p>
            <a:pPr marL="0" indent="0">
              <a:spcAft>
                <a:spcPts val="500"/>
              </a:spcAft>
              <a:buNone/>
            </a:pPr>
            <a:r>
              <a:rPr lang="en-US" sz="1600" dirty="0">
                <a:solidFill>
                  <a:srgbClr val="262626"/>
                </a:solidFill>
                <a:latin typeface="Calibri" pitchFamily="34" charset="0"/>
                <a:ea typeface="Calibri" pitchFamily="34" charset="-122"/>
                <a:cs typeface="Calibri" pitchFamily="34" charset="-120"/>
              </a:rPr>
              <a:t>Which replicates were excluded</a:t>
            </a:r>
            <a:endParaRPr lang="en-US" sz="1600" dirty="0"/>
          </a:p>
          <a:p>
            <a:pPr marL="0" indent="0">
              <a:buNone/>
            </a:pPr>
            <a:r>
              <a:rPr lang="en-US" sz="1600" dirty="0">
                <a:solidFill>
                  <a:srgbClr val="262626"/>
                </a:solidFill>
                <a:latin typeface="Calibri" pitchFamily="34" charset="0"/>
                <a:ea typeface="Calibri" pitchFamily="34" charset="-122"/>
                <a:cs typeface="Calibri" pitchFamily="34" charset="-120"/>
              </a:rPr>
              <a:t>Defaults that changed with an update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3</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This is not a talk about fraud</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REFRAME</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p:cNvSpPr/>
          <p:nvPr/>
        </p:nvSpPr>
        <p:spPr>
          <a:xfrm>
            <a:off x="502920" y="1417319"/>
            <a:ext cx="5408676" cy="3785605"/>
          </a:xfrm>
          <a:prstGeom prst="roundRect">
            <a:avLst>
              <a:gd name="adj" fmla="val 2051"/>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40074" y="1737360"/>
            <a:ext cx="621792" cy="621792"/>
          </a:xfrm>
          <a:prstGeom prst="rect">
            <a:avLst/>
          </a:prstGeom>
        </p:spPr>
      </p:pic>
      <p:sp>
        <p:nvSpPr>
          <p:cNvPr id="12" name="Text 8"/>
          <p:cNvSpPr txBox="1"/>
          <p:nvPr/>
        </p:nvSpPr>
        <p:spPr>
          <a:xfrm>
            <a:off x="1476750" y="1863090"/>
            <a:ext cx="4754880"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What the “reproducibility” crisis suggests</a:t>
            </a:r>
            <a:endParaRPr lang="en-US" dirty="0"/>
          </a:p>
        </p:txBody>
      </p:sp>
      <p:sp>
        <p:nvSpPr>
          <p:cNvPr id="13" name="Text 9"/>
          <p:cNvSpPr txBox="1"/>
          <p:nvPr/>
        </p:nvSpPr>
        <p:spPr>
          <a:xfrm>
            <a:off x="822960" y="2897505"/>
            <a:ext cx="4754880" cy="173736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Fabricated numbers. Duplicated gel images. Deliberate misconduct. Real, investigated, and not what this session is about.</a:t>
            </a:r>
            <a:endParaRPr lang="en-US" sz="1600" dirty="0"/>
          </a:p>
        </p:txBody>
      </p:sp>
      <p:sp>
        <p:nvSpPr>
          <p:cNvPr id="14" name="Shape 10"/>
          <p:cNvSpPr/>
          <p:nvPr/>
        </p:nvSpPr>
        <p:spPr>
          <a:xfrm>
            <a:off x="6277356" y="1417319"/>
            <a:ext cx="5408676" cy="3785615"/>
          </a:xfrm>
          <a:prstGeom prst="roundRect">
            <a:avLst>
              <a:gd name="adj" fmla="val 2051"/>
            </a:avLst>
          </a:prstGeom>
          <a:solidFill>
            <a:srgbClr val="F8D5DB"/>
          </a:solidFill>
          <a:ln w="12700">
            <a:solidFill>
              <a:srgbClr val="C00000"/>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597396" y="1737360"/>
            <a:ext cx="621792" cy="621792"/>
          </a:xfrm>
          <a:prstGeom prst="rect">
            <a:avLst/>
          </a:prstGeom>
        </p:spPr>
      </p:pic>
      <p:sp>
        <p:nvSpPr>
          <p:cNvPr id="16" name="Text 11"/>
          <p:cNvSpPr txBox="1"/>
          <p:nvPr/>
        </p:nvSpPr>
        <p:spPr>
          <a:xfrm>
            <a:off x="7315200" y="1863090"/>
            <a:ext cx="4754880"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What it actually looks like</a:t>
            </a:r>
            <a:endParaRPr lang="en-US" dirty="0"/>
          </a:p>
        </p:txBody>
      </p:sp>
      <p:sp>
        <p:nvSpPr>
          <p:cNvPr id="17" name="Text 12"/>
          <p:cNvSpPr txBox="1"/>
          <p:nvPr/>
        </p:nvSpPr>
        <p:spPr>
          <a:xfrm>
            <a:off x="6597396" y="2548890"/>
            <a:ext cx="4754880" cy="2011680"/>
          </a:xfrm>
          <a:prstGeom prst="rect">
            <a:avLst/>
          </a:prstGeom>
          <a:noFill/>
          <a:ln/>
        </p:spPr>
        <p:txBody>
          <a:bodyPr wrap="square" lIns="0" tIns="0" rIns="0" bIns="0" rtlCol="0" anchor="t"/>
          <a:lstStyle/>
          <a:p>
            <a:pPr marL="285750" indent="-285750">
              <a:lnSpc>
                <a:spcPct val="120000"/>
              </a:lnSpc>
              <a:spcAft>
                <a:spcPts val="600"/>
              </a:spcAft>
              <a:buFont typeface="Arial" panose="020B0604020202020204" pitchFamily="34" charset="0"/>
              <a:buChar char="•"/>
            </a:pPr>
            <a:r>
              <a:rPr lang="en-US" sz="1600" dirty="0">
                <a:solidFill>
                  <a:srgbClr val="262626"/>
                </a:solidFill>
                <a:latin typeface="Calibri" pitchFamily="34" charset="0"/>
                <a:ea typeface="Calibri" pitchFamily="34" charset="-122"/>
                <a:cs typeface="Calibri" pitchFamily="34" charset="-120"/>
              </a:rPr>
              <a:t>A threshold chosen once and never written down.</a:t>
            </a:r>
            <a:endParaRPr lang="en-US" sz="1600" dirty="0"/>
          </a:p>
          <a:p>
            <a:pPr marL="285750" indent="-285750">
              <a:lnSpc>
                <a:spcPct val="120000"/>
              </a:lnSpc>
              <a:spcAft>
                <a:spcPts val="600"/>
              </a:spcAft>
              <a:buFont typeface="Arial" panose="020B0604020202020204" pitchFamily="34" charset="0"/>
              <a:buChar char="•"/>
            </a:pPr>
            <a:r>
              <a:rPr lang="en-US" sz="1600" dirty="0">
                <a:solidFill>
                  <a:srgbClr val="262626"/>
                </a:solidFill>
                <a:latin typeface="Calibri" pitchFamily="34" charset="0"/>
                <a:ea typeface="Calibri" pitchFamily="34" charset="-122"/>
                <a:cs typeface="Calibri" pitchFamily="34" charset="-120"/>
              </a:rPr>
              <a:t>An intermediate file overwritten by the next version of itself.</a:t>
            </a:r>
            <a:endParaRPr lang="en-US" sz="1600" dirty="0"/>
          </a:p>
          <a:p>
            <a:pPr marL="285750" indent="-285750">
              <a:lnSpc>
                <a:spcPct val="120000"/>
              </a:lnSpc>
              <a:spcAft>
                <a:spcPts val="600"/>
              </a:spcAft>
              <a:buFont typeface="Arial" panose="020B0604020202020204" pitchFamily="34" charset="0"/>
              <a:buChar char="•"/>
            </a:pPr>
            <a:r>
              <a:rPr lang="en-US" sz="1600" dirty="0">
                <a:solidFill>
                  <a:srgbClr val="262626"/>
                </a:solidFill>
                <a:latin typeface="Calibri" pitchFamily="34" charset="0"/>
                <a:ea typeface="Calibri" pitchFamily="34" charset="-122"/>
                <a:cs typeface="Calibri" pitchFamily="34" charset="-120"/>
              </a:rPr>
              <a:t>A sample dropped for a perfectly good reason that nobody recorded.</a:t>
            </a:r>
            <a:endParaRPr lang="en-US" sz="1600" dirty="0"/>
          </a:p>
          <a:p>
            <a:pPr marL="285750" indent="-285750">
              <a:lnSpc>
                <a:spcPct val="120000"/>
              </a:lnSpc>
              <a:buFont typeface="Arial" panose="020B0604020202020204" pitchFamily="34" charset="0"/>
              <a:buChar char="•"/>
            </a:pPr>
            <a:r>
              <a:rPr lang="en-US" sz="1600" dirty="0">
                <a:solidFill>
                  <a:srgbClr val="262626"/>
                </a:solidFill>
                <a:latin typeface="Calibri" pitchFamily="34" charset="0"/>
                <a:ea typeface="Calibri" pitchFamily="34" charset="-122"/>
                <a:cs typeface="Calibri" pitchFamily="34" charset="-120"/>
              </a:rPr>
              <a:t>Knowledge that lives in one head, and leaves when that person does.</a:t>
            </a:r>
            <a:endParaRPr lang="en-US" sz="1600" dirty="0"/>
          </a:p>
        </p:txBody>
      </p:sp>
      <p:sp>
        <p:nvSpPr>
          <p:cNvPr id="18" name="Text 13"/>
          <p:cNvSpPr txBox="1"/>
          <p:nvPr/>
        </p:nvSpPr>
        <p:spPr>
          <a:xfrm>
            <a:off x="502920" y="5257800"/>
            <a:ext cx="11183112" cy="365760"/>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Which is good news: the fix is boring, and you can start it this week.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7</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the session cover</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SCOPE</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p:cNvSpPr/>
          <p:nvPr/>
        </p:nvSpPr>
        <p:spPr>
          <a:xfrm>
            <a:off x="502920"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737360"/>
            <a:ext cx="621792" cy="621792"/>
          </a:xfrm>
          <a:prstGeom prst="rect">
            <a:avLst/>
          </a:prstGeom>
        </p:spPr>
      </p:pic>
      <p:sp>
        <p:nvSpPr>
          <p:cNvPr id="12" name="Text 8"/>
          <p:cNvSpPr txBox="1"/>
          <p:nvPr/>
        </p:nvSpPr>
        <p:spPr>
          <a:xfrm>
            <a:off x="1645920" y="1828800"/>
            <a:ext cx="2843784"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In this session</a:t>
            </a:r>
            <a:endParaRPr lang="en-US" dirty="0"/>
          </a:p>
        </p:txBody>
      </p:sp>
      <p:sp>
        <p:nvSpPr>
          <p:cNvPr id="13" name="Text 9"/>
          <p:cNvSpPr txBox="1"/>
          <p:nvPr/>
        </p:nvSpPr>
        <p:spPr>
          <a:xfrm>
            <a:off x="822960" y="2692101"/>
            <a:ext cx="2843784" cy="182880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The data management cycle. FAIR principles. Minimum information standards. Organising and documenting a dataset so that a stranger can use it.</a:t>
            </a:r>
            <a:endParaRPr lang="en-US" sz="1600" dirty="0"/>
          </a:p>
        </p:txBody>
      </p:sp>
      <p:sp>
        <p:nvSpPr>
          <p:cNvPr id="14" name="Shape 10"/>
          <p:cNvSpPr/>
          <p:nvPr/>
        </p:nvSpPr>
        <p:spPr>
          <a:xfrm>
            <a:off x="4352544" y="1417320"/>
            <a:ext cx="3483864" cy="356616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672584" y="1737360"/>
            <a:ext cx="621792" cy="621792"/>
          </a:xfrm>
          <a:prstGeom prst="rect">
            <a:avLst/>
          </a:prstGeom>
        </p:spPr>
      </p:pic>
      <p:sp>
        <p:nvSpPr>
          <p:cNvPr id="16" name="Text 11"/>
          <p:cNvSpPr txBox="1"/>
          <p:nvPr/>
        </p:nvSpPr>
        <p:spPr>
          <a:xfrm>
            <a:off x="5358384" y="1856904"/>
            <a:ext cx="2843784"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Not in this session</a:t>
            </a:r>
            <a:endParaRPr lang="en-US" dirty="0"/>
          </a:p>
        </p:txBody>
      </p:sp>
      <p:sp>
        <p:nvSpPr>
          <p:cNvPr id="17" name="Text 12"/>
          <p:cNvSpPr txBox="1"/>
          <p:nvPr/>
        </p:nvSpPr>
        <p:spPr>
          <a:xfrm>
            <a:off x="4672584" y="2707968"/>
            <a:ext cx="2843784" cy="182880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Code reproducibility: environments, dependencies, package versions, random seeds. </a:t>
            </a:r>
            <a:endParaRPr lang="en-US" sz="1600" dirty="0"/>
          </a:p>
        </p:txBody>
      </p:sp>
      <p:sp>
        <p:nvSpPr>
          <p:cNvPr id="18" name="Shape 13"/>
          <p:cNvSpPr/>
          <p:nvPr/>
        </p:nvSpPr>
        <p:spPr>
          <a:xfrm>
            <a:off x="8202168" y="1417320"/>
            <a:ext cx="3483864" cy="3566160"/>
          </a:xfrm>
          <a:prstGeom prst="roundRect">
            <a:avLst>
              <a:gd name="adj" fmla="val 2100"/>
            </a:avLst>
          </a:prstGeom>
          <a:solidFill>
            <a:srgbClr val="F8D5DB"/>
          </a:solidFill>
          <a:ln w="12700">
            <a:solidFill>
              <a:srgbClr val="C00000"/>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8522208" y="1737360"/>
            <a:ext cx="621792" cy="621792"/>
          </a:xfrm>
          <a:prstGeom prst="rect">
            <a:avLst/>
          </a:prstGeom>
        </p:spPr>
      </p:pic>
      <p:sp>
        <p:nvSpPr>
          <p:cNvPr id="20" name="Text 14"/>
          <p:cNvSpPr txBox="1"/>
          <p:nvPr/>
        </p:nvSpPr>
        <p:spPr>
          <a:xfrm>
            <a:off x="9226296" y="1856904"/>
            <a:ext cx="2843784"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What you leave with</a:t>
            </a:r>
            <a:endParaRPr lang="en-US" dirty="0"/>
          </a:p>
        </p:txBody>
      </p:sp>
      <p:sp>
        <p:nvSpPr>
          <p:cNvPr id="21" name="Text 15"/>
          <p:cNvSpPr txBox="1"/>
          <p:nvPr/>
        </p:nvSpPr>
        <p:spPr>
          <a:xfrm>
            <a:off x="8522208" y="2622042"/>
            <a:ext cx="2843784" cy="1828800"/>
          </a:xfrm>
          <a:prstGeom prst="rect">
            <a:avLst/>
          </a:prstGeom>
          <a:noFill/>
          <a:ln/>
        </p:spPr>
        <p:txBody>
          <a:bodyPr wrap="square" lIns="0" tIns="0" rIns="0" bIns="0" rtlCol="0" anchor="t"/>
          <a:lstStyle/>
          <a:p>
            <a:pPr marL="0" indent="0">
              <a:lnSpc>
                <a:spcPct val="125000"/>
              </a:lnSpc>
              <a:buNone/>
            </a:pPr>
            <a:r>
              <a:rPr lang="en-US" sz="1600" dirty="0">
                <a:solidFill>
                  <a:srgbClr val="262626"/>
                </a:solidFill>
                <a:latin typeface="Calibri" pitchFamily="34" charset="0"/>
                <a:ea typeface="Calibri" pitchFamily="34" charset="-122"/>
                <a:cs typeface="Calibri" pitchFamily="34" charset="-120"/>
              </a:rPr>
              <a:t>A small dataset you have restructured yourself, with its metadata file and its README written, organised and ready to push in the GitHub session.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7BF7B-8CFE-B27F-1201-42D6E9A40B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5D99AAD-1774-52D1-4452-14E6C72AC7A0}"/>
              </a:ext>
            </a:extLst>
          </p:cNvPr>
          <p:cNvSpPr/>
          <p:nvPr/>
        </p:nvSpPr>
        <p:spPr>
          <a:xfrm>
            <a:off x="0" y="0"/>
            <a:ext cx="4160520" cy="6858000"/>
          </a:xfrm>
          <a:prstGeom prst="rect">
            <a:avLst/>
          </a:prstGeom>
          <a:solidFill>
            <a:srgbClr val="F8D5DB"/>
          </a:solidFill>
          <a:ln w="12700">
            <a:solidFill>
              <a:srgbClr val="F8D5DB"/>
            </a:solidFill>
            <a:prstDash val="solid"/>
          </a:ln>
        </p:spPr>
        <p:txBody>
          <a:bodyPr/>
          <a:lstStyle/>
          <a:p>
            <a:endParaRPr lang="en-US"/>
          </a:p>
        </p:txBody>
      </p:sp>
      <p:pic>
        <p:nvPicPr>
          <p:cNvPr id="3" name="Image 0" descr="tpl/ppt/media/image6.png">
            <a:extLst>
              <a:ext uri="{FF2B5EF4-FFF2-40B4-BE49-F238E27FC236}">
                <a16:creationId xmlns:a16="http://schemas.microsoft.com/office/drawing/2014/main" id="{CEAEF194-3D44-A9E1-A646-61CD138A2C41}"/>
              </a:ext>
            </a:extLst>
          </p:cNvPr>
          <p:cNvPicPr>
            <a:picLocks noChangeAspect="1"/>
          </p:cNvPicPr>
          <p:nvPr/>
        </p:nvPicPr>
        <p:blipFill>
          <a:blip r:embed="rId3"/>
          <a:stretch>
            <a:fillRect/>
          </a:stretch>
        </p:blipFill>
        <p:spPr>
          <a:xfrm>
            <a:off x="777240" y="2414016"/>
            <a:ext cx="2606040" cy="1572768"/>
          </a:xfrm>
          <a:prstGeom prst="rect">
            <a:avLst/>
          </a:prstGeom>
        </p:spPr>
      </p:pic>
      <p:sp>
        <p:nvSpPr>
          <p:cNvPr id="4" name="Text 1">
            <a:extLst>
              <a:ext uri="{FF2B5EF4-FFF2-40B4-BE49-F238E27FC236}">
                <a16:creationId xmlns:a16="http://schemas.microsoft.com/office/drawing/2014/main" id="{29A4B6FA-5906-9EE1-B91F-5B381F621C0F}"/>
              </a:ext>
            </a:extLst>
          </p:cNvPr>
          <p:cNvSpPr/>
          <p:nvPr/>
        </p:nvSpPr>
        <p:spPr>
          <a:xfrm>
            <a:off x="548640" y="4151376"/>
            <a:ext cx="3063240" cy="320040"/>
          </a:xfrm>
          <a:prstGeom prst="rect">
            <a:avLst/>
          </a:prstGeom>
          <a:noFill/>
          <a:ln/>
        </p:spPr>
        <p:txBody>
          <a:bodyPr wrap="square" lIns="0" tIns="0" rIns="0" bIns="0" rtlCol="0" anchor="ctr"/>
          <a:lstStyle/>
          <a:p>
            <a:pPr marL="0" indent="0" algn="ctr">
              <a:buNone/>
            </a:pPr>
            <a:r>
              <a:rPr lang="en-US" sz="1500" b="1" dirty="0">
                <a:solidFill>
                  <a:srgbClr val="C00000"/>
                </a:solidFill>
                <a:latin typeface="Calibri" pitchFamily="34" charset="0"/>
                <a:ea typeface="Calibri" pitchFamily="34" charset="-122"/>
                <a:cs typeface="Calibri" pitchFamily="34" charset="-120"/>
              </a:rPr>
              <a:t>Action CA23110</a:t>
            </a:r>
            <a:endParaRPr lang="en-US" sz="1500" dirty="0"/>
          </a:p>
        </p:txBody>
      </p:sp>
      <p:sp>
        <p:nvSpPr>
          <p:cNvPr id="9" name="Text 4">
            <a:extLst>
              <a:ext uri="{FF2B5EF4-FFF2-40B4-BE49-F238E27FC236}">
                <a16:creationId xmlns:a16="http://schemas.microsoft.com/office/drawing/2014/main" id="{48B5C46B-C125-194A-2E1E-FA32B1F5A631}"/>
              </a:ext>
            </a:extLst>
          </p:cNvPr>
          <p:cNvSpPr/>
          <p:nvPr/>
        </p:nvSpPr>
        <p:spPr>
          <a:xfrm>
            <a:off x="4663440" y="2492278"/>
            <a:ext cx="7132320" cy="1371600"/>
          </a:xfrm>
          <a:prstGeom prst="rect">
            <a:avLst/>
          </a:prstGeom>
          <a:noFill/>
          <a:ln/>
        </p:spPr>
        <p:txBody>
          <a:bodyPr wrap="square" lIns="0" tIns="0" rIns="0" bIns="0" rtlCol="0" anchor="ctr"/>
          <a:lstStyle/>
          <a:p>
            <a:pPr>
              <a:lnSpc>
                <a:spcPts val="4000"/>
              </a:lnSpc>
            </a:pPr>
            <a:r>
              <a:rPr lang="en-US" sz="2800" dirty="0">
                <a:solidFill>
                  <a:srgbClr val="C00000"/>
                </a:solidFill>
                <a:latin typeface="Tahoma" pitchFamily="34" charset="0"/>
                <a:ea typeface="Tahoma" pitchFamily="34" charset="-122"/>
                <a:cs typeface="Tahoma" pitchFamily="34" charset="-120"/>
              </a:rPr>
              <a:t>Data life-cycle, DMP and FAIR</a:t>
            </a:r>
            <a:endParaRPr lang="en-US" sz="2800" dirty="0"/>
          </a:p>
        </p:txBody>
      </p:sp>
      <p:sp>
        <p:nvSpPr>
          <p:cNvPr id="10" name="Shape 5">
            <a:extLst>
              <a:ext uri="{FF2B5EF4-FFF2-40B4-BE49-F238E27FC236}">
                <a16:creationId xmlns:a16="http://schemas.microsoft.com/office/drawing/2014/main" id="{B9F52C9D-6BB4-8BB5-56F4-056095FA6DDF}"/>
              </a:ext>
            </a:extLst>
          </p:cNvPr>
          <p:cNvSpPr/>
          <p:nvPr/>
        </p:nvSpPr>
        <p:spPr>
          <a:xfrm>
            <a:off x="4663440" y="3654104"/>
            <a:ext cx="6858000" cy="0"/>
          </a:xfrm>
          <a:prstGeom prst="line">
            <a:avLst/>
          </a:prstGeom>
          <a:noFill/>
          <a:ln w="12700">
            <a:solidFill>
              <a:srgbClr val="C00000"/>
            </a:solidFill>
            <a:prstDash val="solid"/>
          </a:ln>
        </p:spPr>
        <p:txBody>
          <a:bodyPr/>
          <a:lstStyle/>
          <a:p>
            <a:endParaRPr lang="en-US"/>
          </a:p>
        </p:txBody>
      </p:sp>
      <p:sp>
        <p:nvSpPr>
          <p:cNvPr id="15" name="Text 10">
            <a:extLst>
              <a:ext uri="{FF2B5EF4-FFF2-40B4-BE49-F238E27FC236}">
                <a16:creationId xmlns:a16="http://schemas.microsoft.com/office/drawing/2014/main" id="{9B4FD81B-A0FB-D133-59B4-C93BB1F1F447}"/>
              </a:ext>
            </a:extLst>
          </p:cNvPr>
          <p:cNvSpPr/>
          <p:nvPr/>
        </p:nvSpPr>
        <p:spPr>
          <a:xfrm>
            <a:off x="4663440" y="6378747"/>
            <a:ext cx="7132320" cy="320040"/>
          </a:xfrm>
          <a:prstGeom prst="rect">
            <a:avLst/>
          </a:prstGeom>
          <a:noFill/>
          <a:ln/>
        </p:spPr>
        <p:txBody>
          <a:bodyPr wrap="square" lIns="0" tIns="0" rIns="0" bIns="0" rtlCol="0" anchor="ctr"/>
          <a:lstStyle/>
          <a:p>
            <a:pPr marL="0" indent="0">
              <a:buNone/>
            </a:pPr>
            <a:r>
              <a:rPr lang="en-US" sz="1250" dirty="0">
                <a:solidFill>
                  <a:srgbClr val="C00000"/>
                </a:solidFill>
                <a:latin typeface="Calibri" pitchFamily="34" charset="0"/>
                <a:ea typeface="Calibri" pitchFamily="34" charset="-122"/>
                <a:cs typeface="Calibri" pitchFamily="34" charset="-120"/>
              </a:rPr>
              <a:t>INFOGUT 3rd Training school 2026 | September 2026</a:t>
            </a:r>
            <a:endParaRPr lang="en-US" sz="1250" dirty="0"/>
          </a:p>
        </p:txBody>
      </p:sp>
      <p:sp>
        <p:nvSpPr>
          <p:cNvPr id="5" name="Text 6">
            <a:extLst>
              <a:ext uri="{FF2B5EF4-FFF2-40B4-BE49-F238E27FC236}">
                <a16:creationId xmlns:a16="http://schemas.microsoft.com/office/drawing/2014/main" id="{C8B16187-7780-CC4F-5019-E63F73C949B7}"/>
              </a:ext>
            </a:extLst>
          </p:cNvPr>
          <p:cNvSpPr/>
          <p:nvPr/>
        </p:nvSpPr>
        <p:spPr>
          <a:xfrm>
            <a:off x="4663440" y="3785616"/>
            <a:ext cx="7132320" cy="365760"/>
          </a:xfrm>
          <a:prstGeom prst="rect">
            <a:avLst/>
          </a:prstGeom>
          <a:noFill/>
          <a:ln/>
        </p:spPr>
        <p:txBody>
          <a:bodyPr wrap="square" lIns="0" tIns="0" rIns="0" bIns="0" rtlCol="0" anchor="ctr"/>
          <a:lstStyle/>
          <a:p>
            <a:pPr marL="0" indent="0">
              <a:buNone/>
            </a:pPr>
            <a:r>
              <a:rPr lang="en-US" sz="1700" dirty="0"/>
              <a:t>Concepts and definitions</a:t>
            </a:r>
          </a:p>
        </p:txBody>
      </p:sp>
    </p:spTree>
    <p:extLst>
      <p:ext uri="{BB962C8B-B14F-4D97-AF65-F5344CB8AC3E}">
        <p14:creationId xmlns:p14="http://schemas.microsoft.com/office/powerpoint/2010/main" val="1056767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24">
            <a:extLst>
              <a:ext uri="{FF2B5EF4-FFF2-40B4-BE49-F238E27FC236}">
                <a16:creationId xmlns:a16="http://schemas.microsoft.com/office/drawing/2014/main" id="{1D745531-4493-CB28-F241-700B1F5FF4EF}"/>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CC9C34EC-1AB1-00F8-E1CA-264323E85C62}"/>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sp>
        <p:nvSpPr>
          <p:cNvPr id="11" name="Shape 8"/>
          <p:cNvSpPr/>
          <p:nvPr/>
        </p:nvSpPr>
        <p:spPr>
          <a:xfrm>
            <a:off x="502920"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04088" y="1600200"/>
            <a:ext cx="420624" cy="420624"/>
          </a:xfrm>
          <a:prstGeom prst="rect">
            <a:avLst/>
          </a:prstGeom>
        </p:spPr>
      </p:pic>
      <p:sp>
        <p:nvSpPr>
          <p:cNvPr id="13" name="Text 9"/>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2977286" y="1600200"/>
            <a:ext cx="420624" cy="420624"/>
          </a:xfrm>
          <a:prstGeom prst="rect">
            <a:avLst/>
          </a:prstGeom>
        </p:spPr>
      </p:pic>
      <p:sp>
        <p:nvSpPr>
          <p:cNvPr id="18" name="Text 13"/>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250485" y="1600200"/>
            <a:ext cx="420624" cy="420624"/>
          </a:xfrm>
          <a:prstGeom prst="rect">
            <a:avLst/>
          </a:prstGeom>
        </p:spPr>
      </p:pic>
      <p:sp>
        <p:nvSpPr>
          <p:cNvPr id="23" name="Text 17"/>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7523683" y="1600200"/>
            <a:ext cx="420624" cy="420624"/>
          </a:xfrm>
          <a:prstGeom prst="rect">
            <a:avLst/>
          </a:prstGeom>
        </p:spPr>
      </p:pic>
      <p:sp>
        <p:nvSpPr>
          <p:cNvPr id="28" name="Text 21"/>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9796882" y="1600200"/>
            <a:ext cx="420624" cy="420624"/>
          </a:xfrm>
          <a:prstGeom prst="rect">
            <a:avLst/>
          </a:prstGeom>
        </p:spPr>
      </p:pic>
      <p:sp>
        <p:nvSpPr>
          <p:cNvPr id="33" name="Text 25"/>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54" name="Text 42"/>
          <p:cNvSpPr txBox="1"/>
          <p:nvPr/>
        </p:nvSpPr>
        <p:spPr>
          <a:xfrm>
            <a:off x="512064" y="3282696"/>
            <a:ext cx="7863840" cy="365760"/>
          </a:xfrm>
          <a:prstGeom prst="rect">
            <a:avLst/>
          </a:prstGeom>
          <a:noFill/>
          <a:ln/>
        </p:spPr>
        <p:txBody>
          <a:bodyPr wrap="square" lIns="0" tIns="0" rIns="0" bIns="0" rtlCol="0" anchor="ctr"/>
          <a:lstStyle/>
          <a:p>
            <a:pPr marL="0" indent="0">
              <a:buNone/>
            </a:pPr>
            <a:r>
              <a:rPr lang="en-US" sz="1500" i="1" dirty="0">
                <a:solidFill>
                  <a:srgbClr val="C00000"/>
                </a:solidFill>
                <a:latin typeface="Calibri" pitchFamily="34" charset="0"/>
                <a:ea typeface="Calibri" pitchFamily="34" charset="-122"/>
                <a:cs typeface="Calibri" pitchFamily="34" charset="-120"/>
              </a:rPr>
              <a:t>Assure and Describe are stages of their own, not things you do afterwards if there is time.</a:t>
            </a:r>
            <a:endParaRPr lang="en-US" sz="1500" dirty="0"/>
          </a:p>
        </p:txBody>
      </p:sp>
      <p:sp>
        <p:nvSpPr>
          <p:cNvPr id="55" name="Text 43"/>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49DB3-DE6B-1032-EE75-EB5F81B4891D}"/>
            </a:ext>
          </a:extLst>
        </p:cNvPr>
        <p:cNvGrpSpPr/>
        <p:nvPr/>
      </p:nvGrpSpPr>
      <p:grpSpPr>
        <a:xfrm>
          <a:off x="0" y="0"/>
          <a:ext cx="0" cy="0"/>
          <a:chOff x="0" y="0"/>
          <a:chExt cx="0" cy="0"/>
        </a:xfrm>
      </p:grpSpPr>
      <p:sp>
        <p:nvSpPr>
          <p:cNvPr id="50" name="Shape 24">
            <a:extLst>
              <a:ext uri="{FF2B5EF4-FFF2-40B4-BE49-F238E27FC236}">
                <a16:creationId xmlns:a16="http://schemas.microsoft.com/office/drawing/2014/main" id="{D1437B52-140D-3087-A184-CA080C9F2003}"/>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DD787F2E-CAD0-CCE8-855C-6252D042EC66}"/>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14234C1E-1BDD-7446-E41B-01050A7AE5D5}"/>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91D8BE3C-9075-4E69-4AB6-C5FB5B359426}"/>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EE134401-211E-09AC-E397-DA2ECCCD4C12}"/>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87FF2949-A544-F0A0-E4CB-4D661F254F24}"/>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EE1CA5B1-719F-92A3-5178-D5A48A0F2095}"/>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825C3D3F-1A74-3F0B-6FB4-1D5D9257C0A8}"/>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19E80DDB-E3DC-4321-98A2-BCE2704309E4}"/>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9C3CE791-8460-4C13-250D-A7C9A747658C}"/>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sp>
        <p:nvSpPr>
          <p:cNvPr id="11" name="Shape 8">
            <a:extLst>
              <a:ext uri="{FF2B5EF4-FFF2-40B4-BE49-F238E27FC236}">
                <a16:creationId xmlns:a16="http://schemas.microsoft.com/office/drawing/2014/main" id="{77E7132B-A70C-A5A9-2064-A57095AAF943}"/>
              </a:ext>
            </a:extLst>
          </p:cNvPr>
          <p:cNvSpPr/>
          <p:nvPr/>
        </p:nvSpPr>
        <p:spPr>
          <a:xfrm>
            <a:off x="502920"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2" name="Image 1" descr="preencoded.png">
            <a:extLst>
              <a:ext uri="{FF2B5EF4-FFF2-40B4-BE49-F238E27FC236}">
                <a16:creationId xmlns:a16="http://schemas.microsoft.com/office/drawing/2014/main" id="{17B8E4EE-CDD6-DDC0-B035-B38ADDF9F71C}"/>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6A368EAD-5B01-5F5D-8CEC-90FDE05403D3}"/>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F70D9CA9-207A-99D2-0071-C292B89DB54C}"/>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63F217E3-D146-D15F-0B69-B01B53BEC727}"/>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67B7ADEA-4CB6-2185-06F1-99A4D2440EC3}"/>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A5E72D16-76D4-A1DE-5AA2-4C5615FBEA1C}"/>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1D2854D0-7547-E2C2-0B6E-AD6CFE41CFCD}"/>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643C8269-CDEE-02F6-AA23-30DE5F22456A}"/>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D4644945-B78F-1E82-2256-0824D1991839}"/>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622D15C4-6F72-B0E2-7E38-7747A7650623}"/>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B5F28DBD-AC63-ACD3-6D8D-D5A9D76A3DC3}"/>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BF1C3F0A-C1BD-D962-907F-7DF97F180094}"/>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21D1F42F-ECC1-5B4C-941D-09707BCD6D8E}"/>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8D6FA9C5-C80C-2200-A727-2DBFDD456F4F}"/>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95466D59-D389-C6CB-0D9B-232E5512FC1C}"/>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A6A07E1D-CD65-8759-D33A-41A658DE48FF}"/>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59332DE5-3003-BDF4-8632-FC2991AA6FE0}"/>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1172160A-2DD7-269A-F8E4-0CD5D73D4596}"/>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57B9BAEC-6918-A231-B8B8-CC60CDC80BC5}"/>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F2D22189-B900-D6FD-A87D-A97247B1BFED}"/>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470E3F0C-6317-0A7F-34B1-E4BF02C446B1}"/>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A2DEBE2A-95B4-D8F0-749F-AAD318A9FF8E}"/>
              </a:ext>
            </a:extLst>
          </p:cNvPr>
          <p:cNvSpPr txBox="1"/>
          <p:nvPr/>
        </p:nvSpPr>
        <p:spPr>
          <a:xfrm>
            <a:off x="502920" y="4024671"/>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REUSE DATA THAT ALREADY EXIST</a:t>
            </a:r>
            <a:endParaRPr lang="en-US" sz="1400" dirty="0"/>
          </a:p>
        </p:txBody>
      </p:sp>
      <p:sp>
        <p:nvSpPr>
          <p:cNvPr id="36" name="Shape 28">
            <a:extLst>
              <a:ext uri="{FF2B5EF4-FFF2-40B4-BE49-F238E27FC236}">
                <a16:creationId xmlns:a16="http://schemas.microsoft.com/office/drawing/2014/main" id="{C8449210-EFD6-3CCD-F116-FB75BF2306CB}"/>
              </a:ext>
            </a:extLst>
          </p:cNvPr>
          <p:cNvSpPr/>
          <p:nvPr/>
        </p:nvSpPr>
        <p:spPr>
          <a:xfrm>
            <a:off x="500231"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37" name="Image 6" descr="preencoded.png">
            <a:extLst>
              <a:ext uri="{FF2B5EF4-FFF2-40B4-BE49-F238E27FC236}">
                <a16:creationId xmlns:a16="http://schemas.microsoft.com/office/drawing/2014/main" id="{657D8AA5-2D3E-F5DD-2B44-DD831EB80061}"/>
              </a:ext>
            </a:extLst>
          </p:cNvPr>
          <p:cNvPicPr>
            <a:picLocks noChangeAspect="1"/>
          </p:cNvPicPr>
          <p:nvPr/>
        </p:nvPicPr>
        <p:blipFill>
          <a:blip r:embed="rId9"/>
          <a:stretch>
            <a:fillRect/>
          </a:stretch>
        </p:blipFill>
        <p:spPr>
          <a:xfrm>
            <a:off x="701399" y="4528566"/>
            <a:ext cx="420624" cy="420624"/>
          </a:xfrm>
          <a:prstGeom prst="rect">
            <a:avLst/>
          </a:prstGeom>
        </p:spPr>
      </p:pic>
      <p:sp>
        <p:nvSpPr>
          <p:cNvPr id="38" name="Text 29">
            <a:extLst>
              <a:ext uri="{FF2B5EF4-FFF2-40B4-BE49-F238E27FC236}">
                <a16:creationId xmlns:a16="http://schemas.microsoft.com/office/drawing/2014/main" id="{6E97BF77-B474-8D5B-3FA6-5AC2FB975B19}"/>
              </a:ext>
            </a:extLst>
          </p:cNvPr>
          <p:cNvSpPr txBox="1"/>
          <p:nvPr/>
        </p:nvSpPr>
        <p:spPr>
          <a:xfrm>
            <a:off x="1277471"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Discover</a:t>
            </a:r>
            <a:endParaRPr lang="en-US" sz="1500" dirty="0"/>
          </a:p>
        </p:txBody>
      </p:sp>
      <p:sp>
        <p:nvSpPr>
          <p:cNvPr id="39" name="Text 30">
            <a:extLst>
              <a:ext uri="{FF2B5EF4-FFF2-40B4-BE49-F238E27FC236}">
                <a16:creationId xmlns:a16="http://schemas.microsoft.com/office/drawing/2014/main" id="{4EC7BC39-E9BA-DB7F-E0ED-A295E2855A5D}"/>
              </a:ext>
            </a:extLst>
          </p:cNvPr>
          <p:cNvSpPr txBox="1"/>
          <p:nvPr/>
        </p:nvSpPr>
        <p:spPr>
          <a:xfrm>
            <a:off x="701399"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Useful data located and obtained, together with their metadata.</a:t>
            </a:r>
            <a:endParaRPr lang="en-US" sz="1200" dirty="0"/>
          </a:p>
        </p:txBody>
      </p:sp>
      <p:sp>
        <p:nvSpPr>
          <p:cNvPr id="40" name="Shape 31">
            <a:extLst>
              <a:ext uri="{FF2B5EF4-FFF2-40B4-BE49-F238E27FC236}">
                <a16:creationId xmlns:a16="http://schemas.microsoft.com/office/drawing/2014/main" id="{A4D16AA1-D570-C1E9-D786-B9FE70D85FE1}"/>
              </a:ext>
            </a:extLst>
          </p:cNvPr>
          <p:cNvSpPr/>
          <p:nvPr/>
        </p:nvSpPr>
        <p:spPr>
          <a:xfrm>
            <a:off x="2604265"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1" name="Shape 32">
            <a:extLst>
              <a:ext uri="{FF2B5EF4-FFF2-40B4-BE49-F238E27FC236}">
                <a16:creationId xmlns:a16="http://schemas.microsoft.com/office/drawing/2014/main" id="{AF110267-D3BD-5298-233D-6731822F7FC5}"/>
              </a:ext>
            </a:extLst>
          </p:cNvPr>
          <p:cNvSpPr/>
          <p:nvPr/>
        </p:nvSpPr>
        <p:spPr>
          <a:xfrm>
            <a:off x="2773429"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2" name="Image 7" descr="preencoded.png">
            <a:extLst>
              <a:ext uri="{FF2B5EF4-FFF2-40B4-BE49-F238E27FC236}">
                <a16:creationId xmlns:a16="http://schemas.microsoft.com/office/drawing/2014/main" id="{AD58EA02-53AF-E021-7AD8-661008BB19EE}"/>
              </a:ext>
            </a:extLst>
          </p:cNvPr>
          <p:cNvPicPr>
            <a:picLocks noChangeAspect="1"/>
          </p:cNvPicPr>
          <p:nvPr/>
        </p:nvPicPr>
        <p:blipFill>
          <a:blip r:embed="rId10"/>
          <a:stretch>
            <a:fillRect/>
          </a:stretch>
        </p:blipFill>
        <p:spPr>
          <a:xfrm>
            <a:off x="2974597" y="4528566"/>
            <a:ext cx="420624" cy="420624"/>
          </a:xfrm>
          <a:prstGeom prst="rect">
            <a:avLst/>
          </a:prstGeom>
        </p:spPr>
      </p:pic>
      <p:sp>
        <p:nvSpPr>
          <p:cNvPr id="43" name="Text 33">
            <a:extLst>
              <a:ext uri="{FF2B5EF4-FFF2-40B4-BE49-F238E27FC236}">
                <a16:creationId xmlns:a16="http://schemas.microsoft.com/office/drawing/2014/main" id="{6728CAF0-05C5-72CA-3BEA-406A5C4550A3}"/>
              </a:ext>
            </a:extLst>
          </p:cNvPr>
          <p:cNvSpPr txBox="1"/>
          <p:nvPr/>
        </p:nvSpPr>
        <p:spPr>
          <a:xfrm>
            <a:off x="3550669"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Integrate</a:t>
            </a:r>
            <a:endParaRPr lang="en-US" sz="1500" dirty="0"/>
          </a:p>
        </p:txBody>
      </p:sp>
      <p:sp>
        <p:nvSpPr>
          <p:cNvPr id="44" name="Text 34">
            <a:extLst>
              <a:ext uri="{FF2B5EF4-FFF2-40B4-BE49-F238E27FC236}">
                <a16:creationId xmlns:a16="http://schemas.microsoft.com/office/drawing/2014/main" id="{231695F6-E994-99F1-A306-4FDDF3F2A559}"/>
              </a:ext>
            </a:extLst>
          </p:cNvPr>
          <p:cNvSpPr txBox="1"/>
          <p:nvPr/>
        </p:nvSpPr>
        <p:spPr>
          <a:xfrm>
            <a:off x="2974597"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Data from different sources combined into one analysable set.</a:t>
            </a:r>
            <a:endParaRPr lang="en-US" sz="1200" dirty="0"/>
          </a:p>
        </p:txBody>
      </p:sp>
      <p:sp>
        <p:nvSpPr>
          <p:cNvPr id="45" name="Shape 35">
            <a:extLst>
              <a:ext uri="{FF2B5EF4-FFF2-40B4-BE49-F238E27FC236}">
                <a16:creationId xmlns:a16="http://schemas.microsoft.com/office/drawing/2014/main" id="{83AC35CF-81BE-D1D0-0511-4F2F49A7DF22}"/>
              </a:ext>
            </a:extLst>
          </p:cNvPr>
          <p:cNvSpPr/>
          <p:nvPr/>
        </p:nvSpPr>
        <p:spPr>
          <a:xfrm>
            <a:off x="4877464"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6" name="Shape 36">
            <a:extLst>
              <a:ext uri="{FF2B5EF4-FFF2-40B4-BE49-F238E27FC236}">
                <a16:creationId xmlns:a16="http://schemas.microsoft.com/office/drawing/2014/main" id="{FADFE1C7-A6FF-9B6F-442C-CBDA282CCF6F}"/>
              </a:ext>
            </a:extLst>
          </p:cNvPr>
          <p:cNvSpPr/>
          <p:nvPr/>
        </p:nvSpPr>
        <p:spPr>
          <a:xfrm>
            <a:off x="5046628"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7" name="Image 8" descr="preencoded.png">
            <a:extLst>
              <a:ext uri="{FF2B5EF4-FFF2-40B4-BE49-F238E27FC236}">
                <a16:creationId xmlns:a16="http://schemas.microsoft.com/office/drawing/2014/main" id="{6BFBC6E4-5105-6FEF-4EA3-90ECC8542189}"/>
              </a:ext>
            </a:extLst>
          </p:cNvPr>
          <p:cNvPicPr>
            <a:picLocks noChangeAspect="1"/>
          </p:cNvPicPr>
          <p:nvPr/>
        </p:nvPicPr>
        <p:blipFill>
          <a:blip r:embed="rId11"/>
          <a:stretch>
            <a:fillRect/>
          </a:stretch>
        </p:blipFill>
        <p:spPr>
          <a:xfrm>
            <a:off x="5247796" y="4528566"/>
            <a:ext cx="420624" cy="420624"/>
          </a:xfrm>
          <a:prstGeom prst="rect">
            <a:avLst/>
          </a:prstGeom>
        </p:spPr>
      </p:pic>
      <p:sp>
        <p:nvSpPr>
          <p:cNvPr id="48" name="Text 37">
            <a:extLst>
              <a:ext uri="{FF2B5EF4-FFF2-40B4-BE49-F238E27FC236}">
                <a16:creationId xmlns:a16="http://schemas.microsoft.com/office/drawing/2014/main" id="{2C3EF56E-ED4D-3558-636B-784BA77307CE}"/>
              </a:ext>
            </a:extLst>
          </p:cNvPr>
          <p:cNvSpPr txBox="1"/>
          <p:nvPr/>
        </p:nvSpPr>
        <p:spPr>
          <a:xfrm>
            <a:off x="5823868"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Analyze</a:t>
            </a:r>
            <a:endParaRPr lang="en-US" sz="1500" dirty="0"/>
          </a:p>
        </p:txBody>
      </p:sp>
      <p:sp>
        <p:nvSpPr>
          <p:cNvPr id="49" name="Text 38">
            <a:extLst>
              <a:ext uri="{FF2B5EF4-FFF2-40B4-BE49-F238E27FC236}">
                <a16:creationId xmlns:a16="http://schemas.microsoft.com/office/drawing/2014/main" id="{9CCE4B65-E5BE-4AD9-F544-1CD8672551D5}"/>
              </a:ext>
            </a:extLst>
          </p:cNvPr>
          <p:cNvSpPr txBox="1"/>
          <p:nvPr/>
        </p:nvSpPr>
        <p:spPr>
          <a:xfrm>
            <a:off x="5247796"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The stage most people think of as the whole job.</a:t>
            </a:r>
            <a:endParaRPr lang="en-US" sz="1200" dirty="0"/>
          </a:p>
        </p:txBody>
      </p:sp>
      <p:sp>
        <p:nvSpPr>
          <p:cNvPr id="54" name="Text 42">
            <a:extLst>
              <a:ext uri="{FF2B5EF4-FFF2-40B4-BE49-F238E27FC236}">
                <a16:creationId xmlns:a16="http://schemas.microsoft.com/office/drawing/2014/main" id="{61CD7F51-E141-AEE0-9D2B-DE261576C988}"/>
              </a:ext>
            </a:extLst>
          </p:cNvPr>
          <p:cNvSpPr txBox="1"/>
          <p:nvPr/>
        </p:nvSpPr>
        <p:spPr>
          <a:xfrm>
            <a:off x="512064" y="3282696"/>
            <a:ext cx="7863840" cy="365760"/>
          </a:xfrm>
          <a:prstGeom prst="rect">
            <a:avLst/>
          </a:prstGeom>
          <a:noFill/>
          <a:ln/>
        </p:spPr>
        <p:txBody>
          <a:bodyPr wrap="square" lIns="0" tIns="0" rIns="0" bIns="0" rtlCol="0" anchor="ctr"/>
          <a:lstStyle/>
          <a:p>
            <a:pPr marL="0" indent="0">
              <a:buNone/>
            </a:pPr>
            <a:r>
              <a:rPr lang="en-US" sz="1500" i="1" dirty="0">
                <a:solidFill>
                  <a:srgbClr val="C00000"/>
                </a:solidFill>
                <a:latin typeface="Calibri" pitchFamily="34" charset="0"/>
                <a:ea typeface="Calibri" pitchFamily="34" charset="-122"/>
                <a:cs typeface="Calibri" pitchFamily="34" charset="-120"/>
              </a:rPr>
              <a:t>Assure and Describe are stages of their own, not things you do afterwards if there is time.</a:t>
            </a:r>
            <a:endParaRPr lang="en-US" sz="1500" dirty="0"/>
          </a:p>
        </p:txBody>
      </p:sp>
      <p:sp>
        <p:nvSpPr>
          <p:cNvPr id="55" name="Text 43">
            <a:extLst>
              <a:ext uri="{FF2B5EF4-FFF2-40B4-BE49-F238E27FC236}">
                <a16:creationId xmlns:a16="http://schemas.microsoft.com/office/drawing/2014/main" id="{793FBBD8-7E1E-DCB5-4037-6CA8F7AC92B6}"/>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spTree>
    <p:extLst>
      <p:ext uri="{BB962C8B-B14F-4D97-AF65-F5344CB8AC3E}">
        <p14:creationId xmlns:p14="http://schemas.microsoft.com/office/powerpoint/2010/main" val="4125545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95A15-317B-EF20-AB43-A2A91E20F4A8}"/>
            </a:ext>
          </a:extLst>
        </p:cNvPr>
        <p:cNvGrpSpPr/>
        <p:nvPr/>
      </p:nvGrpSpPr>
      <p:grpSpPr>
        <a:xfrm>
          <a:off x="0" y="0"/>
          <a:ext cx="0" cy="0"/>
          <a:chOff x="0" y="0"/>
          <a:chExt cx="0" cy="0"/>
        </a:xfrm>
      </p:grpSpPr>
      <p:sp>
        <p:nvSpPr>
          <p:cNvPr id="21" name="Shape 20">
            <a:extLst>
              <a:ext uri="{FF2B5EF4-FFF2-40B4-BE49-F238E27FC236}">
                <a16:creationId xmlns:a16="http://schemas.microsoft.com/office/drawing/2014/main" id="{FD3833F8-2E16-69C2-91DE-C8FA7A49679D}"/>
              </a:ext>
            </a:extLst>
          </p:cNvPr>
          <p:cNvSpPr/>
          <p:nvPr/>
        </p:nvSpPr>
        <p:spPr>
          <a:xfrm>
            <a:off x="484632" y="1426668"/>
            <a:ext cx="2090318" cy="1783080"/>
          </a:xfrm>
          <a:prstGeom prst="roundRect">
            <a:avLst>
              <a:gd name="adj" fmla="val 4103"/>
            </a:avLst>
          </a:prstGeom>
          <a:solidFill>
            <a:srgbClr val="F8D5DB"/>
          </a:solidFill>
          <a:ln w="12700">
            <a:solidFill>
              <a:srgbClr val="C00000"/>
            </a:solidFill>
            <a:prstDash val="solid"/>
          </a:ln>
        </p:spPr>
        <p:txBody>
          <a:bodyPr/>
          <a:lstStyle/>
          <a:p>
            <a:endParaRPr lang="en-US"/>
          </a:p>
        </p:txBody>
      </p:sp>
      <p:sp>
        <p:nvSpPr>
          <p:cNvPr id="50" name="Shape 24">
            <a:extLst>
              <a:ext uri="{FF2B5EF4-FFF2-40B4-BE49-F238E27FC236}">
                <a16:creationId xmlns:a16="http://schemas.microsoft.com/office/drawing/2014/main" id="{33F6E4A8-D0AE-97DC-2950-CB98DCC64409}"/>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F56D0F36-F39F-EE45-F4AC-99AA80DBD473}"/>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9F6C8213-BD2F-0412-C4F1-63C812C9ECE5}"/>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B715F218-F831-08C6-BAE4-C3ADC855DB4D}"/>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F0FAF09F-8815-95CD-A1E1-879A39426271}"/>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52D01CA8-C89E-EAB3-276C-12C972EB0977}"/>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095F6E81-A244-96EF-B8CE-2781AFF02F88}"/>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74321592-239C-A0D8-DEB4-6EBD2103C30D}"/>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938BB158-701D-4A07-1A9C-487899DDF93D}"/>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67AF6EF6-86EA-8702-029C-B2E8EACA9FBC}"/>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pic>
        <p:nvPicPr>
          <p:cNvPr id="12" name="Image 1" descr="preencoded.png">
            <a:extLst>
              <a:ext uri="{FF2B5EF4-FFF2-40B4-BE49-F238E27FC236}">
                <a16:creationId xmlns:a16="http://schemas.microsoft.com/office/drawing/2014/main" id="{EF88ADDA-31F3-ED77-E7B5-73CDB0243399}"/>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668C473C-0616-1B9D-3A83-4D76A34EC8C7}"/>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B8110C99-F431-5888-8FBD-C3E391A78A78}"/>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BE860321-68BD-2133-EC4A-56DABD7F425E}"/>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79DE404E-F046-A58B-C99D-5ACDF443FE33}"/>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6BADB8E4-0948-0BAF-B86E-DC4FBD43B706}"/>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A1BA051E-2479-DBE0-CF6D-55CC09A80C93}"/>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285A55F8-AB3F-A469-61F6-7EF6FFAB0BAA}"/>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F3BEE0FC-42E4-F2BC-F0DA-8DFC3EB8C0BF}"/>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F846C624-55D4-2441-31DE-35A9DE1E1F78}"/>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52AEAE23-833F-B940-F090-22AA108DE2EC}"/>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27528DB7-6F38-CE9E-725B-7F2E2E6135AB}"/>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28E0D251-5F77-2E8C-75CF-0F4E0AD6C9F5}"/>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2572AC6C-08F3-177A-F8F1-91A0E09FFBBF}"/>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3102A8D1-A045-5214-96A3-28722C58B0FF}"/>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674EE11A-5137-1B4C-7131-177972082EE5}"/>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F798F86F-B3BB-9247-4214-D17C751E72DD}"/>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01A63AAD-0544-7C38-B968-63A70A2BD4E1}"/>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717BEDA1-30BA-3584-4E2E-86AA92F3B60E}"/>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B4C071AF-D5A0-5A3A-2EBF-739F6CDC9450}"/>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9364A4EF-FCEB-3B54-2395-C8753233F926}"/>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58AE01EC-3EBB-0162-CFBC-B550CA422A08}"/>
              </a:ext>
            </a:extLst>
          </p:cNvPr>
          <p:cNvSpPr txBox="1"/>
          <p:nvPr/>
        </p:nvSpPr>
        <p:spPr>
          <a:xfrm>
            <a:off x="502920" y="4024671"/>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REUSE DATA THAT ALREADY EXIST</a:t>
            </a:r>
            <a:endParaRPr lang="en-US" sz="1400" dirty="0"/>
          </a:p>
        </p:txBody>
      </p:sp>
      <p:sp>
        <p:nvSpPr>
          <p:cNvPr id="36" name="Shape 28">
            <a:extLst>
              <a:ext uri="{FF2B5EF4-FFF2-40B4-BE49-F238E27FC236}">
                <a16:creationId xmlns:a16="http://schemas.microsoft.com/office/drawing/2014/main" id="{46BFE468-6A36-DA7B-5820-FE20C768CA53}"/>
              </a:ext>
            </a:extLst>
          </p:cNvPr>
          <p:cNvSpPr/>
          <p:nvPr/>
        </p:nvSpPr>
        <p:spPr>
          <a:xfrm>
            <a:off x="500231"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37" name="Image 6" descr="preencoded.png">
            <a:extLst>
              <a:ext uri="{FF2B5EF4-FFF2-40B4-BE49-F238E27FC236}">
                <a16:creationId xmlns:a16="http://schemas.microsoft.com/office/drawing/2014/main" id="{C5A16F43-C3AF-5152-F2E9-B5E82AD84BCC}"/>
              </a:ext>
            </a:extLst>
          </p:cNvPr>
          <p:cNvPicPr>
            <a:picLocks noChangeAspect="1"/>
          </p:cNvPicPr>
          <p:nvPr/>
        </p:nvPicPr>
        <p:blipFill>
          <a:blip r:embed="rId9"/>
          <a:stretch>
            <a:fillRect/>
          </a:stretch>
        </p:blipFill>
        <p:spPr>
          <a:xfrm>
            <a:off x="701399" y="4528566"/>
            <a:ext cx="420624" cy="420624"/>
          </a:xfrm>
          <a:prstGeom prst="rect">
            <a:avLst/>
          </a:prstGeom>
        </p:spPr>
      </p:pic>
      <p:sp>
        <p:nvSpPr>
          <p:cNvPr id="38" name="Text 29">
            <a:extLst>
              <a:ext uri="{FF2B5EF4-FFF2-40B4-BE49-F238E27FC236}">
                <a16:creationId xmlns:a16="http://schemas.microsoft.com/office/drawing/2014/main" id="{4BB4D5DF-1145-9FB5-FAB2-ACC4B2907288}"/>
              </a:ext>
            </a:extLst>
          </p:cNvPr>
          <p:cNvSpPr txBox="1"/>
          <p:nvPr/>
        </p:nvSpPr>
        <p:spPr>
          <a:xfrm>
            <a:off x="1277471"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Discover</a:t>
            </a:r>
            <a:endParaRPr lang="en-US" sz="1500" dirty="0"/>
          </a:p>
        </p:txBody>
      </p:sp>
      <p:sp>
        <p:nvSpPr>
          <p:cNvPr id="39" name="Text 30">
            <a:extLst>
              <a:ext uri="{FF2B5EF4-FFF2-40B4-BE49-F238E27FC236}">
                <a16:creationId xmlns:a16="http://schemas.microsoft.com/office/drawing/2014/main" id="{59965131-9906-03F3-0CC9-9B9581941004}"/>
              </a:ext>
            </a:extLst>
          </p:cNvPr>
          <p:cNvSpPr txBox="1"/>
          <p:nvPr/>
        </p:nvSpPr>
        <p:spPr>
          <a:xfrm>
            <a:off x="701399"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Useful data located and obtained, together with their metadata.</a:t>
            </a:r>
            <a:endParaRPr lang="en-US" sz="1200" dirty="0"/>
          </a:p>
        </p:txBody>
      </p:sp>
      <p:sp>
        <p:nvSpPr>
          <p:cNvPr id="40" name="Shape 31">
            <a:extLst>
              <a:ext uri="{FF2B5EF4-FFF2-40B4-BE49-F238E27FC236}">
                <a16:creationId xmlns:a16="http://schemas.microsoft.com/office/drawing/2014/main" id="{D9B391FC-6D43-2AD0-4892-96949470F3AE}"/>
              </a:ext>
            </a:extLst>
          </p:cNvPr>
          <p:cNvSpPr/>
          <p:nvPr/>
        </p:nvSpPr>
        <p:spPr>
          <a:xfrm>
            <a:off x="2604265"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1" name="Shape 32">
            <a:extLst>
              <a:ext uri="{FF2B5EF4-FFF2-40B4-BE49-F238E27FC236}">
                <a16:creationId xmlns:a16="http://schemas.microsoft.com/office/drawing/2014/main" id="{660DBADA-9C08-13F7-52E6-62D2D185129A}"/>
              </a:ext>
            </a:extLst>
          </p:cNvPr>
          <p:cNvSpPr/>
          <p:nvPr/>
        </p:nvSpPr>
        <p:spPr>
          <a:xfrm>
            <a:off x="2773429"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2" name="Image 7" descr="preencoded.png">
            <a:extLst>
              <a:ext uri="{FF2B5EF4-FFF2-40B4-BE49-F238E27FC236}">
                <a16:creationId xmlns:a16="http://schemas.microsoft.com/office/drawing/2014/main" id="{E1E86517-212B-E1C3-EDA9-384DEE69D1C3}"/>
              </a:ext>
            </a:extLst>
          </p:cNvPr>
          <p:cNvPicPr>
            <a:picLocks noChangeAspect="1"/>
          </p:cNvPicPr>
          <p:nvPr/>
        </p:nvPicPr>
        <p:blipFill>
          <a:blip r:embed="rId10"/>
          <a:stretch>
            <a:fillRect/>
          </a:stretch>
        </p:blipFill>
        <p:spPr>
          <a:xfrm>
            <a:off x="2974597" y="4528566"/>
            <a:ext cx="420624" cy="420624"/>
          </a:xfrm>
          <a:prstGeom prst="rect">
            <a:avLst/>
          </a:prstGeom>
        </p:spPr>
      </p:pic>
      <p:sp>
        <p:nvSpPr>
          <p:cNvPr id="43" name="Text 33">
            <a:extLst>
              <a:ext uri="{FF2B5EF4-FFF2-40B4-BE49-F238E27FC236}">
                <a16:creationId xmlns:a16="http://schemas.microsoft.com/office/drawing/2014/main" id="{BAB174E5-6D93-A876-4080-74ACBDDB865E}"/>
              </a:ext>
            </a:extLst>
          </p:cNvPr>
          <p:cNvSpPr txBox="1"/>
          <p:nvPr/>
        </p:nvSpPr>
        <p:spPr>
          <a:xfrm>
            <a:off x="3550669"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Integrate</a:t>
            </a:r>
            <a:endParaRPr lang="en-US" sz="1500" dirty="0"/>
          </a:p>
        </p:txBody>
      </p:sp>
      <p:sp>
        <p:nvSpPr>
          <p:cNvPr id="44" name="Text 34">
            <a:extLst>
              <a:ext uri="{FF2B5EF4-FFF2-40B4-BE49-F238E27FC236}">
                <a16:creationId xmlns:a16="http://schemas.microsoft.com/office/drawing/2014/main" id="{35F483A0-826C-BD71-1BF6-18CBC036D551}"/>
              </a:ext>
            </a:extLst>
          </p:cNvPr>
          <p:cNvSpPr txBox="1"/>
          <p:nvPr/>
        </p:nvSpPr>
        <p:spPr>
          <a:xfrm>
            <a:off x="2974597"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Data from different sources combined into one analysable set.</a:t>
            </a:r>
            <a:endParaRPr lang="en-US" sz="1200" dirty="0"/>
          </a:p>
        </p:txBody>
      </p:sp>
      <p:sp>
        <p:nvSpPr>
          <p:cNvPr id="45" name="Shape 35">
            <a:extLst>
              <a:ext uri="{FF2B5EF4-FFF2-40B4-BE49-F238E27FC236}">
                <a16:creationId xmlns:a16="http://schemas.microsoft.com/office/drawing/2014/main" id="{9D9211B9-C4FA-917A-DA48-1BD3451EB99C}"/>
              </a:ext>
            </a:extLst>
          </p:cNvPr>
          <p:cNvSpPr/>
          <p:nvPr/>
        </p:nvSpPr>
        <p:spPr>
          <a:xfrm>
            <a:off x="4877464"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6" name="Shape 36">
            <a:extLst>
              <a:ext uri="{FF2B5EF4-FFF2-40B4-BE49-F238E27FC236}">
                <a16:creationId xmlns:a16="http://schemas.microsoft.com/office/drawing/2014/main" id="{036CBDFB-CE1C-AC21-0B3A-A75D2557B657}"/>
              </a:ext>
            </a:extLst>
          </p:cNvPr>
          <p:cNvSpPr/>
          <p:nvPr/>
        </p:nvSpPr>
        <p:spPr>
          <a:xfrm>
            <a:off x="5046628"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7" name="Image 8" descr="preencoded.png">
            <a:extLst>
              <a:ext uri="{FF2B5EF4-FFF2-40B4-BE49-F238E27FC236}">
                <a16:creationId xmlns:a16="http://schemas.microsoft.com/office/drawing/2014/main" id="{E8704E7A-11A9-AD5B-31F2-92F60F8689B0}"/>
              </a:ext>
            </a:extLst>
          </p:cNvPr>
          <p:cNvPicPr>
            <a:picLocks noChangeAspect="1"/>
          </p:cNvPicPr>
          <p:nvPr/>
        </p:nvPicPr>
        <p:blipFill>
          <a:blip r:embed="rId11"/>
          <a:stretch>
            <a:fillRect/>
          </a:stretch>
        </p:blipFill>
        <p:spPr>
          <a:xfrm>
            <a:off x="5247796" y="4528566"/>
            <a:ext cx="420624" cy="420624"/>
          </a:xfrm>
          <a:prstGeom prst="rect">
            <a:avLst/>
          </a:prstGeom>
        </p:spPr>
      </p:pic>
      <p:sp>
        <p:nvSpPr>
          <p:cNvPr id="48" name="Text 37">
            <a:extLst>
              <a:ext uri="{FF2B5EF4-FFF2-40B4-BE49-F238E27FC236}">
                <a16:creationId xmlns:a16="http://schemas.microsoft.com/office/drawing/2014/main" id="{B93253E3-E7AA-B68A-E195-A43C65011023}"/>
              </a:ext>
            </a:extLst>
          </p:cNvPr>
          <p:cNvSpPr txBox="1"/>
          <p:nvPr/>
        </p:nvSpPr>
        <p:spPr>
          <a:xfrm>
            <a:off x="5823868"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Analyze</a:t>
            </a:r>
            <a:endParaRPr lang="en-US" sz="1500" dirty="0"/>
          </a:p>
        </p:txBody>
      </p:sp>
      <p:sp>
        <p:nvSpPr>
          <p:cNvPr id="49" name="Text 38">
            <a:extLst>
              <a:ext uri="{FF2B5EF4-FFF2-40B4-BE49-F238E27FC236}">
                <a16:creationId xmlns:a16="http://schemas.microsoft.com/office/drawing/2014/main" id="{550C00BB-B877-BF5D-6028-2E788670B005}"/>
              </a:ext>
            </a:extLst>
          </p:cNvPr>
          <p:cNvSpPr txBox="1"/>
          <p:nvPr/>
        </p:nvSpPr>
        <p:spPr>
          <a:xfrm>
            <a:off x="5247796"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The stage most people think of as the whole job.</a:t>
            </a:r>
            <a:endParaRPr lang="en-US" sz="1200" dirty="0"/>
          </a:p>
        </p:txBody>
      </p:sp>
      <p:sp>
        <p:nvSpPr>
          <p:cNvPr id="54" name="Text 42">
            <a:extLst>
              <a:ext uri="{FF2B5EF4-FFF2-40B4-BE49-F238E27FC236}">
                <a16:creationId xmlns:a16="http://schemas.microsoft.com/office/drawing/2014/main" id="{32EBCB13-91EF-1D52-89A3-6FA54756E8A1}"/>
              </a:ext>
            </a:extLst>
          </p:cNvPr>
          <p:cNvSpPr txBox="1"/>
          <p:nvPr/>
        </p:nvSpPr>
        <p:spPr>
          <a:xfrm>
            <a:off x="512064" y="3282696"/>
            <a:ext cx="7863840" cy="365760"/>
          </a:xfrm>
          <a:prstGeom prst="rect">
            <a:avLst/>
          </a:prstGeom>
          <a:noFill/>
          <a:ln/>
        </p:spPr>
        <p:txBody>
          <a:bodyPr wrap="square" lIns="0" tIns="0" rIns="0" bIns="0" rtlCol="0" anchor="ctr"/>
          <a:lstStyle/>
          <a:p>
            <a:pPr marL="0" indent="0">
              <a:buNone/>
            </a:pPr>
            <a:r>
              <a:rPr lang="en-US" sz="1500" i="1" dirty="0">
                <a:solidFill>
                  <a:srgbClr val="C00000"/>
                </a:solidFill>
                <a:latin typeface="Calibri" pitchFamily="34" charset="0"/>
                <a:ea typeface="Calibri" pitchFamily="34" charset="-122"/>
                <a:cs typeface="Calibri" pitchFamily="34" charset="-120"/>
              </a:rPr>
              <a:t>Assure and Describe are stages of their own, not things you do afterwards if there is time.</a:t>
            </a:r>
            <a:endParaRPr lang="en-US" sz="1500" dirty="0"/>
          </a:p>
        </p:txBody>
      </p:sp>
      <p:sp>
        <p:nvSpPr>
          <p:cNvPr id="55" name="Text 43">
            <a:extLst>
              <a:ext uri="{FF2B5EF4-FFF2-40B4-BE49-F238E27FC236}">
                <a16:creationId xmlns:a16="http://schemas.microsoft.com/office/drawing/2014/main" id="{F196B991-F43A-0731-B627-8C4887B5C7D0}"/>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spTree>
    <p:extLst>
      <p:ext uri="{BB962C8B-B14F-4D97-AF65-F5344CB8AC3E}">
        <p14:creationId xmlns:p14="http://schemas.microsoft.com/office/powerpoint/2010/main" val="3637961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10</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DMP: the document funders ask for</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STAGE 1, PLAN</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400" dirty="0">
                <a:solidFill>
                  <a:srgbClr val="7F7F7F"/>
                </a:solidFill>
                <a:latin typeface="Calibri" pitchFamily="34" charset="0"/>
                <a:ea typeface="Calibri" pitchFamily="34" charset="-122"/>
                <a:cs typeface="Calibri" pitchFamily="34" charset="-120"/>
              </a:rPr>
              <a:t>The first stage of the cycle has a name, a template and a deadline.</a:t>
            </a:r>
            <a:endParaRPr lang="en-US" sz="1400" dirty="0"/>
          </a:p>
        </p:txBody>
      </p:sp>
      <p:sp>
        <p:nvSpPr>
          <p:cNvPr id="10" name="Shape 7"/>
          <p:cNvSpPr/>
          <p:nvPr/>
        </p:nvSpPr>
        <p:spPr>
          <a:xfrm>
            <a:off x="502920" y="1371600"/>
            <a:ext cx="3483864" cy="361188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645920"/>
            <a:ext cx="566928" cy="566928"/>
          </a:xfrm>
          <a:prstGeom prst="rect">
            <a:avLst/>
          </a:prstGeom>
        </p:spPr>
      </p:pic>
      <p:sp>
        <p:nvSpPr>
          <p:cNvPr id="12" name="Text 8"/>
          <p:cNvSpPr txBox="1"/>
          <p:nvPr/>
        </p:nvSpPr>
        <p:spPr>
          <a:xfrm>
            <a:off x="822960" y="2377440"/>
            <a:ext cx="2843784"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What it is</a:t>
            </a:r>
            <a:endParaRPr lang="en-US" dirty="0"/>
          </a:p>
        </p:txBody>
      </p:sp>
      <p:sp>
        <p:nvSpPr>
          <p:cNvPr id="13" name="Text 9"/>
          <p:cNvSpPr txBox="1"/>
          <p:nvPr/>
        </p:nvSpPr>
        <p:spPr>
          <a:xfrm>
            <a:off x="822960" y="2852928"/>
            <a:ext cx="2843784" cy="1920240"/>
          </a:xfrm>
          <a:prstGeom prst="rect">
            <a:avLst/>
          </a:prstGeom>
          <a:noFill/>
          <a:ln/>
        </p:spPr>
        <p:txBody>
          <a:bodyPr wrap="square" lIns="0" tIns="0" rIns="0" bIns="0" rtlCol="0" anchor="t"/>
          <a:lstStyle/>
          <a:p>
            <a:pPr marL="0" indent="0">
              <a:lnSpc>
                <a:spcPct val="120000"/>
              </a:lnSpc>
              <a:buNone/>
            </a:pPr>
            <a:r>
              <a:rPr lang="en-US" sz="1400" dirty="0">
                <a:solidFill>
                  <a:srgbClr val="262626"/>
                </a:solidFill>
                <a:latin typeface="Calibri" pitchFamily="34" charset="0"/>
                <a:ea typeface="Calibri" pitchFamily="34" charset="-122"/>
                <a:cs typeface="Calibri" pitchFamily="34" charset="-120"/>
              </a:rPr>
              <a:t>A short document written at the start of a project. What data will be produced, in what formats, where they will live, who is responsible for them, and what will eventually be shared.</a:t>
            </a:r>
            <a:endParaRPr lang="en-US" sz="1400" dirty="0"/>
          </a:p>
        </p:txBody>
      </p:sp>
      <p:sp>
        <p:nvSpPr>
          <p:cNvPr id="14" name="Shape 10"/>
          <p:cNvSpPr/>
          <p:nvPr/>
        </p:nvSpPr>
        <p:spPr>
          <a:xfrm>
            <a:off x="4352544" y="1371600"/>
            <a:ext cx="3483864" cy="361188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672584" y="1645920"/>
            <a:ext cx="566928" cy="566928"/>
          </a:xfrm>
          <a:prstGeom prst="rect">
            <a:avLst/>
          </a:prstGeom>
        </p:spPr>
      </p:pic>
      <p:sp>
        <p:nvSpPr>
          <p:cNvPr id="16" name="Text 11"/>
          <p:cNvSpPr txBox="1"/>
          <p:nvPr/>
        </p:nvSpPr>
        <p:spPr>
          <a:xfrm>
            <a:off x="4672584" y="2377440"/>
            <a:ext cx="2843784"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Why funders ask</a:t>
            </a:r>
            <a:endParaRPr lang="en-US" dirty="0"/>
          </a:p>
        </p:txBody>
      </p:sp>
      <p:sp>
        <p:nvSpPr>
          <p:cNvPr id="17" name="Text 12"/>
          <p:cNvSpPr txBox="1"/>
          <p:nvPr/>
        </p:nvSpPr>
        <p:spPr>
          <a:xfrm>
            <a:off x="4672584" y="2852928"/>
            <a:ext cx="2843784" cy="1920240"/>
          </a:xfrm>
          <a:prstGeom prst="rect">
            <a:avLst/>
          </a:prstGeom>
          <a:noFill/>
          <a:ln/>
        </p:spPr>
        <p:txBody>
          <a:bodyPr wrap="square" lIns="0" tIns="0" rIns="0" bIns="0" rtlCol="0" anchor="t"/>
          <a:lstStyle/>
          <a:p>
            <a:pPr marL="0" indent="0">
              <a:lnSpc>
                <a:spcPct val="120000"/>
              </a:lnSpc>
              <a:buNone/>
            </a:pPr>
            <a:r>
              <a:rPr lang="en-US" sz="1400" dirty="0">
                <a:solidFill>
                  <a:srgbClr val="262626"/>
                </a:solidFill>
                <a:latin typeface="Calibri" pitchFamily="34" charset="0"/>
                <a:ea typeface="Calibri" pitchFamily="34" charset="-122"/>
                <a:cs typeface="Calibri" pitchFamily="34" charset="-120"/>
              </a:rPr>
              <a:t>Public money buys a reusable asset, not only a paper. Managing data along FAIR principles and giving open access to them, as open as possible and as closed as necessary, is a mandatory practice for most funders.</a:t>
            </a:r>
            <a:endParaRPr lang="en-US" sz="1400" dirty="0"/>
          </a:p>
        </p:txBody>
      </p:sp>
      <p:sp>
        <p:nvSpPr>
          <p:cNvPr id="18" name="Shape 13"/>
          <p:cNvSpPr/>
          <p:nvPr/>
        </p:nvSpPr>
        <p:spPr>
          <a:xfrm>
            <a:off x="8202168" y="1371600"/>
            <a:ext cx="3483864" cy="3611880"/>
          </a:xfrm>
          <a:prstGeom prst="roundRect">
            <a:avLst>
              <a:gd name="adj" fmla="val 2100"/>
            </a:avLst>
          </a:prstGeom>
          <a:solidFill>
            <a:srgbClr val="F8D5DB"/>
          </a:solidFill>
          <a:ln w="12700">
            <a:solidFill>
              <a:srgbClr val="C00000"/>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8522208" y="1645920"/>
            <a:ext cx="566928" cy="566928"/>
          </a:xfrm>
          <a:prstGeom prst="rect">
            <a:avLst/>
          </a:prstGeom>
        </p:spPr>
      </p:pic>
      <p:sp>
        <p:nvSpPr>
          <p:cNvPr id="20" name="Text 14"/>
          <p:cNvSpPr txBox="1"/>
          <p:nvPr/>
        </p:nvSpPr>
        <p:spPr>
          <a:xfrm>
            <a:off x="8522208" y="2377440"/>
            <a:ext cx="2843784" cy="41148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Why it helps you</a:t>
            </a:r>
            <a:endParaRPr lang="en-US" dirty="0"/>
          </a:p>
        </p:txBody>
      </p:sp>
      <p:sp>
        <p:nvSpPr>
          <p:cNvPr id="21" name="Text 15"/>
          <p:cNvSpPr txBox="1"/>
          <p:nvPr/>
        </p:nvSpPr>
        <p:spPr>
          <a:xfrm>
            <a:off x="8522208" y="2852928"/>
            <a:ext cx="2843784" cy="1920240"/>
          </a:xfrm>
          <a:prstGeom prst="rect">
            <a:avLst/>
          </a:prstGeom>
          <a:noFill/>
          <a:ln/>
        </p:spPr>
        <p:txBody>
          <a:bodyPr wrap="square" lIns="0" tIns="0" rIns="0" bIns="0" rtlCol="0" anchor="t"/>
          <a:lstStyle/>
          <a:p>
            <a:pPr marL="0" indent="0">
              <a:lnSpc>
                <a:spcPct val="120000"/>
              </a:lnSpc>
              <a:buNone/>
            </a:pPr>
            <a:r>
              <a:rPr lang="en-US" sz="1400" dirty="0">
                <a:solidFill>
                  <a:srgbClr val="262626"/>
                </a:solidFill>
                <a:latin typeface="Calibri" pitchFamily="34" charset="0"/>
                <a:ea typeface="Calibri" pitchFamily="34" charset="-122"/>
                <a:cs typeface="Calibri" pitchFamily="34" charset="-120"/>
              </a:rPr>
              <a:t>It forces three decisions : where the data live, who owns them, and what gets shared. </a:t>
            </a:r>
          </a:p>
          <a:p>
            <a:pPr marL="0" indent="0">
              <a:lnSpc>
                <a:spcPct val="120000"/>
              </a:lnSpc>
              <a:buNone/>
            </a:pPr>
            <a:r>
              <a:rPr lang="en-US" sz="1400" dirty="0">
                <a:solidFill>
                  <a:srgbClr val="262626"/>
                </a:solidFill>
                <a:latin typeface="Calibri" pitchFamily="34" charset="0"/>
                <a:ea typeface="Calibri" pitchFamily="34" charset="-122"/>
                <a:cs typeface="Calibri" pitchFamily="34" charset="-120"/>
              </a:rPr>
              <a:t>It is also the only way storage and repository costs end up in the budget, since unbudgeted costs cannot be charged later.</a:t>
            </a:r>
            <a:endParaRPr lang="en-US" sz="1400" dirty="0"/>
          </a:p>
        </p:txBody>
      </p:sp>
      <p:sp>
        <p:nvSpPr>
          <p:cNvPr id="22" name="Text 16"/>
          <p:cNvSpPr txBox="1"/>
          <p:nvPr/>
        </p:nvSpPr>
        <p:spPr>
          <a:xfrm>
            <a:off x="502920" y="5230368"/>
            <a:ext cx="7315200" cy="365760"/>
          </a:xfrm>
          <a:prstGeom prst="rect">
            <a:avLst/>
          </a:prstGeom>
          <a:noFill/>
          <a:ln/>
        </p:spPr>
        <p:txBody>
          <a:bodyPr wrap="square" lIns="0" tIns="0" rIns="0" bIns="0" rtlCol="0" anchor="ctr"/>
          <a:lstStyle/>
          <a:p>
            <a:pPr marL="0" indent="0">
              <a:buNone/>
            </a:pPr>
            <a:r>
              <a:rPr lang="en-US" sz="1500" i="1" dirty="0">
                <a:solidFill>
                  <a:srgbClr val="C00000"/>
                </a:solidFill>
                <a:latin typeface="Calibri" pitchFamily="34" charset="0"/>
                <a:ea typeface="Calibri" pitchFamily="34" charset="-122"/>
                <a:cs typeface="Calibri" pitchFamily="34" charset="-120"/>
              </a:rPr>
              <a:t>Write one properly once, and the structure carries over to every project after it.</a:t>
            </a:r>
            <a:endParaRPr lang="en-US" sz="1500" dirty="0"/>
          </a:p>
        </p:txBody>
      </p:sp>
      <p:sp>
        <p:nvSpPr>
          <p:cNvPr id="23" name="Text 17"/>
          <p:cNvSpPr txBox="1"/>
          <p:nvPr/>
        </p:nvSpPr>
        <p:spPr>
          <a:xfrm>
            <a:off x="8430768" y="6140196"/>
            <a:ext cx="363931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European Commission, open science in Horizon Europe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34C0-1AC9-6178-52B4-C101FC7FD5E0}"/>
            </a:ext>
          </a:extLst>
        </p:cNvPr>
        <p:cNvGrpSpPr/>
        <p:nvPr/>
      </p:nvGrpSpPr>
      <p:grpSpPr>
        <a:xfrm>
          <a:off x="0" y="0"/>
          <a:ext cx="0" cy="0"/>
          <a:chOff x="0" y="0"/>
          <a:chExt cx="0" cy="0"/>
        </a:xfrm>
      </p:grpSpPr>
      <p:sp>
        <p:nvSpPr>
          <p:cNvPr id="21" name="Shape 20">
            <a:extLst>
              <a:ext uri="{FF2B5EF4-FFF2-40B4-BE49-F238E27FC236}">
                <a16:creationId xmlns:a16="http://schemas.microsoft.com/office/drawing/2014/main" id="{E1463ED7-EBA1-3BE2-2A78-DA38A0E6087E}"/>
              </a:ext>
            </a:extLst>
          </p:cNvPr>
          <p:cNvSpPr/>
          <p:nvPr/>
        </p:nvSpPr>
        <p:spPr>
          <a:xfrm>
            <a:off x="7313372" y="1416345"/>
            <a:ext cx="2090318" cy="1783080"/>
          </a:xfrm>
          <a:prstGeom prst="roundRect">
            <a:avLst>
              <a:gd name="adj" fmla="val 4103"/>
            </a:avLst>
          </a:prstGeom>
          <a:solidFill>
            <a:srgbClr val="F8D5DB"/>
          </a:solidFill>
          <a:ln w="12700">
            <a:solidFill>
              <a:srgbClr val="C00000"/>
            </a:solidFill>
            <a:prstDash val="solid"/>
          </a:ln>
        </p:spPr>
        <p:txBody>
          <a:bodyPr/>
          <a:lstStyle/>
          <a:p>
            <a:endParaRPr lang="en-US"/>
          </a:p>
        </p:txBody>
      </p:sp>
      <p:sp>
        <p:nvSpPr>
          <p:cNvPr id="50" name="Shape 24">
            <a:extLst>
              <a:ext uri="{FF2B5EF4-FFF2-40B4-BE49-F238E27FC236}">
                <a16:creationId xmlns:a16="http://schemas.microsoft.com/office/drawing/2014/main" id="{CFFA5D60-6D23-64A7-56D6-79410FC9DA13}"/>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B0E37C24-72F2-E024-7049-EC1712ED343B}"/>
              </a:ext>
            </a:extLst>
          </p:cNvPr>
          <p:cNvSpPr/>
          <p:nvPr/>
        </p:nvSpPr>
        <p:spPr>
          <a:xfrm>
            <a:off x="484632" y="1416345"/>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01323254-4CB8-4622-009C-483008DD41BD}"/>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79EC5C1A-9471-EE77-746A-721BE09445BB}"/>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6A494DBB-C051-ABE6-4556-9D3CDA7B04F2}"/>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D33CAF90-CCC8-F741-5AE4-0768F6E679CD}"/>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1E0FE7C6-FCA9-7EEB-8D75-A46D6A4AE044}"/>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050738B1-3C31-83F8-D93C-D264893FC63F}"/>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BA080659-640A-9F7E-A39F-3DA9D606B94C}"/>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36ADD0B2-BDF3-6F46-7BB7-B1EC6302605E}"/>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pic>
        <p:nvPicPr>
          <p:cNvPr id="12" name="Image 1" descr="preencoded.png">
            <a:extLst>
              <a:ext uri="{FF2B5EF4-FFF2-40B4-BE49-F238E27FC236}">
                <a16:creationId xmlns:a16="http://schemas.microsoft.com/office/drawing/2014/main" id="{A5257195-1527-29BF-AEA9-8AC31C51F360}"/>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917475FD-07F4-1945-F7A9-98117A70871E}"/>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D4BEEF9D-6AB8-64F2-0C7F-C60BC0917510}"/>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CB47DCC0-4799-629E-8207-A842159ECD05}"/>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BB9CE025-7EE2-8C38-3DAF-FFD1DF30A72A}"/>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217CFC50-C207-86AC-80EB-682275188B81}"/>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FC0F196A-E6A6-2EC6-F1B8-2C596475AF06}"/>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DE8E94E8-5709-6081-71CF-E912653EDB21}"/>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01C243F9-5435-7502-B419-D2093F8DBD78}"/>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BD9C27B7-326B-C5AC-01CE-3BC853C4E11D}"/>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B8A50250-590B-0FF6-3233-F19B83B897F6}"/>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59CBD7FB-C42B-9EEE-AF2A-AE765EBCAE42}"/>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332DD335-CEFC-A056-9893-9C510402E221}"/>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C872048C-E71A-5066-42CB-A387DE56150C}"/>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C832AE9F-1886-9183-25DF-A81BAC542BBA}"/>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7A532902-F737-2250-B53E-7E44513D322E}"/>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FD224911-87AB-D77B-DF31-9AAED9792C3F}"/>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2B966FEC-D679-6152-B0DA-D435EF4323DE}"/>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E94EE9F0-4D8F-4CF1-1E07-CA78D6FD6674}"/>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1AB8B89A-4924-5DDB-CB6A-FCE1C9553970}"/>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DD8DE5FD-7948-FEC6-8910-77003DB2489A}"/>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1F4F0340-2251-779F-07F3-2EFBBE183216}"/>
              </a:ext>
            </a:extLst>
          </p:cNvPr>
          <p:cNvSpPr txBox="1"/>
          <p:nvPr/>
        </p:nvSpPr>
        <p:spPr>
          <a:xfrm>
            <a:off x="502920" y="4024671"/>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REUSE DATA THAT ALREADY EXIST</a:t>
            </a:r>
            <a:endParaRPr lang="en-US" sz="1400" dirty="0"/>
          </a:p>
        </p:txBody>
      </p:sp>
      <p:sp>
        <p:nvSpPr>
          <p:cNvPr id="36" name="Shape 28">
            <a:extLst>
              <a:ext uri="{FF2B5EF4-FFF2-40B4-BE49-F238E27FC236}">
                <a16:creationId xmlns:a16="http://schemas.microsoft.com/office/drawing/2014/main" id="{6AA15377-E622-B33D-5B72-0AD4C98BB78C}"/>
              </a:ext>
            </a:extLst>
          </p:cNvPr>
          <p:cNvSpPr/>
          <p:nvPr/>
        </p:nvSpPr>
        <p:spPr>
          <a:xfrm>
            <a:off x="500231"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37" name="Image 6" descr="preencoded.png">
            <a:extLst>
              <a:ext uri="{FF2B5EF4-FFF2-40B4-BE49-F238E27FC236}">
                <a16:creationId xmlns:a16="http://schemas.microsoft.com/office/drawing/2014/main" id="{B6484BF5-D054-535F-1217-276F545469D4}"/>
              </a:ext>
            </a:extLst>
          </p:cNvPr>
          <p:cNvPicPr>
            <a:picLocks noChangeAspect="1"/>
          </p:cNvPicPr>
          <p:nvPr/>
        </p:nvPicPr>
        <p:blipFill>
          <a:blip r:embed="rId9"/>
          <a:stretch>
            <a:fillRect/>
          </a:stretch>
        </p:blipFill>
        <p:spPr>
          <a:xfrm>
            <a:off x="701399" y="4528566"/>
            <a:ext cx="420624" cy="420624"/>
          </a:xfrm>
          <a:prstGeom prst="rect">
            <a:avLst/>
          </a:prstGeom>
        </p:spPr>
      </p:pic>
      <p:sp>
        <p:nvSpPr>
          <p:cNvPr id="38" name="Text 29">
            <a:extLst>
              <a:ext uri="{FF2B5EF4-FFF2-40B4-BE49-F238E27FC236}">
                <a16:creationId xmlns:a16="http://schemas.microsoft.com/office/drawing/2014/main" id="{E0FF5624-B7EE-9148-9C1F-57B6F990CDA7}"/>
              </a:ext>
            </a:extLst>
          </p:cNvPr>
          <p:cNvSpPr txBox="1"/>
          <p:nvPr/>
        </p:nvSpPr>
        <p:spPr>
          <a:xfrm>
            <a:off x="1277471"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Discover</a:t>
            </a:r>
            <a:endParaRPr lang="en-US" sz="1500" dirty="0"/>
          </a:p>
        </p:txBody>
      </p:sp>
      <p:sp>
        <p:nvSpPr>
          <p:cNvPr id="39" name="Text 30">
            <a:extLst>
              <a:ext uri="{FF2B5EF4-FFF2-40B4-BE49-F238E27FC236}">
                <a16:creationId xmlns:a16="http://schemas.microsoft.com/office/drawing/2014/main" id="{3E77446E-AD3E-B74C-6A69-1CB8B054C608}"/>
              </a:ext>
            </a:extLst>
          </p:cNvPr>
          <p:cNvSpPr txBox="1"/>
          <p:nvPr/>
        </p:nvSpPr>
        <p:spPr>
          <a:xfrm>
            <a:off x="701399"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Useful data located and obtained, together with their metadata.</a:t>
            </a:r>
            <a:endParaRPr lang="en-US" sz="1200" dirty="0"/>
          </a:p>
        </p:txBody>
      </p:sp>
      <p:sp>
        <p:nvSpPr>
          <p:cNvPr id="40" name="Shape 31">
            <a:extLst>
              <a:ext uri="{FF2B5EF4-FFF2-40B4-BE49-F238E27FC236}">
                <a16:creationId xmlns:a16="http://schemas.microsoft.com/office/drawing/2014/main" id="{F0FD066A-594C-D05F-DD3E-2C99B508EA2D}"/>
              </a:ext>
            </a:extLst>
          </p:cNvPr>
          <p:cNvSpPr/>
          <p:nvPr/>
        </p:nvSpPr>
        <p:spPr>
          <a:xfrm>
            <a:off x="2604265"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1" name="Shape 32">
            <a:extLst>
              <a:ext uri="{FF2B5EF4-FFF2-40B4-BE49-F238E27FC236}">
                <a16:creationId xmlns:a16="http://schemas.microsoft.com/office/drawing/2014/main" id="{A25131FC-0281-A81B-38E7-8D9474F97E0A}"/>
              </a:ext>
            </a:extLst>
          </p:cNvPr>
          <p:cNvSpPr/>
          <p:nvPr/>
        </p:nvSpPr>
        <p:spPr>
          <a:xfrm>
            <a:off x="2773429"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2" name="Image 7" descr="preencoded.png">
            <a:extLst>
              <a:ext uri="{FF2B5EF4-FFF2-40B4-BE49-F238E27FC236}">
                <a16:creationId xmlns:a16="http://schemas.microsoft.com/office/drawing/2014/main" id="{586BA3F6-4248-FE9B-7F05-8B9986952C6F}"/>
              </a:ext>
            </a:extLst>
          </p:cNvPr>
          <p:cNvPicPr>
            <a:picLocks noChangeAspect="1"/>
          </p:cNvPicPr>
          <p:nvPr/>
        </p:nvPicPr>
        <p:blipFill>
          <a:blip r:embed="rId10"/>
          <a:stretch>
            <a:fillRect/>
          </a:stretch>
        </p:blipFill>
        <p:spPr>
          <a:xfrm>
            <a:off x="2974597" y="4528566"/>
            <a:ext cx="420624" cy="420624"/>
          </a:xfrm>
          <a:prstGeom prst="rect">
            <a:avLst/>
          </a:prstGeom>
        </p:spPr>
      </p:pic>
      <p:sp>
        <p:nvSpPr>
          <p:cNvPr id="43" name="Text 33">
            <a:extLst>
              <a:ext uri="{FF2B5EF4-FFF2-40B4-BE49-F238E27FC236}">
                <a16:creationId xmlns:a16="http://schemas.microsoft.com/office/drawing/2014/main" id="{FF6B9478-AA31-550D-D935-0D227D870291}"/>
              </a:ext>
            </a:extLst>
          </p:cNvPr>
          <p:cNvSpPr txBox="1"/>
          <p:nvPr/>
        </p:nvSpPr>
        <p:spPr>
          <a:xfrm>
            <a:off x="3550669"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Integrate</a:t>
            </a:r>
            <a:endParaRPr lang="en-US" sz="1500" dirty="0"/>
          </a:p>
        </p:txBody>
      </p:sp>
      <p:sp>
        <p:nvSpPr>
          <p:cNvPr id="44" name="Text 34">
            <a:extLst>
              <a:ext uri="{FF2B5EF4-FFF2-40B4-BE49-F238E27FC236}">
                <a16:creationId xmlns:a16="http://schemas.microsoft.com/office/drawing/2014/main" id="{A6346D60-DC22-AB7C-0665-3450577556E3}"/>
              </a:ext>
            </a:extLst>
          </p:cNvPr>
          <p:cNvSpPr txBox="1"/>
          <p:nvPr/>
        </p:nvSpPr>
        <p:spPr>
          <a:xfrm>
            <a:off x="2974597"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Data from different sources combined into one analysable set.</a:t>
            </a:r>
            <a:endParaRPr lang="en-US" sz="1200" dirty="0"/>
          </a:p>
        </p:txBody>
      </p:sp>
      <p:sp>
        <p:nvSpPr>
          <p:cNvPr id="45" name="Shape 35">
            <a:extLst>
              <a:ext uri="{FF2B5EF4-FFF2-40B4-BE49-F238E27FC236}">
                <a16:creationId xmlns:a16="http://schemas.microsoft.com/office/drawing/2014/main" id="{03EDD290-D6EA-DD57-0D6F-7B1CB93144F1}"/>
              </a:ext>
            </a:extLst>
          </p:cNvPr>
          <p:cNvSpPr/>
          <p:nvPr/>
        </p:nvSpPr>
        <p:spPr>
          <a:xfrm>
            <a:off x="4877464"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6" name="Shape 36">
            <a:extLst>
              <a:ext uri="{FF2B5EF4-FFF2-40B4-BE49-F238E27FC236}">
                <a16:creationId xmlns:a16="http://schemas.microsoft.com/office/drawing/2014/main" id="{37F01D55-C179-3675-61F8-001C62397F92}"/>
              </a:ext>
            </a:extLst>
          </p:cNvPr>
          <p:cNvSpPr/>
          <p:nvPr/>
        </p:nvSpPr>
        <p:spPr>
          <a:xfrm>
            <a:off x="5046628"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7" name="Image 8" descr="preencoded.png">
            <a:extLst>
              <a:ext uri="{FF2B5EF4-FFF2-40B4-BE49-F238E27FC236}">
                <a16:creationId xmlns:a16="http://schemas.microsoft.com/office/drawing/2014/main" id="{6ABDA3E7-D0CA-9546-1414-4C2B667BED0D}"/>
              </a:ext>
            </a:extLst>
          </p:cNvPr>
          <p:cNvPicPr>
            <a:picLocks noChangeAspect="1"/>
          </p:cNvPicPr>
          <p:nvPr/>
        </p:nvPicPr>
        <p:blipFill>
          <a:blip r:embed="rId11"/>
          <a:stretch>
            <a:fillRect/>
          </a:stretch>
        </p:blipFill>
        <p:spPr>
          <a:xfrm>
            <a:off x="5247796" y="4528566"/>
            <a:ext cx="420624" cy="420624"/>
          </a:xfrm>
          <a:prstGeom prst="rect">
            <a:avLst/>
          </a:prstGeom>
        </p:spPr>
      </p:pic>
      <p:sp>
        <p:nvSpPr>
          <p:cNvPr id="48" name="Text 37">
            <a:extLst>
              <a:ext uri="{FF2B5EF4-FFF2-40B4-BE49-F238E27FC236}">
                <a16:creationId xmlns:a16="http://schemas.microsoft.com/office/drawing/2014/main" id="{39D1DEC2-B3F3-5E8B-1FE6-1BFDD4A0FC1C}"/>
              </a:ext>
            </a:extLst>
          </p:cNvPr>
          <p:cNvSpPr txBox="1"/>
          <p:nvPr/>
        </p:nvSpPr>
        <p:spPr>
          <a:xfrm>
            <a:off x="5823868"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Analyze</a:t>
            </a:r>
            <a:endParaRPr lang="en-US" sz="1500" dirty="0"/>
          </a:p>
        </p:txBody>
      </p:sp>
      <p:sp>
        <p:nvSpPr>
          <p:cNvPr id="49" name="Text 38">
            <a:extLst>
              <a:ext uri="{FF2B5EF4-FFF2-40B4-BE49-F238E27FC236}">
                <a16:creationId xmlns:a16="http://schemas.microsoft.com/office/drawing/2014/main" id="{8A80C91A-D700-D8E5-E75C-F0564F3079A9}"/>
              </a:ext>
            </a:extLst>
          </p:cNvPr>
          <p:cNvSpPr txBox="1"/>
          <p:nvPr/>
        </p:nvSpPr>
        <p:spPr>
          <a:xfrm>
            <a:off x="5247796"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The stage most people think of as the whole job.</a:t>
            </a:r>
            <a:endParaRPr lang="en-US" sz="1200" dirty="0"/>
          </a:p>
        </p:txBody>
      </p:sp>
      <p:sp>
        <p:nvSpPr>
          <p:cNvPr id="54" name="Text 42">
            <a:extLst>
              <a:ext uri="{FF2B5EF4-FFF2-40B4-BE49-F238E27FC236}">
                <a16:creationId xmlns:a16="http://schemas.microsoft.com/office/drawing/2014/main" id="{A1EBEB79-C3DB-C865-A6DA-ABA0A228B035}"/>
              </a:ext>
            </a:extLst>
          </p:cNvPr>
          <p:cNvSpPr txBox="1"/>
          <p:nvPr/>
        </p:nvSpPr>
        <p:spPr>
          <a:xfrm>
            <a:off x="512064" y="3282696"/>
            <a:ext cx="7863840" cy="365760"/>
          </a:xfrm>
          <a:prstGeom prst="rect">
            <a:avLst/>
          </a:prstGeom>
          <a:noFill/>
          <a:ln/>
        </p:spPr>
        <p:txBody>
          <a:bodyPr wrap="square" lIns="0" tIns="0" rIns="0" bIns="0" rtlCol="0" anchor="ctr"/>
          <a:lstStyle/>
          <a:p>
            <a:pPr marL="0" indent="0">
              <a:buNone/>
            </a:pPr>
            <a:r>
              <a:rPr lang="en-US" sz="1500" i="1" dirty="0">
                <a:solidFill>
                  <a:srgbClr val="C00000"/>
                </a:solidFill>
                <a:latin typeface="Calibri" pitchFamily="34" charset="0"/>
                <a:ea typeface="Calibri" pitchFamily="34" charset="-122"/>
                <a:cs typeface="Calibri" pitchFamily="34" charset="-120"/>
              </a:rPr>
              <a:t>Assure and Describe are stages of their own, not things you do afterwards if there is time.</a:t>
            </a:r>
            <a:endParaRPr lang="en-US" sz="1500" dirty="0"/>
          </a:p>
        </p:txBody>
      </p:sp>
      <p:sp>
        <p:nvSpPr>
          <p:cNvPr id="55" name="Text 43">
            <a:extLst>
              <a:ext uri="{FF2B5EF4-FFF2-40B4-BE49-F238E27FC236}">
                <a16:creationId xmlns:a16="http://schemas.microsoft.com/office/drawing/2014/main" id="{3269AD83-9A56-D1FD-875E-8CBDF958B2E9}"/>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spTree>
    <p:extLst>
      <p:ext uri="{BB962C8B-B14F-4D97-AF65-F5344CB8AC3E}">
        <p14:creationId xmlns:p14="http://schemas.microsoft.com/office/powerpoint/2010/main" val="194800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15</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checklists that already exist</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MINIMUM INFORMATION STANDARDS</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600" dirty="0">
                <a:solidFill>
                  <a:srgbClr val="7F7F7F"/>
                </a:solidFill>
                <a:latin typeface="Calibri" pitchFamily="34" charset="0"/>
                <a:ea typeface="Calibri" pitchFamily="34" charset="-122"/>
                <a:cs typeface="Calibri" pitchFamily="34" charset="-120"/>
              </a:rPr>
              <a:t>Not bureaucracy. A prompt for the things you would otherwise forget to record.</a:t>
            </a:r>
            <a:endParaRPr lang="en-US" sz="1600" dirty="0"/>
          </a:p>
        </p:txBody>
      </p:sp>
      <p:sp>
        <p:nvSpPr>
          <p:cNvPr id="10" name="Shape 7"/>
          <p:cNvSpPr/>
          <p:nvPr/>
        </p:nvSpPr>
        <p:spPr>
          <a:xfrm>
            <a:off x="502920" y="1325880"/>
            <a:ext cx="3483864" cy="3959352"/>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572768"/>
            <a:ext cx="530352" cy="530352"/>
          </a:xfrm>
          <a:prstGeom prst="rect">
            <a:avLst/>
          </a:prstGeom>
        </p:spPr>
      </p:pic>
      <p:sp>
        <p:nvSpPr>
          <p:cNvPr id="12" name="Text 8"/>
          <p:cNvSpPr txBox="1"/>
          <p:nvPr/>
        </p:nvSpPr>
        <p:spPr>
          <a:xfrm>
            <a:off x="822960" y="2240280"/>
            <a:ext cx="2843784" cy="365760"/>
          </a:xfrm>
          <a:prstGeom prst="rect">
            <a:avLst/>
          </a:prstGeom>
          <a:noFill/>
          <a:ln/>
        </p:spPr>
        <p:txBody>
          <a:bodyPr wrap="square" lIns="0" tIns="0" rIns="0" bIns="0" rtlCol="0" anchor="ctr"/>
          <a:lstStyle/>
          <a:p>
            <a:pPr marL="0" indent="0">
              <a:buNone/>
            </a:pPr>
            <a:r>
              <a:rPr lang="en-US" sz="1700" dirty="0">
                <a:solidFill>
                  <a:srgbClr val="C00000"/>
                </a:solidFill>
                <a:latin typeface="Tahoma" pitchFamily="34" charset="0"/>
                <a:ea typeface="Tahoma" pitchFamily="34" charset="-122"/>
                <a:cs typeface="Tahoma" pitchFamily="34" charset="-120"/>
              </a:rPr>
              <a:t>MIxS</a:t>
            </a:r>
            <a:endParaRPr lang="en-US" sz="1700" dirty="0"/>
          </a:p>
        </p:txBody>
      </p:sp>
      <p:sp>
        <p:nvSpPr>
          <p:cNvPr id="13" name="Text 9"/>
          <p:cNvSpPr txBox="1"/>
          <p:nvPr/>
        </p:nvSpPr>
        <p:spPr>
          <a:xfrm>
            <a:off x="822960" y="2633472"/>
            <a:ext cx="2843784" cy="237744"/>
          </a:xfrm>
          <a:prstGeom prst="rect">
            <a:avLst/>
          </a:prstGeom>
          <a:noFill/>
          <a:ln/>
        </p:spPr>
        <p:txBody>
          <a:bodyPr wrap="square" lIns="0" tIns="0" rIns="0" bIns="0" rtlCol="0" anchor="ctr"/>
          <a:lstStyle/>
          <a:p>
            <a:pPr marL="0" indent="0">
              <a:buNone/>
            </a:pPr>
            <a:r>
              <a:rPr lang="en-US" sz="1050" b="1" kern="0" spc="110" dirty="0">
                <a:solidFill>
                  <a:srgbClr val="7F7F7F"/>
                </a:solidFill>
                <a:latin typeface="Calibri" pitchFamily="34" charset="0"/>
                <a:ea typeface="Calibri" pitchFamily="34" charset="-122"/>
                <a:cs typeface="Calibri" pitchFamily="34" charset="-120"/>
              </a:rPr>
              <a:t>GENOMIC STANDARDS CONSORTIUM</a:t>
            </a:r>
            <a:endParaRPr lang="en-US" sz="1050" dirty="0"/>
          </a:p>
        </p:txBody>
      </p:sp>
      <p:sp>
        <p:nvSpPr>
          <p:cNvPr id="14" name="Text 10"/>
          <p:cNvSpPr txBox="1"/>
          <p:nvPr/>
        </p:nvSpPr>
        <p:spPr>
          <a:xfrm>
            <a:off x="822960" y="2926080"/>
            <a:ext cx="2843784" cy="19202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The metadata backbone. Separate checklists for genomes, metagenomes, marker gene sequences, metagenome-assembled genomes and uncultivated viral genomes, plus environmental packages describing the habitat a sample came from. The foundation for standardised microbiome metadata since 2011.</a:t>
            </a:r>
            <a:endParaRPr lang="en-US" sz="1400" dirty="0"/>
          </a:p>
        </p:txBody>
      </p:sp>
      <p:sp>
        <p:nvSpPr>
          <p:cNvPr id="15" name="Shape 11"/>
          <p:cNvSpPr/>
          <p:nvPr/>
        </p:nvSpPr>
        <p:spPr>
          <a:xfrm>
            <a:off x="4352544" y="1325880"/>
            <a:ext cx="3483864" cy="3931920"/>
          </a:xfrm>
          <a:prstGeom prst="roundRect">
            <a:avLst>
              <a:gd name="adj" fmla="val 2100"/>
            </a:avLst>
          </a:prstGeom>
          <a:solidFill>
            <a:srgbClr val="FFFFFF"/>
          </a:solidFill>
          <a:ln w="12700">
            <a:solidFill>
              <a:srgbClr val="DCDCD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672584" y="1572768"/>
            <a:ext cx="530352" cy="530352"/>
          </a:xfrm>
          <a:prstGeom prst="rect">
            <a:avLst/>
          </a:prstGeom>
        </p:spPr>
      </p:pic>
      <p:sp>
        <p:nvSpPr>
          <p:cNvPr id="17" name="Text 12"/>
          <p:cNvSpPr txBox="1"/>
          <p:nvPr/>
        </p:nvSpPr>
        <p:spPr>
          <a:xfrm>
            <a:off x="4672584" y="2240280"/>
            <a:ext cx="2843784" cy="365760"/>
          </a:xfrm>
          <a:prstGeom prst="rect">
            <a:avLst/>
          </a:prstGeom>
          <a:noFill/>
          <a:ln/>
        </p:spPr>
        <p:txBody>
          <a:bodyPr wrap="square" lIns="0" tIns="0" rIns="0" bIns="0" rtlCol="0" anchor="ctr"/>
          <a:lstStyle/>
          <a:p>
            <a:pPr marL="0" indent="0">
              <a:buNone/>
            </a:pPr>
            <a:r>
              <a:rPr lang="en-US" sz="1700" dirty="0">
                <a:solidFill>
                  <a:srgbClr val="C00000"/>
                </a:solidFill>
                <a:latin typeface="Tahoma" pitchFamily="34" charset="0"/>
                <a:ea typeface="Tahoma" pitchFamily="34" charset="-122"/>
                <a:cs typeface="Tahoma" pitchFamily="34" charset="-120"/>
              </a:rPr>
              <a:t>STORMS</a:t>
            </a:r>
            <a:endParaRPr lang="en-US" sz="1700" dirty="0"/>
          </a:p>
        </p:txBody>
      </p:sp>
      <p:sp>
        <p:nvSpPr>
          <p:cNvPr id="18" name="Text 13"/>
          <p:cNvSpPr txBox="1"/>
          <p:nvPr/>
        </p:nvSpPr>
        <p:spPr>
          <a:xfrm>
            <a:off x="4672584" y="2633472"/>
            <a:ext cx="2843784" cy="237744"/>
          </a:xfrm>
          <a:prstGeom prst="rect">
            <a:avLst/>
          </a:prstGeom>
          <a:noFill/>
          <a:ln/>
        </p:spPr>
        <p:txBody>
          <a:bodyPr wrap="square" lIns="0" tIns="0" rIns="0" bIns="0" rtlCol="0" anchor="ctr"/>
          <a:lstStyle/>
          <a:p>
            <a:pPr marL="0" indent="0">
              <a:buNone/>
            </a:pPr>
            <a:r>
              <a:rPr lang="en-US" sz="1050" b="1" kern="0" spc="110" dirty="0">
                <a:solidFill>
                  <a:srgbClr val="7F7F7F"/>
                </a:solidFill>
                <a:latin typeface="Calibri" pitchFamily="34" charset="0"/>
                <a:ea typeface="Calibri" pitchFamily="34" charset="-122"/>
                <a:cs typeface="Calibri" pitchFamily="34" charset="-120"/>
              </a:rPr>
              <a:t>NATURE MEDICINE, 2021</a:t>
            </a:r>
            <a:endParaRPr lang="en-US" sz="1050" dirty="0"/>
          </a:p>
        </p:txBody>
      </p:sp>
      <p:sp>
        <p:nvSpPr>
          <p:cNvPr id="19" name="Text 14"/>
          <p:cNvSpPr txBox="1"/>
          <p:nvPr/>
        </p:nvSpPr>
        <p:spPr>
          <a:xfrm>
            <a:off x="4672584" y="2926080"/>
            <a:ext cx="2843784" cy="19202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Seventeen items across the six sections of a paper, built on MIxS together with the STROBE and STREGA epidemiology guidelines. Scoped to human microbiome research, so not your study design, but worth knowing it exists.</a:t>
            </a:r>
            <a:endParaRPr lang="en-US" sz="1400" dirty="0"/>
          </a:p>
        </p:txBody>
      </p:sp>
      <p:sp>
        <p:nvSpPr>
          <p:cNvPr id="20" name="Shape 15"/>
          <p:cNvSpPr/>
          <p:nvPr/>
        </p:nvSpPr>
        <p:spPr>
          <a:xfrm>
            <a:off x="8202168" y="1325880"/>
            <a:ext cx="3483864" cy="3931920"/>
          </a:xfrm>
          <a:prstGeom prst="roundRect">
            <a:avLst>
              <a:gd name="adj" fmla="val 2100"/>
            </a:avLst>
          </a:prstGeom>
          <a:solidFill>
            <a:srgbClr val="F8D5DB"/>
          </a:solidFill>
          <a:ln w="12700">
            <a:solidFill>
              <a:srgbClr val="C00000"/>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522208" y="1572768"/>
            <a:ext cx="530352" cy="530352"/>
          </a:xfrm>
          <a:prstGeom prst="rect">
            <a:avLst/>
          </a:prstGeom>
        </p:spPr>
      </p:pic>
      <p:sp>
        <p:nvSpPr>
          <p:cNvPr id="22" name="Text 16"/>
          <p:cNvSpPr txBox="1"/>
          <p:nvPr/>
        </p:nvSpPr>
        <p:spPr>
          <a:xfrm>
            <a:off x="8522208" y="2240280"/>
            <a:ext cx="2843784" cy="365760"/>
          </a:xfrm>
          <a:prstGeom prst="rect">
            <a:avLst/>
          </a:prstGeom>
          <a:noFill/>
          <a:ln/>
        </p:spPr>
        <p:txBody>
          <a:bodyPr wrap="square" lIns="0" tIns="0" rIns="0" bIns="0" rtlCol="0" anchor="ctr"/>
          <a:lstStyle/>
          <a:p>
            <a:pPr marL="0" indent="0">
              <a:buNone/>
            </a:pPr>
            <a:r>
              <a:rPr lang="en-US" sz="1700" dirty="0">
                <a:solidFill>
                  <a:srgbClr val="C00000"/>
                </a:solidFill>
                <a:latin typeface="Tahoma" pitchFamily="34" charset="0"/>
                <a:ea typeface="Tahoma" pitchFamily="34" charset="-122"/>
                <a:cs typeface="Tahoma" pitchFamily="34" charset="-120"/>
              </a:rPr>
              <a:t>STREAMS</a:t>
            </a:r>
            <a:endParaRPr lang="en-US" sz="1700" dirty="0"/>
          </a:p>
        </p:txBody>
      </p:sp>
      <p:sp>
        <p:nvSpPr>
          <p:cNvPr id="23" name="Text 17"/>
          <p:cNvSpPr txBox="1"/>
          <p:nvPr/>
        </p:nvSpPr>
        <p:spPr>
          <a:xfrm>
            <a:off x="8522208" y="2633472"/>
            <a:ext cx="2843784" cy="237744"/>
          </a:xfrm>
          <a:prstGeom prst="rect">
            <a:avLst/>
          </a:prstGeom>
          <a:noFill/>
          <a:ln/>
        </p:spPr>
        <p:txBody>
          <a:bodyPr wrap="square" lIns="0" tIns="0" rIns="0" bIns="0" rtlCol="0" anchor="ctr"/>
          <a:lstStyle/>
          <a:p>
            <a:pPr marL="0" indent="0">
              <a:buNone/>
            </a:pPr>
            <a:r>
              <a:rPr lang="en-US" sz="1050" b="1" kern="0" spc="110" dirty="0">
                <a:solidFill>
                  <a:srgbClr val="7F7F7F"/>
                </a:solidFill>
                <a:latin typeface="Calibri" pitchFamily="34" charset="0"/>
                <a:ea typeface="Calibri" pitchFamily="34" charset="-122"/>
                <a:cs typeface="Calibri" pitchFamily="34" charset="-120"/>
              </a:rPr>
              <a:t>NATURE MICROBIOLOGY, 2025</a:t>
            </a:r>
            <a:endParaRPr lang="en-US" sz="1050" dirty="0"/>
          </a:p>
        </p:txBody>
      </p:sp>
      <p:sp>
        <p:nvSpPr>
          <p:cNvPr id="24" name="Text 18"/>
          <p:cNvSpPr txBox="1"/>
          <p:nvPr/>
        </p:nvSpPr>
        <p:spPr>
          <a:xfrm>
            <a:off x="8522208" y="2926080"/>
            <a:ext cx="2843784" cy="19202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Expands STORMS to 67 items covering environmental, synthetic and non-human host-associated studies, explicitly including engineered systems. Machine-actionable, aligned with existing metadata standards, and built from the input of 248 researchers across 28 countries. </a:t>
            </a:r>
            <a:endParaRPr lang="en-US" sz="1400" dirty="0"/>
          </a:p>
        </p:txBody>
      </p:sp>
      <p:sp>
        <p:nvSpPr>
          <p:cNvPr id="26" name="Text 20"/>
          <p:cNvSpPr txBox="1"/>
          <p:nvPr/>
        </p:nvSpPr>
        <p:spPr>
          <a:xfrm>
            <a:off x="6949440" y="6108192"/>
            <a:ext cx="473659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Sources: Yilmaz et al. 2011; Mirzayi et al. 2021; Kelliher et al. 2025</a:t>
            </a:r>
            <a:endParaRPr lang="en-US" sz="1000" dirty="0"/>
          </a:p>
        </p:txBody>
      </p:sp>
    </p:spTree>
    <p:extLst>
      <p:ext uri="{BB962C8B-B14F-4D97-AF65-F5344CB8AC3E}">
        <p14:creationId xmlns:p14="http://schemas.microsoft.com/office/powerpoint/2010/main" val="3620129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16</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a colon model still needs</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THE REMAINING GAP</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600" dirty="0">
                <a:solidFill>
                  <a:srgbClr val="7F7F7F"/>
                </a:solidFill>
                <a:latin typeface="Calibri" pitchFamily="34" charset="0"/>
                <a:ea typeface="Calibri" pitchFamily="34" charset="-122"/>
                <a:cs typeface="Calibri" pitchFamily="34" charset="-120"/>
              </a:rPr>
              <a:t>A checklist can only be as specific as the community that wrote it.</a:t>
            </a:r>
            <a:endParaRPr lang="en-US" sz="1600" dirty="0"/>
          </a:p>
        </p:txBody>
      </p:sp>
      <p:sp>
        <p:nvSpPr>
          <p:cNvPr id="10" name="Shape 7"/>
          <p:cNvSpPr/>
          <p:nvPr/>
        </p:nvSpPr>
        <p:spPr>
          <a:xfrm>
            <a:off x="502920" y="1325880"/>
            <a:ext cx="5408676" cy="3703320"/>
          </a:xfrm>
          <a:prstGeom prst="roundRect">
            <a:avLst>
              <a:gd name="adj" fmla="val 1975"/>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572768"/>
            <a:ext cx="530352" cy="530352"/>
          </a:xfrm>
          <a:prstGeom prst="rect">
            <a:avLst/>
          </a:prstGeom>
        </p:spPr>
      </p:pic>
      <p:sp>
        <p:nvSpPr>
          <p:cNvPr id="12" name="Text 8"/>
          <p:cNvSpPr txBox="1"/>
          <p:nvPr/>
        </p:nvSpPr>
        <p:spPr>
          <a:xfrm>
            <a:off x="822960" y="2240280"/>
            <a:ext cx="4754880"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Record it anyway</a:t>
            </a:r>
            <a:endParaRPr lang="en-US" sz="1600" dirty="0"/>
          </a:p>
        </p:txBody>
      </p:sp>
      <p:sp>
        <p:nvSpPr>
          <p:cNvPr id="13" name="Text 9"/>
          <p:cNvSpPr txBox="1"/>
          <p:nvPr/>
        </p:nvSpPr>
        <p:spPr>
          <a:xfrm>
            <a:off x="822960" y="2724912"/>
            <a:ext cx="4754880" cy="2103120"/>
          </a:xfrm>
          <a:prstGeom prst="rect">
            <a:avLst/>
          </a:prstGeom>
          <a:noFill/>
          <a:ln/>
        </p:spPr>
        <p:txBody>
          <a:bodyPr wrap="square" lIns="0" tIns="0" rIns="0" bIns="0" rtlCol="0" anchor="t"/>
          <a:lstStyle/>
          <a:p>
            <a:pPr marL="0" indent="0">
              <a:spcAft>
                <a:spcPts val="600"/>
              </a:spcAft>
              <a:buNone/>
            </a:pPr>
            <a:r>
              <a:rPr lang="en-US" sz="1400" dirty="0">
                <a:solidFill>
                  <a:srgbClr val="262626"/>
                </a:solidFill>
                <a:latin typeface="Calibri" pitchFamily="34" charset="0"/>
                <a:ea typeface="Calibri" pitchFamily="34" charset="-122"/>
                <a:cs typeface="Calibri" pitchFamily="34" charset="-120"/>
              </a:rPr>
              <a:t>Vessel type and working volume</a:t>
            </a:r>
            <a:endParaRPr lang="en-US" sz="1400" dirty="0"/>
          </a:p>
          <a:p>
            <a:pPr marL="0" indent="0">
              <a:spcAft>
                <a:spcPts val="600"/>
              </a:spcAft>
              <a:buNone/>
            </a:pPr>
            <a:r>
              <a:rPr lang="en-US" sz="1400" dirty="0">
                <a:solidFill>
                  <a:srgbClr val="262626"/>
                </a:solidFill>
                <a:latin typeface="Calibri" pitchFamily="34" charset="0"/>
                <a:ea typeface="Calibri" pitchFamily="34" charset="-122"/>
                <a:cs typeface="Calibri" pitchFamily="34" charset="-120"/>
              </a:rPr>
              <a:t>Medium composition, batch and supplier</a:t>
            </a:r>
            <a:endParaRPr lang="en-US" sz="1400" dirty="0"/>
          </a:p>
          <a:p>
            <a:pPr marL="0" indent="0">
              <a:spcAft>
                <a:spcPts val="600"/>
              </a:spcAft>
              <a:buNone/>
            </a:pPr>
            <a:r>
              <a:rPr lang="en-US" sz="1400" dirty="0">
                <a:solidFill>
                  <a:srgbClr val="262626"/>
                </a:solidFill>
                <a:latin typeface="Calibri" pitchFamily="34" charset="0"/>
                <a:ea typeface="Calibri" pitchFamily="34" charset="-122"/>
                <a:cs typeface="Calibri" pitchFamily="34" charset="-120"/>
              </a:rPr>
              <a:t>Inoculum provenance, storage and thawing</a:t>
            </a:r>
            <a:endParaRPr lang="en-US" sz="1400" dirty="0"/>
          </a:p>
          <a:p>
            <a:pPr marL="0" indent="0">
              <a:spcAft>
                <a:spcPts val="600"/>
              </a:spcAft>
              <a:buNone/>
            </a:pPr>
            <a:r>
              <a:rPr lang="en-US" sz="1400" dirty="0">
                <a:solidFill>
                  <a:srgbClr val="262626"/>
                </a:solidFill>
                <a:latin typeface="Calibri" pitchFamily="34" charset="0"/>
                <a:ea typeface="Calibri" pitchFamily="34" charset="-122"/>
                <a:cs typeface="Calibri" pitchFamily="34" charset="-120"/>
              </a:rPr>
              <a:t>pH control, temperature, retention time</a:t>
            </a:r>
            <a:endParaRPr lang="en-US" sz="1400" dirty="0"/>
          </a:p>
          <a:p>
            <a:pPr marL="0" indent="0">
              <a:spcAft>
                <a:spcPts val="600"/>
              </a:spcAft>
              <a:buNone/>
            </a:pPr>
            <a:r>
              <a:rPr lang="en-US" sz="1400" dirty="0">
                <a:solidFill>
                  <a:srgbClr val="262626"/>
                </a:solidFill>
                <a:latin typeface="Calibri" pitchFamily="34" charset="0"/>
                <a:ea typeface="Calibri" pitchFamily="34" charset="-122"/>
                <a:cs typeface="Calibri" pitchFamily="34" charset="-120"/>
              </a:rPr>
              <a:t>Feeding and sampling schedule</a:t>
            </a:r>
            <a:endParaRPr lang="en-US" sz="1400" dirty="0"/>
          </a:p>
          <a:p>
            <a:pPr marL="0" indent="0">
              <a:buNone/>
            </a:pPr>
            <a:r>
              <a:rPr lang="en-US" sz="1400" dirty="0">
                <a:solidFill>
                  <a:srgbClr val="262626"/>
                </a:solidFill>
                <a:latin typeface="Calibri" pitchFamily="34" charset="0"/>
                <a:ea typeface="Calibri" pitchFamily="34" charset="-122"/>
                <a:cs typeface="Calibri" pitchFamily="34" charset="-120"/>
              </a:rPr>
              <a:t>How anaerobic conditions were maintained</a:t>
            </a:r>
            <a:endParaRPr lang="en-US" sz="1400" dirty="0"/>
          </a:p>
        </p:txBody>
      </p:sp>
      <p:sp>
        <p:nvSpPr>
          <p:cNvPr id="14" name="Shape 10"/>
          <p:cNvSpPr/>
          <p:nvPr/>
        </p:nvSpPr>
        <p:spPr>
          <a:xfrm>
            <a:off x="6277356" y="1325880"/>
            <a:ext cx="5408676" cy="3703320"/>
          </a:xfrm>
          <a:prstGeom prst="roundRect">
            <a:avLst>
              <a:gd name="adj" fmla="val 1975"/>
            </a:avLst>
          </a:prstGeom>
          <a:solidFill>
            <a:srgbClr val="F8D5DB"/>
          </a:solidFill>
          <a:ln w="12700">
            <a:solidFill>
              <a:srgbClr val="C00000"/>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597396" y="1572768"/>
            <a:ext cx="530352" cy="530352"/>
          </a:xfrm>
          <a:prstGeom prst="rect">
            <a:avLst/>
          </a:prstGeom>
        </p:spPr>
      </p:pic>
      <p:sp>
        <p:nvSpPr>
          <p:cNvPr id="16" name="Text 11"/>
          <p:cNvSpPr txBox="1"/>
          <p:nvPr/>
        </p:nvSpPr>
        <p:spPr>
          <a:xfrm>
            <a:off x="6597396" y="2240280"/>
            <a:ext cx="4754880"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Why that falls to you</a:t>
            </a:r>
            <a:endParaRPr lang="en-US" sz="1600" dirty="0"/>
          </a:p>
        </p:txBody>
      </p:sp>
      <p:sp>
        <p:nvSpPr>
          <p:cNvPr id="17" name="Text 12"/>
          <p:cNvSpPr txBox="1"/>
          <p:nvPr/>
        </p:nvSpPr>
        <p:spPr>
          <a:xfrm>
            <a:off x="6597396" y="2724912"/>
            <a:ext cx="4754880" cy="2103120"/>
          </a:xfrm>
          <a:prstGeom prst="rect">
            <a:avLst/>
          </a:prstGeom>
          <a:noFill/>
          <a:ln/>
        </p:spPr>
        <p:txBody>
          <a:bodyPr wrap="square" lIns="0" tIns="0" rIns="0" bIns="0" rtlCol="0" anchor="t"/>
          <a:lstStyle/>
          <a:p>
            <a:pPr marL="0" indent="0">
              <a:lnSpc>
                <a:spcPct val="120000"/>
              </a:lnSpc>
              <a:spcAft>
                <a:spcPts val="1200"/>
              </a:spcAft>
              <a:buNone/>
            </a:pPr>
            <a:r>
              <a:rPr lang="en-US" sz="1400" dirty="0">
                <a:solidFill>
                  <a:srgbClr val="262626"/>
                </a:solidFill>
                <a:latin typeface="Calibri" pitchFamily="34" charset="0"/>
                <a:ea typeface="Calibri" pitchFamily="34" charset="-122"/>
                <a:cs typeface="Calibri" pitchFamily="34" charset="-120"/>
              </a:rPr>
              <a:t>If the fields your experiment needs do not exist in any checklist yet, that is not permission to skip them. Put them in your own metadata file, with clear names, explicit units and stated allowed values.</a:t>
            </a:r>
            <a:endParaRPr lang="en-US" sz="1400" dirty="0"/>
          </a:p>
          <a:p>
            <a:pPr marL="0" indent="0">
              <a:lnSpc>
                <a:spcPct val="120000"/>
              </a:lnSpc>
              <a:buNone/>
            </a:pPr>
            <a:r>
              <a:rPr lang="en-US" sz="1400" dirty="0">
                <a:solidFill>
                  <a:srgbClr val="262626"/>
                </a:solidFill>
                <a:latin typeface="Calibri" pitchFamily="34" charset="0"/>
                <a:ea typeface="Calibri" pitchFamily="34" charset="-122"/>
                <a:cs typeface="Calibri" pitchFamily="34" charset="-120"/>
              </a:rPr>
              <a:t>A well-documented supplementary file is what a standard looks like before it is a standard. The fields you and your colleagues converge on are the evidence the next checklist will be built from.</a:t>
            </a:r>
            <a:endParaRPr lang="en-US" sz="1400" dirty="0"/>
          </a:p>
        </p:txBody>
      </p:sp>
      <p:sp>
        <p:nvSpPr>
          <p:cNvPr id="18" name="Text 13"/>
          <p:cNvSpPr txBox="1"/>
          <p:nvPr/>
        </p:nvSpPr>
        <p:spPr>
          <a:xfrm>
            <a:off x="502920" y="5257800"/>
            <a:ext cx="11183112" cy="365760"/>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You are not waiting for this standard to arrive. You are the people it will come from.</a:t>
            </a:r>
            <a:endParaRPr lang="en-US" sz="1600" dirty="0"/>
          </a:p>
        </p:txBody>
      </p:sp>
    </p:spTree>
    <p:extLst>
      <p:ext uri="{BB962C8B-B14F-4D97-AF65-F5344CB8AC3E}">
        <p14:creationId xmlns:p14="http://schemas.microsoft.com/office/powerpoint/2010/main" val="1114722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239F-A467-CA3E-7410-5157EBE46B0B}"/>
            </a:ext>
          </a:extLst>
        </p:cNvPr>
        <p:cNvGrpSpPr/>
        <p:nvPr/>
      </p:nvGrpSpPr>
      <p:grpSpPr>
        <a:xfrm>
          <a:off x="0" y="0"/>
          <a:ext cx="0" cy="0"/>
          <a:chOff x="0" y="0"/>
          <a:chExt cx="0" cy="0"/>
        </a:xfrm>
      </p:grpSpPr>
      <p:sp>
        <p:nvSpPr>
          <p:cNvPr id="31" name="Shape 24">
            <a:extLst>
              <a:ext uri="{FF2B5EF4-FFF2-40B4-BE49-F238E27FC236}">
                <a16:creationId xmlns:a16="http://schemas.microsoft.com/office/drawing/2014/main" id="{D42205C3-7E10-0AB8-3465-9C9195E62C0F}"/>
              </a:ext>
            </a:extLst>
          </p:cNvPr>
          <p:cNvSpPr/>
          <p:nvPr/>
        </p:nvSpPr>
        <p:spPr>
          <a:xfrm>
            <a:off x="7353175" y="1407234"/>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1" name="Shape 20">
            <a:extLst>
              <a:ext uri="{FF2B5EF4-FFF2-40B4-BE49-F238E27FC236}">
                <a16:creationId xmlns:a16="http://schemas.microsoft.com/office/drawing/2014/main" id="{BCF76844-8206-28EF-F99F-7B38DCF42EC7}"/>
              </a:ext>
            </a:extLst>
          </p:cNvPr>
          <p:cNvSpPr/>
          <p:nvPr/>
        </p:nvSpPr>
        <p:spPr>
          <a:xfrm>
            <a:off x="9598941" y="1412748"/>
            <a:ext cx="2090318" cy="1783080"/>
          </a:xfrm>
          <a:prstGeom prst="roundRect">
            <a:avLst>
              <a:gd name="adj" fmla="val 4103"/>
            </a:avLst>
          </a:prstGeom>
          <a:solidFill>
            <a:srgbClr val="F8D5DB"/>
          </a:solidFill>
          <a:ln w="12700">
            <a:solidFill>
              <a:srgbClr val="C00000"/>
            </a:solidFill>
            <a:prstDash val="solid"/>
          </a:ln>
        </p:spPr>
        <p:txBody>
          <a:bodyPr/>
          <a:lstStyle/>
          <a:p>
            <a:endParaRPr lang="en-US"/>
          </a:p>
        </p:txBody>
      </p:sp>
      <p:sp>
        <p:nvSpPr>
          <p:cNvPr id="50" name="Shape 24">
            <a:extLst>
              <a:ext uri="{FF2B5EF4-FFF2-40B4-BE49-F238E27FC236}">
                <a16:creationId xmlns:a16="http://schemas.microsoft.com/office/drawing/2014/main" id="{CA1B0C25-244E-F230-46F2-A48BB919C901}"/>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C9516384-D686-24CB-49E4-9F6563899FFF}"/>
              </a:ext>
            </a:extLst>
          </p:cNvPr>
          <p:cNvSpPr/>
          <p:nvPr/>
        </p:nvSpPr>
        <p:spPr>
          <a:xfrm>
            <a:off x="484632" y="1416345"/>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32F2858A-C9F7-A97C-0A97-AE0F9570FF56}"/>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35E471DE-C928-0D84-E4EE-E256C0750955}"/>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73971A61-6EB5-257D-09FB-97A515A064BE}"/>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E701931F-AEE8-4E7D-D012-89EA13B80BE6}"/>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68D7D114-67FE-0A48-B1CB-D37D4C5E98F1}"/>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E156E6B5-C051-2313-6B52-15797C1E65A6}"/>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70BB98C7-725D-ECB8-820F-019B90B4F22F}"/>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BE796B1E-E5B9-F904-AE4C-1802E7DCB076}"/>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pic>
        <p:nvPicPr>
          <p:cNvPr id="12" name="Image 1" descr="preencoded.png">
            <a:extLst>
              <a:ext uri="{FF2B5EF4-FFF2-40B4-BE49-F238E27FC236}">
                <a16:creationId xmlns:a16="http://schemas.microsoft.com/office/drawing/2014/main" id="{81D24B7F-5426-BE0E-6B4C-02881DC85298}"/>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BD4CEEBE-DED3-BF78-096E-6D8A15D69F76}"/>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41C54B76-56A6-7668-4808-AEEBDEACDEBC}"/>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588262A0-45CF-6BF9-862A-AAECDCAC5689}"/>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A73C61FE-FFB3-DEF0-C2EF-87CA20CB82F4}"/>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BE77B2D0-D9D1-A7B3-DB09-4D795E427BB7}"/>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F5BCA810-85BD-7F23-D012-C69353CEBEE1}"/>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808331A9-D183-2AB7-496F-355F89518425}"/>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9F732AB7-6D77-9766-672E-80790E212E35}"/>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71B77B1E-E3AF-6C41-89A6-A598252AEEBE}"/>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6B187346-9CFA-DE97-A2DF-25B2E108A638}"/>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E91079E1-F1FF-D183-ECED-0D44DA67EF00}"/>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9B1D32B0-998F-80F2-B6D9-F910BD9B3B98}"/>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839452CF-82D1-057E-B652-D6DB7BE70C16}"/>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23B5B3AC-0D6B-DCEE-5C53-C9EB252F1C24}"/>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43532344-3B22-B1F3-2248-BBA4EDB73094}"/>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9910C951-8276-BD84-5342-C09E4403AD5A}"/>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7C9E39BE-A39F-EBEB-2DBA-30715879D936}"/>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46C4CEAB-BB13-1CDA-14EC-225BF87F87B2}"/>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25DCFA7D-1C53-8F1D-08ED-A12FD81372A0}"/>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146312E7-B2E4-3BE8-2E8E-F0AD7C7992FE}"/>
              </a:ext>
            </a:extLst>
          </p:cNvPr>
          <p:cNvSpPr txBox="1"/>
          <p:nvPr/>
        </p:nvSpPr>
        <p:spPr>
          <a:xfrm>
            <a:off x="502920" y="4024671"/>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REUSE DATA THAT ALREADY EXIST</a:t>
            </a:r>
            <a:endParaRPr lang="en-US" sz="1400" dirty="0"/>
          </a:p>
        </p:txBody>
      </p:sp>
      <p:sp>
        <p:nvSpPr>
          <p:cNvPr id="36" name="Shape 28">
            <a:extLst>
              <a:ext uri="{FF2B5EF4-FFF2-40B4-BE49-F238E27FC236}">
                <a16:creationId xmlns:a16="http://schemas.microsoft.com/office/drawing/2014/main" id="{9B22675E-6D00-6BC3-1CDB-0E6F47F663F0}"/>
              </a:ext>
            </a:extLst>
          </p:cNvPr>
          <p:cNvSpPr/>
          <p:nvPr/>
        </p:nvSpPr>
        <p:spPr>
          <a:xfrm>
            <a:off x="500231"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37" name="Image 6" descr="preencoded.png">
            <a:extLst>
              <a:ext uri="{FF2B5EF4-FFF2-40B4-BE49-F238E27FC236}">
                <a16:creationId xmlns:a16="http://schemas.microsoft.com/office/drawing/2014/main" id="{E8755B50-54B5-21FB-8526-8B5DCE75DB85}"/>
              </a:ext>
            </a:extLst>
          </p:cNvPr>
          <p:cNvPicPr>
            <a:picLocks noChangeAspect="1"/>
          </p:cNvPicPr>
          <p:nvPr/>
        </p:nvPicPr>
        <p:blipFill>
          <a:blip r:embed="rId9"/>
          <a:stretch>
            <a:fillRect/>
          </a:stretch>
        </p:blipFill>
        <p:spPr>
          <a:xfrm>
            <a:off x="701399" y="4528566"/>
            <a:ext cx="420624" cy="420624"/>
          </a:xfrm>
          <a:prstGeom prst="rect">
            <a:avLst/>
          </a:prstGeom>
        </p:spPr>
      </p:pic>
      <p:sp>
        <p:nvSpPr>
          <p:cNvPr id="38" name="Text 29">
            <a:extLst>
              <a:ext uri="{FF2B5EF4-FFF2-40B4-BE49-F238E27FC236}">
                <a16:creationId xmlns:a16="http://schemas.microsoft.com/office/drawing/2014/main" id="{37CF3174-7B7C-A57E-4FE9-6253CD854EF1}"/>
              </a:ext>
            </a:extLst>
          </p:cNvPr>
          <p:cNvSpPr txBox="1"/>
          <p:nvPr/>
        </p:nvSpPr>
        <p:spPr>
          <a:xfrm>
            <a:off x="1277471"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Discover</a:t>
            </a:r>
            <a:endParaRPr lang="en-US" sz="1500" dirty="0"/>
          </a:p>
        </p:txBody>
      </p:sp>
      <p:sp>
        <p:nvSpPr>
          <p:cNvPr id="39" name="Text 30">
            <a:extLst>
              <a:ext uri="{FF2B5EF4-FFF2-40B4-BE49-F238E27FC236}">
                <a16:creationId xmlns:a16="http://schemas.microsoft.com/office/drawing/2014/main" id="{6E6CF44D-3E37-00AB-C5E0-4F827D8A7222}"/>
              </a:ext>
            </a:extLst>
          </p:cNvPr>
          <p:cNvSpPr txBox="1"/>
          <p:nvPr/>
        </p:nvSpPr>
        <p:spPr>
          <a:xfrm>
            <a:off x="701399"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Useful data located and obtained, together with their metadata.</a:t>
            </a:r>
            <a:endParaRPr lang="en-US" sz="1200" dirty="0"/>
          </a:p>
        </p:txBody>
      </p:sp>
      <p:sp>
        <p:nvSpPr>
          <p:cNvPr id="40" name="Shape 31">
            <a:extLst>
              <a:ext uri="{FF2B5EF4-FFF2-40B4-BE49-F238E27FC236}">
                <a16:creationId xmlns:a16="http://schemas.microsoft.com/office/drawing/2014/main" id="{5FE08E6B-0788-928C-80B9-F1E06A84032D}"/>
              </a:ext>
            </a:extLst>
          </p:cNvPr>
          <p:cNvSpPr/>
          <p:nvPr/>
        </p:nvSpPr>
        <p:spPr>
          <a:xfrm>
            <a:off x="2604265"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1" name="Shape 32">
            <a:extLst>
              <a:ext uri="{FF2B5EF4-FFF2-40B4-BE49-F238E27FC236}">
                <a16:creationId xmlns:a16="http://schemas.microsoft.com/office/drawing/2014/main" id="{B845A9BE-227D-15FD-5302-1BC73D7E365B}"/>
              </a:ext>
            </a:extLst>
          </p:cNvPr>
          <p:cNvSpPr/>
          <p:nvPr/>
        </p:nvSpPr>
        <p:spPr>
          <a:xfrm>
            <a:off x="2773429"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2" name="Image 7" descr="preencoded.png">
            <a:extLst>
              <a:ext uri="{FF2B5EF4-FFF2-40B4-BE49-F238E27FC236}">
                <a16:creationId xmlns:a16="http://schemas.microsoft.com/office/drawing/2014/main" id="{0F9E0655-777F-E5BE-71DF-40067310023E}"/>
              </a:ext>
            </a:extLst>
          </p:cNvPr>
          <p:cNvPicPr>
            <a:picLocks noChangeAspect="1"/>
          </p:cNvPicPr>
          <p:nvPr/>
        </p:nvPicPr>
        <p:blipFill>
          <a:blip r:embed="rId10"/>
          <a:stretch>
            <a:fillRect/>
          </a:stretch>
        </p:blipFill>
        <p:spPr>
          <a:xfrm>
            <a:off x="2974597" y="4528566"/>
            <a:ext cx="420624" cy="420624"/>
          </a:xfrm>
          <a:prstGeom prst="rect">
            <a:avLst/>
          </a:prstGeom>
        </p:spPr>
      </p:pic>
      <p:sp>
        <p:nvSpPr>
          <p:cNvPr id="43" name="Text 33">
            <a:extLst>
              <a:ext uri="{FF2B5EF4-FFF2-40B4-BE49-F238E27FC236}">
                <a16:creationId xmlns:a16="http://schemas.microsoft.com/office/drawing/2014/main" id="{E54C4CA7-754C-7A2D-FA16-8DF9E61DB579}"/>
              </a:ext>
            </a:extLst>
          </p:cNvPr>
          <p:cNvSpPr txBox="1"/>
          <p:nvPr/>
        </p:nvSpPr>
        <p:spPr>
          <a:xfrm>
            <a:off x="3550669"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Integrate</a:t>
            </a:r>
            <a:endParaRPr lang="en-US" sz="1500" dirty="0"/>
          </a:p>
        </p:txBody>
      </p:sp>
      <p:sp>
        <p:nvSpPr>
          <p:cNvPr id="44" name="Text 34">
            <a:extLst>
              <a:ext uri="{FF2B5EF4-FFF2-40B4-BE49-F238E27FC236}">
                <a16:creationId xmlns:a16="http://schemas.microsoft.com/office/drawing/2014/main" id="{596AF42E-3F1E-13A0-A053-37DCF5ED3629}"/>
              </a:ext>
            </a:extLst>
          </p:cNvPr>
          <p:cNvSpPr txBox="1"/>
          <p:nvPr/>
        </p:nvSpPr>
        <p:spPr>
          <a:xfrm>
            <a:off x="2974597"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Data from different sources combined into one analysable set.</a:t>
            </a:r>
            <a:endParaRPr lang="en-US" sz="1200" dirty="0"/>
          </a:p>
        </p:txBody>
      </p:sp>
      <p:sp>
        <p:nvSpPr>
          <p:cNvPr id="45" name="Shape 35">
            <a:extLst>
              <a:ext uri="{FF2B5EF4-FFF2-40B4-BE49-F238E27FC236}">
                <a16:creationId xmlns:a16="http://schemas.microsoft.com/office/drawing/2014/main" id="{A5F87E35-9947-77B5-D99C-C5BFB7395937}"/>
              </a:ext>
            </a:extLst>
          </p:cNvPr>
          <p:cNvSpPr/>
          <p:nvPr/>
        </p:nvSpPr>
        <p:spPr>
          <a:xfrm>
            <a:off x="4877464" y="4976622"/>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6" name="Shape 36">
            <a:extLst>
              <a:ext uri="{FF2B5EF4-FFF2-40B4-BE49-F238E27FC236}">
                <a16:creationId xmlns:a16="http://schemas.microsoft.com/office/drawing/2014/main" id="{D0B054BC-377F-5E00-1F02-DFC7184CA1E3}"/>
              </a:ext>
            </a:extLst>
          </p:cNvPr>
          <p:cNvSpPr/>
          <p:nvPr/>
        </p:nvSpPr>
        <p:spPr>
          <a:xfrm>
            <a:off x="5046628" y="4345686"/>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7" name="Image 8" descr="preencoded.png">
            <a:extLst>
              <a:ext uri="{FF2B5EF4-FFF2-40B4-BE49-F238E27FC236}">
                <a16:creationId xmlns:a16="http://schemas.microsoft.com/office/drawing/2014/main" id="{6FFB0244-FCE9-CC28-572D-FE864A87E5F2}"/>
              </a:ext>
            </a:extLst>
          </p:cNvPr>
          <p:cNvPicPr>
            <a:picLocks noChangeAspect="1"/>
          </p:cNvPicPr>
          <p:nvPr/>
        </p:nvPicPr>
        <p:blipFill>
          <a:blip r:embed="rId11"/>
          <a:stretch>
            <a:fillRect/>
          </a:stretch>
        </p:blipFill>
        <p:spPr>
          <a:xfrm>
            <a:off x="5247796" y="4528566"/>
            <a:ext cx="420624" cy="420624"/>
          </a:xfrm>
          <a:prstGeom prst="rect">
            <a:avLst/>
          </a:prstGeom>
        </p:spPr>
      </p:pic>
      <p:sp>
        <p:nvSpPr>
          <p:cNvPr id="48" name="Text 37">
            <a:extLst>
              <a:ext uri="{FF2B5EF4-FFF2-40B4-BE49-F238E27FC236}">
                <a16:creationId xmlns:a16="http://schemas.microsoft.com/office/drawing/2014/main" id="{E4EFA16F-8CFB-E140-5F86-D98CCA343578}"/>
              </a:ext>
            </a:extLst>
          </p:cNvPr>
          <p:cNvSpPr txBox="1"/>
          <p:nvPr/>
        </p:nvSpPr>
        <p:spPr>
          <a:xfrm>
            <a:off x="5823868" y="4528566"/>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Analyze</a:t>
            </a:r>
            <a:endParaRPr lang="en-US" sz="1500" dirty="0"/>
          </a:p>
        </p:txBody>
      </p:sp>
      <p:sp>
        <p:nvSpPr>
          <p:cNvPr id="49" name="Text 38">
            <a:extLst>
              <a:ext uri="{FF2B5EF4-FFF2-40B4-BE49-F238E27FC236}">
                <a16:creationId xmlns:a16="http://schemas.microsoft.com/office/drawing/2014/main" id="{6191C9AD-9776-47D4-E44E-292161545B07}"/>
              </a:ext>
            </a:extLst>
          </p:cNvPr>
          <p:cNvSpPr txBox="1"/>
          <p:nvPr/>
        </p:nvSpPr>
        <p:spPr>
          <a:xfrm>
            <a:off x="5247796" y="5077206"/>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The stage most people think of as the whole job.</a:t>
            </a:r>
            <a:endParaRPr lang="en-US" sz="1200" dirty="0"/>
          </a:p>
        </p:txBody>
      </p:sp>
      <p:sp>
        <p:nvSpPr>
          <p:cNvPr id="54" name="Text 42">
            <a:extLst>
              <a:ext uri="{FF2B5EF4-FFF2-40B4-BE49-F238E27FC236}">
                <a16:creationId xmlns:a16="http://schemas.microsoft.com/office/drawing/2014/main" id="{CF1C4550-F988-B171-3B9B-123368F519AB}"/>
              </a:ext>
            </a:extLst>
          </p:cNvPr>
          <p:cNvSpPr txBox="1"/>
          <p:nvPr/>
        </p:nvSpPr>
        <p:spPr>
          <a:xfrm>
            <a:off x="512064" y="3282696"/>
            <a:ext cx="7863840" cy="365760"/>
          </a:xfrm>
          <a:prstGeom prst="rect">
            <a:avLst/>
          </a:prstGeom>
          <a:noFill/>
          <a:ln/>
        </p:spPr>
        <p:txBody>
          <a:bodyPr wrap="square" lIns="0" tIns="0" rIns="0" bIns="0" rtlCol="0" anchor="ctr"/>
          <a:lstStyle/>
          <a:p>
            <a:pPr marL="0" indent="0">
              <a:buNone/>
            </a:pPr>
            <a:r>
              <a:rPr lang="en-US" sz="1500" i="1" dirty="0">
                <a:solidFill>
                  <a:srgbClr val="C00000"/>
                </a:solidFill>
                <a:latin typeface="Calibri" pitchFamily="34" charset="0"/>
                <a:ea typeface="Calibri" pitchFamily="34" charset="-122"/>
                <a:cs typeface="Calibri" pitchFamily="34" charset="-120"/>
              </a:rPr>
              <a:t>Assure and Describe are stages of their own, not things you do afterwards if there is time.</a:t>
            </a:r>
            <a:endParaRPr lang="en-US" sz="1500" dirty="0"/>
          </a:p>
        </p:txBody>
      </p:sp>
      <p:sp>
        <p:nvSpPr>
          <p:cNvPr id="55" name="Text 43">
            <a:extLst>
              <a:ext uri="{FF2B5EF4-FFF2-40B4-BE49-F238E27FC236}">
                <a16:creationId xmlns:a16="http://schemas.microsoft.com/office/drawing/2014/main" id="{CE840980-AD05-CAA9-E0C4-373559748460}"/>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spTree>
    <p:extLst>
      <p:ext uri="{BB962C8B-B14F-4D97-AF65-F5344CB8AC3E}">
        <p14:creationId xmlns:p14="http://schemas.microsoft.com/office/powerpoint/2010/main" val="1606064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hape 19">
            <a:extLst>
              <a:ext uri="{FF2B5EF4-FFF2-40B4-BE49-F238E27FC236}">
                <a16:creationId xmlns:a16="http://schemas.microsoft.com/office/drawing/2014/main" id="{74F254F0-7844-FD66-2AC0-D2ADA3D0CFE9}"/>
              </a:ext>
            </a:extLst>
          </p:cNvPr>
          <p:cNvSpPr/>
          <p:nvPr/>
        </p:nvSpPr>
        <p:spPr>
          <a:xfrm>
            <a:off x="6117336"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13</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FAIR is four questions, not an acronym</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STAGE 4, DESCRIBE</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400" dirty="0">
                <a:solidFill>
                  <a:srgbClr val="7F7F7F"/>
                </a:solidFill>
                <a:latin typeface="Calibri" pitchFamily="34" charset="0"/>
                <a:ea typeface="Calibri" pitchFamily="34" charset="-122"/>
                <a:cs typeface="Calibri" pitchFamily="34" charset="-120"/>
              </a:rPr>
              <a:t>Asked about your dataset by somebody you will never meet.</a:t>
            </a:r>
            <a:endParaRPr lang="en-US" sz="1400" dirty="0"/>
          </a:p>
        </p:txBody>
      </p:sp>
      <p:sp>
        <p:nvSpPr>
          <p:cNvPr id="10" name="Shape 7"/>
          <p:cNvSpPr/>
          <p:nvPr/>
        </p:nvSpPr>
        <p:spPr>
          <a:xfrm>
            <a:off x="502920"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777240" y="1627632"/>
            <a:ext cx="502920" cy="502920"/>
          </a:xfrm>
          <a:prstGeom prst="rect">
            <a:avLst/>
          </a:prstGeom>
        </p:spPr>
      </p:pic>
      <p:sp>
        <p:nvSpPr>
          <p:cNvPr id="12" name="Text 8"/>
          <p:cNvSpPr txBox="1"/>
          <p:nvPr/>
        </p:nvSpPr>
        <p:spPr>
          <a:xfrm>
            <a:off x="777240"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F  —  FINDABLE</a:t>
            </a:r>
            <a:endParaRPr lang="en-US" sz="1400" dirty="0"/>
          </a:p>
        </p:txBody>
      </p:sp>
      <p:sp>
        <p:nvSpPr>
          <p:cNvPr id="13" name="Text 9"/>
          <p:cNvSpPr txBox="1"/>
          <p:nvPr/>
        </p:nvSpPr>
        <p:spPr>
          <a:xfrm>
            <a:off x="777240"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they find it?</a:t>
            </a:r>
            <a:endParaRPr lang="en-US" sz="1450" dirty="0"/>
          </a:p>
        </p:txBody>
      </p:sp>
      <p:sp>
        <p:nvSpPr>
          <p:cNvPr id="14" name="Text 10"/>
          <p:cNvSpPr txBox="1"/>
          <p:nvPr/>
        </p:nvSpPr>
        <p:spPr>
          <a:xfrm>
            <a:off x="777240" y="3262254"/>
            <a:ext cx="230428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It exists somewhere public, it carries a persistent identifier, and it is described well enough to turn up in a search that was not looking for it by name.</a:t>
            </a:r>
            <a:endParaRPr lang="en-US" sz="1400" dirty="0"/>
          </a:p>
        </p:txBody>
      </p:sp>
      <p:sp>
        <p:nvSpPr>
          <p:cNvPr id="15" name="Shape 11"/>
          <p:cNvSpPr/>
          <p:nvPr/>
        </p:nvSpPr>
        <p:spPr>
          <a:xfrm>
            <a:off x="3310128"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584448" y="1627632"/>
            <a:ext cx="502920" cy="502920"/>
          </a:xfrm>
          <a:prstGeom prst="rect">
            <a:avLst/>
          </a:prstGeom>
        </p:spPr>
      </p:pic>
      <p:sp>
        <p:nvSpPr>
          <p:cNvPr id="17" name="Text 12"/>
          <p:cNvSpPr txBox="1"/>
          <p:nvPr/>
        </p:nvSpPr>
        <p:spPr>
          <a:xfrm>
            <a:off x="3584448"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A  —  ACCESSIBLE</a:t>
            </a:r>
            <a:endParaRPr lang="en-US" sz="1400" dirty="0"/>
          </a:p>
        </p:txBody>
      </p:sp>
      <p:sp>
        <p:nvSpPr>
          <p:cNvPr id="18" name="Text 13"/>
          <p:cNvSpPr txBox="1"/>
          <p:nvPr/>
        </p:nvSpPr>
        <p:spPr>
          <a:xfrm>
            <a:off x="3584448"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they get it?</a:t>
            </a:r>
            <a:endParaRPr lang="en-US" sz="1450" dirty="0"/>
          </a:p>
        </p:txBody>
      </p:sp>
      <p:sp>
        <p:nvSpPr>
          <p:cNvPr id="19" name="Text 14"/>
          <p:cNvSpPr txBox="1"/>
          <p:nvPr/>
        </p:nvSpPr>
        <p:spPr>
          <a:xfrm>
            <a:off x="3584448" y="3262254"/>
            <a:ext cx="225856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Retrievable through that identifier by a standard protocol. Open where possible. Where it cannot be open, the conditions for access are stated not implied.</a:t>
            </a:r>
            <a:endParaRPr lang="en-US" sz="1400" dirty="0"/>
          </a:p>
        </p:txBody>
      </p:sp>
      <p:pic>
        <p:nvPicPr>
          <p:cNvPr id="21" name="Image 3" descr="preencoded.png"/>
          <p:cNvPicPr>
            <a:picLocks noChangeAspect="1"/>
          </p:cNvPicPr>
          <p:nvPr/>
        </p:nvPicPr>
        <p:blipFill>
          <a:blip r:embed="rId6"/>
          <a:stretch>
            <a:fillRect/>
          </a:stretch>
        </p:blipFill>
        <p:spPr>
          <a:xfrm>
            <a:off x="6391656" y="1627632"/>
            <a:ext cx="502920" cy="502920"/>
          </a:xfrm>
          <a:prstGeom prst="rect">
            <a:avLst/>
          </a:prstGeom>
        </p:spPr>
      </p:pic>
      <p:sp>
        <p:nvSpPr>
          <p:cNvPr id="22" name="Text 16"/>
          <p:cNvSpPr txBox="1"/>
          <p:nvPr/>
        </p:nvSpPr>
        <p:spPr>
          <a:xfrm>
            <a:off x="6391656"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I  —  INTEROPERABLE</a:t>
            </a:r>
            <a:endParaRPr lang="en-US" sz="1400" dirty="0"/>
          </a:p>
        </p:txBody>
      </p:sp>
      <p:sp>
        <p:nvSpPr>
          <p:cNvPr id="23" name="Text 17"/>
          <p:cNvSpPr txBox="1"/>
          <p:nvPr/>
        </p:nvSpPr>
        <p:spPr>
          <a:xfrm>
            <a:off x="6391656"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their tools read it?</a:t>
            </a:r>
            <a:endParaRPr lang="en-US" sz="1450" dirty="0"/>
          </a:p>
        </p:txBody>
      </p:sp>
      <p:sp>
        <p:nvSpPr>
          <p:cNvPr id="24" name="Text 18"/>
          <p:cNvSpPr txBox="1"/>
          <p:nvPr/>
        </p:nvSpPr>
        <p:spPr>
          <a:xfrm>
            <a:off x="6391656" y="3262254"/>
            <a:ext cx="221284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Open formats, standard vocabularies, explicit units. A plain CSV not a colour-coded workbook that only means something on your screen.</a:t>
            </a:r>
            <a:endParaRPr lang="en-US" sz="1400" dirty="0"/>
          </a:p>
        </p:txBody>
      </p:sp>
      <p:sp>
        <p:nvSpPr>
          <p:cNvPr id="25" name="Shape 19"/>
          <p:cNvSpPr/>
          <p:nvPr/>
        </p:nvSpPr>
        <p:spPr>
          <a:xfrm>
            <a:off x="8924544"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9198864" y="1627632"/>
            <a:ext cx="502920" cy="502920"/>
          </a:xfrm>
          <a:prstGeom prst="rect">
            <a:avLst/>
          </a:prstGeom>
        </p:spPr>
      </p:pic>
      <p:sp>
        <p:nvSpPr>
          <p:cNvPr id="27" name="Text 20"/>
          <p:cNvSpPr txBox="1"/>
          <p:nvPr/>
        </p:nvSpPr>
        <p:spPr>
          <a:xfrm>
            <a:off x="9198864"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R  —  REUSABLE</a:t>
            </a:r>
            <a:endParaRPr lang="en-US" sz="1400" dirty="0"/>
          </a:p>
        </p:txBody>
      </p:sp>
      <p:sp>
        <p:nvSpPr>
          <p:cNvPr id="28" name="Text 21"/>
          <p:cNvSpPr txBox="1"/>
          <p:nvPr/>
        </p:nvSpPr>
        <p:spPr>
          <a:xfrm>
            <a:off x="9198864"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May they use it, and do they know enough to?</a:t>
            </a:r>
            <a:endParaRPr lang="en-US" sz="1450" dirty="0"/>
          </a:p>
        </p:txBody>
      </p:sp>
      <p:sp>
        <p:nvSpPr>
          <p:cNvPr id="29" name="Text 22"/>
          <p:cNvSpPr txBox="1"/>
          <p:nvPr/>
        </p:nvSpPr>
        <p:spPr>
          <a:xfrm>
            <a:off x="9198864" y="3262254"/>
            <a:ext cx="221284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Clear provenance, metadata rich enough to judge whether it fits their question, and a licence saying what is allowed.</a:t>
            </a:r>
            <a:endParaRPr lang="en-US" sz="1400" dirty="0"/>
          </a:p>
        </p:txBody>
      </p:sp>
      <p:sp>
        <p:nvSpPr>
          <p:cNvPr id="30" name="Text 23"/>
          <p:cNvSpPr txBox="1"/>
          <p:nvPr/>
        </p:nvSpPr>
        <p:spPr>
          <a:xfrm>
            <a:off x="502920" y="5257800"/>
            <a:ext cx="11183112" cy="365760"/>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FAIR is not a synonym for open. A restricted dataset can be FAIR, provided the conditions are stated.</a:t>
            </a:r>
            <a:endParaRPr lang="en-US" sz="1600" dirty="0"/>
          </a:p>
        </p:txBody>
      </p:sp>
    </p:spTree>
    <p:extLst>
      <p:ext uri="{BB962C8B-B14F-4D97-AF65-F5344CB8AC3E}">
        <p14:creationId xmlns:p14="http://schemas.microsoft.com/office/powerpoint/2010/main" val="3427921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16259-9B66-704E-7118-1267C1251E9C}"/>
            </a:ext>
          </a:extLst>
        </p:cNvPr>
        <p:cNvGrpSpPr/>
        <p:nvPr/>
      </p:nvGrpSpPr>
      <p:grpSpPr>
        <a:xfrm>
          <a:off x="0" y="0"/>
          <a:ext cx="0" cy="0"/>
          <a:chOff x="0" y="0"/>
          <a:chExt cx="0" cy="0"/>
        </a:xfrm>
      </p:grpSpPr>
      <p:sp>
        <p:nvSpPr>
          <p:cNvPr id="32" name="Shape 10">
            <a:extLst>
              <a:ext uri="{FF2B5EF4-FFF2-40B4-BE49-F238E27FC236}">
                <a16:creationId xmlns:a16="http://schemas.microsoft.com/office/drawing/2014/main" id="{1F15F95E-8AA4-D989-8D65-E9384775B739}"/>
              </a:ext>
            </a:extLst>
          </p:cNvPr>
          <p:cNvSpPr/>
          <p:nvPr/>
        </p:nvSpPr>
        <p:spPr>
          <a:xfrm>
            <a:off x="3295338" y="1366219"/>
            <a:ext cx="2761488" cy="3611879"/>
          </a:xfrm>
          <a:prstGeom prst="roundRect">
            <a:avLst>
              <a:gd name="adj" fmla="val 1975"/>
            </a:avLst>
          </a:prstGeom>
          <a:solidFill>
            <a:srgbClr val="F8D5DB"/>
          </a:solidFill>
          <a:ln w="12700">
            <a:solidFill>
              <a:srgbClr val="C00000"/>
            </a:solidFill>
            <a:prstDash val="solid"/>
          </a:ln>
        </p:spPr>
        <p:txBody>
          <a:bodyPr/>
          <a:lstStyle/>
          <a:p>
            <a:endParaRPr lang="en-US"/>
          </a:p>
        </p:txBody>
      </p:sp>
      <p:sp>
        <p:nvSpPr>
          <p:cNvPr id="20" name="Shape 10">
            <a:extLst>
              <a:ext uri="{FF2B5EF4-FFF2-40B4-BE49-F238E27FC236}">
                <a16:creationId xmlns:a16="http://schemas.microsoft.com/office/drawing/2014/main" id="{B5AEAAB1-E153-57A0-1D9B-8376148C09BF}"/>
              </a:ext>
            </a:extLst>
          </p:cNvPr>
          <p:cNvSpPr/>
          <p:nvPr/>
        </p:nvSpPr>
        <p:spPr>
          <a:xfrm>
            <a:off x="488130" y="1366219"/>
            <a:ext cx="2761488" cy="3611879"/>
          </a:xfrm>
          <a:prstGeom prst="roundRect">
            <a:avLst>
              <a:gd name="adj" fmla="val 1975"/>
            </a:avLst>
          </a:prstGeom>
          <a:solidFill>
            <a:srgbClr val="F8D5DB"/>
          </a:solidFill>
          <a:ln w="12700">
            <a:solidFill>
              <a:srgbClr val="C00000"/>
            </a:solidFill>
            <a:prstDash val="solid"/>
          </a:ln>
        </p:spPr>
        <p:txBody>
          <a:bodyPr/>
          <a:lstStyle/>
          <a:p>
            <a:endParaRPr lang="en-US"/>
          </a:p>
        </p:txBody>
      </p:sp>
      <p:sp>
        <p:nvSpPr>
          <p:cNvPr id="31" name="Shape 19">
            <a:extLst>
              <a:ext uri="{FF2B5EF4-FFF2-40B4-BE49-F238E27FC236}">
                <a16:creationId xmlns:a16="http://schemas.microsoft.com/office/drawing/2014/main" id="{5CCF90CB-B364-6A73-7BB9-1B8E287A8173}"/>
              </a:ext>
            </a:extLst>
          </p:cNvPr>
          <p:cNvSpPr/>
          <p:nvPr/>
        </p:nvSpPr>
        <p:spPr>
          <a:xfrm>
            <a:off x="6117336"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1155BEAE-2558-40DD-C0F1-2ED39B8E7128}"/>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28D7FB1F-5D2B-DBCC-4619-2854BC74C5E6}"/>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2500C1E9-D6C6-4C45-67FF-24A11D0443ED}"/>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B5AED524-4756-0C88-3FA4-1883452675D2}"/>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13</a:t>
            </a:r>
            <a:endParaRPr lang="en-US" sz="900" dirty="0"/>
          </a:p>
        </p:txBody>
      </p:sp>
      <p:sp>
        <p:nvSpPr>
          <p:cNvPr id="6" name="Text 3">
            <a:extLst>
              <a:ext uri="{FF2B5EF4-FFF2-40B4-BE49-F238E27FC236}">
                <a16:creationId xmlns:a16="http://schemas.microsoft.com/office/drawing/2014/main" id="{0FA96A88-CDA0-1717-0C29-19D29A7CA41E}"/>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FAIR is four questions, not an acronym</a:t>
            </a:r>
            <a:endParaRPr lang="en-US" sz="2000" dirty="0"/>
          </a:p>
        </p:txBody>
      </p:sp>
      <p:sp>
        <p:nvSpPr>
          <p:cNvPr id="7" name="Text 4">
            <a:extLst>
              <a:ext uri="{FF2B5EF4-FFF2-40B4-BE49-F238E27FC236}">
                <a16:creationId xmlns:a16="http://schemas.microsoft.com/office/drawing/2014/main" id="{0789CD49-2D81-F692-79EE-9BA542A330C1}"/>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STAGE 4, DESCRIBE</a:t>
            </a:r>
            <a:endParaRPr lang="en-US" sz="1150" dirty="0"/>
          </a:p>
        </p:txBody>
      </p:sp>
      <p:sp>
        <p:nvSpPr>
          <p:cNvPr id="8" name="Shape 5">
            <a:extLst>
              <a:ext uri="{FF2B5EF4-FFF2-40B4-BE49-F238E27FC236}">
                <a16:creationId xmlns:a16="http://schemas.microsoft.com/office/drawing/2014/main" id="{BBB80F58-0702-7365-E572-55FE42A98EAC}"/>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a:extLst>
              <a:ext uri="{FF2B5EF4-FFF2-40B4-BE49-F238E27FC236}">
                <a16:creationId xmlns:a16="http://schemas.microsoft.com/office/drawing/2014/main" id="{67813747-B3DC-C19E-62F3-D75ACC3F609B}"/>
              </a:ext>
            </a:extLst>
          </p:cNvPr>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400" dirty="0">
                <a:solidFill>
                  <a:srgbClr val="7F7F7F"/>
                </a:solidFill>
                <a:latin typeface="Calibri" pitchFamily="34" charset="0"/>
                <a:ea typeface="Calibri" pitchFamily="34" charset="-122"/>
                <a:cs typeface="Calibri" pitchFamily="34" charset="-120"/>
              </a:rPr>
              <a:t>Asked about your dataset by somebody you will never meet.</a:t>
            </a:r>
            <a:endParaRPr lang="en-US" sz="1400" dirty="0"/>
          </a:p>
        </p:txBody>
      </p:sp>
      <p:pic>
        <p:nvPicPr>
          <p:cNvPr id="11" name="Image 1" descr="preencoded.png">
            <a:extLst>
              <a:ext uri="{FF2B5EF4-FFF2-40B4-BE49-F238E27FC236}">
                <a16:creationId xmlns:a16="http://schemas.microsoft.com/office/drawing/2014/main" id="{D9D762E6-2504-C104-3331-B37E9D16031A}"/>
              </a:ext>
            </a:extLst>
          </p:cNvPr>
          <p:cNvPicPr>
            <a:picLocks noChangeAspect="1"/>
          </p:cNvPicPr>
          <p:nvPr/>
        </p:nvPicPr>
        <p:blipFill>
          <a:blip r:embed="rId4"/>
          <a:stretch>
            <a:fillRect/>
          </a:stretch>
        </p:blipFill>
        <p:spPr>
          <a:xfrm>
            <a:off x="777240" y="1627632"/>
            <a:ext cx="502920" cy="502920"/>
          </a:xfrm>
          <a:prstGeom prst="rect">
            <a:avLst/>
          </a:prstGeom>
        </p:spPr>
      </p:pic>
      <p:sp>
        <p:nvSpPr>
          <p:cNvPr id="12" name="Text 8">
            <a:extLst>
              <a:ext uri="{FF2B5EF4-FFF2-40B4-BE49-F238E27FC236}">
                <a16:creationId xmlns:a16="http://schemas.microsoft.com/office/drawing/2014/main" id="{0C69DB16-BF55-06B7-B675-E17A7F079882}"/>
              </a:ext>
            </a:extLst>
          </p:cNvPr>
          <p:cNvSpPr txBox="1"/>
          <p:nvPr/>
        </p:nvSpPr>
        <p:spPr>
          <a:xfrm>
            <a:off x="777240"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F  —  FINDABLE</a:t>
            </a:r>
            <a:endParaRPr lang="en-US" sz="1400" dirty="0"/>
          </a:p>
        </p:txBody>
      </p:sp>
      <p:sp>
        <p:nvSpPr>
          <p:cNvPr id="13" name="Text 9">
            <a:extLst>
              <a:ext uri="{FF2B5EF4-FFF2-40B4-BE49-F238E27FC236}">
                <a16:creationId xmlns:a16="http://schemas.microsoft.com/office/drawing/2014/main" id="{A89C08B3-6679-364F-288B-0A5B471A113A}"/>
              </a:ext>
            </a:extLst>
          </p:cNvPr>
          <p:cNvSpPr txBox="1"/>
          <p:nvPr/>
        </p:nvSpPr>
        <p:spPr>
          <a:xfrm>
            <a:off x="777240"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they find it?</a:t>
            </a:r>
            <a:endParaRPr lang="en-US" sz="1450" dirty="0"/>
          </a:p>
        </p:txBody>
      </p:sp>
      <p:sp>
        <p:nvSpPr>
          <p:cNvPr id="14" name="Text 10">
            <a:extLst>
              <a:ext uri="{FF2B5EF4-FFF2-40B4-BE49-F238E27FC236}">
                <a16:creationId xmlns:a16="http://schemas.microsoft.com/office/drawing/2014/main" id="{80CB478A-93EC-999F-5E57-8819C10CDD44}"/>
              </a:ext>
            </a:extLst>
          </p:cNvPr>
          <p:cNvSpPr txBox="1"/>
          <p:nvPr/>
        </p:nvSpPr>
        <p:spPr>
          <a:xfrm>
            <a:off x="777240" y="3262254"/>
            <a:ext cx="230428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It exists somewhere public, it carries a persistent identifier, and it is described well enough to turn up in a search that was not looking for it by name.</a:t>
            </a:r>
            <a:endParaRPr lang="en-US" sz="1400" dirty="0"/>
          </a:p>
        </p:txBody>
      </p:sp>
      <p:pic>
        <p:nvPicPr>
          <p:cNvPr id="16" name="Image 2" descr="preencoded.png">
            <a:extLst>
              <a:ext uri="{FF2B5EF4-FFF2-40B4-BE49-F238E27FC236}">
                <a16:creationId xmlns:a16="http://schemas.microsoft.com/office/drawing/2014/main" id="{E1A5C2CB-5B8B-5385-03CE-26DF02C30541}"/>
              </a:ext>
            </a:extLst>
          </p:cNvPr>
          <p:cNvPicPr>
            <a:picLocks noChangeAspect="1"/>
          </p:cNvPicPr>
          <p:nvPr/>
        </p:nvPicPr>
        <p:blipFill>
          <a:blip r:embed="rId5"/>
          <a:stretch>
            <a:fillRect/>
          </a:stretch>
        </p:blipFill>
        <p:spPr>
          <a:xfrm>
            <a:off x="3584448" y="1627632"/>
            <a:ext cx="502920" cy="502920"/>
          </a:xfrm>
          <a:prstGeom prst="rect">
            <a:avLst/>
          </a:prstGeom>
        </p:spPr>
      </p:pic>
      <p:sp>
        <p:nvSpPr>
          <p:cNvPr id="17" name="Text 12">
            <a:extLst>
              <a:ext uri="{FF2B5EF4-FFF2-40B4-BE49-F238E27FC236}">
                <a16:creationId xmlns:a16="http://schemas.microsoft.com/office/drawing/2014/main" id="{C12E2CAD-588A-2049-B868-23010519D3BE}"/>
              </a:ext>
            </a:extLst>
          </p:cNvPr>
          <p:cNvSpPr txBox="1"/>
          <p:nvPr/>
        </p:nvSpPr>
        <p:spPr>
          <a:xfrm>
            <a:off x="3584448"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A  —  ACCESSIBLE</a:t>
            </a:r>
            <a:endParaRPr lang="en-US" sz="1400" dirty="0"/>
          </a:p>
        </p:txBody>
      </p:sp>
      <p:sp>
        <p:nvSpPr>
          <p:cNvPr id="18" name="Text 13">
            <a:extLst>
              <a:ext uri="{FF2B5EF4-FFF2-40B4-BE49-F238E27FC236}">
                <a16:creationId xmlns:a16="http://schemas.microsoft.com/office/drawing/2014/main" id="{B543D312-C132-DC74-AD23-C0EAB9D87A21}"/>
              </a:ext>
            </a:extLst>
          </p:cNvPr>
          <p:cNvSpPr txBox="1"/>
          <p:nvPr/>
        </p:nvSpPr>
        <p:spPr>
          <a:xfrm>
            <a:off x="3584448"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they get it?</a:t>
            </a:r>
            <a:endParaRPr lang="en-US" sz="1450" dirty="0"/>
          </a:p>
        </p:txBody>
      </p:sp>
      <p:sp>
        <p:nvSpPr>
          <p:cNvPr id="19" name="Text 14">
            <a:extLst>
              <a:ext uri="{FF2B5EF4-FFF2-40B4-BE49-F238E27FC236}">
                <a16:creationId xmlns:a16="http://schemas.microsoft.com/office/drawing/2014/main" id="{D1329F80-4E13-D9B7-154A-67C745F74C1F}"/>
              </a:ext>
            </a:extLst>
          </p:cNvPr>
          <p:cNvSpPr txBox="1"/>
          <p:nvPr/>
        </p:nvSpPr>
        <p:spPr>
          <a:xfrm>
            <a:off x="3584448" y="3262254"/>
            <a:ext cx="225856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Retrievable through that identifier by a standard protocol. Open where possible. Where it cannot be open, the conditions for access are stated not implied.</a:t>
            </a:r>
            <a:endParaRPr lang="en-US" sz="1400" dirty="0"/>
          </a:p>
        </p:txBody>
      </p:sp>
      <p:pic>
        <p:nvPicPr>
          <p:cNvPr id="21" name="Image 3" descr="preencoded.png">
            <a:extLst>
              <a:ext uri="{FF2B5EF4-FFF2-40B4-BE49-F238E27FC236}">
                <a16:creationId xmlns:a16="http://schemas.microsoft.com/office/drawing/2014/main" id="{827F2E5D-C1F8-A412-7BA7-01664F2D3403}"/>
              </a:ext>
            </a:extLst>
          </p:cNvPr>
          <p:cNvPicPr>
            <a:picLocks noChangeAspect="1"/>
          </p:cNvPicPr>
          <p:nvPr/>
        </p:nvPicPr>
        <p:blipFill>
          <a:blip r:embed="rId6"/>
          <a:stretch>
            <a:fillRect/>
          </a:stretch>
        </p:blipFill>
        <p:spPr>
          <a:xfrm>
            <a:off x="6391656" y="1627632"/>
            <a:ext cx="502920" cy="502920"/>
          </a:xfrm>
          <a:prstGeom prst="rect">
            <a:avLst/>
          </a:prstGeom>
        </p:spPr>
      </p:pic>
      <p:sp>
        <p:nvSpPr>
          <p:cNvPr id="22" name="Text 16">
            <a:extLst>
              <a:ext uri="{FF2B5EF4-FFF2-40B4-BE49-F238E27FC236}">
                <a16:creationId xmlns:a16="http://schemas.microsoft.com/office/drawing/2014/main" id="{E97ED8D5-4EE4-7141-CF46-7AE861D3B1A3}"/>
              </a:ext>
            </a:extLst>
          </p:cNvPr>
          <p:cNvSpPr txBox="1"/>
          <p:nvPr/>
        </p:nvSpPr>
        <p:spPr>
          <a:xfrm>
            <a:off x="6391656"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I  —  INTEROPERABLE</a:t>
            </a:r>
            <a:endParaRPr lang="en-US" sz="1400" dirty="0"/>
          </a:p>
        </p:txBody>
      </p:sp>
      <p:sp>
        <p:nvSpPr>
          <p:cNvPr id="23" name="Text 17">
            <a:extLst>
              <a:ext uri="{FF2B5EF4-FFF2-40B4-BE49-F238E27FC236}">
                <a16:creationId xmlns:a16="http://schemas.microsoft.com/office/drawing/2014/main" id="{C07EE8F4-905B-E26D-9AD1-82960473070C}"/>
              </a:ext>
            </a:extLst>
          </p:cNvPr>
          <p:cNvSpPr txBox="1"/>
          <p:nvPr/>
        </p:nvSpPr>
        <p:spPr>
          <a:xfrm>
            <a:off x="6391656"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their tools read it?</a:t>
            </a:r>
            <a:endParaRPr lang="en-US" sz="1450" dirty="0"/>
          </a:p>
        </p:txBody>
      </p:sp>
      <p:sp>
        <p:nvSpPr>
          <p:cNvPr id="24" name="Text 18">
            <a:extLst>
              <a:ext uri="{FF2B5EF4-FFF2-40B4-BE49-F238E27FC236}">
                <a16:creationId xmlns:a16="http://schemas.microsoft.com/office/drawing/2014/main" id="{55EB9847-3AE5-7382-574C-CEB5124EC6FF}"/>
              </a:ext>
            </a:extLst>
          </p:cNvPr>
          <p:cNvSpPr txBox="1"/>
          <p:nvPr/>
        </p:nvSpPr>
        <p:spPr>
          <a:xfrm>
            <a:off x="6391656" y="3262254"/>
            <a:ext cx="221284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Open formats, standard vocabularies, explicit units. A plain CSV not a colour-coded workbook that only means something on your screen.</a:t>
            </a:r>
            <a:endParaRPr lang="en-US" sz="1400" dirty="0"/>
          </a:p>
        </p:txBody>
      </p:sp>
      <p:sp>
        <p:nvSpPr>
          <p:cNvPr id="25" name="Shape 19">
            <a:extLst>
              <a:ext uri="{FF2B5EF4-FFF2-40B4-BE49-F238E27FC236}">
                <a16:creationId xmlns:a16="http://schemas.microsoft.com/office/drawing/2014/main" id="{33A17135-66F0-9276-6450-8150B3A7670D}"/>
              </a:ext>
            </a:extLst>
          </p:cNvPr>
          <p:cNvSpPr/>
          <p:nvPr/>
        </p:nvSpPr>
        <p:spPr>
          <a:xfrm>
            <a:off x="8924544"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pic>
        <p:nvPicPr>
          <p:cNvPr id="26" name="Image 4" descr="preencoded.png">
            <a:extLst>
              <a:ext uri="{FF2B5EF4-FFF2-40B4-BE49-F238E27FC236}">
                <a16:creationId xmlns:a16="http://schemas.microsoft.com/office/drawing/2014/main" id="{D3C4963E-225A-EA0F-BABA-0F814A733D42}"/>
              </a:ext>
            </a:extLst>
          </p:cNvPr>
          <p:cNvPicPr>
            <a:picLocks noChangeAspect="1"/>
          </p:cNvPicPr>
          <p:nvPr/>
        </p:nvPicPr>
        <p:blipFill>
          <a:blip r:embed="rId7"/>
          <a:stretch>
            <a:fillRect/>
          </a:stretch>
        </p:blipFill>
        <p:spPr>
          <a:xfrm>
            <a:off x="9198864" y="1627632"/>
            <a:ext cx="502920" cy="502920"/>
          </a:xfrm>
          <a:prstGeom prst="rect">
            <a:avLst/>
          </a:prstGeom>
        </p:spPr>
      </p:pic>
      <p:sp>
        <p:nvSpPr>
          <p:cNvPr id="27" name="Text 20">
            <a:extLst>
              <a:ext uri="{FF2B5EF4-FFF2-40B4-BE49-F238E27FC236}">
                <a16:creationId xmlns:a16="http://schemas.microsoft.com/office/drawing/2014/main" id="{6D51FE63-0531-115D-3610-3949FC068F48}"/>
              </a:ext>
            </a:extLst>
          </p:cNvPr>
          <p:cNvSpPr txBox="1"/>
          <p:nvPr/>
        </p:nvSpPr>
        <p:spPr>
          <a:xfrm>
            <a:off x="9198864"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R  —  REUSABLE</a:t>
            </a:r>
            <a:endParaRPr lang="en-US" sz="1400" dirty="0"/>
          </a:p>
        </p:txBody>
      </p:sp>
      <p:sp>
        <p:nvSpPr>
          <p:cNvPr id="28" name="Text 21">
            <a:extLst>
              <a:ext uri="{FF2B5EF4-FFF2-40B4-BE49-F238E27FC236}">
                <a16:creationId xmlns:a16="http://schemas.microsoft.com/office/drawing/2014/main" id="{8E5791BC-2E89-BDCC-1AAE-E2705167AED7}"/>
              </a:ext>
            </a:extLst>
          </p:cNvPr>
          <p:cNvSpPr txBox="1"/>
          <p:nvPr/>
        </p:nvSpPr>
        <p:spPr>
          <a:xfrm>
            <a:off x="9198864"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May they use it, and do they know enough to?</a:t>
            </a:r>
            <a:endParaRPr lang="en-US" sz="1450" dirty="0"/>
          </a:p>
        </p:txBody>
      </p:sp>
      <p:sp>
        <p:nvSpPr>
          <p:cNvPr id="29" name="Text 22">
            <a:extLst>
              <a:ext uri="{FF2B5EF4-FFF2-40B4-BE49-F238E27FC236}">
                <a16:creationId xmlns:a16="http://schemas.microsoft.com/office/drawing/2014/main" id="{D8D0F440-F3DE-92E0-B0CC-94C8DDED5D39}"/>
              </a:ext>
            </a:extLst>
          </p:cNvPr>
          <p:cNvSpPr txBox="1"/>
          <p:nvPr/>
        </p:nvSpPr>
        <p:spPr>
          <a:xfrm>
            <a:off x="9198864" y="3262254"/>
            <a:ext cx="221284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Clear provenance, metadata rich enough to judge whether it fits their question, and a licence saying what is allowed.</a:t>
            </a:r>
            <a:endParaRPr lang="en-US" sz="1400" dirty="0"/>
          </a:p>
        </p:txBody>
      </p:sp>
      <p:sp>
        <p:nvSpPr>
          <p:cNvPr id="30" name="Text 23">
            <a:extLst>
              <a:ext uri="{FF2B5EF4-FFF2-40B4-BE49-F238E27FC236}">
                <a16:creationId xmlns:a16="http://schemas.microsoft.com/office/drawing/2014/main" id="{CB646CAC-310D-D7C8-4566-EAEEFFC1D46E}"/>
              </a:ext>
            </a:extLst>
          </p:cNvPr>
          <p:cNvSpPr txBox="1"/>
          <p:nvPr/>
        </p:nvSpPr>
        <p:spPr>
          <a:xfrm>
            <a:off x="502920" y="5257800"/>
            <a:ext cx="11183112" cy="365760"/>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FAIR is not a synonym for open. A restricted dataset can be FAIR, provided the conditions are stated.</a:t>
            </a:r>
            <a:endParaRPr lang="en-US" sz="1600" dirty="0"/>
          </a:p>
        </p:txBody>
      </p:sp>
    </p:spTree>
    <p:extLst>
      <p:ext uri="{BB962C8B-B14F-4D97-AF65-F5344CB8AC3E}">
        <p14:creationId xmlns:p14="http://schemas.microsoft.com/office/powerpoint/2010/main" val="1726054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17</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Where it goes, and what you get back</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STAGE 5, PRESERVE</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600" dirty="0">
                <a:solidFill>
                  <a:srgbClr val="7F7F7F"/>
                </a:solidFill>
                <a:latin typeface="Calibri" pitchFamily="34" charset="0"/>
                <a:ea typeface="Calibri" pitchFamily="34" charset="-122"/>
                <a:cs typeface="Calibri" pitchFamily="34" charset="-120"/>
              </a:rPr>
              <a:t>Deposit is not the end of the project. It is the thing that makes the rest of it citable.</a:t>
            </a:r>
            <a:endParaRPr lang="en-US" sz="1600" dirty="0"/>
          </a:p>
        </p:txBody>
      </p:sp>
      <p:sp>
        <p:nvSpPr>
          <p:cNvPr id="10" name="Shape 7"/>
          <p:cNvSpPr/>
          <p:nvPr/>
        </p:nvSpPr>
        <p:spPr>
          <a:xfrm>
            <a:off x="502920" y="1684782"/>
            <a:ext cx="2761488" cy="2331720"/>
          </a:xfrm>
          <a:prstGeom prst="roundRect">
            <a:avLst>
              <a:gd name="adj" fmla="val 3137"/>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777240" y="1913382"/>
            <a:ext cx="475488" cy="475488"/>
          </a:xfrm>
          <a:prstGeom prst="rect">
            <a:avLst/>
          </a:prstGeom>
        </p:spPr>
      </p:pic>
      <p:sp>
        <p:nvSpPr>
          <p:cNvPr id="12" name="Text 8"/>
          <p:cNvSpPr txBox="1"/>
          <p:nvPr/>
        </p:nvSpPr>
        <p:spPr>
          <a:xfrm>
            <a:off x="777240" y="2507742"/>
            <a:ext cx="2212848"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ENA</a:t>
            </a:r>
            <a:endParaRPr lang="en-US" sz="1600" dirty="0"/>
          </a:p>
        </p:txBody>
      </p:sp>
      <p:sp>
        <p:nvSpPr>
          <p:cNvPr id="13" name="Text 9"/>
          <p:cNvSpPr txBox="1"/>
          <p:nvPr/>
        </p:nvSpPr>
        <p:spPr>
          <a:xfrm>
            <a:off x="777240" y="2964942"/>
            <a:ext cx="2258568" cy="9144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Nucleotide sequence data: raw reads, assemblies and their sample metadata. Hosted at EMBL-EBI.</a:t>
            </a:r>
            <a:endParaRPr lang="en-US" sz="1400" dirty="0"/>
          </a:p>
        </p:txBody>
      </p:sp>
      <p:sp>
        <p:nvSpPr>
          <p:cNvPr id="14" name="Shape 10"/>
          <p:cNvSpPr/>
          <p:nvPr/>
        </p:nvSpPr>
        <p:spPr>
          <a:xfrm>
            <a:off x="3310128" y="1684782"/>
            <a:ext cx="2761488" cy="2331720"/>
          </a:xfrm>
          <a:prstGeom prst="roundRect">
            <a:avLst>
              <a:gd name="adj" fmla="val 3137"/>
            </a:avLst>
          </a:prstGeom>
          <a:solidFill>
            <a:srgbClr val="FFFFFF"/>
          </a:solidFill>
          <a:ln w="12700">
            <a:solidFill>
              <a:srgbClr val="DCDCD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3584448" y="1913382"/>
            <a:ext cx="475488" cy="475488"/>
          </a:xfrm>
          <a:prstGeom prst="rect">
            <a:avLst/>
          </a:prstGeom>
        </p:spPr>
      </p:pic>
      <p:sp>
        <p:nvSpPr>
          <p:cNvPr id="16" name="Text 11"/>
          <p:cNvSpPr txBox="1"/>
          <p:nvPr/>
        </p:nvSpPr>
        <p:spPr>
          <a:xfrm>
            <a:off x="3584448" y="2507742"/>
            <a:ext cx="2212848"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SRA</a:t>
            </a:r>
            <a:endParaRPr lang="en-US" sz="1600" dirty="0"/>
          </a:p>
        </p:txBody>
      </p:sp>
      <p:sp>
        <p:nvSpPr>
          <p:cNvPr id="17" name="Text 12"/>
          <p:cNvSpPr txBox="1"/>
          <p:nvPr/>
        </p:nvSpPr>
        <p:spPr>
          <a:xfrm>
            <a:off x="3584448" y="2964942"/>
            <a:ext cx="2343016" cy="9144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The counterpart at NCBI for raw sequencing reads, widely used by North American collaborators and journals.</a:t>
            </a:r>
            <a:endParaRPr lang="en-US" sz="1400" dirty="0"/>
          </a:p>
        </p:txBody>
      </p:sp>
      <p:sp>
        <p:nvSpPr>
          <p:cNvPr id="18" name="Shape 13"/>
          <p:cNvSpPr/>
          <p:nvPr/>
        </p:nvSpPr>
        <p:spPr>
          <a:xfrm>
            <a:off x="6117336" y="1684782"/>
            <a:ext cx="2761488" cy="2331720"/>
          </a:xfrm>
          <a:prstGeom prst="roundRect">
            <a:avLst>
              <a:gd name="adj" fmla="val 3137"/>
            </a:avLst>
          </a:prstGeom>
          <a:solidFill>
            <a:srgbClr val="FFFFFF"/>
          </a:solidFill>
          <a:ln w="12700">
            <a:solidFill>
              <a:srgbClr val="DCDCDC"/>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6391656" y="1913382"/>
            <a:ext cx="475488" cy="475488"/>
          </a:xfrm>
          <a:prstGeom prst="rect">
            <a:avLst/>
          </a:prstGeom>
        </p:spPr>
      </p:pic>
      <p:sp>
        <p:nvSpPr>
          <p:cNvPr id="20" name="Text 14"/>
          <p:cNvSpPr txBox="1"/>
          <p:nvPr/>
        </p:nvSpPr>
        <p:spPr>
          <a:xfrm>
            <a:off x="6391656" y="2507742"/>
            <a:ext cx="2212848"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MetaboLights</a:t>
            </a:r>
            <a:endParaRPr lang="en-US" sz="1600" dirty="0"/>
          </a:p>
        </p:txBody>
      </p:sp>
      <p:sp>
        <p:nvSpPr>
          <p:cNvPr id="21" name="Text 15"/>
          <p:cNvSpPr txBox="1"/>
          <p:nvPr/>
        </p:nvSpPr>
        <p:spPr>
          <a:xfrm>
            <a:off x="6391656" y="2964942"/>
            <a:ext cx="2375826" cy="9144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Metabolomics experiments, raw and derived data, together with the study metadata that go with them.</a:t>
            </a:r>
            <a:endParaRPr lang="en-US" sz="1400" dirty="0"/>
          </a:p>
        </p:txBody>
      </p:sp>
      <p:sp>
        <p:nvSpPr>
          <p:cNvPr id="22" name="Shape 16"/>
          <p:cNvSpPr/>
          <p:nvPr/>
        </p:nvSpPr>
        <p:spPr>
          <a:xfrm>
            <a:off x="8924544" y="1684782"/>
            <a:ext cx="2761488" cy="2331720"/>
          </a:xfrm>
          <a:prstGeom prst="roundRect">
            <a:avLst>
              <a:gd name="adj" fmla="val 3137"/>
            </a:avLst>
          </a:prstGeom>
          <a:solidFill>
            <a:srgbClr val="FFFFFF"/>
          </a:solidFill>
          <a:ln w="12700">
            <a:solidFill>
              <a:srgbClr val="DCDCDC"/>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9198864" y="1913382"/>
            <a:ext cx="475488" cy="475488"/>
          </a:xfrm>
          <a:prstGeom prst="rect">
            <a:avLst/>
          </a:prstGeom>
        </p:spPr>
      </p:pic>
      <p:sp>
        <p:nvSpPr>
          <p:cNvPr id="24" name="Text 17"/>
          <p:cNvSpPr txBox="1"/>
          <p:nvPr/>
        </p:nvSpPr>
        <p:spPr>
          <a:xfrm>
            <a:off x="9198864" y="2507742"/>
            <a:ext cx="2212848"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Zenodo</a:t>
            </a:r>
            <a:endParaRPr lang="en-US" sz="1600" dirty="0"/>
          </a:p>
        </p:txBody>
      </p:sp>
      <p:sp>
        <p:nvSpPr>
          <p:cNvPr id="25" name="Text 18"/>
          <p:cNvSpPr txBox="1"/>
          <p:nvPr/>
        </p:nvSpPr>
        <p:spPr>
          <a:xfrm>
            <a:off x="9198864" y="2964942"/>
            <a:ext cx="2322576" cy="9144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Everything that has no domain repository: tables, documents, figures, supplementary data. Issues a DOI.</a:t>
            </a:r>
            <a:endParaRPr lang="en-US" sz="1400" dirty="0"/>
          </a:p>
        </p:txBody>
      </p:sp>
      <p:sp>
        <p:nvSpPr>
          <p:cNvPr id="26" name="Shape 19"/>
          <p:cNvSpPr/>
          <p:nvPr/>
        </p:nvSpPr>
        <p:spPr>
          <a:xfrm>
            <a:off x="502920" y="4290822"/>
            <a:ext cx="11183112" cy="1097280"/>
          </a:xfrm>
          <a:prstGeom prst="roundRect">
            <a:avLst>
              <a:gd name="adj" fmla="val 6667"/>
            </a:avLst>
          </a:prstGeom>
          <a:solidFill>
            <a:srgbClr val="F8D5DB"/>
          </a:solidFill>
          <a:ln w="12700">
            <a:solidFill>
              <a:srgbClr val="C00000"/>
            </a:solidFill>
            <a:prstDash val="solid"/>
          </a:ln>
        </p:spPr>
        <p:txBody>
          <a:bodyPr/>
          <a:lstStyle/>
          <a:p>
            <a:endParaRPr lang="en-US"/>
          </a:p>
        </p:txBody>
      </p:sp>
      <p:sp>
        <p:nvSpPr>
          <p:cNvPr id="27" name="Text 20"/>
          <p:cNvSpPr txBox="1"/>
          <p:nvPr/>
        </p:nvSpPr>
        <p:spPr>
          <a:xfrm>
            <a:off x="914400" y="4427982"/>
            <a:ext cx="10332720" cy="32004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Every deposit hands you back an accession number or a DOI.</a:t>
            </a:r>
            <a:endParaRPr lang="en-US" sz="1600" dirty="0"/>
          </a:p>
        </p:txBody>
      </p:sp>
      <p:sp>
        <p:nvSpPr>
          <p:cNvPr id="28" name="Text 21"/>
          <p:cNvSpPr txBox="1"/>
          <p:nvPr/>
        </p:nvSpPr>
        <p:spPr>
          <a:xfrm>
            <a:off x="914400" y="4766310"/>
            <a:ext cx="10332720" cy="45720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That string belongs in your paper, in your README and in your metadata file. It is the persistent identifier that makes the F in FAIR true, and it is the only permanent address your data will ever have.</a:t>
            </a:r>
            <a:endParaRPr lang="en-US" sz="1300" dirty="0"/>
          </a:p>
        </p:txBody>
      </p:sp>
    </p:spTree>
    <p:extLst>
      <p:ext uri="{BB962C8B-B14F-4D97-AF65-F5344CB8AC3E}">
        <p14:creationId xmlns:p14="http://schemas.microsoft.com/office/powerpoint/2010/main" val="2523592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DA4A6-A3CA-B270-7A05-D7AFB9E66B38}"/>
            </a:ext>
          </a:extLst>
        </p:cNvPr>
        <p:cNvGrpSpPr/>
        <p:nvPr/>
      </p:nvGrpSpPr>
      <p:grpSpPr>
        <a:xfrm>
          <a:off x="0" y="0"/>
          <a:ext cx="0" cy="0"/>
          <a:chOff x="0" y="0"/>
          <a:chExt cx="0" cy="0"/>
        </a:xfrm>
      </p:grpSpPr>
      <p:sp>
        <p:nvSpPr>
          <p:cNvPr id="31" name="Shape 19">
            <a:extLst>
              <a:ext uri="{FF2B5EF4-FFF2-40B4-BE49-F238E27FC236}">
                <a16:creationId xmlns:a16="http://schemas.microsoft.com/office/drawing/2014/main" id="{9B20C554-5D06-E674-93A7-A7ADA6F0B202}"/>
              </a:ext>
            </a:extLst>
          </p:cNvPr>
          <p:cNvSpPr/>
          <p:nvPr/>
        </p:nvSpPr>
        <p:spPr>
          <a:xfrm>
            <a:off x="492523"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sp>
        <p:nvSpPr>
          <p:cNvPr id="25" name="Shape 19">
            <a:extLst>
              <a:ext uri="{FF2B5EF4-FFF2-40B4-BE49-F238E27FC236}">
                <a16:creationId xmlns:a16="http://schemas.microsoft.com/office/drawing/2014/main" id="{3961FE55-24A0-C001-C0B2-28E75C9A1929}"/>
              </a:ext>
            </a:extLst>
          </p:cNvPr>
          <p:cNvSpPr/>
          <p:nvPr/>
        </p:nvSpPr>
        <p:spPr>
          <a:xfrm>
            <a:off x="3299731" y="1371600"/>
            <a:ext cx="2761488" cy="3611880"/>
          </a:xfrm>
          <a:prstGeom prst="roundRect">
            <a:avLst>
              <a:gd name="adj" fmla="val 2649"/>
            </a:avLst>
          </a:prstGeom>
          <a:solidFill>
            <a:srgbClr val="FFFFFF"/>
          </a:solidFill>
          <a:ln w="12700">
            <a:solidFill>
              <a:srgbClr val="DCDCDC"/>
            </a:solidFill>
            <a:prstDash val="solid"/>
          </a:ln>
        </p:spPr>
        <p:txBody>
          <a:bodyPr/>
          <a:lstStyle/>
          <a:p>
            <a:endParaRPr lang="en-US"/>
          </a:p>
        </p:txBody>
      </p:sp>
      <p:sp>
        <p:nvSpPr>
          <p:cNvPr id="32" name="Shape 10">
            <a:extLst>
              <a:ext uri="{FF2B5EF4-FFF2-40B4-BE49-F238E27FC236}">
                <a16:creationId xmlns:a16="http://schemas.microsoft.com/office/drawing/2014/main" id="{4D46C751-5853-B2F5-E1FF-19F4532C063B}"/>
              </a:ext>
            </a:extLst>
          </p:cNvPr>
          <p:cNvSpPr/>
          <p:nvPr/>
        </p:nvSpPr>
        <p:spPr>
          <a:xfrm>
            <a:off x="8924544" y="1371600"/>
            <a:ext cx="2761488" cy="3611879"/>
          </a:xfrm>
          <a:prstGeom prst="roundRect">
            <a:avLst>
              <a:gd name="adj" fmla="val 1975"/>
            </a:avLst>
          </a:prstGeom>
          <a:solidFill>
            <a:srgbClr val="F8D5DB"/>
          </a:solidFill>
          <a:ln w="12700">
            <a:solidFill>
              <a:srgbClr val="C00000"/>
            </a:solidFill>
            <a:prstDash val="solid"/>
          </a:ln>
        </p:spPr>
        <p:txBody>
          <a:bodyPr/>
          <a:lstStyle/>
          <a:p>
            <a:endParaRPr lang="en-US"/>
          </a:p>
        </p:txBody>
      </p:sp>
      <p:sp>
        <p:nvSpPr>
          <p:cNvPr id="20" name="Shape 10">
            <a:extLst>
              <a:ext uri="{FF2B5EF4-FFF2-40B4-BE49-F238E27FC236}">
                <a16:creationId xmlns:a16="http://schemas.microsoft.com/office/drawing/2014/main" id="{8C1C4B8D-C4E3-48F0-739C-B206DB0726B9}"/>
              </a:ext>
            </a:extLst>
          </p:cNvPr>
          <p:cNvSpPr/>
          <p:nvPr/>
        </p:nvSpPr>
        <p:spPr>
          <a:xfrm>
            <a:off x="6117336" y="1371600"/>
            <a:ext cx="2761488" cy="3611879"/>
          </a:xfrm>
          <a:prstGeom prst="roundRect">
            <a:avLst>
              <a:gd name="adj" fmla="val 1975"/>
            </a:avLst>
          </a:prstGeom>
          <a:solidFill>
            <a:srgbClr val="F8D5DB"/>
          </a:solidFill>
          <a:ln w="12700">
            <a:solidFill>
              <a:srgbClr val="C00000"/>
            </a:solidFill>
            <a:prstDash val="solid"/>
          </a:ln>
        </p:spPr>
        <p:txBody>
          <a:bodyPr/>
          <a:lstStyle/>
          <a:p>
            <a:endParaRPr lang="en-US"/>
          </a:p>
        </p:txBody>
      </p:sp>
      <p:sp>
        <p:nvSpPr>
          <p:cNvPr id="2" name="Shape 0">
            <a:extLst>
              <a:ext uri="{FF2B5EF4-FFF2-40B4-BE49-F238E27FC236}">
                <a16:creationId xmlns:a16="http://schemas.microsoft.com/office/drawing/2014/main" id="{FD6D1ED9-3BE2-A7E6-E2AD-76A23CFC74BE}"/>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4581B54B-C45C-4B9D-69E8-5E71B585FC99}"/>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981A3E71-832F-F313-C3C5-3855F4B9DB88}"/>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007340B1-3556-635B-9F7E-DB1D7B14A270}"/>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13</a:t>
            </a:r>
            <a:endParaRPr lang="en-US" sz="900" dirty="0"/>
          </a:p>
        </p:txBody>
      </p:sp>
      <p:sp>
        <p:nvSpPr>
          <p:cNvPr id="6" name="Text 3">
            <a:extLst>
              <a:ext uri="{FF2B5EF4-FFF2-40B4-BE49-F238E27FC236}">
                <a16:creationId xmlns:a16="http://schemas.microsoft.com/office/drawing/2014/main" id="{3072AE54-9FC2-E800-8D4C-099C96208567}"/>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FAIR is four questions, not an acronym</a:t>
            </a:r>
            <a:endParaRPr lang="en-US" sz="2000" dirty="0"/>
          </a:p>
        </p:txBody>
      </p:sp>
      <p:sp>
        <p:nvSpPr>
          <p:cNvPr id="7" name="Text 4">
            <a:extLst>
              <a:ext uri="{FF2B5EF4-FFF2-40B4-BE49-F238E27FC236}">
                <a16:creationId xmlns:a16="http://schemas.microsoft.com/office/drawing/2014/main" id="{38B43662-0B6B-93D8-9B57-001EB56E0A10}"/>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STAGE 4, DESCRIBE</a:t>
            </a:r>
            <a:endParaRPr lang="en-US" sz="1150" dirty="0"/>
          </a:p>
        </p:txBody>
      </p:sp>
      <p:sp>
        <p:nvSpPr>
          <p:cNvPr id="8" name="Shape 5">
            <a:extLst>
              <a:ext uri="{FF2B5EF4-FFF2-40B4-BE49-F238E27FC236}">
                <a16:creationId xmlns:a16="http://schemas.microsoft.com/office/drawing/2014/main" id="{18BFCADD-64DE-7073-D050-BFE3EC3CE0FA}"/>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a:extLst>
              <a:ext uri="{FF2B5EF4-FFF2-40B4-BE49-F238E27FC236}">
                <a16:creationId xmlns:a16="http://schemas.microsoft.com/office/drawing/2014/main" id="{4AA087D7-6DE8-B129-C3CF-DB5829C0EDA9}"/>
              </a:ext>
            </a:extLst>
          </p:cNvPr>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400" dirty="0">
                <a:solidFill>
                  <a:srgbClr val="7F7F7F"/>
                </a:solidFill>
                <a:latin typeface="Calibri" pitchFamily="34" charset="0"/>
                <a:ea typeface="Calibri" pitchFamily="34" charset="-122"/>
                <a:cs typeface="Calibri" pitchFamily="34" charset="-120"/>
              </a:rPr>
              <a:t>Asked about your dataset by somebody you will never meet.</a:t>
            </a:r>
            <a:endParaRPr lang="en-US" sz="1400" dirty="0"/>
          </a:p>
        </p:txBody>
      </p:sp>
      <p:pic>
        <p:nvPicPr>
          <p:cNvPr id="11" name="Image 1" descr="preencoded.png">
            <a:extLst>
              <a:ext uri="{FF2B5EF4-FFF2-40B4-BE49-F238E27FC236}">
                <a16:creationId xmlns:a16="http://schemas.microsoft.com/office/drawing/2014/main" id="{7F0A76F3-F0DB-DAB0-DCFC-FBA1FA49E735}"/>
              </a:ext>
            </a:extLst>
          </p:cNvPr>
          <p:cNvPicPr>
            <a:picLocks noChangeAspect="1"/>
          </p:cNvPicPr>
          <p:nvPr/>
        </p:nvPicPr>
        <p:blipFill>
          <a:blip r:embed="rId4"/>
          <a:stretch>
            <a:fillRect/>
          </a:stretch>
        </p:blipFill>
        <p:spPr>
          <a:xfrm>
            <a:off x="777240" y="1627632"/>
            <a:ext cx="502920" cy="502920"/>
          </a:xfrm>
          <a:prstGeom prst="rect">
            <a:avLst/>
          </a:prstGeom>
        </p:spPr>
      </p:pic>
      <p:sp>
        <p:nvSpPr>
          <p:cNvPr id="12" name="Text 8">
            <a:extLst>
              <a:ext uri="{FF2B5EF4-FFF2-40B4-BE49-F238E27FC236}">
                <a16:creationId xmlns:a16="http://schemas.microsoft.com/office/drawing/2014/main" id="{31BCEE35-B605-5089-1E01-B00019FB943C}"/>
              </a:ext>
            </a:extLst>
          </p:cNvPr>
          <p:cNvSpPr txBox="1"/>
          <p:nvPr/>
        </p:nvSpPr>
        <p:spPr>
          <a:xfrm>
            <a:off x="777240"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F  —  FINDABLE</a:t>
            </a:r>
            <a:endParaRPr lang="en-US" sz="1400" dirty="0"/>
          </a:p>
        </p:txBody>
      </p:sp>
      <p:sp>
        <p:nvSpPr>
          <p:cNvPr id="13" name="Text 9">
            <a:extLst>
              <a:ext uri="{FF2B5EF4-FFF2-40B4-BE49-F238E27FC236}">
                <a16:creationId xmlns:a16="http://schemas.microsoft.com/office/drawing/2014/main" id="{60297B6A-8307-94D3-A05A-A34F345F6F68}"/>
              </a:ext>
            </a:extLst>
          </p:cNvPr>
          <p:cNvSpPr txBox="1"/>
          <p:nvPr/>
        </p:nvSpPr>
        <p:spPr>
          <a:xfrm>
            <a:off x="777240"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they find it?</a:t>
            </a:r>
            <a:endParaRPr lang="en-US" sz="1450" dirty="0"/>
          </a:p>
        </p:txBody>
      </p:sp>
      <p:sp>
        <p:nvSpPr>
          <p:cNvPr id="14" name="Text 10">
            <a:extLst>
              <a:ext uri="{FF2B5EF4-FFF2-40B4-BE49-F238E27FC236}">
                <a16:creationId xmlns:a16="http://schemas.microsoft.com/office/drawing/2014/main" id="{296E3659-980D-BB71-29AB-C195F9B131BE}"/>
              </a:ext>
            </a:extLst>
          </p:cNvPr>
          <p:cNvSpPr txBox="1"/>
          <p:nvPr/>
        </p:nvSpPr>
        <p:spPr>
          <a:xfrm>
            <a:off x="777240" y="3262254"/>
            <a:ext cx="230428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It exists somewhere public, it carries a persistent identifier, and it is described well enough to turn up in a search that was not looking for it by name.</a:t>
            </a:r>
            <a:endParaRPr lang="en-US" sz="1400" dirty="0"/>
          </a:p>
        </p:txBody>
      </p:sp>
      <p:pic>
        <p:nvPicPr>
          <p:cNvPr id="16" name="Image 2" descr="preencoded.png">
            <a:extLst>
              <a:ext uri="{FF2B5EF4-FFF2-40B4-BE49-F238E27FC236}">
                <a16:creationId xmlns:a16="http://schemas.microsoft.com/office/drawing/2014/main" id="{E94BC92A-680C-208F-F749-F3B2AFBD64F5}"/>
              </a:ext>
            </a:extLst>
          </p:cNvPr>
          <p:cNvPicPr>
            <a:picLocks noChangeAspect="1"/>
          </p:cNvPicPr>
          <p:nvPr/>
        </p:nvPicPr>
        <p:blipFill>
          <a:blip r:embed="rId5"/>
          <a:stretch>
            <a:fillRect/>
          </a:stretch>
        </p:blipFill>
        <p:spPr>
          <a:xfrm>
            <a:off x="3584448" y="1627632"/>
            <a:ext cx="502920" cy="502920"/>
          </a:xfrm>
          <a:prstGeom prst="rect">
            <a:avLst/>
          </a:prstGeom>
        </p:spPr>
      </p:pic>
      <p:sp>
        <p:nvSpPr>
          <p:cNvPr id="17" name="Text 12">
            <a:extLst>
              <a:ext uri="{FF2B5EF4-FFF2-40B4-BE49-F238E27FC236}">
                <a16:creationId xmlns:a16="http://schemas.microsoft.com/office/drawing/2014/main" id="{A880430A-6A6A-2945-898D-5344BAD52433}"/>
              </a:ext>
            </a:extLst>
          </p:cNvPr>
          <p:cNvSpPr txBox="1"/>
          <p:nvPr/>
        </p:nvSpPr>
        <p:spPr>
          <a:xfrm>
            <a:off x="3584448"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A  —  ACCESSIBLE</a:t>
            </a:r>
            <a:endParaRPr lang="en-US" sz="1400" dirty="0"/>
          </a:p>
        </p:txBody>
      </p:sp>
      <p:sp>
        <p:nvSpPr>
          <p:cNvPr id="18" name="Text 13">
            <a:extLst>
              <a:ext uri="{FF2B5EF4-FFF2-40B4-BE49-F238E27FC236}">
                <a16:creationId xmlns:a16="http://schemas.microsoft.com/office/drawing/2014/main" id="{017CB56B-72E8-4099-D06E-FF1808F551F2}"/>
              </a:ext>
            </a:extLst>
          </p:cNvPr>
          <p:cNvSpPr txBox="1"/>
          <p:nvPr/>
        </p:nvSpPr>
        <p:spPr>
          <a:xfrm>
            <a:off x="3584448"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they get it?</a:t>
            </a:r>
            <a:endParaRPr lang="en-US" sz="1450" dirty="0"/>
          </a:p>
        </p:txBody>
      </p:sp>
      <p:sp>
        <p:nvSpPr>
          <p:cNvPr id="19" name="Text 14">
            <a:extLst>
              <a:ext uri="{FF2B5EF4-FFF2-40B4-BE49-F238E27FC236}">
                <a16:creationId xmlns:a16="http://schemas.microsoft.com/office/drawing/2014/main" id="{D3FA8D75-04A0-3163-9EBD-730FA6DF1CAE}"/>
              </a:ext>
            </a:extLst>
          </p:cNvPr>
          <p:cNvSpPr txBox="1"/>
          <p:nvPr/>
        </p:nvSpPr>
        <p:spPr>
          <a:xfrm>
            <a:off x="3584448" y="3262254"/>
            <a:ext cx="225856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Retrievable through that identifier by a standard protocol. Open where possible. Where it cannot be open, the conditions for access are stated not implied.</a:t>
            </a:r>
            <a:endParaRPr lang="en-US" sz="1400" dirty="0"/>
          </a:p>
        </p:txBody>
      </p:sp>
      <p:pic>
        <p:nvPicPr>
          <p:cNvPr id="21" name="Image 3" descr="preencoded.png">
            <a:extLst>
              <a:ext uri="{FF2B5EF4-FFF2-40B4-BE49-F238E27FC236}">
                <a16:creationId xmlns:a16="http://schemas.microsoft.com/office/drawing/2014/main" id="{057C7510-052F-12FF-0D63-E458149929BC}"/>
              </a:ext>
            </a:extLst>
          </p:cNvPr>
          <p:cNvPicPr>
            <a:picLocks noChangeAspect="1"/>
          </p:cNvPicPr>
          <p:nvPr/>
        </p:nvPicPr>
        <p:blipFill>
          <a:blip r:embed="rId6"/>
          <a:stretch>
            <a:fillRect/>
          </a:stretch>
        </p:blipFill>
        <p:spPr>
          <a:xfrm>
            <a:off x="6391656" y="1627632"/>
            <a:ext cx="502920" cy="502920"/>
          </a:xfrm>
          <a:prstGeom prst="rect">
            <a:avLst/>
          </a:prstGeom>
        </p:spPr>
      </p:pic>
      <p:sp>
        <p:nvSpPr>
          <p:cNvPr id="22" name="Text 16">
            <a:extLst>
              <a:ext uri="{FF2B5EF4-FFF2-40B4-BE49-F238E27FC236}">
                <a16:creationId xmlns:a16="http://schemas.microsoft.com/office/drawing/2014/main" id="{332A866C-D6DB-A9FF-A80F-FB4A6A98F541}"/>
              </a:ext>
            </a:extLst>
          </p:cNvPr>
          <p:cNvSpPr txBox="1"/>
          <p:nvPr/>
        </p:nvSpPr>
        <p:spPr>
          <a:xfrm>
            <a:off x="6391656"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I  —  INTEROPERABLE</a:t>
            </a:r>
            <a:endParaRPr lang="en-US" sz="1400" dirty="0"/>
          </a:p>
        </p:txBody>
      </p:sp>
      <p:sp>
        <p:nvSpPr>
          <p:cNvPr id="23" name="Text 17">
            <a:extLst>
              <a:ext uri="{FF2B5EF4-FFF2-40B4-BE49-F238E27FC236}">
                <a16:creationId xmlns:a16="http://schemas.microsoft.com/office/drawing/2014/main" id="{080A21E6-4187-D069-CC8F-F5F74657E962}"/>
              </a:ext>
            </a:extLst>
          </p:cNvPr>
          <p:cNvSpPr txBox="1"/>
          <p:nvPr/>
        </p:nvSpPr>
        <p:spPr>
          <a:xfrm>
            <a:off x="6391656"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Can their tools read it?</a:t>
            </a:r>
            <a:endParaRPr lang="en-US" sz="1450" dirty="0"/>
          </a:p>
        </p:txBody>
      </p:sp>
      <p:sp>
        <p:nvSpPr>
          <p:cNvPr id="24" name="Text 18">
            <a:extLst>
              <a:ext uri="{FF2B5EF4-FFF2-40B4-BE49-F238E27FC236}">
                <a16:creationId xmlns:a16="http://schemas.microsoft.com/office/drawing/2014/main" id="{E2BC9340-0394-716C-ED29-D0B4124536B7}"/>
              </a:ext>
            </a:extLst>
          </p:cNvPr>
          <p:cNvSpPr txBox="1"/>
          <p:nvPr/>
        </p:nvSpPr>
        <p:spPr>
          <a:xfrm>
            <a:off x="6391656" y="3262254"/>
            <a:ext cx="221284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Open formats, standard vocabularies, explicit units. A plain CSV not a colour-coded workbook that only means something on your screen.</a:t>
            </a:r>
            <a:endParaRPr lang="en-US" sz="1400" dirty="0"/>
          </a:p>
        </p:txBody>
      </p:sp>
      <p:pic>
        <p:nvPicPr>
          <p:cNvPr id="26" name="Image 4" descr="preencoded.png">
            <a:extLst>
              <a:ext uri="{FF2B5EF4-FFF2-40B4-BE49-F238E27FC236}">
                <a16:creationId xmlns:a16="http://schemas.microsoft.com/office/drawing/2014/main" id="{2D0A6AB2-8CE8-26A6-EC64-5801C37F64A4}"/>
              </a:ext>
            </a:extLst>
          </p:cNvPr>
          <p:cNvPicPr>
            <a:picLocks noChangeAspect="1"/>
          </p:cNvPicPr>
          <p:nvPr/>
        </p:nvPicPr>
        <p:blipFill>
          <a:blip r:embed="rId7"/>
          <a:stretch>
            <a:fillRect/>
          </a:stretch>
        </p:blipFill>
        <p:spPr>
          <a:xfrm>
            <a:off x="9198864" y="1627632"/>
            <a:ext cx="502920" cy="502920"/>
          </a:xfrm>
          <a:prstGeom prst="rect">
            <a:avLst/>
          </a:prstGeom>
        </p:spPr>
      </p:pic>
      <p:sp>
        <p:nvSpPr>
          <p:cNvPr id="27" name="Text 20">
            <a:extLst>
              <a:ext uri="{FF2B5EF4-FFF2-40B4-BE49-F238E27FC236}">
                <a16:creationId xmlns:a16="http://schemas.microsoft.com/office/drawing/2014/main" id="{1F952DB5-E8C2-846E-2A2B-23E56D7D1875}"/>
              </a:ext>
            </a:extLst>
          </p:cNvPr>
          <p:cNvSpPr txBox="1"/>
          <p:nvPr/>
        </p:nvSpPr>
        <p:spPr>
          <a:xfrm>
            <a:off x="9198864" y="2267712"/>
            <a:ext cx="2212848"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R  —  REUSABLE</a:t>
            </a:r>
            <a:endParaRPr lang="en-US" sz="1400" dirty="0"/>
          </a:p>
        </p:txBody>
      </p:sp>
      <p:sp>
        <p:nvSpPr>
          <p:cNvPr id="28" name="Text 21">
            <a:extLst>
              <a:ext uri="{FF2B5EF4-FFF2-40B4-BE49-F238E27FC236}">
                <a16:creationId xmlns:a16="http://schemas.microsoft.com/office/drawing/2014/main" id="{49F55F45-7238-D1F0-9007-4849F21F71C9}"/>
              </a:ext>
            </a:extLst>
          </p:cNvPr>
          <p:cNvSpPr txBox="1"/>
          <p:nvPr/>
        </p:nvSpPr>
        <p:spPr>
          <a:xfrm>
            <a:off x="9198864" y="2560320"/>
            <a:ext cx="2212848" cy="685800"/>
          </a:xfrm>
          <a:prstGeom prst="rect">
            <a:avLst/>
          </a:prstGeom>
          <a:noFill/>
          <a:ln/>
        </p:spPr>
        <p:txBody>
          <a:bodyPr wrap="square" lIns="0" tIns="0" rIns="0" bIns="0" rtlCol="0" anchor="t"/>
          <a:lstStyle/>
          <a:p>
            <a:pPr marL="0" indent="0">
              <a:lnSpc>
                <a:spcPct val="110000"/>
              </a:lnSpc>
              <a:buNone/>
            </a:pPr>
            <a:r>
              <a:rPr lang="en-US" sz="1450" dirty="0">
                <a:solidFill>
                  <a:srgbClr val="C00000"/>
                </a:solidFill>
                <a:latin typeface="Tahoma" pitchFamily="34" charset="0"/>
                <a:ea typeface="Tahoma" pitchFamily="34" charset="-122"/>
                <a:cs typeface="Tahoma" pitchFamily="34" charset="-120"/>
              </a:rPr>
              <a:t>May they use it, and do they know enough to?</a:t>
            </a:r>
            <a:endParaRPr lang="en-US" sz="1450" dirty="0"/>
          </a:p>
        </p:txBody>
      </p:sp>
      <p:sp>
        <p:nvSpPr>
          <p:cNvPr id="29" name="Text 22">
            <a:extLst>
              <a:ext uri="{FF2B5EF4-FFF2-40B4-BE49-F238E27FC236}">
                <a16:creationId xmlns:a16="http://schemas.microsoft.com/office/drawing/2014/main" id="{494C3F29-6D31-152B-D251-8E5408285EA7}"/>
              </a:ext>
            </a:extLst>
          </p:cNvPr>
          <p:cNvSpPr txBox="1"/>
          <p:nvPr/>
        </p:nvSpPr>
        <p:spPr>
          <a:xfrm>
            <a:off x="9198864" y="3262254"/>
            <a:ext cx="2212848" cy="146304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Clear provenance, metadata rich enough to judge whether it fits their question, and a licence saying what is allowed.</a:t>
            </a:r>
            <a:endParaRPr lang="en-US" sz="1400" dirty="0"/>
          </a:p>
        </p:txBody>
      </p:sp>
      <p:sp>
        <p:nvSpPr>
          <p:cNvPr id="30" name="Text 23">
            <a:extLst>
              <a:ext uri="{FF2B5EF4-FFF2-40B4-BE49-F238E27FC236}">
                <a16:creationId xmlns:a16="http://schemas.microsoft.com/office/drawing/2014/main" id="{BCCD82B0-C703-292B-939A-007E0E1A3B2C}"/>
              </a:ext>
            </a:extLst>
          </p:cNvPr>
          <p:cNvSpPr txBox="1"/>
          <p:nvPr/>
        </p:nvSpPr>
        <p:spPr>
          <a:xfrm>
            <a:off x="502920" y="5257800"/>
            <a:ext cx="11183112" cy="365760"/>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FAIR is not a synonym for open. A restricted dataset can be FAIR, provided the conditions are stated.</a:t>
            </a:r>
            <a:endParaRPr lang="en-US" sz="1600" dirty="0"/>
          </a:p>
        </p:txBody>
      </p:sp>
    </p:spTree>
    <p:extLst>
      <p:ext uri="{BB962C8B-B14F-4D97-AF65-F5344CB8AC3E}">
        <p14:creationId xmlns:p14="http://schemas.microsoft.com/office/powerpoint/2010/main" val="3408411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7">
            <a:extLst>
              <a:ext uri="{FF2B5EF4-FFF2-40B4-BE49-F238E27FC236}">
                <a16:creationId xmlns:a16="http://schemas.microsoft.com/office/drawing/2014/main" id="{7B7E739D-A192-D408-3B85-305CB67B41B9}"/>
              </a:ext>
            </a:extLst>
          </p:cNvPr>
          <p:cNvSpPr/>
          <p:nvPr/>
        </p:nvSpPr>
        <p:spPr>
          <a:xfrm>
            <a:off x="6094476" y="1325880"/>
            <a:ext cx="5408676" cy="3703320"/>
          </a:xfrm>
          <a:prstGeom prst="roundRect">
            <a:avLst>
              <a:gd name="adj" fmla="val 1975"/>
            </a:avLst>
          </a:prstGeom>
          <a:solidFill>
            <a:srgbClr val="FFFFFF"/>
          </a:solidFill>
          <a:ln w="12700">
            <a:solidFill>
              <a:srgbClr val="DCDCDC"/>
            </a:solidFill>
            <a:prstDash val="solid"/>
          </a:ln>
        </p:spPr>
        <p:txBody>
          <a:bodyPr/>
          <a:lstStyle/>
          <a:p>
            <a:endParaRPr lang="en-US"/>
          </a:p>
        </p:txBody>
      </p:sp>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14</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Readable by you is not readable by a machine</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THE PART PEOPLE MISS</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600" dirty="0">
                <a:solidFill>
                  <a:srgbClr val="7F7F7F"/>
                </a:solidFill>
                <a:latin typeface="Calibri" pitchFamily="34" charset="0"/>
                <a:ea typeface="Calibri" pitchFamily="34" charset="-122"/>
                <a:cs typeface="Calibri" pitchFamily="34" charset="-120"/>
              </a:rPr>
              <a:t>Three of the four FAIR questions are about software, not about people.</a:t>
            </a:r>
            <a:endParaRPr lang="en-US" sz="1600" dirty="0"/>
          </a:p>
        </p:txBody>
      </p:sp>
      <p:sp>
        <p:nvSpPr>
          <p:cNvPr id="10" name="Shape 7"/>
          <p:cNvSpPr/>
          <p:nvPr/>
        </p:nvSpPr>
        <p:spPr>
          <a:xfrm>
            <a:off x="502920" y="1325880"/>
            <a:ext cx="5408676" cy="3703320"/>
          </a:xfrm>
          <a:prstGeom prst="roundRect">
            <a:avLst>
              <a:gd name="adj" fmla="val 1975"/>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572768"/>
            <a:ext cx="502920" cy="502920"/>
          </a:xfrm>
          <a:prstGeom prst="rect">
            <a:avLst/>
          </a:prstGeom>
        </p:spPr>
      </p:pic>
      <p:sp>
        <p:nvSpPr>
          <p:cNvPr id="12" name="Text 8"/>
          <p:cNvSpPr txBox="1"/>
          <p:nvPr/>
        </p:nvSpPr>
        <p:spPr>
          <a:xfrm>
            <a:off x="822960" y="2212848"/>
            <a:ext cx="4754880" cy="36576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What you can read</a:t>
            </a:r>
            <a:endParaRPr lang="en-US" dirty="0"/>
          </a:p>
        </p:txBody>
      </p:sp>
      <p:graphicFrame>
        <p:nvGraphicFramePr>
          <p:cNvPr id="15" name="Table 0"/>
          <p:cNvGraphicFramePr>
            <a:graphicFrameLocks noGrp="1"/>
          </p:cNvGraphicFramePr>
          <p:nvPr/>
        </p:nvGraphicFramePr>
        <p:xfrm>
          <a:off x="822960" y="2697480"/>
          <a:ext cx="3108960" cy="1137920"/>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274320">
                <a:tc>
                  <a:txBody>
                    <a:bodyPr/>
                    <a:lstStyle/>
                    <a:p>
                      <a:pPr marL="0" indent="0">
                        <a:buNone/>
                      </a:pPr>
                      <a:r>
                        <a:rPr lang="en-US" sz="1200" b="1" dirty="0">
                          <a:solidFill>
                            <a:srgbClr val="262626"/>
                          </a:solidFill>
                          <a:latin typeface="Calibri" pitchFamily="34" charset="0"/>
                          <a:ea typeface="Calibri" pitchFamily="34" charset="-122"/>
                          <a:cs typeface="Calibri" pitchFamily="34" charset="-120"/>
                        </a:rPr>
                        <a:t>Sample</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b="1" dirty="0">
                          <a:solidFill>
                            <a:srgbClr val="262626"/>
                          </a:solidFill>
                          <a:latin typeface="Calibri" pitchFamily="34" charset="0"/>
                          <a:ea typeface="Calibri" pitchFamily="34" charset="-122"/>
                          <a:cs typeface="Calibri" pitchFamily="34" charset="-120"/>
                        </a:rPr>
                        <a:t>OD</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Control R1</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A R1</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8D5DB"/>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8D5DB"/>
                    </a:solidFill>
                  </a:tcPr>
                </a:tc>
                <a:extLst>
                  <a:ext uri="{0D108BD9-81ED-4DB2-BD59-A6C34878D82A}">
                    <a16:rowId xmlns:a16="http://schemas.microsoft.com/office/drawing/2014/main" val="10002"/>
                  </a:ext>
                </a:extLst>
              </a:tr>
              <a:tr h="274320">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A R2</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Text 9"/>
          <p:cNvSpPr txBox="1"/>
          <p:nvPr/>
        </p:nvSpPr>
        <p:spPr>
          <a:xfrm>
            <a:off x="822960" y="3977640"/>
            <a:ext cx="4754880" cy="86868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The pink row means contaminated. That fact exists only in your head and in this one screenshot. No script can filter on a colour, and "n/a" is not a number.</a:t>
            </a:r>
            <a:endParaRPr lang="en-US" sz="1400" dirty="0"/>
          </a:p>
        </p:txBody>
      </p:sp>
      <p:pic>
        <p:nvPicPr>
          <p:cNvPr id="16" name="Image 2" descr="preencoded.png"/>
          <p:cNvPicPr>
            <a:picLocks noChangeAspect="1"/>
          </p:cNvPicPr>
          <p:nvPr/>
        </p:nvPicPr>
        <p:blipFill>
          <a:blip r:embed="rId5"/>
          <a:stretch>
            <a:fillRect/>
          </a:stretch>
        </p:blipFill>
        <p:spPr>
          <a:xfrm>
            <a:off x="6597396" y="1572768"/>
            <a:ext cx="502920" cy="502920"/>
          </a:xfrm>
          <a:prstGeom prst="rect">
            <a:avLst/>
          </a:prstGeom>
        </p:spPr>
      </p:pic>
      <p:sp>
        <p:nvSpPr>
          <p:cNvPr id="17" name="Text 11"/>
          <p:cNvSpPr txBox="1"/>
          <p:nvPr/>
        </p:nvSpPr>
        <p:spPr>
          <a:xfrm>
            <a:off x="6597396" y="2212848"/>
            <a:ext cx="4754880" cy="365760"/>
          </a:xfrm>
          <a:prstGeom prst="rect">
            <a:avLst/>
          </a:prstGeom>
          <a:noFill/>
          <a:ln/>
        </p:spPr>
        <p:txBody>
          <a:bodyPr wrap="square" lIns="0" tIns="0" rIns="0" bIns="0" rtlCol="0" anchor="ctr"/>
          <a:lstStyle/>
          <a:p>
            <a:pPr marL="0" indent="0">
              <a:buNone/>
            </a:pPr>
            <a:r>
              <a:rPr lang="en-US" dirty="0">
                <a:solidFill>
                  <a:srgbClr val="C00000"/>
                </a:solidFill>
                <a:latin typeface="Tahoma" pitchFamily="34" charset="0"/>
                <a:ea typeface="Tahoma" pitchFamily="34" charset="-122"/>
                <a:cs typeface="Tahoma" pitchFamily="34" charset="-120"/>
              </a:rPr>
              <a:t>What a machine can read</a:t>
            </a:r>
            <a:endParaRPr lang="en-US" dirty="0"/>
          </a:p>
        </p:txBody>
      </p:sp>
      <p:graphicFrame>
        <p:nvGraphicFramePr>
          <p:cNvPr id="29" name="Table 1"/>
          <p:cNvGraphicFramePr>
            <a:graphicFrameLocks noGrp="1"/>
          </p:cNvGraphicFramePr>
          <p:nvPr/>
        </p:nvGraphicFramePr>
        <p:xfrm>
          <a:off x="6597396" y="2697480"/>
          <a:ext cx="4343400" cy="1137920"/>
        </p:xfrm>
        <a:graphic>
          <a:graphicData uri="http://schemas.openxmlformats.org/drawingml/2006/table">
            <a:tbl>
              <a:tblPr/>
              <a:tblGrid>
                <a:gridCol w="1508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74320">
                <a:tc>
                  <a:txBody>
                    <a:bodyPr/>
                    <a:lstStyle/>
                    <a:p>
                      <a:pPr marL="0" indent="0">
                        <a:buNone/>
                      </a:pPr>
                      <a:r>
                        <a:rPr lang="en-US" sz="1200" b="1" dirty="0">
                          <a:solidFill>
                            <a:srgbClr val="262626"/>
                          </a:solidFill>
                          <a:latin typeface="Calibri" pitchFamily="34" charset="0"/>
                          <a:ea typeface="Calibri" pitchFamily="34" charset="-122"/>
                          <a:cs typeface="Calibri" pitchFamily="34" charset="-120"/>
                        </a:rPr>
                        <a:t>sample_id</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b="1" dirty="0">
                          <a:solidFill>
                            <a:srgbClr val="262626"/>
                          </a:solidFill>
                          <a:latin typeface="Calibri" pitchFamily="34" charset="0"/>
                          <a:ea typeface="Calibri" pitchFamily="34" charset="-122"/>
                          <a:cs typeface="Calibri" pitchFamily="34" charset="-120"/>
                        </a:rPr>
                        <a:t>od600</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b="1" dirty="0">
                          <a:solidFill>
                            <a:srgbClr val="262626"/>
                          </a:solidFill>
                          <a:latin typeface="Calibri" pitchFamily="34" charset="0"/>
                          <a:ea typeface="Calibri" pitchFamily="34" charset="-122"/>
                          <a:cs typeface="Calibri" pitchFamily="34" charset="-120"/>
                        </a:rPr>
                        <a:t>qc_flag</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Control_R1</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A_R1</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contaminated</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A_R2</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50800" marR="50800" marT="50800" marB="508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9" name="Text 12"/>
          <p:cNvSpPr txBox="1"/>
          <p:nvPr/>
        </p:nvSpPr>
        <p:spPr>
          <a:xfrm>
            <a:off x="6597396" y="3977640"/>
            <a:ext cx="4754880" cy="86868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The same information, in a column a script can filter on. The unit is in the column name. Missing values use one agreed code, every time.</a:t>
            </a:r>
            <a:endParaRPr lang="en-US" sz="1400" dirty="0"/>
          </a:p>
        </p:txBody>
      </p:sp>
    </p:spTree>
    <p:extLst>
      <p:ext uri="{BB962C8B-B14F-4D97-AF65-F5344CB8AC3E}">
        <p14:creationId xmlns:p14="http://schemas.microsoft.com/office/powerpoint/2010/main" val="1017137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2A7AA-BFC2-704F-D1AD-A301F4ECDFA3}"/>
            </a:ext>
          </a:extLst>
        </p:cNvPr>
        <p:cNvGrpSpPr/>
        <p:nvPr/>
      </p:nvGrpSpPr>
      <p:grpSpPr>
        <a:xfrm>
          <a:off x="0" y="0"/>
          <a:ext cx="0" cy="0"/>
          <a:chOff x="0" y="0"/>
          <a:chExt cx="0" cy="0"/>
        </a:xfrm>
      </p:grpSpPr>
      <p:sp>
        <p:nvSpPr>
          <p:cNvPr id="50" name="Shape 24">
            <a:extLst>
              <a:ext uri="{FF2B5EF4-FFF2-40B4-BE49-F238E27FC236}">
                <a16:creationId xmlns:a16="http://schemas.microsoft.com/office/drawing/2014/main" id="{4407682E-4D00-E17D-28A4-3E6955906C7C}"/>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FEF55EA9-831E-1E13-144D-1C99E30EBC46}"/>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86EF3B38-4A72-AF88-26C9-C117B4DF3F83}"/>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81A17C20-7DEE-DCF2-3B67-126BCD28E152}"/>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0C1FB091-E071-DF5F-E046-E03D095BD5C3}"/>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422A302B-D1A4-F8BA-832E-B4C193F32758}"/>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024FDEAC-33B7-1A4A-40BE-873EF358A8C0}"/>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5062B039-5A29-FEC6-57A1-D7ACB0D5197E}"/>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5BCB8899-5AFC-2FDC-EE3F-5B24A1293AD2}"/>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A792CD07-BD47-D10F-596E-FF648C516E09}"/>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sp>
        <p:nvSpPr>
          <p:cNvPr id="11" name="Shape 8">
            <a:extLst>
              <a:ext uri="{FF2B5EF4-FFF2-40B4-BE49-F238E27FC236}">
                <a16:creationId xmlns:a16="http://schemas.microsoft.com/office/drawing/2014/main" id="{5DF065BC-5056-5C84-EE44-C5EB8FC8460E}"/>
              </a:ext>
            </a:extLst>
          </p:cNvPr>
          <p:cNvSpPr/>
          <p:nvPr/>
        </p:nvSpPr>
        <p:spPr>
          <a:xfrm>
            <a:off x="502920"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2" name="Image 1" descr="preencoded.png">
            <a:extLst>
              <a:ext uri="{FF2B5EF4-FFF2-40B4-BE49-F238E27FC236}">
                <a16:creationId xmlns:a16="http://schemas.microsoft.com/office/drawing/2014/main" id="{72E343B8-27CB-C687-B536-67996DF64663}"/>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F5425007-5222-D417-10D4-DC6F5F9DB03F}"/>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4F19B6D3-8C2B-337E-56BB-95296AF42243}"/>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42C530EB-2F82-9A97-E020-D914AA9628D2}"/>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76C0CC39-BCCF-F263-D579-39587CD5593B}"/>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5F4D0BBB-798E-49E6-64C2-DF215F7D3AF8}"/>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BA2AC80E-05E9-E8BC-943E-9A39F20EE76A}"/>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2C515D14-0B5F-B343-23D7-754E063C2845}"/>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87FF2D9E-D002-21EC-776A-1052B042AC91}"/>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605F3E18-07F1-8F8B-6D77-FD383FEBB2FC}"/>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E2DC124C-5CF6-A920-7377-13102D869DF0}"/>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AA29BC45-D103-D173-F851-A9A1CFE825DA}"/>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C1A83E53-67DF-3548-25B6-4F05E0377FB3}"/>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975535D8-AFC2-45D9-C92F-8B536DC2CA98}"/>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A74E55D1-E85D-CB22-0BC5-B09F21EF01C7}"/>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249C9249-7B99-EC32-E2F7-B0D41907CE6B}"/>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27B408A0-F9EB-8BEC-1CC0-6C46B3EB0B96}"/>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E408D164-A03B-A417-F4DE-D94E74B731E2}"/>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155FBD74-8378-F58A-FCB4-D0322E5F478A}"/>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9A40EBF9-8351-2A68-9E1D-F77B5F7AB6A5}"/>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0F9651B6-23DC-8881-3016-FE92A638A68F}"/>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A9422D92-EBC5-2969-327D-B037E5375346}"/>
              </a:ext>
            </a:extLst>
          </p:cNvPr>
          <p:cNvSpPr txBox="1"/>
          <p:nvPr/>
        </p:nvSpPr>
        <p:spPr>
          <a:xfrm>
            <a:off x="1237183" y="3784002"/>
            <a:ext cx="621792"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DMP</a:t>
            </a:r>
            <a:endParaRPr lang="en-US" sz="1400" dirty="0"/>
          </a:p>
        </p:txBody>
      </p:sp>
      <p:sp>
        <p:nvSpPr>
          <p:cNvPr id="55" name="Text 43">
            <a:extLst>
              <a:ext uri="{FF2B5EF4-FFF2-40B4-BE49-F238E27FC236}">
                <a16:creationId xmlns:a16="http://schemas.microsoft.com/office/drawing/2014/main" id="{347CAE65-CF49-CBB4-00B0-0CB496358FDA}"/>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cxnSp>
        <p:nvCxnSpPr>
          <p:cNvPr id="26" name="Straight Arrow Connector 25">
            <a:extLst>
              <a:ext uri="{FF2B5EF4-FFF2-40B4-BE49-F238E27FC236}">
                <a16:creationId xmlns:a16="http://schemas.microsoft.com/office/drawing/2014/main" id="{2F3B9E80-4A84-1B13-496F-ED92B2B3CA8D}"/>
              </a:ext>
            </a:extLst>
          </p:cNvPr>
          <p:cNvCxnSpPr>
            <a:cxnSpLocks/>
            <a:stCxn id="11" idx="2"/>
            <a:endCxn id="35" idx="0"/>
          </p:cNvCxnSpPr>
          <p:nvPr/>
        </p:nvCxnSpPr>
        <p:spPr>
          <a:xfrm>
            <a:off x="1548079" y="3200400"/>
            <a:ext cx="0" cy="58360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556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5DD1A-5216-F069-D9AB-AC5506A94DE9}"/>
            </a:ext>
          </a:extLst>
        </p:cNvPr>
        <p:cNvGrpSpPr/>
        <p:nvPr/>
      </p:nvGrpSpPr>
      <p:grpSpPr>
        <a:xfrm>
          <a:off x="0" y="0"/>
          <a:ext cx="0" cy="0"/>
          <a:chOff x="0" y="0"/>
          <a:chExt cx="0" cy="0"/>
        </a:xfrm>
      </p:grpSpPr>
      <p:sp>
        <p:nvSpPr>
          <p:cNvPr id="50" name="Shape 24">
            <a:extLst>
              <a:ext uri="{FF2B5EF4-FFF2-40B4-BE49-F238E27FC236}">
                <a16:creationId xmlns:a16="http://schemas.microsoft.com/office/drawing/2014/main" id="{9745BD60-9F5A-CBA7-AFF4-EA4155D092E0}"/>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FE6FBAD8-964C-B9EB-2A5A-1883909FB9D6}"/>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86B6B5DE-5FAE-137D-2F8F-00D5B58CA5C2}"/>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D8EE7713-1145-1D8E-E1D1-B51B25C25132}"/>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8F15B828-BBF2-244D-8127-1D66C896465A}"/>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23E1F78C-500F-D1B8-BE50-782CE3DF303A}"/>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EA9A5B4A-5829-C390-C0C8-216405258E10}"/>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D08A29D7-88FB-93A6-B34E-35EDAFF9A323}"/>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FFF90DF8-620B-7F0A-5CDD-5421BAAB8F36}"/>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43775949-E413-B82A-01A2-2145A065B6EE}"/>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sp>
        <p:nvSpPr>
          <p:cNvPr id="11" name="Shape 8">
            <a:extLst>
              <a:ext uri="{FF2B5EF4-FFF2-40B4-BE49-F238E27FC236}">
                <a16:creationId xmlns:a16="http://schemas.microsoft.com/office/drawing/2014/main" id="{BC290E27-C35D-604B-A000-B478E732D8E0}"/>
              </a:ext>
            </a:extLst>
          </p:cNvPr>
          <p:cNvSpPr/>
          <p:nvPr/>
        </p:nvSpPr>
        <p:spPr>
          <a:xfrm>
            <a:off x="502920"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2" name="Image 1" descr="preencoded.png">
            <a:extLst>
              <a:ext uri="{FF2B5EF4-FFF2-40B4-BE49-F238E27FC236}">
                <a16:creationId xmlns:a16="http://schemas.microsoft.com/office/drawing/2014/main" id="{601A3BC9-AB69-A496-D26E-EC01E2F3192C}"/>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997BC261-6900-F319-F4DA-C27A9BB7D0AF}"/>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7E838BBC-4E26-D62D-CFB0-1C8C8D76DCAB}"/>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8D629AC0-2F36-E51F-B02F-2C91FD399F94}"/>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E9A5498C-7C0D-624D-6EA8-5D4B0C30BD84}"/>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76AEFC2A-E4F8-03B0-7B81-CCC74008A6BB}"/>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1CD15FE2-6557-F546-0C4B-1C63284DCF2A}"/>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8CD509C0-2626-8056-72D0-FA8787EE8CC2}"/>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35AD668F-3925-2DBF-2D21-AF7FF0E3FFD4}"/>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CFC47FFE-3536-F98D-82FC-63C44CC7A45E}"/>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96D1A8B9-06EF-4DC1-DED6-CD240F7233AA}"/>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EB0E0ECD-DB67-9E2D-0A5F-B954F8F7C650}"/>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3131A703-CCB3-54B4-D980-42D4AA338C15}"/>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317C9F47-8D99-197F-9B2F-573323279207}"/>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4A50BA30-94E7-F129-909F-C5E8B01912E0}"/>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6A3B12FA-BF29-5C42-0F57-2F33D73E481E}"/>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273D3719-CD70-C80C-B7E9-2C44BD67CB24}"/>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184DEC50-B76B-2B9B-2E24-D4658336CFFE}"/>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9B0FAE0C-FA74-7E42-E1E5-3BBBDB0E14F7}"/>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486AC0C9-8BBC-754D-DF6D-F2AF4AF3E295}"/>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BBE9C81E-76B4-1A26-BA8C-92D39C18E676}"/>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C674D93F-4448-A078-325C-1C3024B65CB8}"/>
              </a:ext>
            </a:extLst>
          </p:cNvPr>
          <p:cNvSpPr txBox="1"/>
          <p:nvPr/>
        </p:nvSpPr>
        <p:spPr>
          <a:xfrm>
            <a:off x="1237183" y="3784002"/>
            <a:ext cx="621792"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DMP</a:t>
            </a:r>
            <a:endParaRPr lang="en-US" sz="1400" dirty="0"/>
          </a:p>
        </p:txBody>
      </p:sp>
      <p:sp>
        <p:nvSpPr>
          <p:cNvPr id="55" name="Text 43">
            <a:extLst>
              <a:ext uri="{FF2B5EF4-FFF2-40B4-BE49-F238E27FC236}">
                <a16:creationId xmlns:a16="http://schemas.microsoft.com/office/drawing/2014/main" id="{B3843183-03AC-0D73-0659-8F3EC56EB13E}"/>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cxnSp>
        <p:nvCxnSpPr>
          <p:cNvPr id="26" name="Straight Arrow Connector 25">
            <a:extLst>
              <a:ext uri="{FF2B5EF4-FFF2-40B4-BE49-F238E27FC236}">
                <a16:creationId xmlns:a16="http://schemas.microsoft.com/office/drawing/2014/main" id="{EEC4336C-6141-06EE-B324-660EB4A7467F}"/>
              </a:ext>
            </a:extLst>
          </p:cNvPr>
          <p:cNvCxnSpPr>
            <a:cxnSpLocks/>
            <a:stCxn id="11" idx="2"/>
            <a:endCxn id="35" idx="0"/>
          </p:cNvCxnSpPr>
          <p:nvPr/>
        </p:nvCxnSpPr>
        <p:spPr>
          <a:xfrm>
            <a:off x="1548079" y="3200400"/>
            <a:ext cx="0" cy="58360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 27">
            <a:extLst>
              <a:ext uri="{FF2B5EF4-FFF2-40B4-BE49-F238E27FC236}">
                <a16:creationId xmlns:a16="http://schemas.microsoft.com/office/drawing/2014/main" id="{0AE9BD9B-19CE-7E15-9CFA-664E216973AF}"/>
              </a:ext>
            </a:extLst>
          </p:cNvPr>
          <p:cNvSpPr txBox="1"/>
          <p:nvPr/>
        </p:nvSpPr>
        <p:spPr>
          <a:xfrm>
            <a:off x="4363935" y="3789381"/>
            <a:ext cx="1255455"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Lab Notebook</a:t>
            </a:r>
            <a:endParaRPr lang="en-US" sz="1400" dirty="0"/>
          </a:p>
        </p:txBody>
      </p:sp>
      <p:cxnSp>
        <p:nvCxnSpPr>
          <p:cNvPr id="36" name="Straight Arrow Connector 35">
            <a:extLst>
              <a:ext uri="{FF2B5EF4-FFF2-40B4-BE49-F238E27FC236}">
                <a16:creationId xmlns:a16="http://schemas.microsoft.com/office/drawing/2014/main" id="{8350E53D-3C72-1F55-B92B-F7ADB4F26A87}"/>
              </a:ext>
            </a:extLst>
          </p:cNvPr>
          <p:cNvCxnSpPr>
            <a:cxnSpLocks/>
          </p:cNvCxnSpPr>
          <p:nvPr/>
        </p:nvCxnSpPr>
        <p:spPr>
          <a:xfrm>
            <a:off x="3738981" y="3200400"/>
            <a:ext cx="1218896" cy="497541"/>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32D20B9A-01F6-38F1-B083-3F64C6AC3DE9}"/>
              </a:ext>
            </a:extLst>
          </p:cNvPr>
          <p:cNvCxnSpPr>
            <a:cxnSpLocks/>
            <a:stCxn id="50" idx="2"/>
          </p:cNvCxnSpPr>
          <p:nvPr/>
        </p:nvCxnSpPr>
        <p:spPr>
          <a:xfrm flipH="1">
            <a:off x="5044744" y="3191256"/>
            <a:ext cx="1045161" cy="51475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8036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2BDC1-6391-6820-A884-E649ED32B08A}"/>
            </a:ext>
          </a:extLst>
        </p:cNvPr>
        <p:cNvGrpSpPr/>
        <p:nvPr/>
      </p:nvGrpSpPr>
      <p:grpSpPr>
        <a:xfrm>
          <a:off x="0" y="0"/>
          <a:ext cx="0" cy="0"/>
          <a:chOff x="0" y="0"/>
          <a:chExt cx="0" cy="0"/>
        </a:xfrm>
      </p:grpSpPr>
      <p:sp>
        <p:nvSpPr>
          <p:cNvPr id="50" name="Shape 24">
            <a:extLst>
              <a:ext uri="{FF2B5EF4-FFF2-40B4-BE49-F238E27FC236}">
                <a16:creationId xmlns:a16="http://schemas.microsoft.com/office/drawing/2014/main" id="{364D309B-D690-A39A-FAE4-4D631BE33897}"/>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5959A5CE-5FD5-28F8-3634-369FED9A88FC}"/>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D4DA3CAE-DFBA-2AA9-DA9C-19CF8BBB62E2}"/>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8497A72C-9715-DA56-22BE-D9D74DA272D9}"/>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97B40D79-5C05-F1DE-2DAC-7DF2E0684656}"/>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61D2038E-C0D9-80F4-4FE3-AE3F109BABE1}"/>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BB2BAD77-332B-DD97-035F-D90018EA1844}"/>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E4D7B998-BD8E-1984-4749-3C9D28648DA7}"/>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0065224C-5C62-6AFC-E860-EB2EF74FF73E}"/>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CEDEAAE8-B6E8-3F85-6AB1-815CDF35758D}"/>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sp>
        <p:nvSpPr>
          <p:cNvPr id="11" name="Shape 8">
            <a:extLst>
              <a:ext uri="{FF2B5EF4-FFF2-40B4-BE49-F238E27FC236}">
                <a16:creationId xmlns:a16="http://schemas.microsoft.com/office/drawing/2014/main" id="{C0902504-A072-7C56-E543-BC9DCA73EAC4}"/>
              </a:ext>
            </a:extLst>
          </p:cNvPr>
          <p:cNvSpPr/>
          <p:nvPr/>
        </p:nvSpPr>
        <p:spPr>
          <a:xfrm>
            <a:off x="502920"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2" name="Image 1" descr="preencoded.png">
            <a:extLst>
              <a:ext uri="{FF2B5EF4-FFF2-40B4-BE49-F238E27FC236}">
                <a16:creationId xmlns:a16="http://schemas.microsoft.com/office/drawing/2014/main" id="{803E19BB-79AF-A36F-5433-504C3111E79F}"/>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BFA1C6BE-AD24-6136-1105-E4FC56ED9B6D}"/>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C864AB37-8683-3D88-CE93-378E4F45ACCA}"/>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6F27665B-3D74-C893-D5FC-06CDAFC52C94}"/>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3A7AB9B2-4513-45E1-D040-2E3E444AD947}"/>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99E249BE-39D2-560B-0A4C-5A433AE3F36A}"/>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17FB578D-FBC0-8470-49C5-2AEC1E8F95EB}"/>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45A08067-BF89-253B-4121-312B0E300A38}"/>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15EA61D8-666B-500E-0284-FBB1085CA674}"/>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F94AC74C-328C-0360-0EDE-A14FEFD1639D}"/>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FEA208BF-58C1-2FE2-B37F-E549D04A5489}"/>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84497E22-05E7-4E76-BC0B-C76C217DB38B}"/>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6A73BDAE-F649-487F-390F-ACC4F416E0FA}"/>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18542FB3-D149-C6AE-8B9D-77207AE1572C}"/>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F4669870-80CC-7DC9-C68D-3C482C1A0783}"/>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DE648DB1-D4F1-F68C-BA7F-C1C6E3507204}"/>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D874DADE-CCA3-88ED-3610-867034B83455}"/>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9A3BD62E-5FA3-53FB-1C33-5A04A746AB43}"/>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B0B88CFB-6D69-7614-A38E-B7EF0820FC54}"/>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07EBFDAB-51B1-F6CA-FEC5-9E53D91DC4F5}"/>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9107CFD0-52EB-90DF-A4EA-132D6F0FDB9F}"/>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0D0BCA19-2431-D974-7E1A-18160BD50131}"/>
              </a:ext>
            </a:extLst>
          </p:cNvPr>
          <p:cNvSpPr txBox="1"/>
          <p:nvPr/>
        </p:nvSpPr>
        <p:spPr>
          <a:xfrm>
            <a:off x="1237183" y="3784002"/>
            <a:ext cx="621792"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DMP</a:t>
            </a:r>
            <a:endParaRPr lang="en-US" sz="1400" dirty="0"/>
          </a:p>
        </p:txBody>
      </p:sp>
      <p:sp>
        <p:nvSpPr>
          <p:cNvPr id="55" name="Text 43">
            <a:extLst>
              <a:ext uri="{FF2B5EF4-FFF2-40B4-BE49-F238E27FC236}">
                <a16:creationId xmlns:a16="http://schemas.microsoft.com/office/drawing/2014/main" id="{20223214-6AC0-66BE-8D72-D60BD843935D}"/>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cxnSp>
        <p:nvCxnSpPr>
          <p:cNvPr id="26" name="Straight Arrow Connector 25">
            <a:extLst>
              <a:ext uri="{FF2B5EF4-FFF2-40B4-BE49-F238E27FC236}">
                <a16:creationId xmlns:a16="http://schemas.microsoft.com/office/drawing/2014/main" id="{23F6DF17-F251-1BAC-6112-E199C76DB2F0}"/>
              </a:ext>
            </a:extLst>
          </p:cNvPr>
          <p:cNvCxnSpPr>
            <a:cxnSpLocks/>
            <a:stCxn id="11" idx="2"/>
            <a:endCxn id="35" idx="0"/>
          </p:cNvCxnSpPr>
          <p:nvPr/>
        </p:nvCxnSpPr>
        <p:spPr>
          <a:xfrm>
            <a:off x="1548079" y="3200400"/>
            <a:ext cx="0" cy="58360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 27">
            <a:extLst>
              <a:ext uri="{FF2B5EF4-FFF2-40B4-BE49-F238E27FC236}">
                <a16:creationId xmlns:a16="http://schemas.microsoft.com/office/drawing/2014/main" id="{7995B905-8C9B-6CB1-5067-FB6BB0FF16F2}"/>
              </a:ext>
            </a:extLst>
          </p:cNvPr>
          <p:cNvSpPr txBox="1"/>
          <p:nvPr/>
        </p:nvSpPr>
        <p:spPr>
          <a:xfrm>
            <a:off x="4363935" y="3789381"/>
            <a:ext cx="1255455"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Lab Notebook</a:t>
            </a:r>
            <a:endParaRPr lang="en-US" sz="1400" dirty="0"/>
          </a:p>
        </p:txBody>
      </p:sp>
      <p:cxnSp>
        <p:nvCxnSpPr>
          <p:cNvPr id="36" name="Straight Arrow Connector 35">
            <a:extLst>
              <a:ext uri="{FF2B5EF4-FFF2-40B4-BE49-F238E27FC236}">
                <a16:creationId xmlns:a16="http://schemas.microsoft.com/office/drawing/2014/main" id="{850F4F27-E2ED-6E45-E830-850FB7794224}"/>
              </a:ext>
            </a:extLst>
          </p:cNvPr>
          <p:cNvCxnSpPr>
            <a:cxnSpLocks/>
          </p:cNvCxnSpPr>
          <p:nvPr/>
        </p:nvCxnSpPr>
        <p:spPr>
          <a:xfrm>
            <a:off x="3738981" y="3200400"/>
            <a:ext cx="1218896" cy="497541"/>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020F395-B322-2DE4-C6F2-04DD7875DF1B}"/>
              </a:ext>
            </a:extLst>
          </p:cNvPr>
          <p:cNvCxnSpPr>
            <a:cxnSpLocks/>
            <a:stCxn id="50" idx="2"/>
          </p:cNvCxnSpPr>
          <p:nvPr/>
        </p:nvCxnSpPr>
        <p:spPr>
          <a:xfrm flipH="1">
            <a:off x="5044744" y="3191256"/>
            <a:ext cx="1045161" cy="51475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2" name="Text 27">
            <a:extLst>
              <a:ext uri="{FF2B5EF4-FFF2-40B4-BE49-F238E27FC236}">
                <a16:creationId xmlns:a16="http://schemas.microsoft.com/office/drawing/2014/main" id="{090C4873-47C8-04DF-D73F-FBD44E309F4B}"/>
              </a:ext>
            </a:extLst>
          </p:cNvPr>
          <p:cNvSpPr txBox="1"/>
          <p:nvPr/>
        </p:nvSpPr>
        <p:spPr>
          <a:xfrm>
            <a:off x="7148214" y="3798105"/>
            <a:ext cx="2528531"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Checklists</a:t>
            </a:r>
          </a:p>
          <a:p>
            <a:pPr marL="0" indent="0" algn="ctr">
              <a:buNone/>
            </a:pPr>
            <a:r>
              <a:rPr lang="en-US" sz="1400" b="1" kern="0" spc="110" dirty="0">
                <a:solidFill>
                  <a:srgbClr val="7F7F7F"/>
                </a:solidFill>
                <a:latin typeface="Calibri" pitchFamily="34" charset="0"/>
                <a:cs typeface="Calibri" pitchFamily="34" charset="-120"/>
              </a:rPr>
              <a:t>Minimum information lists</a:t>
            </a:r>
            <a:endParaRPr lang="en-US" sz="1400" dirty="0"/>
          </a:p>
        </p:txBody>
      </p:sp>
      <p:cxnSp>
        <p:nvCxnSpPr>
          <p:cNvPr id="43" name="Straight Arrow Connector 42">
            <a:extLst>
              <a:ext uri="{FF2B5EF4-FFF2-40B4-BE49-F238E27FC236}">
                <a16:creationId xmlns:a16="http://schemas.microsoft.com/office/drawing/2014/main" id="{EB4580D9-A5BC-314A-41C6-EC85CC3213BD}"/>
              </a:ext>
            </a:extLst>
          </p:cNvPr>
          <p:cNvCxnSpPr>
            <a:cxnSpLocks/>
          </p:cNvCxnSpPr>
          <p:nvPr/>
        </p:nvCxnSpPr>
        <p:spPr>
          <a:xfrm>
            <a:off x="8407343" y="3214503"/>
            <a:ext cx="5137" cy="48343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5851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88BD0-8F4C-F4F5-548C-D1ADBED1743F}"/>
            </a:ext>
          </a:extLst>
        </p:cNvPr>
        <p:cNvGrpSpPr/>
        <p:nvPr/>
      </p:nvGrpSpPr>
      <p:grpSpPr>
        <a:xfrm>
          <a:off x="0" y="0"/>
          <a:ext cx="0" cy="0"/>
          <a:chOff x="0" y="0"/>
          <a:chExt cx="0" cy="0"/>
        </a:xfrm>
      </p:grpSpPr>
      <p:sp>
        <p:nvSpPr>
          <p:cNvPr id="50" name="Shape 24">
            <a:extLst>
              <a:ext uri="{FF2B5EF4-FFF2-40B4-BE49-F238E27FC236}">
                <a16:creationId xmlns:a16="http://schemas.microsoft.com/office/drawing/2014/main" id="{B746624D-79D0-75E7-5188-CC7696C80BE2}"/>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7923F7F5-8331-6541-7929-B33179E64AB1}"/>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DD77AE9C-6AE3-DE65-DC2F-D78926297774}"/>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26C19032-37AF-C4DF-8FC1-5D128D0A243F}"/>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462F4053-78EA-8A1F-1C00-AC54BFBAA84B}"/>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D50B3905-AE84-D7AB-26A8-00D9ADC8ED49}"/>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C4667810-C5CE-BE58-4EAC-D68A46278A18}"/>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AFE307CD-039E-19AC-D7CA-93DA80EF9985}"/>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7E461214-C17A-1324-D82A-5555A880E90B}"/>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994CC261-FF06-C157-8823-9CFAE678A81C}"/>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sp>
        <p:nvSpPr>
          <p:cNvPr id="11" name="Shape 8">
            <a:extLst>
              <a:ext uri="{FF2B5EF4-FFF2-40B4-BE49-F238E27FC236}">
                <a16:creationId xmlns:a16="http://schemas.microsoft.com/office/drawing/2014/main" id="{A390AA6F-7721-1C36-E071-31C9EA723319}"/>
              </a:ext>
            </a:extLst>
          </p:cNvPr>
          <p:cNvSpPr/>
          <p:nvPr/>
        </p:nvSpPr>
        <p:spPr>
          <a:xfrm>
            <a:off x="502920"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2" name="Image 1" descr="preencoded.png">
            <a:extLst>
              <a:ext uri="{FF2B5EF4-FFF2-40B4-BE49-F238E27FC236}">
                <a16:creationId xmlns:a16="http://schemas.microsoft.com/office/drawing/2014/main" id="{3FBFBF80-F59F-85F8-CB19-C2A0E9C34781}"/>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9CDDCEBB-D2EE-FA6A-54E1-26BF9DD728F7}"/>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218AB40A-B045-D39F-02B1-EE0B298C1807}"/>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74986997-BE7B-C8C6-16C8-4F59045442E7}"/>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AE3962E0-BC41-8B3E-7E0A-E606FC2B9760}"/>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D963E60C-EB02-6F25-160E-3631E8D65B80}"/>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1EBC2ED4-929A-1A13-1739-ECBE3D1E49AB}"/>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69AB1A6A-D95A-B2F5-066D-A2D413991EAD}"/>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FD416707-4592-EE2D-C4F2-7613F56073EE}"/>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C9DF1D4D-F141-DF0F-9351-99BA82DEB38A}"/>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45AEAF3F-1910-72A6-D99D-BED3F2C9E0E8}"/>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9FCD6B59-7291-986C-A3C6-A8AADE7C7DE5}"/>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A32268DD-C49F-2123-D925-B38CDD9BDC73}"/>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D4C7D456-FDBC-EF81-CF69-F0390F6036A6}"/>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D2919972-9EB4-C9C0-0B13-4E2367CDD0C4}"/>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2F1D8452-B2F9-D37D-0466-4DE82D9D9291}"/>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44FD645F-AF26-D44B-7412-B6B4C51E2928}"/>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3A26676B-3912-CEAC-CA88-98B62B8E24D3}"/>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D8D5F4A4-6354-D0B2-0576-6BBBED3F0FD1}"/>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6B753B88-513B-BD34-8C47-D48A517A4CBB}"/>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ACC657D7-95A2-227D-1A51-EF07288F34CB}"/>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C446286C-13BE-719D-651D-CF5D4499ED3D}"/>
              </a:ext>
            </a:extLst>
          </p:cNvPr>
          <p:cNvSpPr txBox="1"/>
          <p:nvPr/>
        </p:nvSpPr>
        <p:spPr>
          <a:xfrm>
            <a:off x="1237183" y="3784002"/>
            <a:ext cx="621792"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DMP</a:t>
            </a:r>
            <a:endParaRPr lang="en-US" sz="1400" dirty="0"/>
          </a:p>
        </p:txBody>
      </p:sp>
      <p:sp>
        <p:nvSpPr>
          <p:cNvPr id="55" name="Text 43">
            <a:extLst>
              <a:ext uri="{FF2B5EF4-FFF2-40B4-BE49-F238E27FC236}">
                <a16:creationId xmlns:a16="http://schemas.microsoft.com/office/drawing/2014/main" id="{9823CDC7-EE52-61BA-80F5-0DB66901527F}"/>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cxnSp>
        <p:nvCxnSpPr>
          <p:cNvPr id="26" name="Straight Arrow Connector 25">
            <a:extLst>
              <a:ext uri="{FF2B5EF4-FFF2-40B4-BE49-F238E27FC236}">
                <a16:creationId xmlns:a16="http://schemas.microsoft.com/office/drawing/2014/main" id="{69C003D0-E56B-A1FF-5E0F-9515A60655E0}"/>
              </a:ext>
            </a:extLst>
          </p:cNvPr>
          <p:cNvCxnSpPr>
            <a:cxnSpLocks/>
            <a:stCxn id="11" idx="2"/>
            <a:endCxn id="35" idx="0"/>
          </p:cNvCxnSpPr>
          <p:nvPr/>
        </p:nvCxnSpPr>
        <p:spPr>
          <a:xfrm>
            <a:off x="1548079" y="3200400"/>
            <a:ext cx="0" cy="58360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 27">
            <a:extLst>
              <a:ext uri="{FF2B5EF4-FFF2-40B4-BE49-F238E27FC236}">
                <a16:creationId xmlns:a16="http://schemas.microsoft.com/office/drawing/2014/main" id="{F41D5681-1131-BD1B-6757-CE4E933D2CCF}"/>
              </a:ext>
            </a:extLst>
          </p:cNvPr>
          <p:cNvSpPr txBox="1"/>
          <p:nvPr/>
        </p:nvSpPr>
        <p:spPr>
          <a:xfrm>
            <a:off x="4363935" y="3789381"/>
            <a:ext cx="1255455"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Lab Notebook</a:t>
            </a:r>
            <a:endParaRPr lang="en-US" sz="1400" dirty="0"/>
          </a:p>
        </p:txBody>
      </p:sp>
      <p:cxnSp>
        <p:nvCxnSpPr>
          <p:cNvPr id="36" name="Straight Arrow Connector 35">
            <a:extLst>
              <a:ext uri="{FF2B5EF4-FFF2-40B4-BE49-F238E27FC236}">
                <a16:creationId xmlns:a16="http://schemas.microsoft.com/office/drawing/2014/main" id="{0F3C05DE-1D3F-FF3C-0B9F-5AA43A0BE98D}"/>
              </a:ext>
            </a:extLst>
          </p:cNvPr>
          <p:cNvCxnSpPr>
            <a:cxnSpLocks/>
          </p:cNvCxnSpPr>
          <p:nvPr/>
        </p:nvCxnSpPr>
        <p:spPr>
          <a:xfrm>
            <a:off x="3738981" y="3200400"/>
            <a:ext cx="1218896" cy="497541"/>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3DE6E844-A303-F158-AF1F-A3B100175591}"/>
              </a:ext>
            </a:extLst>
          </p:cNvPr>
          <p:cNvCxnSpPr>
            <a:cxnSpLocks/>
            <a:stCxn id="50" idx="2"/>
          </p:cNvCxnSpPr>
          <p:nvPr/>
        </p:nvCxnSpPr>
        <p:spPr>
          <a:xfrm flipH="1">
            <a:off x="5044744" y="3191256"/>
            <a:ext cx="1045161" cy="51475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2" name="Text 27">
            <a:extLst>
              <a:ext uri="{FF2B5EF4-FFF2-40B4-BE49-F238E27FC236}">
                <a16:creationId xmlns:a16="http://schemas.microsoft.com/office/drawing/2014/main" id="{538714A6-7101-2E5F-E015-601CA71CA575}"/>
              </a:ext>
            </a:extLst>
          </p:cNvPr>
          <p:cNvSpPr txBox="1"/>
          <p:nvPr/>
        </p:nvSpPr>
        <p:spPr>
          <a:xfrm>
            <a:off x="7148214" y="3798105"/>
            <a:ext cx="2528531"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Checklists</a:t>
            </a:r>
          </a:p>
          <a:p>
            <a:pPr marL="0" indent="0" algn="ctr">
              <a:buNone/>
            </a:pPr>
            <a:r>
              <a:rPr lang="en-US" sz="1400" b="1" kern="0" spc="110" dirty="0">
                <a:solidFill>
                  <a:srgbClr val="7F7F7F"/>
                </a:solidFill>
                <a:latin typeface="Calibri" pitchFamily="34" charset="0"/>
                <a:cs typeface="Calibri" pitchFamily="34" charset="-120"/>
              </a:rPr>
              <a:t>Minimum information lists</a:t>
            </a:r>
            <a:endParaRPr lang="en-US" sz="1400" dirty="0"/>
          </a:p>
        </p:txBody>
      </p:sp>
      <p:cxnSp>
        <p:nvCxnSpPr>
          <p:cNvPr id="43" name="Straight Arrow Connector 42">
            <a:extLst>
              <a:ext uri="{FF2B5EF4-FFF2-40B4-BE49-F238E27FC236}">
                <a16:creationId xmlns:a16="http://schemas.microsoft.com/office/drawing/2014/main" id="{9DB6DF94-5BD2-AEE2-3381-DC4C9CA9D56A}"/>
              </a:ext>
            </a:extLst>
          </p:cNvPr>
          <p:cNvCxnSpPr>
            <a:cxnSpLocks/>
          </p:cNvCxnSpPr>
          <p:nvPr/>
        </p:nvCxnSpPr>
        <p:spPr>
          <a:xfrm>
            <a:off x="8407343" y="3214503"/>
            <a:ext cx="5137" cy="48343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7" name="Right Brace 46">
            <a:extLst>
              <a:ext uri="{FF2B5EF4-FFF2-40B4-BE49-F238E27FC236}">
                <a16:creationId xmlns:a16="http://schemas.microsoft.com/office/drawing/2014/main" id="{2BB4B52B-1E89-3375-A651-11E18C9FF5DA}"/>
              </a:ext>
            </a:extLst>
          </p:cNvPr>
          <p:cNvSpPr/>
          <p:nvPr/>
        </p:nvSpPr>
        <p:spPr>
          <a:xfrm rot="5400000">
            <a:off x="9684921" y="2958089"/>
            <a:ext cx="352043" cy="3247841"/>
          </a:xfrm>
          <a:prstGeom prst="righ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8" name="Text 27">
            <a:extLst>
              <a:ext uri="{FF2B5EF4-FFF2-40B4-BE49-F238E27FC236}">
                <a16:creationId xmlns:a16="http://schemas.microsoft.com/office/drawing/2014/main" id="{5953817E-E90D-70CE-EF68-C0028B029653}"/>
              </a:ext>
            </a:extLst>
          </p:cNvPr>
          <p:cNvSpPr txBox="1"/>
          <p:nvPr/>
        </p:nvSpPr>
        <p:spPr>
          <a:xfrm>
            <a:off x="8596676" y="4823858"/>
            <a:ext cx="2528531"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FAIR data principle</a:t>
            </a:r>
          </a:p>
        </p:txBody>
      </p:sp>
    </p:spTree>
    <p:extLst>
      <p:ext uri="{BB962C8B-B14F-4D97-AF65-F5344CB8AC3E}">
        <p14:creationId xmlns:p14="http://schemas.microsoft.com/office/powerpoint/2010/main" val="1832591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F6577-8AAA-0D75-5A50-43739E6F22C6}"/>
            </a:ext>
          </a:extLst>
        </p:cNvPr>
        <p:cNvGrpSpPr/>
        <p:nvPr/>
      </p:nvGrpSpPr>
      <p:grpSpPr>
        <a:xfrm>
          <a:off x="0" y="0"/>
          <a:ext cx="0" cy="0"/>
          <a:chOff x="0" y="0"/>
          <a:chExt cx="0" cy="0"/>
        </a:xfrm>
      </p:grpSpPr>
      <p:sp>
        <p:nvSpPr>
          <p:cNvPr id="50" name="Shape 24">
            <a:extLst>
              <a:ext uri="{FF2B5EF4-FFF2-40B4-BE49-F238E27FC236}">
                <a16:creationId xmlns:a16="http://schemas.microsoft.com/office/drawing/2014/main" id="{6AE9DD2D-4329-45F2-7D24-055EE9039DCB}"/>
              </a:ext>
            </a:extLst>
          </p:cNvPr>
          <p:cNvSpPr/>
          <p:nvPr/>
        </p:nvSpPr>
        <p:spPr>
          <a:xfrm>
            <a:off x="5044746" y="1408176"/>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9" name="Shape 24">
            <a:extLst>
              <a:ext uri="{FF2B5EF4-FFF2-40B4-BE49-F238E27FC236}">
                <a16:creationId xmlns:a16="http://schemas.microsoft.com/office/drawing/2014/main" id="{C03415EC-03B3-90E7-F5EC-AD412B58AD11}"/>
              </a:ext>
            </a:extLst>
          </p:cNvPr>
          <p:cNvSpPr/>
          <p:nvPr/>
        </p:nvSpPr>
        <p:spPr>
          <a:xfrm>
            <a:off x="7313372" y="1426668"/>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sp>
        <p:nvSpPr>
          <p:cNvPr id="2" name="Shape 0">
            <a:extLst>
              <a:ext uri="{FF2B5EF4-FFF2-40B4-BE49-F238E27FC236}">
                <a16:creationId xmlns:a16="http://schemas.microsoft.com/office/drawing/2014/main" id="{8A759AFA-C313-2215-2A58-943DDADEA9E5}"/>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312DCB5D-9BF2-0115-B822-7B58EF7FEC59}"/>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213F2F45-F772-33D3-07A5-F3CFC73616CD}"/>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17A25E21-06EA-44D5-92B3-C060AD0C8AB7}"/>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8</a:t>
            </a:r>
            <a:endParaRPr lang="en-US" sz="900" dirty="0"/>
          </a:p>
        </p:txBody>
      </p:sp>
      <p:sp>
        <p:nvSpPr>
          <p:cNvPr id="6" name="Text 3">
            <a:extLst>
              <a:ext uri="{FF2B5EF4-FFF2-40B4-BE49-F238E27FC236}">
                <a16:creationId xmlns:a16="http://schemas.microsoft.com/office/drawing/2014/main" id="{FD904B99-D5CD-8FE9-276B-059ECF841BB8}"/>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data life cycle</a:t>
            </a:r>
            <a:endParaRPr lang="en-US" sz="2000" dirty="0"/>
          </a:p>
        </p:txBody>
      </p:sp>
      <p:sp>
        <p:nvSpPr>
          <p:cNvPr id="7" name="Text 4">
            <a:extLst>
              <a:ext uri="{FF2B5EF4-FFF2-40B4-BE49-F238E27FC236}">
                <a16:creationId xmlns:a16="http://schemas.microsoft.com/office/drawing/2014/main" id="{9F4BB8A6-92E4-9D16-6AC1-37C6A7FE99A3}"/>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DATAONE MODEL</a:t>
            </a:r>
            <a:endParaRPr lang="en-US" sz="1150" dirty="0"/>
          </a:p>
        </p:txBody>
      </p:sp>
      <p:sp>
        <p:nvSpPr>
          <p:cNvPr id="8" name="Shape 5">
            <a:extLst>
              <a:ext uri="{FF2B5EF4-FFF2-40B4-BE49-F238E27FC236}">
                <a16:creationId xmlns:a16="http://schemas.microsoft.com/office/drawing/2014/main" id="{CAFDDA56-CB51-4B19-5F74-4FB40330269C}"/>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Text 7">
            <a:extLst>
              <a:ext uri="{FF2B5EF4-FFF2-40B4-BE49-F238E27FC236}">
                <a16:creationId xmlns:a16="http://schemas.microsoft.com/office/drawing/2014/main" id="{D5D5996B-6B92-9E14-E521-0B5E2F728DAD}"/>
              </a:ext>
            </a:extLst>
          </p:cNvPr>
          <p:cNvSpPr txBox="1"/>
          <p:nvPr/>
        </p:nvSpPr>
        <p:spPr>
          <a:xfrm>
            <a:off x="502920" y="1170432"/>
            <a:ext cx="7315200" cy="237744"/>
          </a:xfrm>
          <a:prstGeom prst="rect">
            <a:avLst/>
          </a:prstGeom>
          <a:noFill/>
          <a:ln/>
        </p:spPr>
        <p:txBody>
          <a:bodyPr wrap="square" lIns="0" tIns="0" rIns="0" bIns="0" rtlCol="0" anchor="ctr"/>
          <a:lstStyle/>
          <a:p>
            <a:pPr marL="0" indent="0">
              <a:buNone/>
            </a:pPr>
            <a:r>
              <a:rPr lang="en-US" sz="1400" b="1" kern="0" spc="110" dirty="0">
                <a:solidFill>
                  <a:srgbClr val="7F7F7F"/>
                </a:solidFill>
                <a:latin typeface="Calibri" pitchFamily="34" charset="0"/>
                <a:ea typeface="Calibri" pitchFamily="34" charset="-122"/>
                <a:cs typeface="Calibri" pitchFamily="34" charset="-120"/>
              </a:rPr>
              <a:t>WHEN YOU GENERATE THE DATA YOURSELF</a:t>
            </a:r>
            <a:endParaRPr lang="en-US" sz="1400" dirty="0"/>
          </a:p>
        </p:txBody>
      </p:sp>
      <p:sp>
        <p:nvSpPr>
          <p:cNvPr id="11" name="Shape 8">
            <a:extLst>
              <a:ext uri="{FF2B5EF4-FFF2-40B4-BE49-F238E27FC236}">
                <a16:creationId xmlns:a16="http://schemas.microsoft.com/office/drawing/2014/main" id="{82D9C30B-8F81-C99F-65E9-E8033F62B178}"/>
              </a:ext>
            </a:extLst>
          </p:cNvPr>
          <p:cNvSpPr/>
          <p:nvPr/>
        </p:nvSpPr>
        <p:spPr>
          <a:xfrm>
            <a:off x="502920"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2" name="Image 1" descr="preencoded.png">
            <a:extLst>
              <a:ext uri="{FF2B5EF4-FFF2-40B4-BE49-F238E27FC236}">
                <a16:creationId xmlns:a16="http://schemas.microsoft.com/office/drawing/2014/main" id="{D7F922DA-8F21-2245-0D95-F33E5B0A86D4}"/>
              </a:ext>
            </a:extLst>
          </p:cNvPr>
          <p:cNvPicPr>
            <a:picLocks noChangeAspect="1"/>
          </p:cNvPicPr>
          <p:nvPr/>
        </p:nvPicPr>
        <p:blipFill>
          <a:blip r:embed="rId4"/>
          <a:stretch>
            <a:fillRect/>
          </a:stretch>
        </p:blipFill>
        <p:spPr>
          <a:xfrm>
            <a:off x="704088" y="1600200"/>
            <a:ext cx="420624" cy="420624"/>
          </a:xfrm>
          <a:prstGeom prst="rect">
            <a:avLst/>
          </a:prstGeom>
        </p:spPr>
      </p:pic>
      <p:sp>
        <p:nvSpPr>
          <p:cNvPr id="13" name="Text 9">
            <a:extLst>
              <a:ext uri="{FF2B5EF4-FFF2-40B4-BE49-F238E27FC236}">
                <a16:creationId xmlns:a16="http://schemas.microsoft.com/office/drawing/2014/main" id="{D8BE2F99-CC97-EE3C-3ECA-EB451D9546D2}"/>
              </a:ext>
            </a:extLst>
          </p:cNvPr>
          <p:cNvSpPr txBox="1"/>
          <p:nvPr/>
        </p:nvSpPr>
        <p:spPr>
          <a:xfrm>
            <a:off x="1280160"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Plan</a:t>
            </a:r>
            <a:endParaRPr lang="en-US" sz="1500" dirty="0"/>
          </a:p>
        </p:txBody>
      </p:sp>
      <p:sp>
        <p:nvSpPr>
          <p:cNvPr id="14" name="Text 10">
            <a:extLst>
              <a:ext uri="{FF2B5EF4-FFF2-40B4-BE49-F238E27FC236}">
                <a16:creationId xmlns:a16="http://schemas.microsoft.com/office/drawing/2014/main" id="{11AC81BE-3400-4367-C037-52B82F8ECDCE}"/>
              </a:ext>
            </a:extLst>
          </p:cNvPr>
          <p:cNvSpPr txBox="1"/>
          <p:nvPr/>
        </p:nvSpPr>
        <p:spPr>
          <a:xfrm>
            <a:off x="704088"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How the data will be managed and kept usable over their lifetime.</a:t>
            </a:r>
            <a:endParaRPr lang="en-US" sz="1200" dirty="0"/>
          </a:p>
        </p:txBody>
      </p:sp>
      <p:sp>
        <p:nvSpPr>
          <p:cNvPr id="15" name="Shape 11">
            <a:extLst>
              <a:ext uri="{FF2B5EF4-FFF2-40B4-BE49-F238E27FC236}">
                <a16:creationId xmlns:a16="http://schemas.microsoft.com/office/drawing/2014/main" id="{6503D706-AC1D-8431-A6FD-0EDFFB40ACC5}"/>
              </a:ext>
            </a:extLst>
          </p:cNvPr>
          <p:cNvSpPr/>
          <p:nvPr/>
        </p:nvSpPr>
        <p:spPr>
          <a:xfrm>
            <a:off x="2606954"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16" name="Shape 12">
            <a:extLst>
              <a:ext uri="{FF2B5EF4-FFF2-40B4-BE49-F238E27FC236}">
                <a16:creationId xmlns:a16="http://schemas.microsoft.com/office/drawing/2014/main" id="{64CD15AA-B841-EB1C-BC08-2A63D16BAA56}"/>
              </a:ext>
            </a:extLst>
          </p:cNvPr>
          <p:cNvSpPr/>
          <p:nvPr/>
        </p:nvSpPr>
        <p:spPr>
          <a:xfrm>
            <a:off x="2776118"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17" name="Image 2" descr="preencoded.png">
            <a:extLst>
              <a:ext uri="{FF2B5EF4-FFF2-40B4-BE49-F238E27FC236}">
                <a16:creationId xmlns:a16="http://schemas.microsoft.com/office/drawing/2014/main" id="{502BEB39-E6A8-0F49-00EC-3FECB1440D1E}"/>
              </a:ext>
            </a:extLst>
          </p:cNvPr>
          <p:cNvPicPr>
            <a:picLocks noChangeAspect="1"/>
          </p:cNvPicPr>
          <p:nvPr/>
        </p:nvPicPr>
        <p:blipFill>
          <a:blip r:embed="rId5"/>
          <a:stretch>
            <a:fillRect/>
          </a:stretch>
        </p:blipFill>
        <p:spPr>
          <a:xfrm>
            <a:off x="2977286" y="1600200"/>
            <a:ext cx="420624" cy="420624"/>
          </a:xfrm>
          <a:prstGeom prst="rect">
            <a:avLst/>
          </a:prstGeom>
        </p:spPr>
      </p:pic>
      <p:sp>
        <p:nvSpPr>
          <p:cNvPr id="18" name="Text 13">
            <a:extLst>
              <a:ext uri="{FF2B5EF4-FFF2-40B4-BE49-F238E27FC236}">
                <a16:creationId xmlns:a16="http://schemas.microsoft.com/office/drawing/2014/main" id="{27D82342-CA94-00CD-A733-6FAAD1ABBF31}"/>
              </a:ext>
            </a:extLst>
          </p:cNvPr>
          <p:cNvSpPr txBox="1"/>
          <p:nvPr/>
        </p:nvSpPr>
        <p:spPr>
          <a:xfrm>
            <a:off x="3553358"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Collect</a:t>
            </a:r>
            <a:endParaRPr lang="en-US" sz="1500" dirty="0"/>
          </a:p>
        </p:txBody>
      </p:sp>
      <p:sp>
        <p:nvSpPr>
          <p:cNvPr id="19" name="Text 14">
            <a:extLst>
              <a:ext uri="{FF2B5EF4-FFF2-40B4-BE49-F238E27FC236}">
                <a16:creationId xmlns:a16="http://schemas.microsoft.com/office/drawing/2014/main" id="{40F9F277-E077-B297-5495-50FC17AE62B3}"/>
              </a:ext>
            </a:extLst>
          </p:cNvPr>
          <p:cNvSpPr txBox="1"/>
          <p:nvPr/>
        </p:nvSpPr>
        <p:spPr>
          <a:xfrm>
            <a:off x="2977286"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Observations recorded by hand or by instrument, and put into digital form.</a:t>
            </a:r>
            <a:endParaRPr lang="en-US" sz="1200" dirty="0"/>
          </a:p>
        </p:txBody>
      </p:sp>
      <p:sp>
        <p:nvSpPr>
          <p:cNvPr id="20" name="Shape 15">
            <a:extLst>
              <a:ext uri="{FF2B5EF4-FFF2-40B4-BE49-F238E27FC236}">
                <a16:creationId xmlns:a16="http://schemas.microsoft.com/office/drawing/2014/main" id="{4F5F84F0-A6D5-68B7-37D0-0456EA1A8039}"/>
              </a:ext>
            </a:extLst>
          </p:cNvPr>
          <p:cNvSpPr/>
          <p:nvPr/>
        </p:nvSpPr>
        <p:spPr>
          <a:xfrm>
            <a:off x="4880153"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2" name="Image 3" descr="preencoded.png">
            <a:extLst>
              <a:ext uri="{FF2B5EF4-FFF2-40B4-BE49-F238E27FC236}">
                <a16:creationId xmlns:a16="http://schemas.microsoft.com/office/drawing/2014/main" id="{1C42310D-9246-D2DB-7472-E31D5FBEECBE}"/>
              </a:ext>
            </a:extLst>
          </p:cNvPr>
          <p:cNvPicPr>
            <a:picLocks noChangeAspect="1"/>
          </p:cNvPicPr>
          <p:nvPr/>
        </p:nvPicPr>
        <p:blipFill>
          <a:blip r:embed="rId6"/>
          <a:stretch>
            <a:fillRect/>
          </a:stretch>
        </p:blipFill>
        <p:spPr>
          <a:xfrm>
            <a:off x="5250485" y="1600200"/>
            <a:ext cx="420624" cy="420624"/>
          </a:xfrm>
          <a:prstGeom prst="rect">
            <a:avLst/>
          </a:prstGeom>
        </p:spPr>
      </p:pic>
      <p:sp>
        <p:nvSpPr>
          <p:cNvPr id="23" name="Text 17">
            <a:extLst>
              <a:ext uri="{FF2B5EF4-FFF2-40B4-BE49-F238E27FC236}">
                <a16:creationId xmlns:a16="http://schemas.microsoft.com/office/drawing/2014/main" id="{5E4BFA91-6330-2F63-DC8C-8B06C14B44F0}"/>
              </a:ext>
            </a:extLst>
          </p:cNvPr>
          <p:cNvSpPr txBox="1"/>
          <p:nvPr/>
        </p:nvSpPr>
        <p:spPr>
          <a:xfrm>
            <a:off x="5826557"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Assure</a:t>
            </a:r>
            <a:endParaRPr lang="en-US" sz="1500" dirty="0"/>
          </a:p>
        </p:txBody>
      </p:sp>
      <p:sp>
        <p:nvSpPr>
          <p:cNvPr id="24" name="Text 18">
            <a:extLst>
              <a:ext uri="{FF2B5EF4-FFF2-40B4-BE49-F238E27FC236}">
                <a16:creationId xmlns:a16="http://schemas.microsoft.com/office/drawing/2014/main" id="{28B0D6A4-64E9-03D1-3036-FD5FAFB6B30E}"/>
              </a:ext>
            </a:extLst>
          </p:cNvPr>
          <p:cNvSpPr txBox="1"/>
          <p:nvPr/>
        </p:nvSpPr>
        <p:spPr>
          <a:xfrm>
            <a:off x="5250485"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Quality established through checks and inspections.</a:t>
            </a:r>
            <a:endParaRPr lang="en-US" sz="1200" dirty="0"/>
          </a:p>
        </p:txBody>
      </p:sp>
      <p:sp>
        <p:nvSpPr>
          <p:cNvPr id="25" name="Shape 19">
            <a:extLst>
              <a:ext uri="{FF2B5EF4-FFF2-40B4-BE49-F238E27FC236}">
                <a16:creationId xmlns:a16="http://schemas.microsoft.com/office/drawing/2014/main" id="{1A7D6C39-22C7-F5B8-05E5-0ED2854F1B5B}"/>
              </a:ext>
            </a:extLst>
          </p:cNvPr>
          <p:cNvSpPr/>
          <p:nvPr/>
        </p:nvSpPr>
        <p:spPr>
          <a:xfrm>
            <a:off x="7153351" y="2194560"/>
            <a:ext cx="155448" cy="219456"/>
          </a:xfrm>
          <a:prstGeom prst="rightArrow">
            <a:avLst/>
          </a:prstGeom>
          <a:solidFill>
            <a:srgbClr val="C00000"/>
          </a:solidFill>
          <a:ln w="12700">
            <a:solidFill>
              <a:srgbClr val="C00000"/>
            </a:solidFill>
            <a:prstDash val="solid"/>
          </a:ln>
        </p:spPr>
        <p:txBody>
          <a:bodyPr/>
          <a:lstStyle/>
          <a:p>
            <a:endParaRPr lang="en-US"/>
          </a:p>
        </p:txBody>
      </p:sp>
      <p:pic>
        <p:nvPicPr>
          <p:cNvPr id="27" name="Image 4" descr="preencoded.png">
            <a:extLst>
              <a:ext uri="{FF2B5EF4-FFF2-40B4-BE49-F238E27FC236}">
                <a16:creationId xmlns:a16="http://schemas.microsoft.com/office/drawing/2014/main" id="{5A99D0B1-E767-CFB6-6625-378AE4C2523B}"/>
              </a:ext>
            </a:extLst>
          </p:cNvPr>
          <p:cNvPicPr>
            <a:picLocks noChangeAspect="1"/>
          </p:cNvPicPr>
          <p:nvPr/>
        </p:nvPicPr>
        <p:blipFill>
          <a:blip r:embed="rId7"/>
          <a:stretch>
            <a:fillRect/>
          </a:stretch>
        </p:blipFill>
        <p:spPr>
          <a:xfrm>
            <a:off x="7523683" y="1600200"/>
            <a:ext cx="420624" cy="420624"/>
          </a:xfrm>
          <a:prstGeom prst="rect">
            <a:avLst/>
          </a:prstGeom>
        </p:spPr>
      </p:pic>
      <p:sp>
        <p:nvSpPr>
          <p:cNvPr id="28" name="Text 21">
            <a:extLst>
              <a:ext uri="{FF2B5EF4-FFF2-40B4-BE49-F238E27FC236}">
                <a16:creationId xmlns:a16="http://schemas.microsoft.com/office/drawing/2014/main" id="{89672834-D3A5-50EE-2B6F-B662A08A19A5}"/>
              </a:ext>
            </a:extLst>
          </p:cNvPr>
          <p:cNvSpPr txBox="1"/>
          <p:nvPr/>
        </p:nvSpPr>
        <p:spPr>
          <a:xfrm>
            <a:off x="8099755"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Describe</a:t>
            </a:r>
            <a:endParaRPr lang="en-US" sz="1500" dirty="0"/>
          </a:p>
        </p:txBody>
      </p:sp>
      <p:sp>
        <p:nvSpPr>
          <p:cNvPr id="29" name="Text 22">
            <a:extLst>
              <a:ext uri="{FF2B5EF4-FFF2-40B4-BE49-F238E27FC236}">
                <a16:creationId xmlns:a16="http://schemas.microsoft.com/office/drawing/2014/main" id="{5A21B54E-6960-CE21-4ACC-A735DF0D709C}"/>
              </a:ext>
            </a:extLst>
          </p:cNvPr>
          <p:cNvSpPr txBox="1"/>
          <p:nvPr/>
        </p:nvSpPr>
        <p:spPr>
          <a:xfrm>
            <a:off x="7523683"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Documented using an appropriate metadata standard.</a:t>
            </a:r>
            <a:endParaRPr lang="en-US" sz="1200" dirty="0"/>
          </a:p>
        </p:txBody>
      </p:sp>
      <p:sp>
        <p:nvSpPr>
          <p:cNvPr id="30" name="Shape 23">
            <a:extLst>
              <a:ext uri="{FF2B5EF4-FFF2-40B4-BE49-F238E27FC236}">
                <a16:creationId xmlns:a16="http://schemas.microsoft.com/office/drawing/2014/main" id="{4C2F338F-5CA9-70C0-A094-F5A91D34D29F}"/>
              </a:ext>
            </a:extLst>
          </p:cNvPr>
          <p:cNvSpPr/>
          <p:nvPr/>
        </p:nvSpPr>
        <p:spPr>
          <a:xfrm>
            <a:off x="9426550" y="2194560"/>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31" name="Shape 24">
            <a:extLst>
              <a:ext uri="{FF2B5EF4-FFF2-40B4-BE49-F238E27FC236}">
                <a16:creationId xmlns:a16="http://schemas.microsoft.com/office/drawing/2014/main" id="{DCC0096C-A148-ACEB-C1FC-13D42181BF24}"/>
              </a:ext>
            </a:extLst>
          </p:cNvPr>
          <p:cNvSpPr/>
          <p:nvPr/>
        </p:nvSpPr>
        <p:spPr>
          <a:xfrm>
            <a:off x="9595714" y="1417320"/>
            <a:ext cx="2090318" cy="1783080"/>
          </a:xfrm>
          <a:prstGeom prst="roundRect">
            <a:avLst>
              <a:gd name="adj" fmla="val 4103"/>
            </a:avLst>
          </a:prstGeom>
          <a:solidFill>
            <a:srgbClr val="FFFFFF"/>
          </a:solidFill>
          <a:ln w="12700">
            <a:solidFill>
              <a:srgbClr val="DCDCDC"/>
            </a:solidFill>
            <a:prstDash val="solid"/>
          </a:ln>
        </p:spPr>
        <p:txBody>
          <a:bodyPr/>
          <a:lstStyle/>
          <a:p>
            <a:endParaRPr lang="en-US"/>
          </a:p>
        </p:txBody>
      </p:sp>
      <p:pic>
        <p:nvPicPr>
          <p:cNvPr id="32" name="Image 5" descr="preencoded.png">
            <a:extLst>
              <a:ext uri="{FF2B5EF4-FFF2-40B4-BE49-F238E27FC236}">
                <a16:creationId xmlns:a16="http://schemas.microsoft.com/office/drawing/2014/main" id="{10734049-C650-4209-3779-C651579927CF}"/>
              </a:ext>
            </a:extLst>
          </p:cNvPr>
          <p:cNvPicPr>
            <a:picLocks noChangeAspect="1"/>
          </p:cNvPicPr>
          <p:nvPr/>
        </p:nvPicPr>
        <p:blipFill>
          <a:blip r:embed="rId8"/>
          <a:stretch>
            <a:fillRect/>
          </a:stretch>
        </p:blipFill>
        <p:spPr>
          <a:xfrm>
            <a:off x="9796882" y="1600200"/>
            <a:ext cx="420624" cy="420624"/>
          </a:xfrm>
          <a:prstGeom prst="rect">
            <a:avLst/>
          </a:prstGeom>
        </p:spPr>
      </p:pic>
      <p:sp>
        <p:nvSpPr>
          <p:cNvPr id="33" name="Text 25">
            <a:extLst>
              <a:ext uri="{FF2B5EF4-FFF2-40B4-BE49-F238E27FC236}">
                <a16:creationId xmlns:a16="http://schemas.microsoft.com/office/drawing/2014/main" id="{2EA7B2AA-3C02-CE7C-5888-587EA6FEE3B5}"/>
              </a:ext>
            </a:extLst>
          </p:cNvPr>
          <p:cNvSpPr txBox="1"/>
          <p:nvPr/>
        </p:nvSpPr>
        <p:spPr>
          <a:xfrm>
            <a:off x="10372954" y="1600200"/>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Preserve</a:t>
            </a:r>
            <a:endParaRPr lang="en-US" sz="1500" dirty="0"/>
          </a:p>
        </p:txBody>
      </p:sp>
      <p:sp>
        <p:nvSpPr>
          <p:cNvPr id="34" name="Text 26">
            <a:extLst>
              <a:ext uri="{FF2B5EF4-FFF2-40B4-BE49-F238E27FC236}">
                <a16:creationId xmlns:a16="http://schemas.microsoft.com/office/drawing/2014/main" id="{6FE07578-40C3-DB27-5BDA-F6502FE8422C}"/>
              </a:ext>
            </a:extLst>
          </p:cNvPr>
          <p:cNvSpPr txBox="1"/>
          <p:nvPr/>
        </p:nvSpPr>
        <p:spPr>
          <a:xfrm>
            <a:off x="9796882" y="2148840"/>
            <a:ext cx="1687982" cy="91440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Deposited in an appropriate long-term archive.</a:t>
            </a:r>
            <a:endParaRPr lang="en-US" sz="1200" dirty="0"/>
          </a:p>
        </p:txBody>
      </p:sp>
      <p:sp>
        <p:nvSpPr>
          <p:cNvPr id="35" name="Text 27">
            <a:extLst>
              <a:ext uri="{FF2B5EF4-FFF2-40B4-BE49-F238E27FC236}">
                <a16:creationId xmlns:a16="http://schemas.microsoft.com/office/drawing/2014/main" id="{67679B2E-68DE-C080-78C5-968A02193228}"/>
              </a:ext>
            </a:extLst>
          </p:cNvPr>
          <p:cNvSpPr txBox="1"/>
          <p:nvPr/>
        </p:nvSpPr>
        <p:spPr>
          <a:xfrm>
            <a:off x="1237183" y="3784002"/>
            <a:ext cx="621792"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DMP</a:t>
            </a:r>
            <a:endParaRPr lang="en-US" sz="1400" dirty="0"/>
          </a:p>
        </p:txBody>
      </p:sp>
      <p:sp>
        <p:nvSpPr>
          <p:cNvPr id="55" name="Text 43">
            <a:extLst>
              <a:ext uri="{FF2B5EF4-FFF2-40B4-BE49-F238E27FC236}">
                <a16:creationId xmlns:a16="http://schemas.microsoft.com/office/drawing/2014/main" id="{08123A22-25E2-0F39-81F0-EC4538DA0552}"/>
              </a:ext>
            </a:extLst>
          </p:cNvPr>
          <p:cNvSpPr txBox="1"/>
          <p:nvPr/>
        </p:nvSpPr>
        <p:spPr>
          <a:xfrm>
            <a:off x="8736178" y="6185916"/>
            <a:ext cx="3273552" cy="365760"/>
          </a:xfrm>
          <a:prstGeom prst="rect">
            <a:avLst/>
          </a:prstGeom>
          <a:noFill/>
          <a:ln/>
        </p:spPr>
        <p:txBody>
          <a:bodyPr wrap="square" lIns="0" tIns="0" rIns="0" bIns="0"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Source: DataONE Data Life Cycle</a:t>
            </a:r>
            <a:endParaRPr lang="en-US" sz="1000" dirty="0"/>
          </a:p>
        </p:txBody>
      </p:sp>
      <p:cxnSp>
        <p:nvCxnSpPr>
          <p:cNvPr id="26" name="Straight Arrow Connector 25">
            <a:extLst>
              <a:ext uri="{FF2B5EF4-FFF2-40B4-BE49-F238E27FC236}">
                <a16:creationId xmlns:a16="http://schemas.microsoft.com/office/drawing/2014/main" id="{E26C0AE9-F32D-7AD7-CD03-314CCE2AF70A}"/>
              </a:ext>
            </a:extLst>
          </p:cNvPr>
          <p:cNvCxnSpPr>
            <a:cxnSpLocks/>
            <a:stCxn id="11" idx="2"/>
            <a:endCxn id="35" idx="0"/>
          </p:cNvCxnSpPr>
          <p:nvPr/>
        </p:nvCxnSpPr>
        <p:spPr>
          <a:xfrm>
            <a:off x="1548079" y="3200400"/>
            <a:ext cx="0" cy="58360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 27">
            <a:extLst>
              <a:ext uri="{FF2B5EF4-FFF2-40B4-BE49-F238E27FC236}">
                <a16:creationId xmlns:a16="http://schemas.microsoft.com/office/drawing/2014/main" id="{E5578568-8B73-A3AF-49C5-AF0A9BDBB183}"/>
              </a:ext>
            </a:extLst>
          </p:cNvPr>
          <p:cNvSpPr txBox="1"/>
          <p:nvPr/>
        </p:nvSpPr>
        <p:spPr>
          <a:xfrm>
            <a:off x="4363935" y="3789381"/>
            <a:ext cx="1255455"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Lab Notebook</a:t>
            </a:r>
            <a:endParaRPr lang="en-US" sz="1400" dirty="0"/>
          </a:p>
        </p:txBody>
      </p:sp>
      <p:cxnSp>
        <p:nvCxnSpPr>
          <p:cNvPr id="36" name="Straight Arrow Connector 35">
            <a:extLst>
              <a:ext uri="{FF2B5EF4-FFF2-40B4-BE49-F238E27FC236}">
                <a16:creationId xmlns:a16="http://schemas.microsoft.com/office/drawing/2014/main" id="{578F9AFB-0AA1-2075-A2C1-6294A7E300B9}"/>
              </a:ext>
            </a:extLst>
          </p:cNvPr>
          <p:cNvCxnSpPr>
            <a:cxnSpLocks/>
          </p:cNvCxnSpPr>
          <p:nvPr/>
        </p:nvCxnSpPr>
        <p:spPr>
          <a:xfrm>
            <a:off x="3738981" y="3200400"/>
            <a:ext cx="1218896" cy="497541"/>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BE724F8D-A3E9-7E21-9F8F-2816C35212AD}"/>
              </a:ext>
            </a:extLst>
          </p:cNvPr>
          <p:cNvCxnSpPr>
            <a:cxnSpLocks/>
            <a:stCxn id="50" idx="2"/>
          </p:cNvCxnSpPr>
          <p:nvPr/>
        </p:nvCxnSpPr>
        <p:spPr>
          <a:xfrm flipH="1">
            <a:off x="5044744" y="3191256"/>
            <a:ext cx="1045161" cy="51475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2" name="Text 27">
            <a:extLst>
              <a:ext uri="{FF2B5EF4-FFF2-40B4-BE49-F238E27FC236}">
                <a16:creationId xmlns:a16="http://schemas.microsoft.com/office/drawing/2014/main" id="{CA0A4269-CA05-543B-1569-F3FCA87F3A6C}"/>
              </a:ext>
            </a:extLst>
          </p:cNvPr>
          <p:cNvSpPr txBox="1"/>
          <p:nvPr/>
        </p:nvSpPr>
        <p:spPr>
          <a:xfrm>
            <a:off x="7148214" y="3798105"/>
            <a:ext cx="2528531"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Checklists</a:t>
            </a:r>
          </a:p>
          <a:p>
            <a:pPr marL="0" indent="0" algn="ctr">
              <a:buNone/>
            </a:pPr>
            <a:r>
              <a:rPr lang="en-US" sz="1400" b="1" kern="0" spc="110" dirty="0">
                <a:solidFill>
                  <a:srgbClr val="7F7F7F"/>
                </a:solidFill>
                <a:latin typeface="Calibri" pitchFamily="34" charset="0"/>
                <a:cs typeface="Calibri" pitchFamily="34" charset="-120"/>
              </a:rPr>
              <a:t>Minimum information lists</a:t>
            </a:r>
            <a:endParaRPr lang="en-US" sz="1400" dirty="0"/>
          </a:p>
        </p:txBody>
      </p:sp>
      <p:cxnSp>
        <p:nvCxnSpPr>
          <p:cNvPr id="43" name="Straight Arrow Connector 42">
            <a:extLst>
              <a:ext uri="{FF2B5EF4-FFF2-40B4-BE49-F238E27FC236}">
                <a16:creationId xmlns:a16="http://schemas.microsoft.com/office/drawing/2014/main" id="{A37C8CE2-B42C-D54C-BA40-FF1765A8E11A}"/>
              </a:ext>
            </a:extLst>
          </p:cNvPr>
          <p:cNvCxnSpPr>
            <a:cxnSpLocks/>
          </p:cNvCxnSpPr>
          <p:nvPr/>
        </p:nvCxnSpPr>
        <p:spPr>
          <a:xfrm>
            <a:off x="8407343" y="3214503"/>
            <a:ext cx="5137" cy="48343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7" name="Right Brace 46">
            <a:extLst>
              <a:ext uri="{FF2B5EF4-FFF2-40B4-BE49-F238E27FC236}">
                <a16:creationId xmlns:a16="http://schemas.microsoft.com/office/drawing/2014/main" id="{6E2CD38B-B1E3-6A8F-5246-38619A4C8013}"/>
              </a:ext>
            </a:extLst>
          </p:cNvPr>
          <p:cNvSpPr/>
          <p:nvPr/>
        </p:nvSpPr>
        <p:spPr>
          <a:xfrm rot="5400000">
            <a:off x="9684921" y="2958089"/>
            <a:ext cx="352043" cy="3247841"/>
          </a:xfrm>
          <a:prstGeom prst="righ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8" name="Text 27">
            <a:extLst>
              <a:ext uri="{FF2B5EF4-FFF2-40B4-BE49-F238E27FC236}">
                <a16:creationId xmlns:a16="http://schemas.microsoft.com/office/drawing/2014/main" id="{15F6DCE6-8B0C-8C0B-306B-BF45E3FF4BF7}"/>
              </a:ext>
            </a:extLst>
          </p:cNvPr>
          <p:cNvSpPr txBox="1"/>
          <p:nvPr/>
        </p:nvSpPr>
        <p:spPr>
          <a:xfrm>
            <a:off x="8596676" y="4823858"/>
            <a:ext cx="2528531" cy="267630"/>
          </a:xfrm>
          <a:prstGeom prst="rect">
            <a:avLst/>
          </a:prstGeom>
          <a:noFill/>
          <a:ln/>
        </p:spPr>
        <p:txBody>
          <a:bodyPr wrap="square" lIns="0" tIns="0" rIns="0" bIns="0" rtlCol="0" anchor="ctr"/>
          <a:lstStyle/>
          <a:p>
            <a:pPr marL="0" indent="0" algn="ctr">
              <a:buNone/>
            </a:pPr>
            <a:r>
              <a:rPr lang="en-US" sz="1400" b="1" kern="0" spc="110" dirty="0">
                <a:solidFill>
                  <a:srgbClr val="7F7F7F"/>
                </a:solidFill>
                <a:latin typeface="Calibri" pitchFamily="34" charset="0"/>
                <a:ea typeface="Calibri" pitchFamily="34" charset="-122"/>
                <a:cs typeface="Calibri" pitchFamily="34" charset="-120"/>
              </a:rPr>
              <a:t>FAIR data principle</a:t>
            </a:r>
          </a:p>
        </p:txBody>
      </p:sp>
      <p:sp>
        <p:nvSpPr>
          <p:cNvPr id="37" name="Shape 28">
            <a:extLst>
              <a:ext uri="{FF2B5EF4-FFF2-40B4-BE49-F238E27FC236}">
                <a16:creationId xmlns:a16="http://schemas.microsoft.com/office/drawing/2014/main" id="{80035ED4-D4A0-C4E4-2D8C-C7E2F9EC2AE2}"/>
              </a:ext>
            </a:extLst>
          </p:cNvPr>
          <p:cNvSpPr/>
          <p:nvPr/>
        </p:nvSpPr>
        <p:spPr>
          <a:xfrm>
            <a:off x="411480" y="4881821"/>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39" name="Image 6" descr="preencoded.png">
            <a:extLst>
              <a:ext uri="{FF2B5EF4-FFF2-40B4-BE49-F238E27FC236}">
                <a16:creationId xmlns:a16="http://schemas.microsoft.com/office/drawing/2014/main" id="{C4F7E0FB-A36A-396E-67C0-C1A5EC3EA321}"/>
              </a:ext>
            </a:extLst>
          </p:cNvPr>
          <p:cNvPicPr>
            <a:picLocks noChangeAspect="1"/>
          </p:cNvPicPr>
          <p:nvPr/>
        </p:nvPicPr>
        <p:blipFill>
          <a:blip r:embed="rId9"/>
          <a:stretch>
            <a:fillRect/>
          </a:stretch>
        </p:blipFill>
        <p:spPr>
          <a:xfrm>
            <a:off x="612648" y="5064701"/>
            <a:ext cx="420624" cy="420624"/>
          </a:xfrm>
          <a:prstGeom prst="rect">
            <a:avLst/>
          </a:prstGeom>
        </p:spPr>
      </p:pic>
      <p:sp>
        <p:nvSpPr>
          <p:cNvPr id="40" name="Text 29">
            <a:extLst>
              <a:ext uri="{FF2B5EF4-FFF2-40B4-BE49-F238E27FC236}">
                <a16:creationId xmlns:a16="http://schemas.microsoft.com/office/drawing/2014/main" id="{523DF840-4BD1-8FC5-C432-8EED63D2D5B3}"/>
              </a:ext>
            </a:extLst>
          </p:cNvPr>
          <p:cNvSpPr txBox="1"/>
          <p:nvPr/>
        </p:nvSpPr>
        <p:spPr>
          <a:xfrm>
            <a:off x="1188720" y="5064701"/>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Discover</a:t>
            </a:r>
            <a:endParaRPr lang="en-US" sz="1500" dirty="0"/>
          </a:p>
        </p:txBody>
      </p:sp>
      <p:sp>
        <p:nvSpPr>
          <p:cNvPr id="41" name="Text 30">
            <a:extLst>
              <a:ext uri="{FF2B5EF4-FFF2-40B4-BE49-F238E27FC236}">
                <a16:creationId xmlns:a16="http://schemas.microsoft.com/office/drawing/2014/main" id="{F2149B89-4B01-4B57-7249-9DDE3D357C6F}"/>
              </a:ext>
            </a:extLst>
          </p:cNvPr>
          <p:cNvSpPr txBox="1"/>
          <p:nvPr/>
        </p:nvSpPr>
        <p:spPr>
          <a:xfrm>
            <a:off x="612648" y="5613341"/>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Useful data located and obtained, together with their metadata.</a:t>
            </a:r>
            <a:endParaRPr lang="en-US" sz="1200" dirty="0"/>
          </a:p>
        </p:txBody>
      </p:sp>
      <p:sp>
        <p:nvSpPr>
          <p:cNvPr id="44" name="Shape 31">
            <a:extLst>
              <a:ext uri="{FF2B5EF4-FFF2-40B4-BE49-F238E27FC236}">
                <a16:creationId xmlns:a16="http://schemas.microsoft.com/office/drawing/2014/main" id="{73E39751-54B2-A20F-90B1-2B8DFD8BF509}"/>
              </a:ext>
            </a:extLst>
          </p:cNvPr>
          <p:cNvSpPr/>
          <p:nvPr/>
        </p:nvSpPr>
        <p:spPr>
          <a:xfrm>
            <a:off x="2515514" y="5512757"/>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45" name="Shape 32">
            <a:extLst>
              <a:ext uri="{FF2B5EF4-FFF2-40B4-BE49-F238E27FC236}">
                <a16:creationId xmlns:a16="http://schemas.microsoft.com/office/drawing/2014/main" id="{52ADF1FB-51C2-0AE8-FA21-339C5475A8AA}"/>
              </a:ext>
            </a:extLst>
          </p:cNvPr>
          <p:cNvSpPr/>
          <p:nvPr/>
        </p:nvSpPr>
        <p:spPr>
          <a:xfrm>
            <a:off x="2684678" y="4881821"/>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46" name="Image 7" descr="preencoded.png">
            <a:extLst>
              <a:ext uri="{FF2B5EF4-FFF2-40B4-BE49-F238E27FC236}">
                <a16:creationId xmlns:a16="http://schemas.microsoft.com/office/drawing/2014/main" id="{6E34F141-EBD4-8421-41F4-EF0128606346}"/>
              </a:ext>
            </a:extLst>
          </p:cNvPr>
          <p:cNvPicPr>
            <a:picLocks noChangeAspect="1"/>
          </p:cNvPicPr>
          <p:nvPr/>
        </p:nvPicPr>
        <p:blipFill>
          <a:blip r:embed="rId10"/>
          <a:stretch>
            <a:fillRect/>
          </a:stretch>
        </p:blipFill>
        <p:spPr>
          <a:xfrm>
            <a:off x="2885846" y="5064701"/>
            <a:ext cx="420624" cy="420624"/>
          </a:xfrm>
          <a:prstGeom prst="rect">
            <a:avLst/>
          </a:prstGeom>
        </p:spPr>
      </p:pic>
      <p:sp>
        <p:nvSpPr>
          <p:cNvPr id="49" name="Text 33">
            <a:extLst>
              <a:ext uri="{FF2B5EF4-FFF2-40B4-BE49-F238E27FC236}">
                <a16:creationId xmlns:a16="http://schemas.microsoft.com/office/drawing/2014/main" id="{B6DBABA8-9270-76C6-D304-C41D680B8E94}"/>
              </a:ext>
            </a:extLst>
          </p:cNvPr>
          <p:cNvSpPr txBox="1"/>
          <p:nvPr/>
        </p:nvSpPr>
        <p:spPr>
          <a:xfrm>
            <a:off x="3461918" y="5064701"/>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Integrate</a:t>
            </a:r>
            <a:endParaRPr lang="en-US" sz="1500" dirty="0"/>
          </a:p>
        </p:txBody>
      </p:sp>
      <p:sp>
        <p:nvSpPr>
          <p:cNvPr id="51" name="Text 34">
            <a:extLst>
              <a:ext uri="{FF2B5EF4-FFF2-40B4-BE49-F238E27FC236}">
                <a16:creationId xmlns:a16="http://schemas.microsoft.com/office/drawing/2014/main" id="{28631809-5A80-3C2C-40DD-67E0545493C7}"/>
              </a:ext>
            </a:extLst>
          </p:cNvPr>
          <p:cNvSpPr txBox="1"/>
          <p:nvPr/>
        </p:nvSpPr>
        <p:spPr>
          <a:xfrm>
            <a:off x="2885846" y="5613341"/>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Data from different sources combined into one analysable set.</a:t>
            </a:r>
            <a:endParaRPr lang="en-US" sz="1200" dirty="0"/>
          </a:p>
        </p:txBody>
      </p:sp>
      <p:sp>
        <p:nvSpPr>
          <p:cNvPr id="52" name="Shape 35">
            <a:extLst>
              <a:ext uri="{FF2B5EF4-FFF2-40B4-BE49-F238E27FC236}">
                <a16:creationId xmlns:a16="http://schemas.microsoft.com/office/drawing/2014/main" id="{054313D0-8030-E218-86FB-6227069D8292}"/>
              </a:ext>
            </a:extLst>
          </p:cNvPr>
          <p:cNvSpPr/>
          <p:nvPr/>
        </p:nvSpPr>
        <p:spPr>
          <a:xfrm>
            <a:off x="4788713" y="5512757"/>
            <a:ext cx="155448" cy="219456"/>
          </a:xfrm>
          <a:prstGeom prst="rightArrow">
            <a:avLst/>
          </a:prstGeom>
          <a:solidFill>
            <a:srgbClr val="C00000"/>
          </a:solidFill>
          <a:ln w="12700">
            <a:solidFill>
              <a:srgbClr val="C00000"/>
            </a:solidFill>
            <a:prstDash val="solid"/>
          </a:ln>
        </p:spPr>
        <p:txBody>
          <a:bodyPr/>
          <a:lstStyle/>
          <a:p>
            <a:endParaRPr lang="en-US"/>
          </a:p>
        </p:txBody>
      </p:sp>
      <p:sp>
        <p:nvSpPr>
          <p:cNvPr id="53" name="Shape 36">
            <a:extLst>
              <a:ext uri="{FF2B5EF4-FFF2-40B4-BE49-F238E27FC236}">
                <a16:creationId xmlns:a16="http://schemas.microsoft.com/office/drawing/2014/main" id="{FFC6027C-3405-51B6-1602-46ADBA4B08D1}"/>
              </a:ext>
            </a:extLst>
          </p:cNvPr>
          <p:cNvSpPr/>
          <p:nvPr/>
        </p:nvSpPr>
        <p:spPr>
          <a:xfrm>
            <a:off x="4957877" y="4881821"/>
            <a:ext cx="2090318" cy="1463040"/>
          </a:xfrm>
          <a:prstGeom prst="roundRect">
            <a:avLst>
              <a:gd name="adj" fmla="val 5000"/>
            </a:avLst>
          </a:prstGeom>
          <a:solidFill>
            <a:srgbClr val="FFFFFF"/>
          </a:solidFill>
          <a:ln w="12700">
            <a:solidFill>
              <a:srgbClr val="DCDCDC"/>
            </a:solidFill>
            <a:prstDash val="solid"/>
          </a:ln>
        </p:spPr>
        <p:txBody>
          <a:bodyPr/>
          <a:lstStyle/>
          <a:p>
            <a:endParaRPr lang="en-US"/>
          </a:p>
        </p:txBody>
      </p:sp>
      <p:pic>
        <p:nvPicPr>
          <p:cNvPr id="54" name="Image 8" descr="preencoded.png">
            <a:extLst>
              <a:ext uri="{FF2B5EF4-FFF2-40B4-BE49-F238E27FC236}">
                <a16:creationId xmlns:a16="http://schemas.microsoft.com/office/drawing/2014/main" id="{AEC397E7-4EBB-8DEB-4E6F-D3746E6FB302}"/>
              </a:ext>
            </a:extLst>
          </p:cNvPr>
          <p:cNvPicPr>
            <a:picLocks noChangeAspect="1"/>
          </p:cNvPicPr>
          <p:nvPr/>
        </p:nvPicPr>
        <p:blipFill>
          <a:blip r:embed="rId11"/>
          <a:stretch>
            <a:fillRect/>
          </a:stretch>
        </p:blipFill>
        <p:spPr>
          <a:xfrm>
            <a:off x="5159045" y="5064701"/>
            <a:ext cx="420624" cy="420624"/>
          </a:xfrm>
          <a:prstGeom prst="rect">
            <a:avLst/>
          </a:prstGeom>
        </p:spPr>
      </p:pic>
      <p:sp>
        <p:nvSpPr>
          <p:cNvPr id="56" name="Text 37">
            <a:extLst>
              <a:ext uri="{FF2B5EF4-FFF2-40B4-BE49-F238E27FC236}">
                <a16:creationId xmlns:a16="http://schemas.microsoft.com/office/drawing/2014/main" id="{F3BAFF0E-41A6-EDCC-A61A-8FF3C9B1A554}"/>
              </a:ext>
            </a:extLst>
          </p:cNvPr>
          <p:cNvSpPr txBox="1"/>
          <p:nvPr/>
        </p:nvSpPr>
        <p:spPr>
          <a:xfrm>
            <a:off x="5735117" y="5064701"/>
            <a:ext cx="1130198" cy="420624"/>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Analyze</a:t>
            </a:r>
            <a:endParaRPr lang="en-US" sz="1500" dirty="0"/>
          </a:p>
        </p:txBody>
      </p:sp>
      <p:sp>
        <p:nvSpPr>
          <p:cNvPr id="57" name="Text 38">
            <a:extLst>
              <a:ext uri="{FF2B5EF4-FFF2-40B4-BE49-F238E27FC236}">
                <a16:creationId xmlns:a16="http://schemas.microsoft.com/office/drawing/2014/main" id="{DB3C6EEE-1F54-21C9-6819-1E23F60AFFC4}"/>
              </a:ext>
            </a:extLst>
          </p:cNvPr>
          <p:cNvSpPr txBox="1"/>
          <p:nvPr/>
        </p:nvSpPr>
        <p:spPr>
          <a:xfrm>
            <a:off x="5159045" y="5613341"/>
            <a:ext cx="1687982" cy="640080"/>
          </a:xfrm>
          <a:prstGeom prst="rect">
            <a:avLst/>
          </a:prstGeom>
          <a:noFill/>
          <a:ln/>
        </p:spPr>
        <p:txBody>
          <a:bodyPr wrap="square" lIns="0" tIns="0" rIns="0" bIns="0" rtlCol="0" anchor="t"/>
          <a:lstStyle/>
          <a:p>
            <a:pPr marL="0" indent="0">
              <a:lnSpc>
                <a:spcPct val="115000"/>
              </a:lnSpc>
              <a:buNone/>
            </a:pPr>
            <a:r>
              <a:rPr lang="en-US" sz="1200" dirty="0">
                <a:solidFill>
                  <a:srgbClr val="262626"/>
                </a:solidFill>
                <a:latin typeface="Calibri" pitchFamily="34" charset="0"/>
                <a:ea typeface="Calibri" pitchFamily="34" charset="-122"/>
                <a:cs typeface="Calibri" pitchFamily="34" charset="-120"/>
              </a:rPr>
              <a:t>The stage most people think of as the whole job.</a:t>
            </a:r>
            <a:endParaRPr lang="en-US" sz="1200" dirty="0"/>
          </a:p>
        </p:txBody>
      </p:sp>
      <p:cxnSp>
        <p:nvCxnSpPr>
          <p:cNvPr id="59" name="Elbow Connector 58">
            <a:extLst>
              <a:ext uri="{FF2B5EF4-FFF2-40B4-BE49-F238E27FC236}">
                <a16:creationId xmlns:a16="http://schemas.microsoft.com/office/drawing/2014/main" id="{1D255C9C-09C2-437B-0E17-6FE02AB40FCB}"/>
              </a:ext>
            </a:extLst>
          </p:cNvPr>
          <p:cNvCxnSpPr>
            <a:cxnSpLocks/>
            <a:endCxn id="63" idx="1"/>
          </p:cNvCxnSpPr>
          <p:nvPr/>
        </p:nvCxnSpPr>
        <p:spPr>
          <a:xfrm rot="10800000" flipV="1">
            <a:off x="7446239" y="5151396"/>
            <a:ext cx="2414702" cy="461943"/>
          </a:xfrm>
          <a:prstGeom prst="bentConnector5">
            <a:avLst>
              <a:gd name="adj1" fmla="val -342"/>
              <a:gd name="adj2" fmla="val 100582"/>
              <a:gd name="adj3" fmla="val 93429"/>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3" name="Right Brace 62">
            <a:extLst>
              <a:ext uri="{FF2B5EF4-FFF2-40B4-BE49-F238E27FC236}">
                <a16:creationId xmlns:a16="http://schemas.microsoft.com/office/drawing/2014/main" id="{553D2198-B6F8-AE6F-CB59-9668D14782DE}"/>
              </a:ext>
            </a:extLst>
          </p:cNvPr>
          <p:cNvSpPr/>
          <p:nvPr/>
        </p:nvSpPr>
        <p:spPr>
          <a:xfrm>
            <a:off x="7125919" y="4881820"/>
            <a:ext cx="320320" cy="1463039"/>
          </a:xfrm>
          <a:prstGeom prst="righ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538130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BBD7-5F61-DE14-479C-2963C32DA4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3566B2-2284-AC3C-37D6-C17906D390FA}"/>
              </a:ext>
            </a:extLst>
          </p:cNvPr>
          <p:cNvSpPr/>
          <p:nvPr/>
        </p:nvSpPr>
        <p:spPr>
          <a:xfrm>
            <a:off x="0" y="0"/>
            <a:ext cx="4160520" cy="6858000"/>
          </a:xfrm>
          <a:prstGeom prst="rect">
            <a:avLst/>
          </a:prstGeom>
          <a:solidFill>
            <a:srgbClr val="F8D5DB"/>
          </a:solidFill>
          <a:ln w="12700">
            <a:solidFill>
              <a:srgbClr val="F8D5DB"/>
            </a:solidFill>
            <a:prstDash val="solid"/>
          </a:ln>
        </p:spPr>
        <p:txBody>
          <a:bodyPr/>
          <a:lstStyle/>
          <a:p>
            <a:endParaRPr lang="en-US"/>
          </a:p>
        </p:txBody>
      </p:sp>
      <p:pic>
        <p:nvPicPr>
          <p:cNvPr id="3" name="Image 0" descr="tpl/ppt/media/image6.png">
            <a:extLst>
              <a:ext uri="{FF2B5EF4-FFF2-40B4-BE49-F238E27FC236}">
                <a16:creationId xmlns:a16="http://schemas.microsoft.com/office/drawing/2014/main" id="{44FDADEB-1EF0-A10F-1D00-2ADAD77E1FD8}"/>
              </a:ext>
            </a:extLst>
          </p:cNvPr>
          <p:cNvPicPr>
            <a:picLocks noChangeAspect="1"/>
          </p:cNvPicPr>
          <p:nvPr/>
        </p:nvPicPr>
        <p:blipFill>
          <a:blip r:embed="rId3"/>
          <a:stretch>
            <a:fillRect/>
          </a:stretch>
        </p:blipFill>
        <p:spPr>
          <a:xfrm>
            <a:off x="777240" y="2414016"/>
            <a:ext cx="2606040" cy="1572768"/>
          </a:xfrm>
          <a:prstGeom prst="rect">
            <a:avLst/>
          </a:prstGeom>
        </p:spPr>
      </p:pic>
      <p:sp>
        <p:nvSpPr>
          <p:cNvPr id="4" name="Text 1">
            <a:extLst>
              <a:ext uri="{FF2B5EF4-FFF2-40B4-BE49-F238E27FC236}">
                <a16:creationId xmlns:a16="http://schemas.microsoft.com/office/drawing/2014/main" id="{8583EADB-B408-7A30-FA33-B3AAB2A9D9CC}"/>
              </a:ext>
            </a:extLst>
          </p:cNvPr>
          <p:cNvSpPr/>
          <p:nvPr/>
        </p:nvSpPr>
        <p:spPr>
          <a:xfrm>
            <a:off x="548640" y="4151376"/>
            <a:ext cx="3063240" cy="320040"/>
          </a:xfrm>
          <a:prstGeom prst="rect">
            <a:avLst/>
          </a:prstGeom>
          <a:noFill/>
          <a:ln/>
        </p:spPr>
        <p:txBody>
          <a:bodyPr wrap="square" lIns="0" tIns="0" rIns="0" bIns="0" rtlCol="0" anchor="ctr"/>
          <a:lstStyle/>
          <a:p>
            <a:pPr marL="0" indent="0" algn="ctr">
              <a:buNone/>
            </a:pPr>
            <a:r>
              <a:rPr lang="en-US" sz="1500" b="1" dirty="0">
                <a:solidFill>
                  <a:srgbClr val="C00000"/>
                </a:solidFill>
                <a:latin typeface="Calibri" pitchFamily="34" charset="0"/>
                <a:ea typeface="Calibri" pitchFamily="34" charset="-122"/>
                <a:cs typeface="Calibri" pitchFamily="34" charset="-120"/>
              </a:rPr>
              <a:t>Action CA23110</a:t>
            </a:r>
            <a:endParaRPr lang="en-US" sz="1500" dirty="0"/>
          </a:p>
        </p:txBody>
      </p:sp>
      <p:sp>
        <p:nvSpPr>
          <p:cNvPr id="9" name="Text 4">
            <a:extLst>
              <a:ext uri="{FF2B5EF4-FFF2-40B4-BE49-F238E27FC236}">
                <a16:creationId xmlns:a16="http://schemas.microsoft.com/office/drawing/2014/main" id="{6F985A5B-1AF2-8FA8-1457-AA2C0156821E}"/>
              </a:ext>
            </a:extLst>
          </p:cNvPr>
          <p:cNvSpPr/>
          <p:nvPr/>
        </p:nvSpPr>
        <p:spPr>
          <a:xfrm>
            <a:off x="4663440" y="2492278"/>
            <a:ext cx="7132320" cy="1371600"/>
          </a:xfrm>
          <a:prstGeom prst="rect">
            <a:avLst/>
          </a:prstGeom>
          <a:noFill/>
          <a:ln/>
        </p:spPr>
        <p:txBody>
          <a:bodyPr wrap="square" lIns="0" tIns="0" rIns="0" bIns="0" rtlCol="0" anchor="ctr"/>
          <a:lstStyle/>
          <a:p>
            <a:pPr>
              <a:lnSpc>
                <a:spcPts val="4000"/>
              </a:lnSpc>
            </a:pPr>
            <a:r>
              <a:rPr lang="en-US" sz="2800" dirty="0">
                <a:solidFill>
                  <a:srgbClr val="C00000"/>
                </a:solidFill>
                <a:latin typeface="Tahoma" pitchFamily="34" charset="0"/>
                <a:ea typeface="Tahoma" pitchFamily="34" charset="-122"/>
                <a:cs typeface="Tahoma" pitchFamily="34" charset="-120"/>
              </a:rPr>
              <a:t>Data horror-show</a:t>
            </a:r>
            <a:endParaRPr lang="en-US" sz="2800" dirty="0"/>
          </a:p>
        </p:txBody>
      </p:sp>
      <p:sp>
        <p:nvSpPr>
          <p:cNvPr id="10" name="Shape 5">
            <a:extLst>
              <a:ext uri="{FF2B5EF4-FFF2-40B4-BE49-F238E27FC236}">
                <a16:creationId xmlns:a16="http://schemas.microsoft.com/office/drawing/2014/main" id="{86AC7F93-C379-9EA0-035A-24C22C9019A5}"/>
              </a:ext>
            </a:extLst>
          </p:cNvPr>
          <p:cNvSpPr/>
          <p:nvPr/>
        </p:nvSpPr>
        <p:spPr>
          <a:xfrm>
            <a:off x="4663440" y="3654104"/>
            <a:ext cx="6858000" cy="0"/>
          </a:xfrm>
          <a:prstGeom prst="line">
            <a:avLst/>
          </a:prstGeom>
          <a:noFill/>
          <a:ln w="12700">
            <a:solidFill>
              <a:srgbClr val="C00000"/>
            </a:solidFill>
            <a:prstDash val="solid"/>
          </a:ln>
        </p:spPr>
        <p:txBody>
          <a:bodyPr/>
          <a:lstStyle/>
          <a:p>
            <a:endParaRPr lang="en-US"/>
          </a:p>
        </p:txBody>
      </p:sp>
      <p:sp>
        <p:nvSpPr>
          <p:cNvPr id="15" name="Text 10">
            <a:extLst>
              <a:ext uri="{FF2B5EF4-FFF2-40B4-BE49-F238E27FC236}">
                <a16:creationId xmlns:a16="http://schemas.microsoft.com/office/drawing/2014/main" id="{00E62303-963F-A127-25EA-2888B124537B}"/>
              </a:ext>
            </a:extLst>
          </p:cNvPr>
          <p:cNvSpPr/>
          <p:nvPr/>
        </p:nvSpPr>
        <p:spPr>
          <a:xfrm>
            <a:off x="4663440" y="6378747"/>
            <a:ext cx="7132320" cy="320040"/>
          </a:xfrm>
          <a:prstGeom prst="rect">
            <a:avLst/>
          </a:prstGeom>
          <a:noFill/>
          <a:ln/>
        </p:spPr>
        <p:txBody>
          <a:bodyPr wrap="square" lIns="0" tIns="0" rIns="0" bIns="0" rtlCol="0" anchor="ctr"/>
          <a:lstStyle/>
          <a:p>
            <a:pPr marL="0" indent="0">
              <a:buNone/>
            </a:pPr>
            <a:r>
              <a:rPr lang="en-US" sz="1250" dirty="0">
                <a:solidFill>
                  <a:srgbClr val="C00000"/>
                </a:solidFill>
                <a:latin typeface="Calibri" pitchFamily="34" charset="0"/>
                <a:ea typeface="Calibri" pitchFamily="34" charset="-122"/>
                <a:cs typeface="Calibri" pitchFamily="34" charset="-120"/>
              </a:rPr>
              <a:t>INFOGUT 3rd Training school 2026 | September 2026</a:t>
            </a:r>
            <a:endParaRPr lang="en-US" sz="1250" dirty="0"/>
          </a:p>
        </p:txBody>
      </p:sp>
      <p:sp>
        <p:nvSpPr>
          <p:cNvPr id="5" name="Text 6">
            <a:extLst>
              <a:ext uri="{FF2B5EF4-FFF2-40B4-BE49-F238E27FC236}">
                <a16:creationId xmlns:a16="http://schemas.microsoft.com/office/drawing/2014/main" id="{B99D19AB-3FA7-01C0-22DB-382244E76DDD}"/>
              </a:ext>
            </a:extLst>
          </p:cNvPr>
          <p:cNvSpPr/>
          <p:nvPr/>
        </p:nvSpPr>
        <p:spPr>
          <a:xfrm>
            <a:off x="4663440" y="3785616"/>
            <a:ext cx="7132320" cy="365760"/>
          </a:xfrm>
          <a:prstGeom prst="rect">
            <a:avLst/>
          </a:prstGeom>
          <a:noFill/>
          <a:ln/>
        </p:spPr>
        <p:txBody>
          <a:bodyPr wrap="square" lIns="0" tIns="0" rIns="0" bIns="0" rtlCol="0" anchor="ctr"/>
          <a:lstStyle/>
          <a:p>
            <a:r>
              <a:rPr lang="en-US" sz="1600" dirty="0"/>
              <a:t>Let’s assess bad practices… and curate our own dataset!</a:t>
            </a:r>
          </a:p>
        </p:txBody>
      </p:sp>
    </p:spTree>
    <p:extLst>
      <p:ext uri="{BB962C8B-B14F-4D97-AF65-F5344CB8AC3E}">
        <p14:creationId xmlns:p14="http://schemas.microsoft.com/office/powerpoint/2010/main" val="42035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4326-5B14-B8C1-7CDC-E4AF212982C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50B697-9445-88EF-9DBC-D09694CB1EE9}"/>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CB698C1C-5645-6872-267E-F3656BD85A6A}"/>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55AC1B95-87E3-B4A1-B1E0-8AB7ECEB1E0B}"/>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80960410-C1FB-80BD-4D76-E082442CA625}"/>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18</a:t>
            </a:r>
            <a:endParaRPr lang="en-US" sz="900" dirty="0"/>
          </a:p>
        </p:txBody>
      </p:sp>
      <p:sp>
        <p:nvSpPr>
          <p:cNvPr id="6" name="Text 3">
            <a:extLst>
              <a:ext uri="{FF2B5EF4-FFF2-40B4-BE49-F238E27FC236}">
                <a16:creationId xmlns:a16="http://schemas.microsoft.com/office/drawing/2014/main" id="{1BB3FE97-BEC3-A5AC-609B-4E7FE821B63A}"/>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is wrong here?</a:t>
            </a:r>
            <a:endParaRPr lang="en-US" sz="2000" dirty="0"/>
          </a:p>
        </p:txBody>
      </p:sp>
      <p:sp>
        <p:nvSpPr>
          <p:cNvPr id="7" name="Text 4">
            <a:extLst>
              <a:ext uri="{FF2B5EF4-FFF2-40B4-BE49-F238E27FC236}">
                <a16:creationId xmlns:a16="http://schemas.microsoft.com/office/drawing/2014/main" id="{7E6A2C98-8132-27C6-1883-C8DFEE17C3DF}"/>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GALLERY, 1 OF 2</a:t>
            </a:r>
            <a:endParaRPr lang="en-US" sz="1150" dirty="0"/>
          </a:p>
        </p:txBody>
      </p:sp>
      <p:sp>
        <p:nvSpPr>
          <p:cNvPr id="8" name="Shape 5">
            <a:extLst>
              <a:ext uri="{FF2B5EF4-FFF2-40B4-BE49-F238E27FC236}">
                <a16:creationId xmlns:a16="http://schemas.microsoft.com/office/drawing/2014/main" id="{BE1862EA-857B-D4B1-4FFB-1EF011998DEF}"/>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6F17B918-D94C-FADE-1940-4FC7D4DE3129}"/>
              </a:ext>
            </a:extLst>
          </p:cNvPr>
          <p:cNvSpPr/>
          <p:nvPr/>
        </p:nvSpPr>
        <p:spPr>
          <a:xfrm>
            <a:off x="502920" y="1325879"/>
            <a:ext cx="3483864" cy="4278559"/>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1" name="Text 8">
            <a:extLst>
              <a:ext uri="{FF2B5EF4-FFF2-40B4-BE49-F238E27FC236}">
                <a16:creationId xmlns:a16="http://schemas.microsoft.com/office/drawing/2014/main" id="{B2EBBD79-518C-25FB-7200-DF4DC937E5FB}"/>
              </a:ext>
            </a:extLst>
          </p:cNvPr>
          <p:cNvSpPr txBox="1"/>
          <p:nvPr/>
        </p:nvSpPr>
        <p:spPr>
          <a:xfrm>
            <a:off x="777240" y="1007448"/>
            <a:ext cx="2935224" cy="237744"/>
          </a:xfrm>
          <a:prstGeom prst="rect">
            <a:avLst/>
          </a:prstGeom>
          <a:noFill/>
          <a:ln/>
        </p:spPr>
        <p:txBody>
          <a:bodyPr wrap="square" lIns="0" tIns="0" rIns="0" bIns="0" rtlCol="0" anchor="ctr"/>
          <a:lstStyle/>
          <a:p>
            <a:pPr marL="0" indent="0">
              <a:buNone/>
            </a:pPr>
            <a:r>
              <a:rPr lang="en-US" sz="1600" b="1" kern="0" spc="110" dirty="0">
                <a:solidFill>
                  <a:srgbClr val="8A0000"/>
                </a:solidFill>
                <a:latin typeface="Calibri" pitchFamily="34" charset="0"/>
                <a:ea typeface="Calibri" pitchFamily="34" charset="-122"/>
                <a:cs typeface="Calibri" pitchFamily="34" charset="-120"/>
              </a:rPr>
              <a:t>EXHIBIT 1</a:t>
            </a:r>
            <a:endParaRPr lang="en-US" sz="1600" dirty="0"/>
          </a:p>
        </p:txBody>
      </p:sp>
      <p:sp>
        <p:nvSpPr>
          <p:cNvPr id="12" name="Shape 9">
            <a:extLst>
              <a:ext uri="{FF2B5EF4-FFF2-40B4-BE49-F238E27FC236}">
                <a16:creationId xmlns:a16="http://schemas.microsoft.com/office/drawing/2014/main" id="{E9D3D458-D49D-176A-0278-10FA59F8724E}"/>
              </a:ext>
            </a:extLst>
          </p:cNvPr>
          <p:cNvSpPr/>
          <p:nvPr/>
        </p:nvSpPr>
        <p:spPr>
          <a:xfrm>
            <a:off x="777240"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3" name="Image 1" descr="preencoded.png">
            <a:extLst>
              <a:ext uri="{FF2B5EF4-FFF2-40B4-BE49-F238E27FC236}">
                <a16:creationId xmlns:a16="http://schemas.microsoft.com/office/drawing/2014/main" id="{034C1D62-0AD9-A967-5182-077515E88D50}"/>
              </a:ext>
            </a:extLst>
          </p:cNvPr>
          <p:cNvPicPr>
            <a:picLocks noChangeAspect="1"/>
          </p:cNvPicPr>
          <p:nvPr/>
        </p:nvPicPr>
        <p:blipFill>
          <a:blip r:embed="rId4"/>
          <a:stretch>
            <a:fillRect/>
          </a:stretch>
        </p:blipFill>
        <p:spPr>
          <a:xfrm>
            <a:off x="886968" y="1947672"/>
            <a:ext cx="201168" cy="201168"/>
          </a:xfrm>
          <a:prstGeom prst="rect">
            <a:avLst/>
          </a:prstGeom>
        </p:spPr>
      </p:pic>
      <p:sp>
        <p:nvSpPr>
          <p:cNvPr id="14" name="Text 10">
            <a:extLst>
              <a:ext uri="{FF2B5EF4-FFF2-40B4-BE49-F238E27FC236}">
                <a16:creationId xmlns:a16="http://schemas.microsoft.com/office/drawing/2014/main" id="{14B3B30A-0D94-D26F-131F-482E2E86876D}"/>
              </a:ext>
            </a:extLst>
          </p:cNvPr>
          <p:cNvSpPr txBox="1"/>
          <p:nvPr/>
        </p:nvSpPr>
        <p:spPr>
          <a:xfrm>
            <a:off x="1161288"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scripts/   —   folder contents</a:t>
            </a:r>
            <a:endParaRPr lang="en-US" sz="1200" dirty="0"/>
          </a:p>
        </p:txBody>
      </p:sp>
      <p:sp>
        <p:nvSpPr>
          <p:cNvPr id="15" name="Text 11">
            <a:extLst>
              <a:ext uri="{FF2B5EF4-FFF2-40B4-BE49-F238E27FC236}">
                <a16:creationId xmlns:a16="http://schemas.microsoft.com/office/drawing/2014/main" id="{FEECBBF6-E214-CD20-39FE-7AB3D0579D25}"/>
              </a:ext>
            </a:extLst>
          </p:cNvPr>
          <p:cNvSpPr txBox="1"/>
          <p:nvPr/>
        </p:nvSpPr>
        <p:spPr>
          <a:xfrm>
            <a:off x="886968" y="2423160"/>
            <a:ext cx="2825496" cy="219456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analysis_final_v2.R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analysis_final_USE_THIS.R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analyse2_old.R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analysis_final_v2 (1).R</a:t>
            </a:r>
            <a:endParaRPr lang="en-US" sz="1400" dirty="0"/>
          </a:p>
        </p:txBody>
      </p:sp>
    </p:spTree>
    <p:extLst>
      <p:ext uri="{BB962C8B-B14F-4D97-AF65-F5344CB8AC3E}">
        <p14:creationId xmlns:p14="http://schemas.microsoft.com/office/powerpoint/2010/main" val="1557456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47B17-C0B3-92F2-E035-6E216719A5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51B9FB-096D-25DF-E28E-3279AB486981}"/>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9A87D93E-4F1C-7A69-84D8-B92ACCCE4DB8}"/>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8203AEFA-71C8-4C89-8172-86496475E55D}"/>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55A1D4F5-FB13-8565-18D8-9F5C2E21B166}"/>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18</a:t>
            </a:r>
            <a:endParaRPr lang="en-US" sz="900" dirty="0"/>
          </a:p>
        </p:txBody>
      </p:sp>
      <p:sp>
        <p:nvSpPr>
          <p:cNvPr id="6" name="Text 3">
            <a:extLst>
              <a:ext uri="{FF2B5EF4-FFF2-40B4-BE49-F238E27FC236}">
                <a16:creationId xmlns:a16="http://schemas.microsoft.com/office/drawing/2014/main" id="{3BED4CEA-63A9-1EA5-C77A-1B34EB79D5E8}"/>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is wrong here?</a:t>
            </a:r>
            <a:endParaRPr lang="en-US" sz="2000" dirty="0"/>
          </a:p>
        </p:txBody>
      </p:sp>
      <p:sp>
        <p:nvSpPr>
          <p:cNvPr id="7" name="Text 4">
            <a:extLst>
              <a:ext uri="{FF2B5EF4-FFF2-40B4-BE49-F238E27FC236}">
                <a16:creationId xmlns:a16="http://schemas.microsoft.com/office/drawing/2014/main" id="{7679F9D8-3E15-0251-831D-650122B0303F}"/>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GALLERY, 1 OF 2</a:t>
            </a:r>
            <a:endParaRPr lang="en-US" sz="1150" dirty="0"/>
          </a:p>
        </p:txBody>
      </p:sp>
      <p:sp>
        <p:nvSpPr>
          <p:cNvPr id="8" name="Shape 5">
            <a:extLst>
              <a:ext uri="{FF2B5EF4-FFF2-40B4-BE49-F238E27FC236}">
                <a16:creationId xmlns:a16="http://schemas.microsoft.com/office/drawing/2014/main" id="{B9E9982F-0DD1-0884-C684-FF353B0C4EB0}"/>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6C18EF19-45EC-3193-7DEA-0A20A1FB5B56}"/>
              </a:ext>
            </a:extLst>
          </p:cNvPr>
          <p:cNvSpPr/>
          <p:nvPr/>
        </p:nvSpPr>
        <p:spPr>
          <a:xfrm>
            <a:off x="502920" y="1325879"/>
            <a:ext cx="3483864" cy="4278559"/>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1" name="Text 8">
            <a:extLst>
              <a:ext uri="{FF2B5EF4-FFF2-40B4-BE49-F238E27FC236}">
                <a16:creationId xmlns:a16="http://schemas.microsoft.com/office/drawing/2014/main" id="{05B53EEA-FB25-41DB-0507-D4A5B5405C9F}"/>
              </a:ext>
            </a:extLst>
          </p:cNvPr>
          <p:cNvSpPr txBox="1"/>
          <p:nvPr/>
        </p:nvSpPr>
        <p:spPr>
          <a:xfrm>
            <a:off x="777240" y="1007448"/>
            <a:ext cx="2935224" cy="237744"/>
          </a:xfrm>
          <a:prstGeom prst="rect">
            <a:avLst/>
          </a:prstGeom>
          <a:noFill/>
          <a:ln/>
        </p:spPr>
        <p:txBody>
          <a:bodyPr wrap="square" lIns="0" tIns="0" rIns="0" bIns="0" rtlCol="0" anchor="ctr"/>
          <a:lstStyle/>
          <a:p>
            <a:pPr marL="0" indent="0">
              <a:buNone/>
            </a:pPr>
            <a:r>
              <a:rPr lang="en-US" sz="1600" b="1" kern="0" spc="110" dirty="0">
                <a:solidFill>
                  <a:srgbClr val="8A0000"/>
                </a:solidFill>
                <a:latin typeface="Calibri" pitchFamily="34" charset="0"/>
                <a:ea typeface="Calibri" pitchFamily="34" charset="-122"/>
                <a:cs typeface="Calibri" pitchFamily="34" charset="-120"/>
              </a:rPr>
              <a:t>EXHIBIT 1</a:t>
            </a:r>
            <a:endParaRPr lang="en-US" sz="1600" dirty="0"/>
          </a:p>
        </p:txBody>
      </p:sp>
      <p:sp>
        <p:nvSpPr>
          <p:cNvPr id="12" name="Shape 9">
            <a:extLst>
              <a:ext uri="{FF2B5EF4-FFF2-40B4-BE49-F238E27FC236}">
                <a16:creationId xmlns:a16="http://schemas.microsoft.com/office/drawing/2014/main" id="{2FF59E00-CC87-AE73-7053-BBD773CD1245}"/>
              </a:ext>
            </a:extLst>
          </p:cNvPr>
          <p:cNvSpPr/>
          <p:nvPr/>
        </p:nvSpPr>
        <p:spPr>
          <a:xfrm>
            <a:off x="777240"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3" name="Image 1" descr="preencoded.png">
            <a:extLst>
              <a:ext uri="{FF2B5EF4-FFF2-40B4-BE49-F238E27FC236}">
                <a16:creationId xmlns:a16="http://schemas.microsoft.com/office/drawing/2014/main" id="{2CC09D24-502F-3BEA-7175-5E819E685B1E}"/>
              </a:ext>
            </a:extLst>
          </p:cNvPr>
          <p:cNvPicPr>
            <a:picLocks noChangeAspect="1"/>
          </p:cNvPicPr>
          <p:nvPr/>
        </p:nvPicPr>
        <p:blipFill>
          <a:blip r:embed="rId4"/>
          <a:stretch>
            <a:fillRect/>
          </a:stretch>
        </p:blipFill>
        <p:spPr>
          <a:xfrm>
            <a:off x="886968" y="1947672"/>
            <a:ext cx="201168" cy="201168"/>
          </a:xfrm>
          <a:prstGeom prst="rect">
            <a:avLst/>
          </a:prstGeom>
        </p:spPr>
      </p:pic>
      <p:sp>
        <p:nvSpPr>
          <p:cNvPr id="14" name="Text 10">
            <a:extLst>
              <a:ext uri="{FF2B5EF4-FFF2-40B4-BE49-F238E27FC236}">
                <a16:creationId xmlns:a16="http://schemas.microsoft.com/office/drawing/2014/main" id="{8C704C6A-05F1-8687-D4AF-AF9B2011A478}"/>
              </a:ext>
            </a:extLst>
          </p:cNvPr>
          <p:cNvSpPr txBox="1"/>
          <p:nvPr/>
        </p:nvSpPr>
        <p:spPr>
          <a:xfrm>
            <a:off x="1161288"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scripts/   —   folder contents</a:t>
            </a:r>
            <a:endParaRPr lang="en-US" sz="1200" dirty="0"/>
          </a:p>
        </p:txBody>
      </p:sp>
      <p:sp>
        <p:nvSpPr>
          <p:cNvPr id="15" name="Text 11">
            <a:extLst>
              <a:ext uri="{FF2B5EF4-FFF2-40B4-BE49-F238E27FC236}">
                <a16:creationId xmlns:a16="http://schemas.microsoft.com/office/drawing/2014/main" id="{684220F8-30C9-9EB8-DD44-3047485AD61C}"/>
              </a:ext>
            </a:extLst>
          </p:cNvPr>
          <p:cNvSpPr txBox="1"/>
          <p:nvPr/>
        </p:nvSpPr>
        <p:spPr>
          <a:xfrm>
            <a:off x="886968" y="2423160"/>
            <a:ext cx="2825496" cy="219456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analysis_final_v2.R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analysis_final_USE_THIS.R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analyse2_old.R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analysis_final_v2 (1).R</a:t>
            </a:r>
            <a:endParaRPr lang="en-US" sz="1400" dirty="0"/>
          </a:p>
        </p:txBody>
      </p:sp>
      <p:sp>
        <p:nvSpPr>
          <p:cNvPr id="16" name="Shape 12">
            <a:extLst>
              <a:ext uri="{FF2B5EF4-FFF2-40B4-BE49-F238E27FC236}">
                <a16:creationId xmlns:a16="http://schemas.microsoft.com/office/drawing/2014/main" id="{3ED1DD74-CD80-84CF-E780-E2FA29D7ACDF}"/>
              </a:ext>
            </a:extLst>
          </p:cNvPr>
          <p:cNvSpPr/>
          <p:nvPr/>
        </p:nvSpPr>
        <p:spPr>
          <a:xfrm>
            <a:off x="4352544" y="1325880"/>
            <a:ext cx="3483864" cy="4278574"/>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7" name="Text 13">
            <a:extLst>
              <a:ext uri="{FF2B5EF4-FFF2-40B4-BE49-F238E27FC236}">
                <a16:creationId xmlns:a16="http://schemas.microsoft.com/office/drawing/2014/main" id="{2BC31A94-E9D1-B2AA-9F34-9478E32EFCFF}"/>
              </a:ext>
            </a:extLst>
          </p:cNvPr>
          <p:cNvSpPr txBox="1"/>
          <p:nvPr/>
        </p:nvSpPr>
        <p:spPr>
          <a:xfrm>
            <a:off x="4626864" y="1007448"/>
            <a:ext cx="2935224" cy="237744"/>
          </a:xfrm>
          <a:prstGeom prst="rect">
            <a:avLst/>
          </a:prstGeom>
          <a:noFill/>
          <a:ln/>
        </p:spPr>
        <p:txBody>
          <a:bodyPr wrap="square" lIns="0" tIns="0" rIns="0" bIns="0" rtlCol="0" anchor="ctr"/>
          <a:lstStyle/>
          <a:p>
            <a:pPr marL="0" indent="0">
              <a:buNone/>
            </a:pPr>
            <a:r>
              <a:rPr lang="en-US" sz="1600" b="1" kern="0" spc="110" dirty="0">
                <a:solidFill>
                  <a:srgbClr val="8A0000"/>
                </a:solidFill>
                <a:latin typeface="Calibri" pitchFamily="34" charset="0"/>
                <a:ea typeface="Calibri" pitchFamily="34" charset="-122"/>
                <a:cs typeface="Calibri" pitchFamily="34" charset="-120"/>
              </a:rPr>
              <a:t>EXHIBIT 2</a:t>
            </a:r>
            <a:endParaRPr lang="en-US" sz="1600" dirty="0"/>
          </a:p>
        </p:txBody>
      </p:sp>
      <p:sp>
        <p:nvSpPr>
          <p:cNvPr id="18" name="Shape 14">
            <a:extLst>
              <a:ext uri="{FF2B5EF4-FFF2-40B4-BE49-F238E27FC236}">
                <a16:creationId xmlns:a16="http://schemas.microsoft.com/office/drawing/2014/main" id="{031BA1BB-65C8-ED3F-CE3A-A7B727CC5870}"/>
              </a:ext>
            </a:extLst>
          </p:cNvPr>
          <p:cNvSpPr/>
          <p:nvPr/>
        </p:nvSpPr>
        <p:spPr>
          <a:xfrm>
            <a:off x="4626864"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9" name="Image 2" descr="preencoded.png">
            <a:extLst>
              <a:ext uri="{FF2B5EF4-FFF2-40B4-BE49-F238E27FC236}">
                <a16:creationId xmlns:a16="http://schemas.microsoft.com/office/drawing/2014/main" id="{E1D0DCF2-3A0B-3CB5-C494-6636A44B621A}"/>
              </a:ext>
            </a:extLst>
          </p:cNvPr>
          <p:cNvPicPr>
            <a:picLocks noChangeAspect="1"/>
          </p:cNvPicPr>
          <p:nvPr/>
        </p:nvPicPr>
        <p:blipFill>
          <a:blip r:embed="rId4"/>
          <a:stretch>
            <a:fillRect/>
          </a:stretch>
        </p:blipFill>
        <p:spPr>
          <a:xfrm>
            <a:off x="4736592" y="1947672"/>
            <a:ext cx="201168" cy="201168"/>
          </a:xfrm>
          <a:prstGeom prst="rect">
            <a:avLst/>
          </a:prstGeom>
        </p:spPr>
      </p:pic>
      <p:sp>
        <p:nvSpPr>
          <p:cNvPr id="20" name="Text 15">
            <a:extLst>
              <a:ext uri="{FF2B5EF4-FFF2-40B4-BE49-F238E27FC236}">
                <a16:creationId xmlns:a16="http://schemas.microsoft.com/office/drawing/2014/main" id="{38373DA7-9026-9860-A77B-C339393719B5}"/>
              </a:ext>
            </a:extLst>
          </p:cNvPr>
          <p:cNvSpPr txBox="1"/>
          <p:nvPr/>
        </p:nvSpPr>
        <p:spPr>
          <a:xfrm>
            <a:off x="5010912"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project/   —   folder contents</a:t>
            </a:r>
            <a:endParaRPr lang="en-US" sz="1200" dirty="0"/>
          </a:p>
        </p:txBody>
      </p:sp>
      <p:sp>
        <p:nvSpPr>
          <p:cNvPr id="21" name="Text 16">
            <a:extLst>
              <a:ext uri="{FF2B5EF4-FFF2-40B4-BE49-F238E27FC236}">
                <a16:creationId xmlns:a16="http://schemas.microsoft.com/office/drawing/2014/main" id="{315558AA-550D-95DB-D858-7B9EEC563D05}"/>
              </a:ext>
            </a:extLst>
          </p:cNvPr>
          <p:cNvSpPr txBox="1"/>
          <p:nvPr/>
        </p:nvSpPr>
        <p:spPr>
          <a:xfrm>
            <a:off x="4736592" y="2423160"/>
            <a:ext cx="2825496" cy="219456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Control_R1.csv</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script.R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plot1.png</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notes.txt</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data2.csv</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final_table.csv</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34 more files</a:t>
            </a:r>
            <a:endParaRPr lang="en-US" sz="1400" dirty="0"/>
          </a:p>
        </p:txBody>
      </p:sp>
    </p:spTree>
    <p:extLst>
      <p:ext uri="{BB962C8B-B14F-4D97-AF65-F5344CB8AC3E}">
        <p14:creationId xmlns:p14="http://schemas.microsoft.com/office/powerpoint/2010/main" val="4171377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CE36-0C23-A896-2190-F8282BFAB43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02160C-D8F6-A09C-7118-1FA972783683}"/>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D6539568-1304-B8C1-43AB-451E9CA9AFED}"/>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F0084FC5-AD61-31D2-18FC-4CC01A44E9BC}"/>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9B7F895F-6676-EC0E-A580-6181201B1448}"/>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18</a:t>
            </a:r>
            <a:endParaRPr lang="en-US" sz="900" dirty="0"/>
          </a:p>
        </p:txBody>
      </p:sp>
      <p:sp>
        <p:nvSpPr>
          <p:cNvPr id="6" name="Text 3">
            <a:extLst>
              <a:ext uri="{FF2B5EF4-FFF2-40B4-BE49-F238E27FC236}">
                <a16:creationId xmlns:a16="http://schemas.microsoft.com/office/drawing/2014/main" id="{33372D48-F4F3-6CF7-2A13-C170FB054DB0}"/>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is wrong here?</a:t>
            </a:r>
            <a:endParaRPr lang="en-US" sz="2000" dirty="0"/>
          </a:p>
        </p:txBody>
      </p:sp>
      <p:sp>
        <p:nvSpPr>
          <p:cNvPr id="7" name="Text 4">
            <a:extLst>
              <a:ext uri="{FF2B5EF4-FFF2-40B4-BE49-F238E27FC236}">
                <a16:creationId xmlns:a16="http://schemas.microsoft.com/office/drawing/2014/main" id="{8B4E0472-37B8-6241-C7CB-F1DDF8B8B953}"/>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GALLERY, 1 OF 2</a:t>
            </a:r>
            <a:endParaRPr lang="en-US" sz="1150" dirty="0"/>
          </a:p>
        </p:txBody>
      </p:sp>
      <p:sp>
        <p:nvSpPr>
          <p:cNvPr id="8" name="Shape 5">
            <a:extLst>
              <a:ext uri="{FF2B5EF4-FFF2-40B4-BE49-F238E27FC236}">
                <a16:creationId xmlns:a16="http://schemas.microsoft.com/office/drawing/2014/main" id="{6C0F23A7-E2FC-F391-5000-E7850CB037AF}"/>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980845F2-947D-7B20-73D5-6090BD312A2D}"/>
              </a:ext>
            </a:extLst>
          </p:cNvPr>
          <p:cNvSpPr/>
          <p:nvPr/>
        </p:nvSpPr>
        <p:spPr>
          <a:xfrm>
            <a:off x="502920" y="1325879"/>
            <a:ext cx="3483864" cy="4278559"/>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1" name="Text 8">
            <a:extLst>
              <a:ext uri="{FF2B5EF4-FFF2-40B4-BE49-F238E27FC236}">
                <a16:creationId xmlns:a16="http://schemas.microsoft.com/office/drawing/2014/main" id="{74AF21E2-6FCE-0D5C-6D23-A3B579B45A92}"/>
              </a:ext>
            </a:extLst>
          </p:cNvPr>
          <p:cNvSpPr txBox="1"/>
          <p:nvPr/>
        </p:nvSpPr>
        <p:spPr>
          <a:xfrm>
            <a:off x="777240" y="1007448"/>
            <a:ext cx="2935224" cy="237744"/>
          </a:xfrm>
          <a:prstGeom prst="rect">
            <a:avLst/>
          </a:prstGeom>
          <a:noFill/>
          <a:ln/>
        </p:spPr>
        <p:txBody>
          <a:bodyPr wrap="square" lIns="0" tIns="0" rIns="0" bIns="0" rtlCol="0" anchor="ctr"/>
          <a:lstStyle/>
          <a:p>
            <a:pPr marL="0" indent="0">
              <a:buNone/>
            </a:pPr>
            <a:r>
              <a:rPr lang="en-US" sz="1600" b="1" kern="0" spc="110" dirty="0">
                <a:solidFill>
                  <a:srgbClr val="8A0000"/>
                </a:solidFill>
                <a:latin typeface="Calibri" pitchFamily="34" charset="0"/>
                <a:ea typeface="Calibri" pitchFamily="34" charset="-122"/>
                <a:cs typeface="Calibri" pitchFamily="34" charset="-120"/>
              </a:rPr>
              <a:t>EXHIBIT 1</a:t>
            </a:r>
            <a:endParaRPr lang="en-US" sz="1600" dirty="0"/>
          </a:p>
        </p:txBody>
      </p:sp>
      <p:sp>
        <p:nvSpPr>
          <p:cNvPr id="12" name="Shape 9">
            <a:extLst>
              <a:ext uri="{FF2B5EF4-FFF2-40B4-BE49-F238E27FC236}">
                <a16:creationId xmlns:a16="http://schemas.microsoft.com/office/drawing/2014/main" id="{FD9CDECD-733E-8C43-3177-B533CFA431C2}"/>
              </a:ext>
            </a:extLst>
          </p:cNvPr>
          <p:cNvSpPr/>
          <p:nvPr/>
        </p:nvSpPr>
        <p:spPr>
          <a:xfrm>
            <a:off x="777240"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3" name="Image 1" descr="preencoded.png">
            <a:extLst>
              <a:ext uri="{FF2B5EF4-FFF2-40B4-BE49-F238E27FC236}">
                <a16:creationId xmlns:a16="http://schemas.microsoft.com/office/drawing/2014/main" id="{36143A0C-7695-7CA5-8091-BC221D64B6F1}"/>
              </a:ext>
            </a:extLst>
          </p:cNvPr>
          <p:cNvPicPr>
            <a:picLocks noChangeAspect="1"/>
          </p:cNvPicPr>
          <p:nvPr/>
        </p:nvPicPr>
        <p:blipFill>
          <a:blip r:embed="rId4"/>
          <a:stretch>
            <a:fillRect/>
          </a:stretch>
        </p:blipFill>
        <p:spPr>
          <a:xfrm>
            <a:off x="886968" y="1947672"/>
            <a:ext cx="201168" cy="201168"/>
          </a:xfrm>
          <a:prstGeom prst="rect">
            <a:avLst/>
          </a:prstGeom>
        </p:spPr>
      </p:pic>
      <p:sp>
        <p:nvSpPr>
          <p:cNvPr id="14" name="Text 10">
            <a:extLst>
              <a:ext uri="{FF2B5EF4-FFF2-40B4-BE49-F238E27FC236}">
                <a16:creationId xmlns:a16="http://schemas.microsoft.com/office/drawing/2014/main" id="{3266BED7-9587-C604-6225-0DECE827BDB9}"/>
              </a:ext>
            </a:extLst>
          </p:cNvPr>
          <p:cNvSpPr txBox="1"/>
          <p:nvPr/>
        </p:nvSpPr>
        <p:spPr>
          <a:xfrm>
            <a:off x="1161288"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scripts/   —   folder contents</a:t>
            </a:r>
            <a:endParaRPr lang="en-US" sz="1200" dirty="0"/>
          </a:p>
        </p:txBody>
      </p:sp>
      <p:sp>
        <p:nvSpPr>
          <p:cNvPr id="15" name="Text 11">
            <a:extLst>
              <a:ext uri="{FF2B5EF4-FFF2-40B4-BE49-F238E27FC236}">
                <a16:creationId xmlns:a16="http://schemas.microsoft.com/office/drawing/2014/main" id="{AE6A812C-4E69-456D-E650-021479E6533F}"/>
              </a:ext>
            </a:extLst>
          </p:cNvPr>
          <p:cNvSpPr txBox="1"/>
          <p:nvPr/>
        </p:nvSpPr>
        <p:spPr>
          <a:xfrm>
            <a:off x="886968" y="2423160"/>
            <a:ext cx="2825496" cy="219456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analysis_final_v2.R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analysis_final_USE_THIS.R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analyse2_old.R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analysis_final_v2 (1).R</a:t>
            </a:r>
            <a:endParaRPr lang="en-US" sz="1400" dirty="0"/>
          </a:p>
        </p:txBody>
      </p:sp>
      <p:sp>
        <p:nvSpPr>
          <p:cNvPr id="16" name="Shape 12">
            <a:extLst>
              <a:ext uri="{FF2B5EF4-FFF2-40B4-BE49-F238E27FC236}">
                <a16:creationId xmlns:a16="http://schemas.microsoft.com/office/drawing/2014/main" id="{DDA95432-64AD-AFB5-0070-93125CA0D414}"/>
              </a:ext>
            </a:extLst>
          </p:cNvPr>
          <p:cNvSpPr/>
          <p:nvPr/>
        </p:nvSpPr>
        <p:spPr>
          <a:xfrm>
            <a:off x="4352544" y="1325880"/>
            <a:ext cx="3483864" cy="4278574"/>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7" name="Text 13">
            <a:extLst>
              <a:ext uri="{FF2B5EF4-FFF2-40B4-BE49-F238E27FC236}">
                <a16:creationId xmlns:a16="http://schemas.microsoft.com/office/drawing/2014/main" id="{9A39E740-78C5-24F6-6F92-F0564E81EA05}"/>
              </a:ext>
            </a:extLst>
          </p:cNvPr>
          <p:cNvSpPr txBox="1"/>
          <p:nvPr/>
        </p:nvSpPr>
        <p:spPr>
          <a:xfrm>
            <a:off x="4626864" y="1007448"/>
            <a:ext cx="2935224" cy="237744"/>
          </a:xfrm>
          <a:prstGeom prst="rect">
            <a:avLst/>
          </a:prstGeom>
          <a:noFill/>
          <a:ln/>
        </p:spPr>
        <p:txBody>
          <a:bodyPr wrap="square" lIns="0" tIns="0" rIns="0" bIns="0" rtlCol="0" anchor="ctr"/>
          <a:lstStyle/>
          <a:p>
            <a:pPr marL="0" indent="0">
              <a:buNone/>
            </a:pPr>
            <a:r>
              <a:rPr lang="en-US" sz="1600" b="1" kern="0" spc="110" dirty="0">
                <a:solidFill>
                  <a:srgbClr val="8A0000"/>
                </a:solidFill>
                <a:latin typeface="Calibri" pitchFamily="34" charset="0"/>
                <a:ea typeface="Calibri" pitchFamily="34" charset="-122"/>
                <a:cs typeface="Calibri" pitchFamily="34" charset="-120"/>
              </a:rPr>
              <a:t>EXHIBIT 2</a:t>
            </a:r>
            <a:endParaRPr lang="en-US" sz="1600" dirty="0"/>
          </a:p>
        </p:txBody>
      </p:sp>
      <p:sp>
        <p:nvSpPr>
          <p:cNvPr id="18" name="Shape 14">
            <a:extLst>
              <a:ext uri="{FF2B5EF4-FFF2-40B4-BE49-F238E27FC236}">
                <a16:creationId xmlns:a16="http://schemas.microsoft.com/office/drawing/2014/main" id="{56FF07B4-25D9-53BB-3FA3-B48BE095A276}"/>
              </a:ext>
            </a:extLst>
          </p:cNvPr>
          <p:cNvSpPr/>
          <p:nvPr/>
        </p:nvSpPr>
        <p:spPr>
          <a:xfrm>
            <a:off x="4626864"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9" name="Image 2" descr="preencoded.png">
            <a:extLst>
              <a:ext uri="{FF2B5EF4-FFF2-40B4-BE49-F238E27FC236}">
                <a16:creationId xmlns:a16="http://schemas.microsoft.com/office/drawing/2014/main" id="{717D327D-241C-12D8-514F-9A25069B0C5C}"/>
              </a:ext>
            </a:extLst>
          </p:cNvPr>
          <p:cNvPicPr>
            <a:picLocks noChangeAspect="1"/>
          </p:cNvPicPr>
          <p:nvPr/>
        </p:nvPicPr>
        <p:blipFill>
          <a:blip r:embed="rId4"/>
          <a:stretch>
            <a:fillRect/>
          </a:stretch>
        </p:blipFill>
        <p:spPr>
          <a:xfrm>
            <a:off x="4736592" y="1947672"/>
            <a:ext cx="201168" cy="201168"/>
          </a:xfrm>
          <a:prstGeom prst="rect">
            <a:avLst/>
          </a:prstGeom>
        </p:spPr>
      </p:pic>
      <p:sp>
        <p:nvSpPr>
          <p:cNvPr id="20" name="Text 15">
            <a:extLst>
              <a:ext uri="{FF2B5EF4-FFF2-40B4-BE49-F238E27FC236}">
                <a16:creationId xmlns:a16="http://schemas.microsoft.com/office/drawing/2014/main" id="{F10094BD-B6FE-B53E-1914-ABFE6D9174BC}"/>
              </a:ext>
            </a:extLst>
          </p:cNvPr>
          <p:cNvSpPr txBox="1"/>
          <p:nvPr/>
        </p:nvSpPr>
        <p:spPr>
          <a:xfrm>
            <a:off x="5010912"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project/   —   folder contents</a:t>
            </a:r>
            <a:endParaRPr lang="en-US" sz="1200" dirty="0"/>
          </a:p>
        </p:txBody>
      </p:sp>
      <p:sp>
        <p:nvSpPr>
          <p:cNvPr id="21" name="Text 16">
            <a:extLst>
              <a:ext uri="{FF2B5EF4-FFF2-40B4-BE49-F238E27FC236}">
                <a16:creationId xmlns:a16="http://schemas.microsoft.com/office/drawing/2014/main" id="{532D38DE-7884-8AA1-D71A-95FDAA1CEBFC}"/>
              </a:ext>
            </a:extLst>
          </p:cNvPr>
          <p:cNvSpPr txBox="1"/>
          <p:nvPr/>
        </p:nvSpPr>
        <p:spPr>
          <a:xfrm>
            <a:off x="4736592" y="2423160"/>
            <a:ext cx="2825496" cy="219456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Control_R1.csv</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script.R</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plot1.png</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notes.txt</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data2.csv</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final_table.csv</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34 more files</a:t>
            </a:r>
            <a:endParaRPr lang="en-US" sz="1400" dirty="0"/>
          </a:p>
        </p:txBody>
      </p:sp>
      <p:sp>
        <p:nvSpPr>
          <p:cNvPr id="22" name="Shape 17">
            <a:extLst>
              <a:ext uri="{FF2B5EF4-FFF2-40B4-BE49-F238E27FC236}">
                <a16:creationId xmlns:a16="http://schemas.microsoft.com/office/drawing/2014/main" id="{021E35E8-152D-6918-2172-53B04A6418CA}"/>
              </a:ext>
            </a:extLst>
          </p:cNvPr>
          <p:cNvSpPr/>
          <p:nvPr/>
        </p:nvSpPr>
        <p:spPr>
          <a:xfrm>
            <a:off x="8202168" y="1325879"/>
            <a:ext cx="3483864" cy="4278575"/>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23" name="Text 18">
            <a:extLst>
              <a:ext uri="{FF2B5EF4-FFF2-40B4-BE49-F238E27FC236}">
                <a16:creationId xmlns:a16="http://schemas.microsoft.com/office/drawing/2014/main" id="{BD21586C-9813-772B-4B4F-598BDEB809F9}"/>
              </a:ext>
            </a:extLst>
          </p:cNvPr>
          <p:cNvSpPr txBox="1"/>
          <p:nvPr/>
        </p:nvSpPr>
        <p:spPr>
          <a:xfrm>
            <a:off x="8476488" y="1007448"/>
            <a:ext cx="2935224" cy="237744"/>
          </a:xfrm>
          <a:prstGeom prst="rect">
            <a:avLst/>
          </a:prstGeom>
          <a:noFill/>
          <a:ln/>
        </p:spPr>
        <p:txBody>
          <a:bodyPr wrap="square" lIns="0" tIns="0" rIns="0" bIns="0" rtlCol="0" anchor="ctr"/>
          <a:lstStyle/>
          <a:p>
            <a:pPr marL="0" indent="0">
              <a:buNone/>
            </a:pPr>
            <a:r>
              <a:rPr lang="en-US" sz="1600" b="1" kern="0" spc="110" dirty="0">
                <a:solidFill>
                  <a:srgbClr val="8A0000"/>
                </a:solidFill>
                <a:latin typeface="Calibri" pitchFamily="34" charset="0"/>
                <a:ea typeface="Calibri" pitchFamily="34" charset="-122"/>
                <a:cs typeface="Calibri" pitchFamily="34" charset="-120"/>
              </a:rPr>
              <a:t>EXHIBIT 3</a:t>
            </a:r>
            <a:endParaRPr lang="en-US" sz="1600" dirty="0"/>
          </a:p>
        </p:txBody>
      </p:sp>
      <p:sp>
        <p:nvSpPr>
          <p:cNvPr id="24" name="Shape 19">
            <a:extLst>
              <a:ext uri="{FF2B5EF4-FFF2-40B4-BE49-F238E27FC236}">
                <a16:creationId xmlns:a16="http://schemas.microsoft.com/office/drawing/2014/main" id="{0E184ECC-96DC-F227-BF38-BD203C42B69A}"/>
              </a:ext>
            </a:extLst>
          </p:cNvPr>
          <p:cNvSpPr/>
          <p:nvPr/>
        </p:nvSpPr>
        <p:spPr>
          <a:xfrm>
            <a:off x="8476488"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25" name="Image 3" descr="preencoded.png">
            <a:extLst>
              <a:ext uri="{FF2B5EF4-FFF2-40B4-BE49-F238E27FC236}">
                <a16:creationId xmlns:a16="http://schemas.microsoft.com/office/drawing/2014/main" id="{D8450A81-3BBA-FF7B-55C3-98FF1DF8C5F5}"/>
              </a:ext>
            </a:extLst>
          </p:cNvPr>
          <p:cNvPicPr>
            <a:picLocks noChangeAspect="1"/>
          </p:cNvPicPr>
          <p:nvPr/>
        </p:nvPicPr>
        <p:blipFill>
          <a:blip r:embed="rId5"/>
          <a:stretch>
            <a:fillRect/>
          </a:stretch>
        </p:blipFill>
        <p:spPr>
          <a:xfrm>
            <a:off x="8586216" y="1947672"/>
            <a:ext cx="201168" cy="201168"/>
          </a:xfrm>
          <a:prstGeom prst="rect">
            <a:avLst/>
          </a:prstGeom>
        </p:spPr>
      </p:pic>
      <p:sp>
        <p:nvSpPr>
          <p:cNvPr id="26" name="Text 20">
            <a:extLst>
              <a:ext uri="{FF2B5EF4-FFF2-40B4-BE49-F238E27FC236}">
                <a16:creationId xmlns:a16="http://schemas.microsoft.com/office/drawing/2014/main" id="{73946C6D-266C-4E7A-7BAE-F639B5056370}"/>
              </a:ext>
            </a:extLst>
          </p:cNvPr>
          <p:cNvSpPr txBox="1"/>
          <p:nvPr/>
        </p:nvSpPr>
        <p:spPr>
          <a:xfrm>
            <a:off x="8860536"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metadata.xlsx   —   spreadsheet</a:t>
            </a:r>
            <a:endParaRPr lang="en-US" sz="1200" dirty="0"/>
          </a:p>
        </p:txBody>
      </p:sp>
      <p:graphicFrame>
        <p:nvGraphicFramePr>
          <p:cNvPr id="27" name="Table 0">
            <a:extLst>
              <a:ext uri="{FF2B5EF4-FFF2-40B4-BE49-F238E27FC236}">
                <a16:creationId xmlns:a16="http://schemas.microsoft.com/office/drawing/2014/main" id="{07247ADE-A48E-8FE0-5F06-B18B6E915E04}"/>
              </a:ext>
            </a:extLst>
          </p:cNvPr>
          <p:cNvGraphicFramePr>
            <a:graphicFrameLocks noGrp="1"/>
          </p:cNvGraphicFramePr>
          <p:nvPr/>
        </p:nvGraphicFramePr>
        <p:xfrm>
          <a:off x="8476488" y="2377440"/>
          <a:ext cx="2935224" cy="2880360"/>
        </p:xfrm>
        <a:graphic>
          <a:graphicData uri="http://schemas.openxmlformats.org/drawingml/2006/table">
            <a:tbl>
              <a:tblPr/>
              <a:tblGrid>
                <a:gridCol w="237744">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0">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b="1" dirty="0">
                          <a:solidFill>
                            <a:srgbClr val="8A0000"/>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b="1" dirty="0">
                          <a:solidFill>
                            <a:srgbClr val="8A0000"/>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b="1" dirty="0">
                          <a:solidFill>
                            <a:srgbClr val="8A0000"/>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Microbial Ecology Lab</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Experiment 4 FINAL</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Run by JD, Mar 2024</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Sample</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OD</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pH</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ctr">
                        <a:buNone/>
                      </a:pPr>
                      <a:r>
                        <a:rPr lang="en-US" sz="1200" dirty="0">
                          <a:solidFill>
                            <a:srgbClr val="7F7F7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Control R1</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200" dirty="0">
                          <a:solidFill>
                            <a:srgbClr val="262626"/>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22528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19</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is wrong here?</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GALLERY, 2 OF 2</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p:cNvSpPr/>
          <p:nvPr/>
        </p:nvSpPr>
        <p:spPr>
          <a:xfrm>
            <a:off x="502920" y="1325880"/>
            <a:ext cx="3483864" cy="3794760"/>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1" name="Text 8"/>
          <p:cNvSpPr txBox="1"/>
          <p:nvPr/>
        </p:nvSpPr>
        <p:spPr>
          <a:xfrm>
            <a:off x="777240" y="1061239"/>
            <a:ext cx="2935224"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EXHIBIT 4</a:t>
            </a:r>
            <a:endParaRPr lang="en-US" sz="1400" dirty="0"/>
          </a:p>
        </p:txBody>
      </p:sp>
      <p:sp>
        <p:nvSpPr>
          <p:cNvPr id="12" name="Shape 9"/>
          <p:cNvSpPr/>
          <p:nvPr/>
        </p:nvSpPr>
        <p:spPr>
          <a:xfrm>
            <a:off x="777240"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886968" y="1947672"/>
            <a:ext cx="201168" cy="201168"/>
          </a:xfrm>
          <a:prstGeom prst="rect">
            <a:avLst/>
          </a:prstGeom>
        </p:spPr>
      </p:pic>
      <p:sp>
        <p:nvSpPr>
          <p:cNvPr id="14" name="Text 10"/>
          <p:cNvSpPr txBox="1"/>
          <p:nvPr/>
        </p:nvSpPr>
        <p:spPr>
          <a:xfrm>
            <a:off x="1161288"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README.md   —   file contents</a:t>
            </a:r>
            <a:endParaRPr lang="en-US" sz="1200" dirty="0"/>
          </a:p>
        </p:txBody>
      </p:sp>
      <p:sp>
        <p:nvSpPr>
          <p:cNvPr id="15" name="Shape 11"/>
          <p:cNvSpPr/>
          <p:nvPr/>
        </p:nvSpPr>
        <p:spPr>
          <a:xfrm>
            <a:off x="777240" y="2350008"/>
            <a:ext cx="18288" cy="868680"/>
          </a:xfrm>
          <a:prstGeom prst="rect">
            <a:avLst/>
          </a:prstGeom>
          <a:solidFill>
            <a:srgbClr val="DCDCDC"/>
          </a:solidFill>
          <a:ln w="6350">
            <a:solidFill>
              <a:srgbClr val="DCDCDC"/>
            </a:solidFill>
            <a:prstDash val="solid"/>
          </a:ln>
        </p:spPr>
        <p:txBody>
          <a:bodyPr/>
          <a:lstStyle/>
          <a:p>
            <a:endParaRPr lang="en-US"/>
          </a:p>
        </p:txBody>
      </p:sp>
      <p:sp>
        <p:nvSpPr>
          <p:cNvPr id="16" name="Text 12"/>
          <p:cNvSpPr txBox="1"/>
          <p:nvPr/>
        </p:nvSpPr>
        <p:spPr>
          <a:xfrm>
            <a:off x="978408" y="2377440"/>
            <a:ext cx="2734056" cy="91440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Project</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scripts for the paper</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DA736-4B2C-F2A4-EF9A-8F6951C8120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1A2755-AD93-9FB8-FFD0-C6E21A7D7900}"/>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FEBBD2B2-B2AE-628A-803F-C0F024AD1FD7}"/>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F88E9F70-FB98-13ED-4AC4-463CD8E36F19}"/>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046F4C90-EC83-31A4-5D9A-CB3C6D0AF2B8}"/>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19</a:t>
            </a:r>
            <a:endParaRPr lang="en-US" sz="900" dirty="0"/>
          </a:p>
        </p:txBody>
      </p:sp>
      <p:sp>
        <p:nvSpPr>
          <p:cNvPr id="6" name="Text 3">
            <a:extLst>
              <a:ext uri="{FF2B5EF4-FFF2-40B4-BE49-F238E27FC236}">
                <a16:creationId xmlns:a16="http://schemas.microsoft.com/office/drawing/2014/main" id="{EFCF31D2-E7DF-4BA1-A3D7-7882D2BD756E}"/>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is wrong here?</a:t>
            </a:r>
            <a:endParaRPr lang="en-US" sz="2000" dirty="0"/>
          </a:p>
        </p:txBody>
      </p:sp>
      <p:sp>
        <p:nvSpPr>
          <p:cNvPr id="7" name="Text 4">
            <a:extLst>
              <a:ext uri="{FF2B5EF4-FFF2-40B4-BE49-F238E27FC236}">
                <a16:creationId xmlns:a16="http://schemas.microsoft.com/office/drawing/2014/main" id="{65BD70E2-0C70-CA06-92BD-E4AA5F3E5038}"/>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GALLERY, 2 OF 2</a:t>
            </a:r>
            <a:endParaRPr lang="en-US" sz="1150" dirty="0"/>
          </a:p>
        </p:txBody>
      </p:sp>
      <p:sp>
        <p:nvSpPr>
          <p:cNvPr id="8" name="Shape 5">
            <a:extLst>
              <a:ext uri="{FF2B5EF4-FFF2-40B4-BE49-F238E27FC236}">
                <a16:creationId xmlns:a16="http://schemas.microsoft.com/office/drawing/2014/main" id="{834685DC-23A6-FC46-BDB0-5B5510981748}"/>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82780A90-B028-1B49-96E7-2569384EC70B}"/>
              </a:ext>
            </a:extLst>
          </p:cNvPr>
          <p:cNvSpPr/>
          <p:nvPr/>
        </p:nvSpPr>
        <p:spPr>
          <a:xfrm>
            <a:off x="502920" y="1325880"/>
            <a:ext cx="3483864" cy="3794760"/>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1" name="Text 8">
            <a:extLst>
              <a:ext uri="{FF2B5EF4-FFF2-40B4-BE49-F238E27FC236}">
                <a16:creationId xmlns:a16="http://schemas.microsoft.com/office/drawing/2014/main" id="{0CF0DC76-BDEA-3DA4-9DF3-619ED137C1D2}"/>
              </a:ext>
            </a:extLst>
          </p:cNvPr>
          <p:cNvSpPr txBox="1"/>
          <p:nvPr/>
        </p:nvSpPr>
        <p:spPr>
          <a:xfrm>
            <a:off x="777240" y="1061239"/>
            <a:ext cx="2935224"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EXHIBIT 4</a:t>
            </a:r>
            <a:endParaRPr lang="en-US" sz="1400" dirty="0"/>
          </a:p>
        </p:txBody>
      </p:sp>
      <p:sp>
        <p:nvSpPr>
          <p:cNvPr id="12" name="Shape 9">
            <a:extLst>
              <a:ext uri="{FF2B5EF4-FFF2-40B4-BE49-F238E27FC236}">
                <a16:creationId xmlns:a16="http://schemas.microsoft.com/office/drawing/2014/main" id="{772864CF-8B6E-8899-8356-01929A89AE3A}"/>
              </a:ext>
            </a:extLst>
          </p:cNvPr>
          <p:cNvSpPr/>
          <p:nvPr/>
        </p:nvSpPr>
        <p:spPr>
          <a:xfrm>
            <a:off x="777240"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3" name="Image 1" descr="preencoded.png">
            <a:extLst>
              <a:ext uri="{FF2B5EF4-FFF2-40B4-BE49-F238E27FC236}">
                <a16:creationId xmlns:a16="http://schemas.microsoft.com/office/drawing/2014/main" id="{FA9F6275-214C-00EB-90B6-9AF728B2025A}"/>
              </a:ext>
            </a:extLst>
          </p:cNvPr>
          <p:cNvPicPr>
            <a:picLocks noChangeAspect="1"/>
          </p:cNvPicPr>
          <p:nvPr/>
        </p:nvPicPr>
        <p:blipFill>
          <a:blip r:embed="rId4"/>
          <a:stretch>
            <a:fillRect/>
          </a:stretch>
        </p:blipFill>
        <p:spPr>
          <a:xfrm>
            <a:off x="886968" y="1947672"/>
            <a:ext cx="201168" cy="201168"/>
          </a:xfrm>
          <a:prstGeom prst="rect">
            <a:avLst/>
          </a:prstGeom>
        </p:spPr>
      </p:pic>
      <p:sp>
        <p:nvSpPr>
          <p:cNvPr id="14" name="Text 10">
            <a:extLst>
              <a:ext uri="{FF2B5EF4-FFF2-40B4-BE49-F238E27FC236}">
                <a16:creationId xmlns:a16="http://schemas.microsoft.com/office/drawing/2014/main" id="{DEB96D1C-1ADF-588B-BBF0-40D7E0955541}"/>
              </a:ext>
            </a:extLst>
          </p:cNvPr>
          <p:cNvSpPr txBox="1"/>
          <p:nvPr/>
        </p:nvSpPr>
        <p:spPr>
          <a:xfrm>
            <a:off x="1161288"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README.md   —   file contents</a:t>
            </a:r>
            <a:endParaRPr lang="en-US" sz="1200" dirty="0"/>
          </a:p>
        </p:txBody>
      </p:sp>
      <p:sp>
        <p:nvSpPr>
          <p:cNvPr id="15" name="Shape 11">
            <a:extLst>
              <a:ext uri="{FF2B5EF4-FFF2-40B4-BE49-F238E27FC236}">
                <a16:creationId xmlns:a16="http://schemas.microsoft.com/office/drawing/2014/main" id="{076C1F4E-816F-3754-F8BF-289F533E8EF9}"/>
              </a:ext>
            </a:extLst>
          </p:cNvPr>
          <p:cNvSpPr/>
          <p:nvPr/>
        </p:nvSpPr>
        <p:spPr>
          <a:xfrm>
            <a:off x="777240" y="2350008"/>
            <a:ext cx="18288" cy="868680"/>
          </a:xfrm>
          <a:prstGeom prst="rect">
            <a:avLst/>
          </a:prstGeom>
          <a:solidFill>
            <a:srgbClr val="DCDCDC"/>
          </a:solidFill>
          <a:ln w="6350">
            <a:solidFill>
              <a:srgbClr val="DCDCDC"/>
            </a:solidFill>
            <a:prstDash val="solid"/>
          </a:ln>
        </p:spPr>
        <p:txBody>
          <a:bodyPr/>
          <a:lstStyle/>
          <a:p>
            <a:endParaRPr lang="en-US"/>
          </a:p>
        </p:txBody>
      </p:sp>
      <p:sp>
        <p:nvSpPr>
          <p:cNvPr id="16" name="Text 12">
            <a:extLst>
              <a:ext uri="{FF2B5EF4-FFF2-40B4-BE49-F238E27FC236}">
                <a16:creationId xmlns:a16="http://schemas.microsoft.com/office/drawing/2014/main" id="{3F7F93BA-A023-35BB-BC68-8E0371FD3B61}"/>
              </a:ext>
            </a:extLst>
          </p:cNvPr>
          <p:cNvSpPr txBox="1"/>
          <p:nvPr/>
        </p:nvSpPr>
        <p:spPr>
          <a:xfrm>
            <a:off x="978408" y="2377440"/>
            <a:ext cx="2734056" cy="91440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Project</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scripts for the paper</a:t>
            </a:r>
            <a:endParaRPr lang="en-US" sz="1400" dirty="0"/>
          </a:p>
        </p:txBody>
      </p:sp>
      <p:sp>
        <p:nvSpPr>
          <p:cNvPr id="17" name="Shape 13">
            <a:extLst>
              <a:ext uri="{FF2B5EF4-FFF2-40B4-BE49-F238E27FC236}">
                <a16:creationId xmlns:a16="http://schemas.microsoft.com/office/drawing/2014/main" id="{B53617B0-A1CE-89BA-C7EB-FC11B5C42E59}"/>
              </a:ext>
            </a:extLst>
          </p:cNvPr>
          <p:cNvSpPr/>
          <p:nvPr/>
        </p:nvSpPr>
        <p:spPr>
          <a:xfrm>
            <a:off x="4352544" y="1325880"/>
            <a:ext cx="3483864" cy="3794760"/>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8" name="Text 14">
            <a:extLst>
              <a:ext uri="{FF2B5EF4-FFF2-40B4-BE49-F238E27FC236}">
                <a16:creationId xmlns:a16="http://schemas.microsoft.com/office/drawing/2014/main" id="{AEE023F2-E935-1B7E-82D9-42F3958AA2B8}"/>
              </a:ext>
            </a:extLst>
          </p:cNvPr>
          <p:cNvSpPr txBox="1"/>
          <p:nvPr/>
        </p:nvSpPr>
        <p:spPr>
          <a:xfrm>
            <a:off x="4626864" y="1061239"/>
            <a:ext cx="2935224"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EXHIBIT 5</a:t>
            </a:r>
            <a:endParaRPr lang="en-US" sz="1400" dirty="0"/>
          </a:p>
        </p:txBody>
      </p:sp>
      <p:sp>
        <p:nvSpPr>
          <p:cNvPr id="19" name="Shape 15">
            <a:extLst>
              <a:ext uri="{FF2B5EF4-FFF2-40B4-BE49-F238E27FC236}">
                <a16:creationId xmlns:a16="http://schemas.microsoft.com/office/drawing/2014/main" id="{D2946662-2430-4FDE-6DBE-E6204B1681F9}"/>
              </a:ext>
            </a:extLst>
          </p:cNvPr>
          <p:cNvSpPr/>
          <p:nvPr/>
        </p:nvSpPr>
        <p:spPr>
          <a:xfrm>
            <a:off x="4626864"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20" name="Image 2" descr="preencoded.png">
            <a:extLst>
              <a:ext uri="{FF2B5EF4-FFF2-40B4-BE49-F238E27FC236}">
                <a16:creationId xmlns:a16="http://schemas.microsoft.com/office/drawing/2014/main" id="{00E82432-129B-BDEF-67E1-6900A0F03FD1}"/>
              </a:ext>
            </a:extLst>
          </p:cNvPr>
          <p:cNvPicPr>
            <a:picLocks noChangeAspect="1"/>
          </p:cNvPicPr>
          <p:nvPr/>
        </p:nvPicPr>
        <p:blipFill>
          <a:blip r:embed="rId5"/>
          <a:stretch>
            <a:fillRect/>
          </a:stretch>
        </p:blipFill>
        <p:spPr>
          <a:xfrm>
            <a:off x="4736592" y="1947672"/>
            <a:ext cx="201168" cy="201168"/>
          </a:xfrm>
          <a:prstGeom prst="rect">
            <a:avLst/>
          </a:prstGeom>
        </p:spPr>
      </p:pic>
      <p:sp>
        <p:nvSpPr>
          <p:cNvPr id="21" name="Text 16">
            <a:extLst>
              <a:ext uri="{FF2B5EF4-FFF2-40B4-BE49-F238E27FC236}">
                <a16:creationId xmlns:a16="http://schemas.microsoft.com/office/drawing/2014/main" id="{24EF36BA-9B45-F365-7B0D-6C2AB6C1EA4C}"/>
              </a:ext>
            </a:extLst>
          </p:cNvPr>
          <p:cNvSpPr txBox="1"/>
          <p:nvPr/>
        </p:nvSpPr>
        <p:spPr>
          <a:xfrm>
            <a:off x="5010912"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metadata.csv   —   table</a:t>
            </a:r>
            <a:endParaRPr lang="en-US" sz="1200" dirty="0"/>
          </a:p>
        </p:txBody>
      </p:sp>
      <p:graphicFrame>
        <p:nvGraphicFramePr>
          <p:cNvPr id="22" name="Table 0">
            <a:extLst>
              <a:ext uri="{FF2B5EF4-FFF2-40B4-BE49-F238E27FC236}">
                <a16:creationId xmlns:a16="http://schemas.microsoft.com/office/drawing/2014/main" id="{BF508233-4E17-F8DA-ADF2-672F21BC429C}"/>
              </a:ext>
            </a:extLst>
          </p:cNvPr>
          <p:cNvGraphicFramePr>
            <a:graphicFrameLocks noGrp="1"/>
          </p:cNvGraphicFramePr>
          <p:nvPr/>
        </p:nvGraphicFramePr>
        <p:xfrm>
          <a:off x="4626864" y="2377440"/>
          <a:ext cx="2935224" cy="2026920"/>
        </p:xfrm>
        <a:graphic>
          <a:graphicData uri="http://schemas.openxmlformats.org/drawingml/2006/table">
            <a:tbl>
              <a:tblPr/>
              <a:tblGrid>
                <a:gridCol w="1920240">
                  <a:extLst>
                    <a:ext uri="{9D8B030D-6E8A-4147-A177-3AD203B41FA5}">
                      <a16:colId xmlns:a16="http://schemas.microsoft.com/office/drawing/2014/main" val="20000"/>
                    </a:ext>
                  </a:extLst>
                </a:gridCol>
                <a:gridCol w="1014984">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8A0000"/>
                          </a:solidFill>
                          <a:latin typeface="Calibri" pitchFamily="34" charset="0"/>
                          <a:ea typeface="Calibri" pitchFamily="34" charset="-122"/>
                          <a:cs typeface="Calibri" pitchFamily="34" charset="-120"/>
                        </a:rPr>
                        <a:t>sample_id</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400" b="1" dirty="0">
                          <a:solidFill>
                            <a:srgbClr val="8A0000"/>
                          </a:solidFill>
                          <a:latin typeface="Calibri" pitchFamily="34" charset="0"/>
                          <a:ea typeface="Calibri" pitchFamily="34" charset="-122"/>
                          <a:cs typeface="Calibri" pitchFamily="34" charset="-120"/>
                        </a:rPr>
                        <a:t>od600</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0.42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0.51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tube 4 (new)</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tube 4 (new) redo</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0.39</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CTRL old</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0.44</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ctrl_2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56008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CF98D-6BF7-67E7-367E-3330CEA45F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C3A01C-034B-F65B-4502-EC3D37A02DE7}"/>
              </a:ext>
            </a:extLst>
          </p:cNvPr>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C5E8BEF2-EF5D-265D-96E3-D6D7195A0403}"/>
              </a:ext>
            </a:extLst>
          </p:cNvPr>
          <p:cNvPicPr>
            <a:picLocks noChangeAspect="1"/>
          </p:cNvPicPr>
          <p:nvPr/>
        </p:nvPicPr>
        <p:blipFill>
          <a:blip r:embed="rId3"/>
          <a:stretch>
            <a:fillRect/>
          </a:stretch>
        </p:blipFill>
        <p:spPr>
          <a:xfrm>
            <a:off x="155448" y="6574536"/>
            <a:ext cx="384048" cy="228600"/>
          </a:xfrm>
          <a:prstGeom prst="rect">
            <a:avLst/>
          </a:prstGeom>
        </p:spPr>
      </p:pic>
      <p:sp>
        <p:nvSpPr>
          <p:cNvPr id="4" name="Text 1">
            <a:extLst>
              <a:ext uri="{FF2B5EF4-FFF2-40B4-BE49-F238E27FC236}">
                <a16:creationId xmlns:a16="http://schemas.microsoft.com/office/drawing/2014/main" id="{55AA39F5-989A-21AC-1583-0079DC15A7AC}"/>
              </a:ext>
            </a:extLst>
          </p:cNvPr>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a:extLst>
              <a:ext uri="{FF2B5EF4-FFF2-40B4-BE49-F238E27FC236}">
                <a16:creationId xmlns:a16="http://schemas.microsoft.com/office/drawing/2014/main" id="{EBBC9808-D819-45BA-B190-220EA4F982B1}"/>
              </a:ext>
            </a:extLst>
          </p:cNvPr>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19</a:t>
            </a:r>
            <a:endParaRPr lang="en-US" sz="900" dirty="0"/>
          </a:p>
        </p:txBody>
      </p:sp>
      <p:sp>
        <p:nvSpPr>
          <p:cNvPr id="6" name="Text 3">
            <a:extLst>
              <a:ext uri="{FF2B5EF4-FFF2-40B4-BE49-F238E27FC236}">
                <a16:creationId xmlns:a16="http://schemas.microsoft.com/office/drawing/2014/main" id="{D866DC58-6034-ED67-5DD9-2E5DCE474E3D}"/>
              </a:ext>
            </a:extLst>
          </p:cNvPr>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What is wrong here?</a:t>
            </a:r>
            <a:endParaRPr lang="en-US" sz="2000" dirty="0"/>
          </a:p>
        </p:txBody>
      </p:sp>
      <p:sp>
        <p:nvSpPr>
          <p:cNvPr id="7" name="Text 4">
            <a:extLst>
              <a:ext uri="{FF2B5EF4-FFF2-40B4-BE49-F238E27FC236}">
                <a16:creationId xmlns:a16="http://schemas.microsoft.com/office/drawing/2014/main" id="{41BBA240-3067-CB2F-5067-45A64A205B09}"/>
              </a:ext>
            </a:extLst>
          </p:cNvPr>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GALLERY, 2 OF 2</a:t>
            </a:r>
            <a:endParaRPr lang="en-US" sz="1150" dirty="0"/>
          </a:p>
        </p:txBody>
      </p:sp>
      <p:sp>
        <p:nvSpPr>
          <p:cNvPr id="8" name="Shape 5">
            <a:extLst>
              <a:ext uri="{FF2B5EF4-FFF2-40B4-BE49-F238E27FC236}">
                <a16:creationId xmlns:a16="http://schemas.microsoft.com/office/drawing/2014/main" id="{A8E5AD4A-84E4-668F-B1D0-8DB82DDD0FB2}"/>
              </a:ext>
            </a:extLst>
          </p:cNvPr>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a:extLst>
              <a:ext uri="{FF2B5EF4-FFF2-40B4-BE49-F238E27FC236}">
                <a16:creationId xmlns:a16="http://schemas.microsoft.com/office/drawing/2014/main" id="{15DDEDBC-9D4A-3EB6-F9EF-8F0E71806A56}"/>
              </a:ext>
            </a:extLst>
          </p:cNvPr>
          <p:cNvSpPr/>
          <p:nvPr/>
        </p:nvSpPr>
        <p:spPr>
          <a:xfrm>
            <a:off x="502920" y="1325880"/>
            <a:ext cx="3483864" cy="3794760"/>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1" name="Text 8">
            <a:extLst>
              <a:ext uri="{FF2B5EF4-FFF2-40B4-BE49-F238E27FC236}">
                <a16:creationId xmlns:a16="http://schemas.microsoft.com/office/drawing/2014/main" id="{E45EB710-BEBB-26BB-5F0A-1037BA637FA4}"/>
              </a:ext>
            </a:extLst>
          </p:cNvPr>
          <p:cNvSpPr txBox="1"/>
          <p:nvPr/>
        </p:nvSpPr>
        <p:spPr>
          <a:xfrm>
            <a:off x="777240" y="1061239"/>
            <a:ext cx="2935224"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EXHIBIT 4</a:t>
            </a:r>
            <a:endParaRPr lang="en-US" sz="1400" dirty="0"/>
          </a:p>
        </p:txBody>
      </p:sp>
      <p:sp>
        <p:nvSpPr>
          <p:cNvPr id="12" name="Shape 9">
            <a:extLst>
              <a:ext uri="{FF2B5EF4-FFF2-40B4-BE49-F238E27FC236}">
                <a16:creationId xmlns:a16="http://schemas.microsoft.com/office/drawing/2014/main" id="{EDAB810F-5121-6950-AEBA-71A3DA7ACD92}"/>
              </a:ext>
            </a:extLst>
          </p:cNvPr>
          <p:cNvSpPr/>
          <p:nvPr/>
        </p:nvSpPr>
        <p:spPr>
          <a:xfrm>
            <a:off x="777240"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13" name="Image 1" descr="preencoded.png">
            <a:extLst>
              <a:ext uri="{FF2B5EF4-FFF2-40B4-BE49-F238E27FC236}">
                <a16:creationId xmlns:a16="http://schemas.microsoft.com/office/drawing/2014/main" id="{84394AB8-605E-0A33-4940-21E49D05647B}"/>
              </a:ext>
            </a:extLst>
          </p:cNvPr>
          <p:cNvPicPr>
            <a:picLocks noChangeAspect="1"/>
          </p:cNvPicPr>
          <p:nvPr/>
        </p:nvPicPr>
        <p:blipFill>
          <a:blip r:embed="rId4"/>
          <a:stretch>
            <a:fillRect/>
          </a:stretch>
        </p:blipFill>
        <p:spPr>
          <a:xfrm>
            <a:off x="886968" y="1947672"/>
            <a:ext cx="201168" cy="201168"/>
          </a:xfrm>
          <a:prstGeom prst="rect">
            <a:avLst/>
          </a:prstGeom>
        </p:spPr>
      </p:pic>
      <p:sp>
        <p:nvSpPr>
          <p:cNvPr id="14" name="Text 10">
            <a:extLst>
              <a:ext uri="{FF2B5EF4-FFF2-40B4-BE49-F238E27FC236}">
                <a16:creationId xmlns:a16="http://schemas.microsoft.com/office/drawing/2014/main" id="{3E4EEB7F-4F3C-FE9F-F419-3F3D9749EF58}"/>
              </a:ext>
            </a:extLst>
          </p:cNvPr>
          <p:cNvSpPr txBox="1"/>
          <p:nvPr/>
        </p:nvSpPr>
        <p:spPr>
          <a:xfrm>
            <a:off x="1161288"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README.md   —   file contents</a:t>
            </a:r>
            <a:endParaRPr lang="en-US" sz="1200" dirty="0"/>
          </a:p>
        </p:txBody>
      </p:sp>
      <p:sp>
        <p:nvSpPr>
          <p:cNvPr id="15" name="Shape 11">
            <a:extLst>
              <a:ext uri="{FF2B5EF4-FFF2-40B4-BE49-F238E27FC236}">
                <a16:creationId xmlns:a16="http://schemas.microsoft.com/office/drawing/2014/main" id="{199457A2-7B4E-D84D-0948-8C585188004D}"/>
              </a:ext>
            </a:extLst>
          </p:cNvPr>
          <p:cNvSpPr/>
          <p:nvPr/>
        </p:nvSpPr>
        <p:spPr>
          <a:xfrm>
            <a:off x="777240" y="2350008"/>
            <a:ext cx="18288" cy="868680"/>
          </a:xfrm>
          <a:prstGeom prst="rect">
            <a:avLst/>
          </a:prstGeom>
          <a:solidFill>
            <a:srgbClr val="DCDCDC"/>
          </a:solidFill>
          <a:ln w="6350">
            <a:solidFill>
              <a:srgbClr val="DCDCDC"/>
            </a:solidFill>
            <a:prstDash val="solid"/>
          </a:ln>
        </p:spPr>
        <p:txBody>
          <a:bodyPr/>
          <a:lstStyle/>
          <a:p>
            <a:endParaRPr lang="en-US"/>
          </a:p>
        </p:txBody>
      </p:sp>
      <p:sp>
        <p:nvSpPr>
          <p:cNvPr id="16" name="Text 12">
            <a:extLst>
              <a:ext uri="{FF2B5EF4-FFF2-40B4-BE49-F238E27FC236}">
                <a16:creationId xmlns:a16="http://schemas.microsoft.com/office/drawing/2014/main" id="{6CC2AEAE-96D0-F262-8703-94F9049F8B18}"/>
              </a:ext>
            </a:extLst>
          </p:cNvPr>
          <p:cNvSpPr txBox="1"/>
          <p:nvPr/>
        </p:nvSpPr>
        <p:spPr>
          <a:xfrm>
            <a:off x="978408" y="2377440"/>
            <a:ext cx="2734056" cy="91440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Project</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scripts for the paper</a:t>
            </a:r>
            <a:endParaRPr lang="en-US" sz="1400" dirty="0"/>
          </a:p>
        </p:txBody>
      </p:sp>
      <p:sp>
        <p:nvSpPr>
          <p:cNvPr id="17" name="Shape 13">
            <a:extLst>
              <a:ext uri="{FF2B5EF4-FFF2-40B4-BE49-F238E27FC236}">
                <a16:creationId xmlns:a16="http://schemas.microsoft.com/office/drawing/2014/main" id="{B34566EB-C815-6404-2E3F-D31DFCAD88DB}"/>
              </a:ext>
            </a:extLst>
          </p:cNvPr>
          <p:cNvSpPr/>
          <p:nvPr/>
        </p:nvSpPr>
        <p:spPr>
          <a:xfrm>
            <a:off x="4352544" y="1325880"/>
            <a:ext cx="3483864" cy="3794760"/>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18" name="Text 14">
            <a:extLst>
              <a:ext uri="{FF2B5EF4-FFF2-40B4-BE49-F238E27FC236}">
                <a16:creationId xmlns:a16="http://schemas.microsoft.com/office/drawing/2014/main" id="{630E1229-C348-0FE5-FFD7-3EF54722207F}"/>
              </a:ext>
            </a:extLst>
          </p:cNvPr>
          <p:cNvSpPr txBox="1"/>
          <p:nvPr/>
        </p:nvSpPr>
        <p:spPr>
          <a:xfrm>
            <a:off x="4626864" y="1061239"/>
            <a:ext cx="2935224"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EXHIBIT 5</a:t>
            </a:r>
            <a:endParaRPr lang="en-US" sz="1400" dirty="0"/>
          </a:p>
        </p:txBody>
      </p:sp>
      <p:sp>
        <p:nvSpPr>
          <p:cNvPr id="19" name="Shape 15">
            <a:extLst>
              <a:ext uri="{FF2B5EF4-FFF2-40B4-BE49-F238E27FC236}">
                <a16:creationId xmlns:a16="http://schemas.microsoft.com/office/drawing/2014/main" id="{A8CFE621-A271-EBF2-1DED-C2FF6F20E598}"/>
              </a:ext>
            </a:extLst>
          </p:cNvPr>
          <p:cNvSpPr/>
          <p:nvPr/>
        </p:nvSpPr>
        <p:spPr>
          <a:xfrm>
            <a:off x="4626864"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20" name="Image 2" descr="preencoded.png">
            <a:extLst>
              <a:ext uri="{FF2B5EF4-FFF2-40B4-BE49-F238E27FC236}">
                <a16:creationId xmlns:a16="http://schemas.microsoft.com/office/drawing/2014/main" id="{678E7A2D-F1B7-8BA4-2C76-220F7BD03862}"/>
              </a:ext>
            </a:extLst>
          </p:cNvPr>
          <p:cNvPicPr>
            <a:picLocks noChangeAspect="1"/>
          </p:cNvPicPr>
          <p:nvPr/>
        </p:nvPicPr>
        <p:blipFill>
          <a:blip r:embed="rId5"/>
          <a:stretch>
            <a:fillRect/>
          </a:stretch>
        </p:blipFill>
        <p:spPr>
          <a:xfrm>
            <a:off x="4736592" y="1947672"/>
            <a:ext cx="201168" cy="201168"/>
          </a:xfrm>
          <a:prstGeom prst="rect">
            <a:avLst/>
          </a:prstGeom>
        </p:spPr>
      </p:pic>
      <p:sp>
        <p:nvSpPr>
          <p:cNvPr id="21" name="Text 16">
            <a:extLst>
              <a:ext uri="{FF2B5EF4-FFF2-40B4-BE49-F238E27FC236}">
                <a16:creationId xmlns:a16="http://schemas.microsoft.com/office/drawing/2014/main" id="{C3D80F55-45A9-41B4-4C46-60392472F127}"/>
              </a:ext>
            </a:extLst>
          </p:cNvPr>
          <p:cNvSpPr txBox="1"/>
          <p:nvPr/>
        </p:nvSpPr>
        <p:spPr>
          <a:xfrm>
            <a:off x="5010912"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metadata.csv   —   table</a:t>
            </a:r>
            <a:endParaRPr lang="en-US" sz="1200" dirty="0"/>
          </a:p>
        </p:txBody>
      </p:sp>
      <p:graphicFrame>
        <p:nvGraphicFramePr>
          <p:cNvPr id="22" name="Table 0">
            <a:extLst>
              <a:ext uri="{FF2B5EF4-FFF2-40B4-BE49-F238E27FC236}">
                <a16:creationId xmlns:a16="http://schemas.microsoft.com/office/drawing/2014/main" id="{4C6177A2-2F27-B79D-AC51-0CDFF7729108}"/>
              </a:ext>
            </a:extLst>
          </p:cNvPr>
          <p:cNvGraphicFramePr>
            <a:graphicFrameLocks noGrp="1"/>
          </p:cNvGraphicFramePr>
          <p:nvPr/>
        </p:nvGraphicFramePr>
        <p:xfrm>
          <a:off x="4626864" y="2377440"/>
          <a:ext cx="2935224" cy="2026920"/>
        </p:xfrm>
        <a:graphic>
          <a:graphicData uri="http://schemas.openxmlformats.org/drawingml/2006/table">
            <a:tbl>
              <a:tblPr/>
              <a:tblGrid>
                <a:gridCol w="1920240">
                  <a:extLst>
                    <a:ext uri="{9D8B030D-6E8A-4147-A177-3AD203B41FA5}">
                      <a16:colId xmlns:a16="http://schemas.microsoft.com/office/drawing/2014/main" val="20000"/>
                    </a:ext>
                  </a:extLst>
                </a:gridCol>
                <a:gridCol w="1014984">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8A0000"/>
                          </a:solidFill>
                          <a:latin typeface="Calibri" pitchFamily="34" charset="0"/>
                          <a:ea typeface="Calibri" pitchFamily="34" charset="-122"/>
                          <a:cs typeface="Calibri" pitchFamily="34" charset="-120"/>
                        </a:rPr>
                        <a:t>sample_id</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400" b="1" dirty="0">
                          <a:solidFill>
                            <a:srgbClr val="8A0000"/>
                          </a:solidFill>
                          <a:latin typeface="Calibri" pitchFamily="34" charset="0"/>
                          <a:ea typeface="Calibri" pitchFamily="34" charset="-122"/>
                          <a:cs typeface="Calibri" pitchFamily="34" charset="-120"/>
                        </a:rPr>
                        <a:t>od600</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0.42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S2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0.51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tube 4 (new)</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tube 4 (new) redo</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0.39</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CTRL old</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0.44</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ctrl_2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3" name="Shape 17">
            <a:extLst>
              <a:ext uri="{FF2B5EF4-FFF2-40B4-BE49-F238E27FC236}">
                <a16:creationId xmlns:a16="http://schemas.microsoft.com/office/drawing/2014/main" id="{FA9C16A5-6CD8-53D9-E000-A8FD7B932DB2}"/>
              </a:ext>
            </a:extLst>
          </p:cNvPr>
          <p:cNvSpPr/>
          <p:nvPr/>
        </p:nvSpPr>
        <p:spPr>
          <a:xfrm>
            <a:off x="8202168" y="1325880"/>
            <a:ext cx="3483864" cy="3794760"/>
          </a:xfrm>
          <a:prstGeom prst="roundRect">
            <a:avLst>
              <a:gd name="adj" fmla="val 2100"/>
            </a:avLst>
          </a:prstGeom>
          <a:solidFill>
            <a:srgbClr val="FFFFFF"/>
          </a:solidFill>
          <a:ln w="12700">
            <a:solidFill>
              <a:srgbClr val="DCDCDC"/>
            </a:solidFill>
            <a:prstDash val="solid"/>
          </a:ln>
        </p:spPr>
        <p:txBody>
          <a:bodyPr/>
          <a:lstStyle/>
          <a:p>
            <a:endParaRPr lang="en-US"/>
          </a:p>
        </p:txBody>
      </p:sp>
      <p:sp>
        <p:nvSpPr>
          <p:cNvPr id="24" name="Text 18">
            <a:extLst>
              <a:ext uri="{FF2B5EF4-FFF2-40B4-BE49-F238E27FC236}">
                <a16:creationId xmlns:a16="http://schemas.microsoft.com/office/drawing/2014/main" id="{94CF7617-77A4-4677-C23A-B80588720F12}"/>
              </a:ext>
            </a:extLst>
          </p:cNvPr>
          <p:cNvSpPr txBox="1"/>
          <p:nvPr/>
        </p:nvSpPr>
        <p:spPr>
          <a:xfrm>
            <a:off x="8476488" y="1061239"/>
            <a:ext cx="2935224" cy="237744"/>
          </a:xfrm>
          <a:prstGeom prst="rect">
            <a:avLst/>
          </a:prstGeom>
          <a:noFill/>
          <a:ln/>
        </p:spPr>
        <p:txBody>
          <a:bodyPr wrap="square" lIns="0" tIns="0" rIns="0" bIns="0" rtlCol="0" anchor="ctr"/>
          <a:lstStyle/>
          <a:p>
            <a:pPr marL="0" indent="0">
              <a:buNone/>
            </a:pPr>
            <a:r>
              <a:rPr lang="en-US" sz="1400" b="1" kern="0" spc="110" dirty="0">
                <a:solidFill>
                  <a:srgbClr val="8A0000"/>
                </a:solidFill>
                <a:latin typeface="Calibri" pitchFamily="34" charset="0"/>
                <a:ea typeface="Calibri" pitchFamily="34" charset="-122"/>
                <a:cs typeface="Calibri" pitchFamily="34" charset="-120"/>
              </a:rPr>
              <a:t>EXHIBIT 6</a:t>
            </a:r>
            <a:endParaRPr lang="en-US" sz="1400" dirty="0"/>
          </a:p>
        </p:txBody>
      </p:sp>
      <p:sp>
        <p:nvSpPr>
          <p:cNvPr id="25" name="Shape 19">
            <a:extLst>
              <a:ext uri="{FF2B5EF4-FFF2-40B4-BE49-F238E27FC236}">
                <a16:creationId xmlns:a16="http://schemas.microsoft.com/office/drawing/2014/main" id="{F9087384-5748-89DD-831F-98F2694A22D6}"/>
              </a:ext>
            </a:extLst>
          </p:cNvPr>
          <p:cNvSpPr/>
          <p:nvPr/>
        </p:nvSpPr>
        <p:spPr>
          <a:xfrm>
            <a:off x="8476488" y="1874520"/>
            <a:ext cx="2935224" cy="347472"/>
          </a:xfrm>
          <a:prstGeom prst="roundRect">
            <a:avLst>
              <a:gd name="adj" fmla="val 13158"/>
            </a:avLst>
          </a:prstGeom>
          <a:solidFill>
            <a:srgbClr val="F2F2F2"/>
          </a:solidFill>
          <a:ln w="12700">
            <a:solidFill>
              <a:srgbClr val="DCDCDC"/>
            </a:solidFill>
            <a:prstDash val="solid"/>
          </a:ln>
        </p:spPr>
        <p:txBody>
          <a:bodyPr/>
          <a:lstStyle/>
          <a:p>
            <a:endParaRPr lang="en-US"/>
          </a:p>
        </p:txBody>
      </p:sp>
      <p:pic>
        <p:nvPicPr>
          <p:cNvPr id="26" name="Image 3" descr="preencoded.png">
            <a:extLst>
              <a:ext uri="{FF2B5EF4-FFF2-40B4-BE49-F238E27FC236}">
                <a16:creationId xmlns:a16="http://schemas.microsoft.com/office/drawing/2014/main" id="{B22F5FEA-DD44-57D6-7919-29C466EFEB81}"/>
              </a:ext>
            </a:extLst>
          </p:cNvPr>
          <p:cNvPicPr>
            <a:picLocks noChangeAspect="1"/>
          </p:cNvPicPr>
          <p:nvPr/>
        </p:nvPicPr>
        <p:blipFill>
          <a:blip r:embed="rId5"/>
          <a:stretch>
            <a:fillRect/>
          </a:stretch>
        </p:blipFill>
        <p:spPr>
          <a:xfrm>
            <a:off x="8586216" y="1947672"/>
            <a:ext cx="201168" cy="201168"/>
          </a:xfrm>
          <a:prstGeom prst="rect">
            <a:avLst/>
          </a:prstGeom>
        </p:spPr>
      </p:pic>
      <p:sp>
        <p:nvSpPr>
          <p:cNvPr id="27" name="Text 20">
            <a:extLst>
              <a:ext uri="{FF2B5EF4-FFF2-40B4-BE49-F238E27FC236}">
                <a16:creationId xmlns:a16="http://schemas.microsoft.com/office/drawing/2014/main" id="{E0768DCE-53C5-2622-4A79-648AF54F324D}"/>
              </a:ext>
            </a:extLst>
          </p:cNvPr>
          <p:cNvSpPr txBox="1"/>
          <p:nvPr/>
        </p:nvSpPr>
        <p:spPr>
          <a:xfrm>
            <a:off x="8860536" y="1874520"/>
            <a:ext cx="2441448" cy="347472"/>
          </a:xfrm>
          <a:prstGeom prst="rect">
            <a:avLst/>
          </a:prstGeom>
          <a:noFill/>
          <a:ln/>
        </p:spPr>
        <p:txBody>
          <a:bodyPr wrap="square" lIns="0" tIns="0" rIns="0" bIns="0" rtlCol="0" anchor="ctr"/>
          <a:lstStyle/>
          <a:p>
            <a:pPr marL="0" indent="0">
              <a:buNone/>
            </a:pPr>
            <a:r>
              <a:rPr lang="en-US" sz="1200" b="1" kern="0" spc="60" dirty="0">
                <a:solidFill>
                  <a:srgbClr val="8A0000"/>
                </a:solidFill>
                <a:latin typeface="Calibri" pitchFamily="34" charset="0"/>
                <a:ea typeface="Calibri" pitchFamily="34" charset="-122"/>
                <a:cs typeface="Calibri" pitchFamily="34" charset="-120"/>
              </a:rPr>
              <a:t>metadata.csv   —   table</a:t>
            </a:r>
            <a:endParaRPr lang="en-US" sz="1200" dirty="0"/>
          </a:p>
        </p:txBody>
      </p:sp>
      <p:graphicFrame>
        <p:nvGraphicFramePr>
          <p:cNvPr id="39" name="Table 1">
            <a:extLst>
              <a:ext uri="{FF2B5EF4-FFF2-40B4-BE49-F238E27FC236}">
                <a16:creationId xmlns:a16="http://schemas.microsoft.com/office/drawing/2014/main" id="{45086D96-9B79-EF10-8992-FC5DA82F2EE5}"/>
              </a:ext>
            </a:extLst>
          </p:cNvPr>
          <p:cNvGraphicFramePr>
            <a:graphicFrameLocks noGrp="1"/>
          </p:cNvGraphicFramePr>
          <p:nvPr/>
        </p:nvGraphicFramePr>
        <p:xfrm>
          <a:off x="8476488" y="2377440"/>
          <a:ext cx="2935224" cy="2026920"/>
        </p:xfrm>
        <a:graphic>
          <a:graphicData uri="http://schemas.openxmlformats.org/drawingml/2006/table">
            <a:tbl>
              <a:tblPr/>
              <a:tblGrid>
                <a:gridCol w="1325880">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8A0000"/>
                          </a:solidFill>
                          <a:latin typeface="Calibri" pitchFamily="34" charset="0"/>
                          <a:ea typeface="Calibri" pitchFamily="34" charset="-122"/>
                          <a:cs typeface="Calibri" pitchFamily="34" charset="-120"/>
                        </a:rPr>
                        <a:t>sample_id</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tc>
                  <a:txBody>
                    <a:bodyPr/>
                    <a:lstStyle/>
                    <a:p>
                      <a:pPr marL="0" indent="0">
                        <a:buNone/>
                      </a:pPr>
                      <a:r>
                        <a:rPr lang="en-US" sz="1400" b="1" dirty="0">
                          <a:solidFill>
                            <a:srgbClr val="8A0000"/>
                          </a:solidFill>
                          <a:latin typeface="Calibri" pitchFamily="34" charset="0"/>
                          <a:ea typeface="Calibri" pitchFamily="34" charset="-122"/>
                          <a:cs typeface="Calibri" pitchFamily="34" charset="-120"/>
                        </a:rPr>
                        <a:t>date_collected</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Control_R1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01/02/2024</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Control_R2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02/01/2024</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A_R1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Feb 1 2024</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A_R2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1 Feb 24</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B_R1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2024-02-01</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B_R2</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tc>
                  <a:txBody>
                    <a:bodyPr/>
                    <a:lstStyle/>
                    <a:p>
                      <a:pPr marL="0" indent="0">
                        <a:buNone/>
                      </a:pPr>
                      <a:r>
                        <a:rPr lang="en-US" sz="1400" dirty="0">
                          <a:solidFill>
                            <a:srgbClr val="262626"/>
                          </a:solidFill>
                          <a:latin typeface="Calibri" pitchFamily="34" charset="0"/>
                          <a:ea typeface="Calibri" pitchFamily="34" charset="-122"/>
                          <a:cs typeface="Calibri" pitchFamily="34" charset="-120"/>
                        </a:rPr>
                        <a:t>44958</a:t>
                      </a:r>
                      <a:endParaRPr lang="en-US" sz="1400" dirty="0">
                        <a:latin typeface="Calibri" charset="0"/>
                        <a:ea typeface="Calibri" charset="0"/>
                        <a:cs typeface="Calibri" charset="0"/>
                      </a:endParaRPr>
                    </a:p>
                  </a:txBody>
                  <a:tcPr marL="38100" marR="38100" marT="38100" marB="3810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34632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20</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The same problem, six times</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Shape 6"/>
          <p:cNvSpPr/>
          <p:nvPr/>
        </p:nvSpPr>
        <p:spPr>
          <a:xfrm>
            <a:off x="822960" y="1188720"/>
            <a:ext cx="10543032" cy="1737360"/>
          </a:xfrm>
          <a:prstGeom prst="roundRect">
            <a:avLst>
              <a:gd name="adj" fmla="val 4211"/>
            </a:avLst>
          </a:prstGeom>
          <a:solidFill>
            <a:srgbClr val="F8D5DB"/>
          </a:solidFill>
          <a:ln w="12700">
            <a:solidFill>
              <a:srgbClr val="C00000"/>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1234440" y="1463040"/>
            <a:ext cx="502920" cy="502920"/>
          </a:xfrm>
          <a:prstGeom prst="rect">
            <a:avLst/>
          </a:prstGeom>
        </p:spPr>
      </p:pic>
      <p:sp>
        <p:nvSpPr>
          <p:cNvPr id="11" name="Text 7"/>
          <p:cNvSpPr txBox="1"/>
          <p:nvPr/>
        </p:nvSpPr>
        <p:spPr>
          <a:xfrm>
            <a:off x="1234440" y="2103120"/>
            <a:ext cx="9720072" cy="640080"/>
          </a:xfrm>
          <a:prstGeom prst="rect">
            <a:avLst/>
          </a:prstGeom>
          <a:noFill/>
          <a:ln/>
        </p:spPr>
        <p:txBody>
          <a:bodyPr wrap="square" lIns="0" tIns="0" rIns="0" bIns="0" rtlCol="0" anchor="t"/>
          <a:lstStyle/>
          <a:p>
            <a:pPr marL="0" indent="0">
              <a:lnSpc>
                <a:spcPct val="110000"/>
              </a:lnSpc>
              <a:buNone/>
            </a:pPr>
            <a:r>
              <a:rPr lang="en-US" sz="2200" dirty="0">
                <a:solidFill>
                  <a:srgbClr val="C00000"/>
                </a:solidFill>
                <a:latin typeface="Tahoma" pitchFamily="34" charset="0"/>
                <a:ea typeface="Tahoma" pitchFamily="34" charset="-122"/>
                <a:cs typeface="Tahoma" pitchFamily="34" charset="-120"/>
              </a:rPr>
              <a:t>Every one of those is information that exists in exactly one person’s head.</a:t>
            </a:r>
            <a:endParaRPr lang="en-US" sz="2200" dirty="0"/>
          </a:p>
        </p:txBody>
      </p:sp>
      <p:sp>
        <p:nvSpPr>
          <p:cNvPr id="12" name="Shape 8"/>
          <p:cNvSpPr/>
          <p:nvPr/>
        </p:nvSpPr>
        <p:spPr>
          <a:xfrm>
            <a:off x="822960" y="3200400"/>
            <a:ext cx="3300984" cy="2391156"/>
          </a:xfrm>
          <a:prstGeom prst="roundRect">
            <a:avLst>
              <a:gd name="adj" fmla="val 3810"/>
            </a:avLst>
          </a:prstGeom>
          <a:solidFill>
            <a:srgbClr val="FFFFFF"/>
          </a:solidFill>
          <a:ln w="12700">
            <a:solidFill>
              <a:srgbClr val="DCDCDC"/>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1097280" y="3401568"/>
            <a:ext cx="438912" cy="438912"/>
          </a:xfrm>
          <a:prstGeom prst="rect">
            <a:avLst/>
          </a:prstGeom>
        </p:spPr>
      </p:pic>
      <p:sp>
        <p:nvSpPr>
          <p:cNvPr id="14" name="Text 9"/>
          <p:cNvSpPr txBox="1"/>
          <p:nvPr/>
        </p:nvSpPr>
        <p:spPr>
          <a:xfrm>
            <a:off x="1097280" y="3913632"/>
            <a:ext cx="2752344" cy="32004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Nobody meant to</a:t>
            </a:r>
            <a:endParaRPr lang="en-US" sz="1600" dirty="0"/>
          </a:p>
        </p:txBody>
      </p:sp>
      <p:sp>
        <p:nvSpPr>
          <p:cNvPr id="15" name="Text 10"/>
          <p:cNvSpPr txBox="1"/>
          <p:nvPr/>
        </p:nvSpPr>
        <p:spPr>
          <a:xfrm>
            <a:off x="1097280" y="4261104"/>
            <a:ext cx="2752344" cy="73152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Each of those was the fastest thing to do on the day it happened. None of them was a mistake at the time, which is exactly why they are so common.</a:t>
            </a:r>
            <a:endParaRPr lang="en-US" sz="1400" dirty="0"/>
          </a:p>
        </p:txBody>
      </p:sp>
      <p:sp>
        <p:nvSpPr>
          <p:cNvPr id="16" name="Shape 11"/>
          <p:cNvSpPr/>
          <p:nvPr/>
        </p:nvSpPr>
        <p:spPr>
          <a:xfrm>
            <a:off x="4443984" y="3200400"/>
            <a:ext cx="3300984" cy="2391156"/>
          </a:xfrm>
          <a:prstGeom prst="roundRect">
            <a:avLst>
              <a:gd name="adj" fmla="val 3810"/>
            </a:avLst>
          </a:prstGeom>
          <a:solidFill>
            <a:srgbClr val="FFFFFF"/>
          </a:solidFill>
          <a:ln w="12700">
            <a:solidFill>
              <a:srgbClr val="DCDCDC"/>
            </a:solidFill>
            <a:prstDash val="solid"/>
          </a:ln>
        </p:spPr>
        <p:txBody>
          <a:bodyPr/>
          <a:lstStyle/>
          <a:p>
            <a:endParaRPr lang="en-US"/>
          </a:p>
        </p:txBody>
      </p:sp>
      <p:pic>
        <p:nvPicPr>
          <p:cNvPr id="17" name="Image 3" descr="preencoded.png"/>
          <p:cNvPicPr>
            <a:picLocks noChangeAspect="1"/>
          </p:cNvPicPr>
          <p:nvPr/>
        </p:nvPicPr>
        <p:blipFill>
          <a:blip r:embed="rId4"/>
          <a:stretch>
            <a:fillRect/>
          </a:stretch>
        </p:blipFill>
        <p:spPr>
          <a:xfrm>
            <a:off x="4718304" y="3401568"/>
            <a:ext cx="438912" cy="438912"/>
          </a:xfrm>
          <a:prstGeom prst="rect">
            <a:avLst/>
          </a:prstGeom>
        </p:spPr>
      </p:pic>
      <p:sp>
        <p:nvSpPr>
          <p:cNvPr id="18" name="Text 12"/>
          <p:cNvSpPr txBox="1"/>
          <p:nvPr/>
        </p:nvSpPr>
        <p:spPr>
          <a:xfrm>
            <a:off x="4718304" y="3913632"/>
            <a:ext cx="2752344" cy="32004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You cannot see it from inside</a:t>
            </a:r>
            <a:endParaRPr lang="en-US" sz="1600" dirty="0"/>
          </a:p>
        </p:txBody>
      </p:sp>
      <p:sp>
        <p:nvSpPr>
          <p:cNvPr id="19" name="Text 13"/>
          <p:cNvSpPr txBox="1"/>
          <p:nvPr/>
        </p:nvSpPr>
        <p:spPr>
          <a:xfrm>
            <a:off x="4718304" y="4261104"/>
            <a:ext cx="2752344" cy="73152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While you still remember, every one of those files is perfectly clear. The problem only appears when the memory fades, or when somebody else opens the folder.</a:t>
            </a:r>
            <a:endParaRPr lang="en-US" sz="1400" dirty="0"/>
          </a:p>
        </p:txBody>
      </p:sp>
      <p:sp>
        <p:nvSpPr>
          <p:cNvPr id="20" name="Shape 14"/>
          <p:cNvSpPr/>
          <p:nvPr/>
        </p:nvSpPr>
        <p:spPr>
          <a:xfrm>
            <a:off x="8065008" y="3200399"/>
            <a:ext cx="3300984" cy="2391155"/>
          </a:xfrm>
          <a:prstGeom prst="roundRect">
            <a:avLst>
              <a:gd name="adj" fmla="val 3810"/>
            </a:avLst>
          </a:prstGeom>
          <a:solidFill>
            <a:srgbClr val="F8D5DB"/>
          </a:solidFill>
          <a:ln w="12700">
            <a:solidFill>
              <a:srgbClr val="C00000"/>
            </a:solidFill>
            <a:prstDash val="solid"/>
          </a:ln>
        </p:spPr>
        <p:txBody>
          <a:bodyPr/>
          <a:lstStyle/>
          <a:p>
            <a:endParaRPr lang="en-US"/>
          </a:p>
        </p:txBody>
      </p:sp>
      <p:pic>
        <p:nvPicPr>
          <p:cNvPr id="21" name="Image 4" descr="preencoded.png"/>
          <p:cNvPicPr>
            <a:picLocks noChangeAspect="1"/>
          </p:cNvPicPr>
          <p:nvPr/>
        </p:nvPicPr>
        <p:blipFill>
          <a:blip r:embed="rId6"/>
          <a:stretch>
            <a:fillRect/>
          </a:stretch>
        </p:blipFill>
        <p:spPr>
          <a:xfrm>
            <a:off x="8339328" y="3401568"/>
            <a:ext cx="438912" cy="438912"/>
          </a:xfrm>
          <a:prstGeom prst="rect">
            <a:avLst/>
          </a:prstGeom>
        </p:spPr>
      </p:pic>
      <p:sp>
        <p:nvSpPr>
          <p:cNvPr id="22" name="Text 15"/>
          <p:cNvSpPr txBox="1"/>
          <p:nvPr/>
        </p:nvSpPr>
        <p:spPr>
          <a:xfrm>
            <a:off x="8339328" y="3913632"/>
            <a:ext cx="2752344" cy="32004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Fix it while you remember</a:t>
            </a:r>
            <a:endParaRPr lang="en-US" sz="1600" dirty="0"/>
          </a:p>
        </p:txBody>
      </p:sp>
      <p:sp>
        <p:nvSpPr>
          <p:cNvPr id="23" name="Text 16"/>
          <p:cNvSpPr txBox="1"/>
          <p:nvPr/>
        </p:nvSpPr>
        <p:spPr>
          <a:xfrm>
            <a:off x="8339328" y="4261104"/>
            <a:ext cx="2752344" cy="73152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Not at submission, not when a reviewer asks, not when you hand over. Now, while you can still say what every file is and why it is there.</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21</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Why a metadata file, when the filename already says it</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600" dirty="0">
                <a:solidFill>
                  <a:srgbClr val="7F7F7F"/>
                </a:solidFill>
                <a:latin typeface="Calibri" pitchFamily="34" charset="0"/>
                <a:ea typeface="Calibri" pitchFamily="34" charset="-122"/>
                <a:cs typeface="Calibri" pitchFamily="34" charset="-120"/>
              </a:rPr>
              <a:t>Control_R1 already tells you it is a control and a first replicate. So why write it down again?</a:t>
            </a:r>
            <a:endParaRPr lang="en-US" sz="1600" dirty="0"/>
          </a:p>
        </p:txBody>
      </p:sp>
      <p:sp>
        <p:nvSpPr>
          <p:cNvPr id="10" name="Shape 7"/>
          <p:cNvSpPr/>
          <p:nvPr/>
        </p:nvSpPr>
        <p:spPr>
          <a:xfrm>
            <a:off x="502920" y="1371600"/>
            <a:ext cx="5408676" cy="3246120"/>
          </a:xfrm>
          <a:prstGeom prst="roundRect">
            <a:avLst>
              <a:gd name="adj" fmla="val 2254"/>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2960" y="1600200"/>
            <a:ext cx="502920" cy="502920"/>
          </a:xfrm>
          <a:prstGeom prst="rect">
            <a:avLst/>
          </a:prstGeom>
        </p:spPr>
      </p:pic>
      <p:sp>
        <p:nvSpPr>
          <p:cNvPr id="12" name="Text 8"/>
          <p:cNvSpPr txBox="1"/>
          <p:nvPr/>
        </p:nvSpPr>
        <p:spPr>
          <a:xfrm>
            <a:off x="822960" y="2240280"/>
            <a:ext cx="4754880"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Two different readers</a:t>
            </a:r>
            <a:endParaRPr lang="en-US" sz="1600" dirty="0"/>
          </a:p>
        </p:txBody>
      </p:sp>
      <p:sp>
        <p:nvSpPr>
          <p:cNvPr id="13" name="Text 9"/>
          <p:cNvSpPr txBox="1"/>
          <p:nvPr/>
        </p:nvSpPr>
        <p:spPr>
          <a:xfrm>
            <a:off x="822960" y="2697480"/>
            <a:ext cx="4754880" cy="1737360"/>
          </a:xfrm>
          <a:prstGeom prst="rect">
            <a:avLst/>
          </a:prstGeom>
          <a:noFill/>
          <a:ln/>
        </p:spPr>
        <p:txBody>
          <a:bodyPr wrap="square" lIns="0" tIns="0" rIns="0" bIns="0" rtlCol="0" anchor="t"/>
          <a:lstStyle/>
          <a:p>
            <a:pPr marL="0" indent="0">
              <a:lnSpc>
                <a:spcPct val="120000"/>
              </a:lnSpc>
              <a:spcAft>
                <a:spcPts val="1000"/>
              </a:spcAft>
              <a:buNone/>
            </a:pPr>
            <a:r>
              <a:rPr lang="en-US" sz="1400" dirty="0">
                <a:solidFill>
                  <a:srgbClr val="262626"/>
                </a:solidFill>
                <a:latin typeface="Calibri" pitchFamily="34" charset="0"/>
                <a:ea typeface="Calibri" pitchFamily="34" charset="-122"/>
                <a:cs typeface="Calibri" pitchFamily="34" charset="-120"/>
              </a:rPr>
              <a:t>A filename is readable by a human who was there. A metadata file is readable by a script and by a stranger.</a:t>
            </a:r>
            <a:endParaRPr lang="en-US" sz="1400" dirty="0"/>
          </a:p>
          <a:p>
            <a:pPr marL="0" indent="0">
              <a:lnSpc>
                <a:spcPct val="120000"/>
              </a:lnSpc>
              <a:spcAft>
                <a:spcPts val="1000"/>
              </a:spcAft>
              <a:buNone/>
            </a:pPr>
            <a:r>
              <a:rPr lang="en-US" sz="1400" dirty="0">
                <a:solidFill>
                  <a:srgbClr val="262626"/>
                </a:solidFill>
                <a:latin typeface="Calibri" pitchFamily="34" charset="0"/>
                <a:ea typeface="Calibri" pitchFamily="34" charset="-122"/>
                <a:cs typeface="Calibri" pitchFamily="34" charset="-120"/>
              </a:rPr>
              <a:t>Filtering on a column works in any language. Parsing a filename works until somebody adds Control_R1_repeat.</a:t>
            </a:r>
            <a:endParaRPr lang="en-US" sz="1400" dirty="0"/>
          </a:p>
          <a:p>
            <a:pPr marL="0" indent="0">
              <a:lnSpc>
                <a:spcPct val="120000"/>
              </a:lnSpc>
              <a:buNone/>
            </a:pPr>
            <a:r>
              <a:rPr lang="en-US" sz="1400" dirty="0">
                <a:solidFill>
                  <a:srgbClr val="262626"/>
                </a:solidFill>
                <a:latin typeface="Calibri" pitchFamily="34" charset="0"/>
                <a:ea typeface="Calibri" pitchFamily="34" charset="-122"/>
                <a:cs typeface="Calibri" pitchFamily="34" charset="-120"/>
              </a:rPr>
              <a:t>And no filename will ever tell a reader what treatments A and B actually were.</a:t>
            </a:r>
            <a:endParaRPr lang="en-US" sz="1400" dirty="0"/>
          </a:p>
        </p:txBody>
      </p:sp>
      <p:sp>
        <p:nvSpPr>
          <p:cNvPr id="14" name="Shape 10"/>
          <p:cNvSpPr/>
          <p:nvPr/>
        </p:nvSpPr>
        <p:spPr>
          <a:xfrm>
            <a:off x="6277356" y="1371600"/>
            <a:ext cx="5408676" cy="3246120"/>
          </a:xfrm>
          <a:prstGeom prst="roundRect">
            <a:avLst>
              <a:gd name="adj" fmla="val 2254"/>
            </a:avLst>
          </a:prstGeom>
          <a:solidFill>
            <a:srgbClr val="F8D5DB"/>
          </a:solidFill>
          <a:ln w="12700">
            <a:solidFill>
              <a:srgbClr val="C00000"/>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597396" y="1600200"/>
            <a:ext cx="502920" cy="502920"/>
          </a:xfrm>
          <a:prstGeom prst="rect">
            <a:avLst/>
          </a:prstGeom>
        </p:spPr>
      </p:pic>
      <p:sp>
        <p:nvSpPr>
          <p:cNvPr id="16" name="Text 11"/>
          <p:cNvSpPr txBox="1"/>
          <p:nvPr/>
        </p:nvSpPr>
        <p:spPr>
          <a:xfrm>
            <a:off x="6597396" y="2240280"/>
            <a:ext cx="4754880"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data/metadata.csv, six rows</a:t>
            </a:r>
            <a:endParaRPr lang="en-US" sz="1600" dirty="0"/>
          </a:p>
        </p:txBody>
      </p:sp>
      <p:sp>
        <p:nvSpPr>
          <p:cNvPr id="17" name="Text 12"/>
          <p:cNvSpPr txBox="1"/>
          <p:nvPr/>
        </p:nvSpPr>
        <p:spPr>
          <a:xfrm>
            <a:off x="6597396" y="2697480"/>
            <a:ext cx="4754880" cy="1737360"/>
          </a:xfrm>
          <a:prstGeom prst="rect">
            <a:avLst/>
          </a:prstGeom>
          <a:noFill/>
          <a:ln/>
        </p:spPr>
        <p:txBody>
          <a:bodyPr wrap="square" lIns="0" tIns="0" rIns="0" bIns="0" rtlCol="0" anchor="t"/>
          <a:lstStyle/>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sample_id,condition,replicate,</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replicate_type,timepoint,file</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Control_R1,control,R1,</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  technical,endpoint,...</a:t>
            </a:r>
            <a:endParaRPr lang="en-US" sz="1400" dirty="0"/>
          </a:p>
          <a:p>
            <a:pPr marL="0" indent="0">
              <a:lnSpc>
                <a:spcPct val="130000"/>
              </a:lnSpc>
              <a:buNone/>
            </a:pPr>
            <a:r>
              <a:rPr lang="en-US" sz="1400" dirty="0">
                <a:solidFill>
                  <a:srgbClr val="262626"/>
                </a:solidFill>
                <a:latin typeface="Courier New" pitchFamily="34" charset="0"/>
                <a:ea typeface="Courier New" pitchFamily="34" charset="-122"/>
                <a:cs typeface="Courier New" pitchFamily="34" charset="-120"/>
              </a:rPr>
              <a:t>A_R1,A,R1,technical,endpoint,...</a:t>
            </a:r>
            <a:endParaRPr lang="en-US" sz="1400" dirty="0"/>
          </a:p>
        </p:txBody>
      </p:sp>
      <p:sp>
        <p:nvSpPr>
          <p:cNvPr id="18" name="Shape 13"/>
          <p:cNvSpPr/>
          <p:nvPr/>
        </p:nvSpPr>
        <p:spPr>
          <a:xfrm>
            <a:off x="502920" y="4800600"/>
            <a:ext cx="11183112" cy="1005840"/>
          </a:xfrm>
          <a:prstGeom prst="roundRect">
            <a:avLst>
              <a:gd name="adj" fmla="val 7273"/>
            </a:avLst>
          </a:prstGeom>
          <a:solidFill>
            <a:srgbClr val="FFFFFF"/>
          </a:solidFill>
          <a:ln w="12700">
            <a:solidFill>
              <a:srgbClr val="DCDCDC"/>
            </a:solidFill>
            <a:prstDash val="solid"/>
          </a:ln>
        </p:spPr>
        <p:txBody>
          <a:bodyPr/>
          <a:lstStyle/>
          <a:p>
            <a:endParaRPr lang="en-US"/>
          </a:p>
        </p:txBody>
      </p:sp>
      <p:sp>
        <p:nvSpPr>
          <p:cNvPr id="19" name="Text 14"/>
          <p:cNvSpPr txBox="1"/>
          <p:nvPr/>
        </p:nvSpPr>
        <p:spPr>
          <a:xfrm>
            <a:off x="914400" y="4800600"/>
            <a:ext cx="10332720" cy="100584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Before you start : what other columns would this file need if these were your own experiments?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11</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Raw data is read-only</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Text 6"/>
          <p:cNvSpPr txBox="1"/>
          <p:nvPr/>
        </p:nvSpPr>
        <p:spPr>
          <a:xfrm>
            <a:off x="502920" y="749808"/>
            <a:ext cx="11183112" cy="365760"/>
          </a:xfrm>
          <a:prstGeom prst="rect">
            <a:avLst/>
          </a:prstGeom>
          <a:noFill/>
          <a:ln/>
        </p:spPr>
        <p:txBody>
          <a:bodyPr wrap="square" lIns="0" tIns="0" rIns="0" bIns="0" rtlCol="0" anchor="ctr"/>
          <a:lstStyle/>
          <a:p>
            <a:pPr marL="0" indent="0">
              <a:buNone/>
            </a:pPr>
            <a:r>
              <a:rPr lang="en-US" sz="1400" dirty="0">
                <a:solidFill>
                  <a:srgbClr val="7F7F7F"/>
                </a:solidFill>
                <a:latin typeface="Calibri" pitchFamily="34" charset="0"/>
                <a:ea typeface="Calibri" pitchFamily="34" charset="-122"/>
                <a:cs typeface="Calibri" pitchFamily="34" charset="-120"/>
              </a:rPr>
              <a:t>One habit, one folder layout, and everything downstream stays recoverable.</a:t>
            </a:r>
            <a:endParaRPr lang="en-US" sz="1400" dirty="0"/>
          </a:p>
        </p:txBody>
      </p:sp>
      <p:sp>
        <p:nvSpPr>
          <p:cNvPr id="10" name="Shape 7"/>
          <p:cNvSpPr/>
          <p:nvPr/>
        </p:nvSpPr>
        <p:spPr>
          <a:xfrm>
            <a:off x="502920" y="1371600"/>
            <a:ext cx="4937760" cy="3657600"/>
          </a:xfrm>
          <a:prstGeom prst="roundRect">
            <a:avLst>
              <a:gd name="adj" fmla="val 2000"/>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68680" y="1645920"/>
            <a:ext cx="548640" cy="548640"/>
          </a:xfrm>
          <a:prstGeom prst="rect">
            <a:avLst/>
          </a:prstGeom>
        </p:spPr>
      </p:pic>
      <p:sp>
        <p:nvSpPr>
          <p:cNvPr id="12" name="Text 8"/>
          <p:cNvSpPr txBox="1"/>
          <p:nvPr/>
        </p:nvSpPr>
        <p:spPr>
          <a:xfrm>
            <a:off x="868680" y="2377440"/>
            <a:ext cx="4206240" cy="36576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Find a logical layout that works</a:t>
            </a:r>
            <a:endParaRPr lang="en-US" sz="1600" dirty="0"/>
          </a:p>
        </p:txBody>
      </p:sp>
      <p:sp>
        <p:nvSpPr>
          <p:cNvPr id="13" name="Text 9"/>
          <p:cNvSpPr txBox="1"/>
          <p:nvPr/>
        </p:nvSpPr>
        <p:spPr>
          <a:xfrm>
            <a:off x="868680" y="2834640"/>
            <a:ext cx="4206240" cy="1920240"/>
          </a:xfrm>
          <a:prstGeom prst="rect">
            <a:avLst/>
          </a:prstGeom>
          <a:noFill/>
          <a:ln/>
        </p:spPr>
        <p:txBody>
          <a:bodyPr wrap="square" lIns="0" tIns="0" rIns="0" bIns="0" rtlCol="0" anchor="t"/>
          <a:lstStyle/>
          <a:p>
            <a:pPr marL="0" indent="0">
              <a:lnSpc>
                <a:spcPct val="125000"/>
              </a:lnSpc>
              <a:buNone/>
            </a:pPr>
            <a:r>
              <a:rPr lang="en-US" sz="1400" dirty="0">
                <a:solidFill>
                  <a:srgbClr val="262626"/>
                </a:solidFill>
                <a:latin typeface="Courier New" pitchFamily="34" charset="0"/>
                <a:ea typeface="Courier New" pitchFamily="34" charset="-122"/>
                <a:cs typeface="Courier New" pitchFamily="34" charset="-120"/>
              </a:rPr>
              <a:t>project/</a:t>
            </a:r>
            <a:endParaRPr lang="en-US" sz="1400" dirty="0"/>
          </a:p>
          <a:p>
            <a:pPr marL="0" indent="0">
              <a:lnSpc>
                <a:spcPct val="125000"/>
              </a:lnSpc>
              <a:buNone/>
            </a:pPr>
            <a:r>
              <a:rPr lang="en-US" sz="1400" dirty="0">
                <a:solidFill>
                  <a:srgbClr val="262626"/>
                </a:solidFill>
                <a:latin typeface="Courier New" pitchFamily="34" charset="0"/>
                <a:ea typeface="Courier New" pitchFamily="34" charset="-122"/>
                <a:cs typeface="Courier New" pitchFamily="34" charset="-120"/>
              </a:rPr>
              <a:t>   README.md</a:t>
            </a:r>
            <a:endParaRPr lang="en-US" sz="1400" dirty="0"/>
          </a:p>
          <a:p>
            <a:pPr marL="0" indent="0">
              <a:lnSpc>
                <a:spcPct val="125000"/>
              </a:lnSpc>
              <a:buNone/>
            </a:pPr>
            <a:r>
              <a:rPr lang="en-US" sz="1400" dirty="0">
                <a:solidFill>
                  <a:srgbClr val="262626"/>
                </a:solidFill>
                <a:latin typeface="Courier New" pitchFamily="34" charset="0"/>
                <a:ea typeface="Courier New" pitchFamily="34" charset="-122"/>
                <a:cs typeface="Courier New" pitchFamily="34" charset="-120"/>
              </a:rPr>
              <a:t>   data/</a:t>
            </a:r>
            <a:endParaRPr lang="en-US" sz="1400" dirty="0"/>
          </a:p>
          <a:p>
            <a:pPr marL="0" indent="0">
              <a:lnSpc>
                <a:spcPct val="125000"/>
              </a:lnSpc>
              <a:buNone/>
            </a:pPr>
            <a:r>
              <a:rPr lang="en-US" sz="1400" dirty="0">
                <a:solidFill>
                  <a:srgbClr val="262626"/>
                </a:solidFill>
                <a:latin typeface="Courier New" pitchFamily="34" charset="0"/>
                <a:ea typeface="Courier New" pitchFamily="34" charset="-122"/>
                <a:cs typeface="Courier New" pitchFamily="34" charset="-120"/>
              </a:rPr>
              <a:t>      raw/</a:t>
            </a:r>
            <a:endParaRPr lang="en-US" sz="1400" dirty="0"/>
          </a:p>
          <a:p>
            <a:pPr marL="0" indent="0">
              <a:lnSpc>
                <a:spcPct val="125000"/>
              </a:lnSpc>
              <a:buNone/>
            </a:pPr>
            <a:r>
              <a:rPr lang="en-US" sz="1400" dirty="0">
                <a:solidFill>
                  <a:srgbClr val="262626"/>
                </a:solidFill>
                <a:latin typeface="Courier New" pitchFamily="34" charset="0"/>
                <a:ea typeface="Courier New" pitchFamily="34" charset="-122"/>
                <a:cs typeface="Courier New" pitchFamily="34" charset="-120"/>
              </a:rPr>
              <a:t>      processed/</a:t>
            </a:r>
            <a:endParaRPr lang="en-US" sz="1400" dirty="0"/>
          </a:p>
          <a:p>
            <a:pPr marL="0" indent="0">
              <a:lnSpc>
                <a:spcPct val="125000"/>
              </a:lnSpc>
              <a:buNone/>
            </a:pPr>
            <a:r>
              <a:rPr lang="en-US" sz="1400" dirty="0">
                <a:solidFill>
                  <a:srgbClr val="262626"/>
                </a:solidFill>
                <a:latin typeface="Courier New" pitchFamily="34" charset="0"/>
                <a:ea typeface="Courier New" pitchFamily="34" charset="-122"/>
                <a:cs typeface="Courier New" pitchFamily="34" charset="-120"/>
              </a:rPr>
              <a:t>   scripts/</a:t>
            </a:r>
            <a:endParaRPr lang="en-US" sz="1400" dirty="0"/>
          </a:p>
          <a:p>
            <a:pPr marL="0" indent="0">
              <a:lnSpc>
                <a:spcPct val="125000"/>
              </a:lnSpc>
              <a:buNone/>
            </a:pPr>
            <a:r>
              <a:rPr lang="en-US" sz="1400" dirty="0">
                <a:solidFill>
                  <a:srgbClr val="262626"/>
                </a:solidFill>
                <a:latin typeface="Courier New" pitchFamily="34" charset="0"/>
                <a:ea typeface="Courier New" pitchFamily="34" charset="-122"/>
                <a:cs typeface="Courier New" pitchFamily="34" charset="-120"/>
              </a:rPr>
              <a:t>   results/</a:t>
            </a:r>
            <a:endParaRPr lang="en-US" sz="1400" dirty="0"/>
          </a:p>
        </p:txBody>
      </p:sp>
      <p:sp>
        <p:nvSpPr>
          <p:cNvPr id="14" name="Shape 10"/>
          <p:cNvSpPr/>
          <p:nvPr/>
        </p:nvSpPr>
        <p:spPr>
          <a:xfrm>
            <a:off x="5806440" y="1371600"/>
            <a:ext cx="5879592" cy="3657600"/>
          </a:xfrm>
          <a:prstGeom prst="roundRect">
            <a:avLst>
              <a:gd name="adj" fmla="val 2000"/>
            </a:avLst>
          </a:prstGeom>
          <a:solidFill>
            <a:srgbClr val="F8D5DB"/>
          </a:solidFill>
          <a:ln w="12700">
            <a:solidFill>
              <a:srgbClr val="C00000"/>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172200" y="1645920"/>
            <a:ext cx="548640" cy="548640"/>
          </a:xfrm>
          <a:prstGeom prst="rect">
            <a:avLst/>
          </a:prstGeom>
        </p:spPr>
      </p:pic>
      <p:sp>
        <p:nvSpPr>
          <p:cNvPr id="16" name="Text 11"/>
          <p:cNvSpPr txBox="1"/>
          <p:nvPr/>
        </p:nvSpPr>
        <p:spPr>
          <a:xfrm>
            <a:off x="6172200" y="2377440"/>
            <a:ext cx="5120640" cy="36576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Three rules</a:t>
            </a:r>
            <a:endParaRPr lang="en-US" sz="1500" dirty="0"/>
          </a:p>
        </p:txBody>
      </p:sp>
      <p:sp>
        <p:nvSpPr>
          <p:cNvPr id="17" name="Text 12"/>
          <p:cNvSpPr txBox="1"/>
          <p:nvPr/>
        </p:nvSpPr>
        <p:spPr>
          <a:xfrm>
            <a:off x="6172200" y="2834640"/>
            <a:ext cx="5120640" cy="2011680"/>
          </a:xfrm>
          <a:prstGeom prst="rect">
            <a:avLst/>
          </a:prstGeom>
          <a:noFill/>
          <a:ln/>
        </p:spPr>
        <p:txBody>
          <a:bodyPr wrap="square" lIns="0" tIns="0" rIns="0" bIns="0" rtlCol="0" anchor="t"/>
          <a:lstStyle/>
          <a:p>
            <a:pPr marL="0" indent="0">
              <a:lnSpc>
                <a:spcPct val="120000"/>
              </a:lnSpc>
              <a:spcAft>
                <a:spcPts val="1200"/>
              </a:spcAft>
              <a:buNone/>
            </a:pPr>
            <a:r>
              <a:rPr lang="en-US" sz="1400" dirty="0">
                <a:solidFill>
                  <a:srgbClr val="262626"/>
                </a:solidFill>
                <a:latin typeface="Calibri" pitchFamily="34" charset="0"/>
                <a:ea typeface="Calibri" pitchFamily="34" charset="-122"/>
                <a:cs typeface="Calibri" pitchFamily="34" charset="-120"/>
              </a:rPr>
              <a:t>Nothing in data/raw is ever edited. You read from it, you never write to it. If it needs fixing, the fix is a script that writes somewhere else.</a:t>
            </a:r>
            <a:endParaRPr lang="en-US" sz="1400" dirty="0"/>
          </a:p>
          <a:p>
            <a:pPr marL="0" indent="0">
              <a:lnSpc>
                <a:spcPct val="120000"/>
              </a:lnSpc>
              <a:spcAft>
                <a:spcPts val="1200"/>
              </a:spcAft>
              <a:buNone/>
            </a:pPr>
            <a:r>
              <a:rPr lang="en-US" sz="1400" dirty="0">
                <a:solidFill>
                  <a:srgbClr val="262626"/>
                </a:solidFill>
                <a:latin typeface="Calibri" pitchFamily="34" charset="0"/>
                <a:ea typeface="Calibri" pitchFamily="34" charset="-122"/>
                <a:cs typeface="Calibri" pitchFamily="34" charset="-120"/>
              </a:rPr>
              <a:t>Everything in results/ can be deleted and regenerated by running what is in scripts/. If that is not true, something is only in your head.</a:t>
            </a:r>
            <a:endParaRPr lang="en-US" sz="1400" dirty="0"/>
          </a:p>
          <a:p>
            <a:pPr marL="0" indent="0">
              <a:lnSpc>
                <a:spcPct val="120000"/>
              </a:lnSpc>
              <a:buNone/>
            </a:pPr>
            <a:r>
              <a:rPr lang="en-US" sz="1400" dirty="0">
                <a:solidFill>
                  <a:srgbClr val="262626"/>
                </a:solidFill>
                <a:latin typeface="Calibri" pitchFamily="34" charset="0"/>
                <a:ea typeface="Calibri" pitchFamily="34" charset="-122"/>
                <a:cs typeface="Calibri" pitchFamily="34" charset="-120"/>
              </a:rPr>
              <a:t>If you cannot tell which files are raw and which are derived, then all of them are effectively raw and none of them are reproducible.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22</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Your turn: clean up what you built this week</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p:cNvSpPr/>
          <p:nvPr/>
        </p:nvSpPr>
        <p:spPr>
          <a:xfrm>
            <a:off x="502920" y="1325879"/>
            <a:ext cx="2761488" cy="2875785"/>
          </a:xfrm>
          <a:prstGeom prst="roundRect">
            <a:avLst>
              <a:gd name="adj" fmla="val 2909"/>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777240" y="1554480"/>
            <a:ext cx="457200" cy="457200"/>
          </a:xfrm>
          <a:prstGeom prst="rect">
            <a:avLst/>
          </a:prstGeom>
        </p:spPr>
      </p:pic>
      <p:sp>
        <p:nvSpPr>
          <p:cNvPr id="12" name="Text 8"/>
          <p:cNvSpPr txBox="1"/>
          <p:nvPr/>
        </p:nvSpPr>
        <p:spPr>
          <a:xfrm>
            <a:off x="777240" y="2103120"/>
            <a:ext cx="2212848" cy="36576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Restructure</a:t>
            </a:r>
            <a:endParaRPr lang="en-US" sz="1500" dirty="0"/>
          </a:p>
        </p:txBody>
      </p:sp>
      <p:sp>
        <p:nvSpPr>
          <p:cNvPr id="13" name="Text 9"/>
          <p:cNvSpPr txBox="1"/>
          <p:nvPr/>
        </p:nvSpPr>
        <p:spPr>
          <a:xfrm>
            <a:off x="777240" y="2542032"/>
            <a:ext cx="2212848" cy="11430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Move what you have into data/raw, data/processed, scripts and results. Nothing in data/raw gets edited from here on.</a:t>
            </a:r>
            <a:endParaRPr lang="en-US" sz="1400" dirty="0"/>
          </a:p>
        </p:txBody>
      </p:sp>
      <p:sp>
        <p:nvSpPr>
          <p:cNvPr id="14" name="Shape 10"/>
          <p:cNvSpPr/>
          <p:nvPr/>
        </p:nvSpPr>
        <p:spPr>
          <a:xfrm>
            <a:off x="3310128" y="1325879"/>
            <a:ext cx="2761488" cy="2875771"/>
          </a:xfrm>
          <a:prstGeom prst="roundRect">
            <a:avLst>
              <a:gd name="adj" fmla="val 2909"/>
            </a:avLst>
          </a:prstGeom>
          <a:solidFill>
            <a:srgbClr val="FFFFFF"/>
          </a:solidFill>
          <a:ln w="12700">
            <a:solidFill>
              <a:srgbClr val="DCDCD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3584448" y="1554480"/>
            <a:ext cx="457200" cy="457200"/>
          </a:xfrm>
          <a:prstGeom prst="rect">
            <a:avLst/>
          </a:prstGeom>
        </p:spPr>
      </p:pic>
      <p:sp>
        <p:nvSpPr>
          <p:cNvPr id="16" name="Text 11"/>
          <p:cNvSpPr txBox="1"/>
          <p:nvPr/>
        </p:nvSpPr>
        <p:spPr>
          <a:xfrm>
            <a:off x="3584448" y="2103120"/>
            <a:ext cx="2212848" cy="36576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Rename</a:t>
            </a:r>
            <a:endParaRPr lang="en-US" sz="1500" dirty="0"/>
          </a:p>
        </p:txBody>
      </p:sp>
      <p:sp>
        <p:nvSpPr>
          <p:cNvPr id="17" name="Text 12"/>
          <p:cNvSpPr txBox="1"/>
          <p:nvPr/>
        </p:nvSpPr>
        <p:spPr>
          <a:xfrm>
            <a:off x="3584448" y="2542032"/>
            <a:ext cx="2212848" cy="11430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One convention, applied to every file. No spaces, no slashes, no accents. </a:t>
            </a:r>
            <a:endParaRPr lang="en-US" sz="1400" dirty="0"/>
          </a:p>
        </p:txBody>
      </p:sp>
      <p:sp>
        <p:nvSpPr>
          <p:cNvPr id="18" name="Shape 13"/>
          <p:cNvSpPr/>
          <p:nvPr/>
        </p:nvSpPr>
        <p:spPr>
          <a:xfrm>
            <a:off x="6117336" y="1325879"/>
            <a:ext cx="2761488" cy="2875757"/>
          </a:xfrm>
          <a:prstGeom prst="roundRect">
            <a:avLst>
              <a:gd name="adj" fmla="val 2909"/>
            </a:avLst>
          </a:prstGeom>
          <a:solidFill>
            <a:srgbClr val="FFFFFF"/>
          </a:solidFill>
          <a:ln w="12700">
            <a:solidFill>
              <a:srgbClr val="DCDCDC"/>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6391656" y="1554480"/>
            <a:ext cx="457200" cy="457200"/>
          </a:xfrm>
          <a:prstGeom prst="rect">
            <a:avLst/>
          </a:prstGeom>
        </p:spPr>
      </p:pic>
      <p:sp>
        <p:nvSpPr>
          <p:cNvPr id="20" name="Text 14"/>
          <p:cNvSpPr txBox="1"/>
          <p:nvPr/>
        </p:nvSpPr>
        <p:spPr>
          <a:xfrm>
            <a:off x="6391656" y="2103120"/>
            <a:ext cx="2212848" cy="36576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data/metadata.csv</a:t>
            </a:r>
            <a:endParaRPr lang="en-US" sz="1500" dirty="0"/>
          </a:p>
        </p:txBody>
      </p:sp>
      <p:sp>
        <p:nvSpPr>
          <p:cNvPr id="21" name="Text 15"/>
          <p:cNvSpPr txBox="1"/>
          <p:nvPr/>
        </p:nvSpPr>
        <p:spPr>
          <a:xfrm>
            <a:off x="6391656" y="2542032"/>
            <a:ext cx="2212848" cy="11430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One row per sample, one column per variable. Explicit units, one agreed code for missing values, no colour and no free text in a numeric column.</a:t>
            </a:r>
            <a:endParaRPr lang="en-US" sz="1400" dirty="0"/>
          </a:p>
        </p:txBody>
      </p:sp>
      <p:sp>
        <p:nvSpPr>
          <p:cNvPr id="22" name="Shape 16"/>
          <p:cNvSpPr/>
          <p:nvPr/>
        </p:nvSpPr>
        <p:spPr>
          <a:xfrm>
            <a:off x="8924544" y="1325879"/>
            <a:ext cx="2761488" cy="2875749"/>
          </a:xfrm>
          <a:prstGeom prst="roundRect">
            <a:avLst>
              <a:gd name="adj" fmla="val 2909"/>
            </a:avLst>
          </a:prstGeom>
          <a:solidFill>
            <a:srgbClr val="FFFFFF"/>
          </a:solidFill>
          <a:ln w="12700">
            <a:solidFill>
              <a:srgbClr val="DCDCDC"/>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9198864" y="1554480"/>
            <a:ext cx="457200" cy="457200"/>
          </a:xfrm>
          <a:prstGeom prst="rect">
            <a:avLst/>
          </a:prstGeom>
        </p:spPr>
      </p:pic>
      <p:sp>
        <p:nvSpPr>
          <p:cNvPr id="24" name="Text 17"/>
          <p:cNvSpPr txBox="1"/>
          <p:nvPr/>
        </p:nvSpPr>
        <p:spPr>
          <a:xfrm>
            <a:off x="9198864" y="2103120"/>
            <a:ext cx="2212848" cy="36576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README.md</a:t>
            </a:r>
            <a:endParaRPr lang="en-US" sz="1500" dirty="0"/>
          </a:p>
        </p:txBody>
      </p:sp>
      <p:sp>
        <p:nvSpPr>
          <p:cNvPr id="25" name="Text 18"/>
          <p:cNvSpPr txBox="1"/>
          <p:nvPr/>
        </p:nvSpPr>
        <p:spPr>
          <a:xfrm>
            <a:off x="9198864" y="2542032"/>
            <a:ext cx="2212848" cy="114300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What this is. Where the data came from. What each folder holds. How to run it. Who to ask. Five headings, a few lines each.</a:t>
            </a:r>
            <a:endParaRPr lang="en-US" sz="1400" dirty="0"/>
          </a:p>
        </p:txBody>
      </p:sp>
      <p:sp>
        <p:nvSpPr>
          <p:cNvPr id="26" name="Shape 19"/>
          <p:cNvSpPr/>
          <p:nvPr/>
        </p:nvSpPr>
        <p:spPr>
          <a:xfrm>
            <a:off x="504444" y="4599431"/>
            <a:ext cx="11183112" cy="960120"/>
          </a:xfrm>
          <a:prstGeom prst="roundRect">
            <a:avLst>
              <a:gd name="adj" fmla="val 7619"/>
            </a:avLst>
          </a:prstGeom>
          <a:solidFill>
            <a:srgbClr val="F8D5DB"/>
          </a:solidFill>
          <a:ln w="12700">
            <a:solidFill>
              <a:srgbClr val="C00000"/>
            </a:solidFill>
            <a:prstDash val="solid"/>
          </a:ln>
        </p:spPr>
        <p:txBody>
          <a:bodyPr/>
          <a:lstStyle/>
          <a:p>
            <a:endParaRPr lang="en-US"/>
          </a:p>
        </p:txBody>
      </p:sp>
      <p:pic>
        <p:nvPicPr>
          <p:cNvPr id="27" name="Image 5" descr="preencoded.png"/>
          <p:cNvPicPr>
            <a:picLocks noChangeAspect="1"/>
          </p:cNvPicPr>
          <p:nvPr/>
        </p:nvPicPr>
        <p:blipFill>
          <a:blip r:embed="rId8"/>
          <a:stretch>
            <a:fillRect/>
          </a:stretch>
        </p:blipFill>
        <p:spPr>
          <a:xfrm>
            <a:off x="870204" y="4809743"/>
            <a:ext cx="530352" cy="530352"/>
          </a:xfrm>
          <a:prstGeom prst="rect">
            <a:avLst/>
          </a:prstGeom>
        </p:spPr>
      </p:pic>
      <p:sp>
        <p:nvSpPr>
          <p:cNvPr id="28" name="Text 20"/>
          <p:cNvSpPr txBox="1"/>
          <p:nvPr/>
        </p:nvSpPr>
        <p:spPr>
          <a:xfrm>
            <a:off x="1601724" y="4690871"/>
            <a:ext cx="9692640" cy="32004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Score your folder against the four FAIR questions now, and again when you finish.</a:t>
            </a:r>
            <a:endParaRPr lang="en-US" sz="1500" dirty="0"/>
          </a:p>
        </p:txBody>
      </p:sp>
      <p:sp>
        <p:nvSpPr>
          <p:cNvPr id="29" name="Text 21"/>
          <p:cNvSpPr txBox="1"/>
          <p:nvPr/>
        </p:nvSpPr>
        <p:spPr>
          <a:xfrm>
            <a:off x="1601724" y="5029199"/>
            <a:ext cx="9692640" cy="365760"/>
          </a:xfrm>
          <a:prstGeom prst="rect">
            <a:avLst/>
          </a:prstGeom>
          <a:noFill/>
          <a:ln/>
        </p:spPr>
        <p:txBody>
          <a:bodyPr wrap="square" lIns="0" tIns="0" rIns="0" bIns="0" rtlCol="0" anchor="t"/>
          <a:lstStyle/>
          <a:p>
            <a:pPr marL="0" indent="0">
              <a:buNone/>
            </a:pPr>
            <a:r>
              <a:rPr lang="en-US" sz="1300" dirty="0">
                <a:solidFill>
                  <a:srgbClr val="262626"/>
                </a:solidFill>
                <a:latin typeface="Calibri" pitchFamily="34" charset="0"/>
                <a:ea typeface="Calibri" pitchFamily="34" charset="-122"/>
                <a:cs typeface="Calibri" pitchFamily="34" charset="-120"/>
              </a:rPr>
              <a:t>Findable, Accessible, Interoperable, Reusable. Yes, partly or no for each. Nobody has to share their first score.</a:t>
            </a:r>
            <a:endParaRPr lang="en-US" sz="1300" dirty="0"/>
          </a:p>
        </p:txBody>
      </p:sp>
      <p:sp>
        <p:nvSpPr>
          <p:cNvPr id="30" name="Text 22"/>
          <p:cNvSpPr txBox="1"/>
          <p:nvPr/>
        </p:nvSpPr>
        <p:spPr>
          <a:xfrm>
            <a:off x="504444" y="5742431"/>
            <a:ext cx="11183112" cy="365760"/>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Perfect is not the target. Better than it was an hour ago is the target.</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75E1B-613F-5961-63F8-80A868604F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4C265A-8B9D-A271-E974-F82F1C6FB732}"/>
              </a:ext>
            </a:extLst>
          </p:cNvPr>
          <p:cNvSpPr/>
          <p:nvPr/>
        </p:nvSpPr>
        <p:spPr>
          <a:xfrm>
            <a:off x="0" y="0"/>
            <a:ext cx="4160520" cy="6858000"/>
          </a:xfrm>
          <a:prstGeom prst="rect">
            <a:avLst/>
          </a:prstGeom>
          <a:solidFill>
            <a:srgbClr val="F8D5DB"/>
          </a:solidFill>
          <a:ln w="12700">
            <a:solidFill>
              <a:srgbClr val="F8D5DB"/>
            </a:solidFill>
            <a:prstDash val="solid"/>
          </a:ln>
        </p:spPr>
        <p:txBody>
          <a:bodyPr/>
          <a:lstStyle/>
          <a:p>
            <a:endParaRPr lang="en-US"/>
          </a:p>
        </p:txBody>
      </p:sp>
      <p:pic>
        <p:nvPicPr>
          <p:cNvPr id="3" name="Image 0" descr="tpl/ppt/media/image6.png">
            <a:extLst>
              <a:ext uri="{FF2B5EF4-FFF2-40B4-BE49-F238E27FC236}">
                <a16:creationId xmlns:a16="http://schemas.microsoft.com/office/drawing/2014/main" id="{D05B684B-E306-7254-4D41-ED6DF8603BD2}"/>
              </a:ext>
            </a:extLst>
          </p:cNvPr>
          <p:cNvPicPr>
            <a:picLocks noChangeAspect="1"/>
          </p:cNvPicPr>
          <p:nvPr/>
        </p:nvPicPr>
        <p:blipFill>
          <a:blip r:embed="rId3"/>
          <a:stretch>
            <a:fillRect/>
          </a:stretch>
        </p:blipFill>
        <p:spPr>
          <a:xfrm>
            <a:off x="777240" y="2414016"/>
            <a:ext cx="2606040" cy="1572768"/>
          </a:xfrm>
          <a:prstGeom prst="rect">
            <a:avLst/>
          </a:prstGeom>
        </p:spPr>
      </p:pic>
      <p:sp>
        <p:nvSpPr>
          <p:cNvPr id="4" name="Text 1">
            <a:extLst>
              <a:ext uri="{FF2B5EF4-FFF2-40B4-BE49-F238E27FC236}">
                <a16:creationId xmlns:a16="http://schemas.microsoft.com/office/drawing/2014/main" id="{2CD2349A-5191-E8ED-0465-09C0DB017745}"/>
              </a:ext>
            </a:extLst>
          </p:cNvPr>
          <p:cNvSpPr/>
          <p:nvPr/>
        </p:nvSpPr>
        <p:spPr>
          <a:xfrm>
            <a:off x="548640" y="4151376"/>
            <a:ext cx="3063240" cy="320040"/>
          </a:xfrm>
          <a:prstGeom prst="rect">
            <a:avLst/>
          </a:prstGeom>
          <a:noFill/>
          <a:ln/>
        </p:spPr>
        <p:txBody>
          <a:bodyPr wrap="square" lIns="0" tIns="0" rIns="0" bIns="0" rtlCol="0" anchor="ctr"/>
          <a:lstStyle/>
          <a:p>
            <a:pPr marL="0" indent="0" algn="ctr">
              <a:buNone/>
            </a:pPr>
            <a:r>
              <a:rPr lang="en-US" sz="1500" b="1" dirty="0">
                <a:solidFill>
                  <a:srgbClr val="C00000"/>
                </a:solidFill>
                <a:latin typeface="Calibri" pitchFamily="34" charset="0"/>
                <a:ea typeface="Calibri" pitchFamily="34" charset="-122"/>
                <a:cs typeface="Calibri" pitchFamily="34" charset="-120"/>
              </a:rPr>
              <a:t>Action CA23110</a:t>
            </a:r>
            <a:endParaRPr lang="en-US" sz="1500" dirty="0"/>
          </a:p>
        </p:txBody>
      </p:sp>
      <p:sp>
        <p:nvSpPr>
          <p:cNvPr id="9" name="Text 4">
            <a:extLst>
              <a:ext uri="{FF2B5EF4-FFF2-40B4-BE49-F238E27FC236}">
                <a16:creationId xmlns:a16="http://schemas.microsoft.com/office/drawing/2014/main" id="{670793BB-40E7-5443-F2E6-D3BABF567183}"/>
              </a:ext>
            </a:extLst>
          </p:cNvPr>
          <p:cNvSpPr/>
          <p:nvPr/>
        </p:nvSpPr>
        <p:spPr>
          <a:xfrm>
            <a:off x="4663440" y="2492278"/>
            <a:ext cx="7132320" cy="1371600"/>
          </a:xfrm>
          <a:prstGeom prst="rect">
            <a:avLst/>
          </a:prstGeom>
          <a:noFill/>
          <a:ln/>
        </p:spPr>
        <p:txBody>
          <a:bodyPr wrap="square" lIns="0" tIns="0" rIns="0" bIns="0" rtlCol="0" anchor="ctr"/>
          <a:lstStyle/>
          <a:p>
            <a:pPr>
              <a:lnSpc>
                <a:spcPts val="4000"/>
              </a:lnSpc>
            </a:pPr>
            <a:r>
              <a:rPr lang="en-US" sz="2800" dirty="0">
                <a:solidFill>
                  <a:srgbClr val="C00000"/>
                </a:solidFill>
                <a:latin typeface="Tahoma" pitchFamily="34" charset="0"/>
                <a:ea typeface="Tahoma" pitchFamily="34" charset="-122"/>
                <a:cs typeface="Tahoma" pitchFamily="34" charset="-120"/>
              </a:rPr>
              <a:t>Wrapping up</a:t>
            </a:r>
            <a:endParaRPr lang="en-US" sz="2800" dirty="0"/>
          </a:p>
        </p:txBody>
      </p:sp>
      <p:sp>
        <p:nvSpPr>
          <p:cNvPr id="10" name="Shape 5">
            <a:extLst>
              <a:ext uri="{FF2B5EF4-FFF2-40B4-BE49-F238E27FC236}">
                <a16:creationId xmlns:a16="http://schemas.microsoft.com/office/drawing/2014/main" id="{B45C353C-FE69-18EB-C86F-B8EBC4E37162}"/>
              </a:ext>
            </a:extLst>
          </p:cNvPr>
          <p:cNvSpPr/>
          <p:nvPr/>
        </p:nvSpPr>
        <p:spPr>
          <a:xfrm>
            <a:off x="4663440" y="3654104"/>
            <a:ext cx="6858000" cy="0"/>
          </a:xfrm>
          <a:prstGeom prst="line">
            <a:avLst/>
          </a:prstGeom>
          <a:noFill/>
          <a:ln w="12700">
            <a:solidFill>
              <a:srgbClr val="C00000"/>
            </a:solidFill>
            <a:prstDash val="solid"/>
          </a:ln>
        </p:spPr>
        <p:txBody>
          <a:bodyPr/>
          <a:lstStyle/>
          <a:p>
            <a:endParaRPr lang="en-US"/>
          </a:p>
        </p:txBody>
      </p:sp>
      <p:sp>
        <p:nvSpPr>
          <p:cNvPr id="15" name="Text 10">
            <a:extLst>
              <a:ext uri="{FF2B5EF4-FFF2-40B4-BE49-F238E27FC236}">
                <a16:creationId xmlns:a16="http://schemas.microsoft.com/office/drawing/2014/main" id="{259C2422-B188-008E-802B-0471509DDCD1}"/>
              </a:ext>
            </a:extLst>
          </p:cNvPr>
          <p:cNvSpPr/>
          <p:nvPr/>
        </p:nvSpPr>
        <p:spPr>
          <a:xfrm>
            <a:off x="4663440" y="6378747"/>
            <a:ext cx="7132320" cy="320040"/>
          </a:xfrm>
          <a:prstGeom prst="rect">
            <a:avLst/>
          </a:prstGeom>
          <a:noFill/>
          <a:ln/>
        </p:spPr>
        <p:txBody>
          <a:bodyPr wrap="square" lIns="0" tIns="0" rIns="0" bIns="0" rtlCol="0" anchor="ctr"/>
          <a:lstStyle/>
          <a:p>
            <a:pPr marL="0" indent="0">
              <a:buNone/>
            </a:pPr>
            <a:r>
              <a:rPr lang="en-US" sz="1250" dirty="0">
                <a:solidFill>
                  <a:srgbClr val="C00000"/>
                </a:solidFill>
                <a:latin typeface="Calibri" pitchFamily="34" charset="0"/>
                <a:ea typeface="Calibri" pitchFamily="34" charset="-122"/>
                <a:cs typeface="Calibri" pitchFamily="34" charset="-120"/>
              </a:rPr>
              <a:t>INFOGUT 3rd Training school 2026 | September 2026</a:t>
            </a:r>
            <a:endParaRPr lang="en-US" sz="1250" dirty="0"/>
          </a:p>
        </p:txBody>
      </p:sp>
      <p:sp>
        <p:nvSpPr>
          <p:cNvPr id="5" name="Text 6">
            <a:extLst>
              <a:ext uri="{FF2B5EF4-FFF2-40B4-BE49-F238E27FC236}">
                <a16:creationId xmlns:a16="http://schemas.microsoft.com/office/drawing/2014/main" id="{8D7314C5-3333-9388-0A56-8648E6D17599}"/>
              </a:ext>
            </a:extLst>
          </p:cNvPr>
          <p:cNvSpPr/>
          <p:nvPr/>
        </p:nvSpPr>
        <p:spPr>
          <a:xfrm>
            <a:off x="4663440" y="3785616"/>
            <a:ext cx="7132320" cy="365760"/>
          </a:xfrm>
          <a:prstGeom prst="rect">
            <a:avLst/>
          </a:prstGeom>
          <a:noFill/>
          <a:ln/>
        </p:spPr>
        <p:txBody>
          <a:bodyPr wrap="square" lIns="0" tIns="0" rIns="0" bIns="0" rtlCol="0" anchor="ctr"/>
          <a:lstStyle/>
          <a:p>
            <a:r>
              <a:rPr lang="en-US" sz="1600" dirty="0"/>
              <a:t>Conclusions and links to go further</a:t>
            </a:r>
          </a:p>
        </p:txBody>
      </p:sp>
    </p:spTree>
    <p:extLst>
      <p:ext uri="{BB962C8B-B14F-4D97-AF65-F5344CB8AC3E}">
        <p14:creationId xmlns:p14="http://schemas.microsoft.com/office/powerpoint/2010/main" val="3405057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25</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Two things to take away</a:t>
            </a:r>
            <a:endParaRPr lang="en-US" sz="2000" dirty="0"/>
          </a:p>
        </p:txBody>
      </p:sp>
      <p:sp>
        <p:nvSpPr>
          <p:cNvPr id="7" name="Text 4"/>
          <p:cNvSpPr txBox="1"/>
          <p:nvPr/>
        </p:nvSpPr>
        <p:spPr>
          <a:xfrm>
            <a:off x="8412480" y="100584"/>
            <a:ext cx="3520440" cy="411480"/>
          </a:xfrm>
          <a:prstGeom prst="rect">
            <a:avLst/>
          </a:prstGeom>
          <a:noFill/>
          <a:ln/>
        </p:spPr>
        <p:txBody>
          <a:bodyPr wrap="square" lIns="0" tIns="0" rIns="0" bIns="0" rtlCol="0" anchor="ctr"/>
          <a:lstStyle/>
          <a:p>
            <a:pPr marL="0" indent="0" algn="r">
              <a:buNone/>
            </a:pPr>
            <a:r>
              <a:rPr lang="en-US" sz="1150" b="1" kern="0" spc="120" dirty="0">
                <a:solidFill>
                  <a:srgbClr val="7F7F7F"/>
                </a:solidFill>
                <a:latin typeface="Calibri" pitchFamily="34" charset="0"/>
                <a:ea typeface="Calibri" pitchFamily="34" charset="-122"/>
                <a:cs typeface="Calibri" pitchFamily="34" charset="-120"/>
              </a:rPr>
              <a:t>CLOSE</a:t>
            </a:r>
            <a:endParaRPr lang="en-US" sz="115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9" name="Shape 6"/>
          <p:cNvSpPr/>
          <p:nvPr/>
        </p:nvSpPr>
        <p:spPr>
          <a:xfrm>
            <a:off x="822960" y="1234440"/>
            <a:ext cx="10543032" cy="2148840"/>
          </a:xfrm>
          <a:prstGeom prst="roundRect">
            <a:avLst>
              <a:gd name="adj" fmla="val 3404"/>
            </a:avLst>
          </a:prstGeom>
          <a:solidFill>
            <a:srgbClr val="F8D5DB"/>
          </a:solidFill>
          <a:ln w="12700">
            <a:solidFill>
              <a:srgbClr val="C00000"/>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1234440" y="1508760"/>
            <a:ext cx="530352" cy="530352"/>
          </a:xfrm>
          <a:prstGeom prst="rect">
            <a:avLst/>
          </a:prstGeom>
        </p:spPr>
      </p:pic>
      <p:sp>
        <p:nvSpPr>
          <p:cNvPr id="11" name="Text 7"/>
          <p:cNvSpPr txBox="1"/>
          <p:nvPr/>
        </p:nvSpPr>
        <p:spPr>
          <a:xfrm>
            <a:off x="1234440" y="2212848"/>
            <a:ext cx="9720072" cy="1005840"/>
          </a:xfrm>
          <a:prstGeom prst="rect">
            <a:avLst/>
          </a:prstGeom>
          <a:noFill/>
          <a:ln/>
        </p:spPr>
        <p:txBody>
          <a:bodyPr wrap="square" lIns="0" tIns="0" rIns="0" bIns="0" rtlCol="0" anchor="t"/>
          <a:lstStyle/>
          <a:p>
            <a:pPr marL="0" indent="0">
              <a:lnSpc>
                <a:spcPct val="115000"/>
              </a:lnSpc>
              <a:buNone/>
            </a:pPr>
            <a:r>
              <a:rPr lang="en-US" sz="2200" dirty="0">
                <a:solidFill>
                  <a:srgbClr val="C00000"/>
                </a:solidFill>
                <a:latin typeface="Tahoma" pitchFamily="34" charset="0"/>
                <a:ea typeface="Tahoma" pitchFamily="34" charset="-122"/>
                <a:cs typeface="Tahoma" pitchFamily="34" charset="-120"/>
              </a:rPr>
              <a:t>FAIR is a direction, not a pass mark. A folder that is better than it was this morning is a success.</a:t>
            </a:r>
            <a:endParaRPr lang="en-US" sz="2200" dirty="0"/>
          </a:p>
        </p:txBody>
      </p:sp>
      <p:sp>
        <p:nvSpPr>
          <p:cNvPr id="12" name="Shape 8"/>
          <p:cNvSpPr/>
          <p:nvPr/>
        </p:nvSpPr>
        <p:spPr>
          <a:xfrm>
            <a:off x="822960" y="3657600"/>
            <a:ext cx="5148072" cy="1371600"/>
          </a:xfrm>
          <a:prstGeom prst="roundRect">
            <a:avLst>
              <a:gd name="adj" fmla="val 5333"/>
            </a:avLst>
          </a:prstGeom>
          <a:solidFill>
            <a:srgbClr val="FFFFFF"/>
          </a:solidFill>
          <a:ln w="12700">
            <a:solidFill>
              <a:srgbClr val="DCDCDC"/>
            </a:solidFill>
            <a:prstDash val="solid"/>
          </a:ln>
        </p:spPr>
        <p:txBody>
          <a:bodyPr/>
          <a:lstStyle/>
          <a:p>
            <a:endParaRPr lang="en-US"/>
          </a:p>
        </p:txBody>
      </p:sp>
      <p:sp>
        <p:nvSpPr>
          <p:cNvPr id="13" name="Text 9"/>
          <p:cNvSpPr txBox="1"/>
          <p:nvPr/>
        </p:nvSpPr>
        <p:spPr>
          <a:xfrm>
            <a:off x="1143000" y="3822192"/>
            <a:ext cx="4507992" cy="320040"/>
          </a:xfrm>
          <a:prstGeom prst="rect">
            <a:avLst/>
          </a:prstGeom>
          <a:noFill/>
          <a:ln/>
        </p:spPr>
        <p:txBody>
          <a:bodyPr wrap="square" lIns="0" tIns="0" rIns="0" bIns="0" rtlCol="0" anchor="ctr"/>
          <a:lstStyle/>
          <a:p>
            <a:pPr marL="0" indent="0">
              <a:buNone/>
            </a:pPr>
            <a:r>
              <a:rPr lang="en-US" sz="1600" dirty="0">
                <a:solidFill>
                  <a:srgbClr val="C00000"/>
                </a:solidFill>
                <a:latin typeface="Tahoma" pitchFamily="34" charset="0"/>
                <a:ea typeface="Tahoma" pitchFamily="34" charset="-122"/>
                <a:cs typeface="Tahoma" pitchFamily="34" charset="-120"/>
              </a:rPr>
              <a:t>The only test that matters</a:t>
            </a:r>
            <a:endParaRPr lang="en-US" sz="1600" dirty="0"/>
          </a:p>
        </p:txBody>
      </p:sp>
      <p:sp>
        <p:nvSpPr>
          <p:cNvPr id="14" name="Text 10"/>
          <p:cNvSpPr txBox="1"/>
          <p:nvPr/>
        </p:nvSpPr>
        <p:spPr>
          <a:xfrm>
            <a:off x="1143000" y="4187952"/>
            <a:ext cx="4507992" cy="73152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Could a competent stranger, holding only your files, carry on? Everything today was a way of answering yes.</a:t>
            </a:r>
            <a:endParaRPr lang="en-US" sz="1400" dirty="0"/>
          </a:p>
        </p:txBody>
      </p:sp>
      <p:sp>
        <p:nvSpPr>
          <p:cNvPr id="15" name="Shape 11"/>
          <p:cNvSpPr/>
          <p:nvPr/>
        </p:nvSpPr>
        <p:spPr>
          <a:xfrm>
            <a:off x="6217920" y="3657600"/>
            <a:ext cx="5148072" cy="1371600"/>
          </a:xfrm>
          <a:prstGeom prst="roundRect">
            <a:avLst>
              <a:gd name="adj" fmla="val 5333"/>
            </a:avLst>
          </a:prstGeom>
          <a:solidFill>
            <a:srgbClr val="F8D5DB"/>
          </a:solidFill>
          <a:ln w="12700">
            <a:solidFill>
              <a:srgbClr val="C00000"/>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37960" y="3822192"/>
            <a:ext cx="329184" cy="329184"/>
          </a:xfrm>
          <a:prstGeom prst="rect">
            <a:avLst/>
          </a:prstGeom>
        </p:spPr>
      </p:pic>
      <p:sp>
        <p:nvSpPr>
          <p:cNvPr id="17" name="Text 12"/>
          <p:cNvSpPr txBox="1"/>
          <p:nvPr/>
        </p:nvSpPr>
        <p:spPr>
          <a:xfrm>
            <a:off x="6995160" y="3822192"/>
            <a:ext cx="4050792" cy="320040"/>
          </a:xfrm>
          <a:prstGeom prst="rect">
            <a:avLst/>
          </a:prstGeom>
          <a:noFill/>
          <a:ln/>
        </p:spPr>
        <p:txBody>
          <a:bodyPr wrap="square" lIns="0" tIns="0" rIns="0" bIns="0" rtlCol="0" anchor="ctr"/>
          <a:lstStyle/>
          <a:p>
            <a:pPr marL="0" indent="0">
              <a:buNone/>
            </a:pPr>
            <a:r>
              <a:rPr lang="en-US" sz="1600" dirty="0" err="1">
                <a:solidFill>
                  <a:srgbClr val="C00000"/>
                </a:solidFill>
                <a:latin typeface="Tahoma" pitchFamily="34" charset="0"/>
                <a:ea typeface="Tahoma" pitchFamily="34" charset="-122"/>
                <a:cs typeface="Tahoma" pitchFamily="34" charset="-120"/>
              </a:rPr>
              <a:t>Github</a:t>
            </a:r>
            <a:r>
              <a:rPr lang="en-US" sz="1600" dirty="0">
                <a:solidFill>
                  <a:srgbClr val="C00000"/>
                </a:solidFill>
                <a:latin typeface="Tahoma" pitchFamily="34" charset="0"/>
                <a:ea typeface="Tahoma" pitchFamily="34" charset="-122"/>
                <a:cs typeface="Tahoma" pitchFamily="34" charset="-120"/>
              </a:rPr>
              <a:t> session</a:t>
            </a:r>
            <a:endParaRPr lang="en-US" sz="1600" dirty="0"/>
          </a:p>
        </p:txBody>
      </p:sp>
      <p:sp>
        <p:nvSpPr>
          <p:cNvPr id="18" name="Text 13"/>
          <p:cNvSpPr txBox="1"/>
          <p:nvPr/>
        </p:nvSpPr>
        <p:spPr>
          <a:xfrm>
            <a:off x="6537960" y="4187952"/>
            <a:ext cx="4507992" cy="73152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You now have a folder worth pushing: structured, named, described and documented. GitHub is where it goes next.</a:t>
            </a:r>
            <a:endParaRPr lang="en-US" sz="1400" dirty="0"/>
          </a:p>
        </p:txBody>
      </p:sp>
      <p:sp>
        <p:nvSpPr>
          <p:cNvPr id="19" name="Text 14"/>
          <p:cNvSpPr txBox="1"/>
          <p:nvPr/>
        </p:nvSpPr>
        <p:spPr>
          <a:xfrm>
            <a:off x="502920" y="5257800"/>
            <a:ext cx="11183112" cy="365760"/>
          </a:xfrm>
          <a:prstGeom prst="rect">
            <a:avLst/>
          </a:prstGeom>
          <a:noFill/>
          <a:ln/>
        </p:spPr>
        <p:txBody>
          <a:bodyPr wrap="square" lIns="0" tIns="0" rIns="0" bIns="0" rtlCol="0" anchor="ctr"/>
          <a:lstStyle/>
          <a:p>
            <a:pPr marL="0" indent="0">
              <a:buNone/>
            </a:pPr>
            <a:r>
              <a:rPr lang="en-US" i="1" dirty="0">
                <a:solidFill>
                  <a:srgbClr val="C00000"/>
                </a:solidFill>
                <a:latin typeface="Calibri" pitchFamily="34" charset="0"/>
                <a:ea typeface="Calibri" pitchFamily="34" charset="-122"/>
                <a:cs typeface="Calibri" pitchFamily="34" charset="-120"/>
              </a:rPr>
              <a:t>Thank you. Questions before we hand over?</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05956"/>
            <a:ext cx="12191695" cy="352044"/>
          </a:xfrm>
          <a:prstGeom prst="rect">
            <a:avLst/>
          </a:prstGeom>
          <a:solidFill>
            <a:srgbClr val="FFCCCC"/>
          </a:solidFill>
          <a:ln w="12700">
            <a:solidFill>
              <a:srgbClr val="FFCCC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55448" y="6574536"/>
            <a:ext cx="384048" cy="228600"/>
          </a:xfrm>
          <a:prstGeom prst="rect">
            <a:avLst/>
          </a:prstGeom>
        </p:spPr>
      </p:pic>
      <p:sp>
        <p:nvSpPr>
          <p:cNvPr id="4" name="Text 1"/>
          <p:cNvSpPr txBox="1"/>
          <p:nvPr/>
        </p:nvSpPr>
        <p:spPr>
          <a:xfrm>
            <a:off x="685800" y="6505956"/>
            <a:ext cx="8686800" cy="352044"/>
          </a:xfrm>
          <a:prstGeom prst="rect">
            <a:avLst/>
          </a:prstGeom>
          <a:noFill/>
          <a:ln/>
        </p:spPr>
        <p:txBody>
          <a:bodyPr wrap="square" lIns="0" tIns="0" rIns="0" bIns="0"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COST Action CA23110 INFOGUT   |   WG4 Data science and data management</a:t>
            </a:r>
            <a:endParaRPr lang="en-US" sz="1200" dirty="0"/>
          </a:p>
        </p:txBody>
      </p:sp>
      <p:sp>
        <p:nvSpPr>
          <p:cNvPr id="5" name="Text 2"/>
          <p:cNvSpPr txBox="1"/>
          <p:nvPr/>
        </p:nvSpPr>
        <p:spPr>
          <a:xfrm>
            <a:off x="11430000" y="6505956"/>
            <a:ext cx="640080" cy="352044"/>
          </a:xfrm>
          <a:prstGeom prst="rect">
            <a:avLst/>
          </a:prstGeom>
          <a:noFill/>
          <a:ln/>
        </p:spPr>
        <p:txBody>
          <a:bodyPr wrap="square" lIns="0" tIns="0" rIns="0" bIns="0" rtlCol="0" anchor="ctr"/>
          <a:lstStyle/>
          <a:p>
            <a:pPr marL="0" indent="0">
              <a:buNone/>
            </a:pPr>
            <a:r>
              <a:rPr lang="en-US" sz="900" dirty="0">
                <a:solidFill>
                  <a:srgbClr val="C00000"/>
                </a:solidFill>
                <a:latin typeface="Calibri" pitchFamily="34" charset="0"/>
                <a:ea typeface="Calibri" pitchFamily="34" charset="-122"/>
                <a:cs typeface="Calibri" pitchFamily="34" charset="-120"/>
              </a:rPr>
              <a:t>|  24</a:t>
            </a:r>
            <a:endParaRPr lang="en-US" sz="900" dirty="0"/>
          </a:p>
        </p:txBody>
      </p:sp>
      <p:sp>
        <p:nvSpPr>
          <p:cNvPr id="6" name="Text 3"/>
          <p:cNvSpPr txBox="1"/>
          <p:nvPr/>
        </p:nvSpPr>
        <p:spPr>
          <a:xfrm>
            <a:off x="146304" y="100584"/>
            <a:ext cx="8229600" cy="411480"/>
          </a:xfrm>
          <a:prstGeom prst="rect">
            <a:avLst/>
          </a:prstGeom>
          <a:noFill/>
          <a:ln/>
        </p:spPr>
        <p:txBody>
          <a:bodyPr wrap="square" lIns="0" tIns="0" rIns="0" bIns="0" rtlCol="0" anchor="ctr"/>
          <a:lstStyle/>
          <a:p>
            <a:pPr marL="0" indent="0">
              <a:buNone/>
            </a:pPr>
            <a:r>
              <a:rPr lang="en-US" sz="2000" dirty="0">
                <a:solidFill>
                  <a:srgbClr val="C00000"/>
                </a:solidFill>
                <a:latin typeface="Tahoma" pitchFamily="34" charset="0"/>
                <a:ea typeface="Tahoma" pitchFamily="34" charset="-122"/>
                <a:cs typeface="Tahoma" pitchFamily="34" charset="-120"/>
              </a:rPr>
              <a:t>Where to look next</a:t>
            </a:r>
            <a:endParaRPr lang="en-US" sz="2000" dirty="0"/>
          </a:p>
        </p:txBody>
      </p:sp>
      <p:sp>
        <p:nvSpPr>
          <p:cNvPr id="8" name="Shape 5"/>
          <p:cNvSpPr/>
          <p:nvPr/>
        </p:nvSpPr>
        <p:spPr>
          <a:xfrm>
            <a:off x="233172" y="566928"/>
            <a:ext cx="11643970" cy="0"/>
          </a:xfrm>
          <a:prstGeom prst="line">
            <a:avLst/>
          </a:prstGeom>
          <a:noFill/>
          <a:ln w="12700">
            <a:solidFill>
              <a:srgbClr val="C00000"/>
            </a:solidFill>
            <a:prstDash val="solid"/>
          </a:ln>
        </p:spPr>
        <p:txBody>
          <a:bodyPr/>
          <a:lstStyle/>
          <a:p>
            <a:endParaRPr lang="en-US"/>
          </a:p>
        </p:txBody>
      </p:sp>
      <p:sp>
        <p:nvSpPr>
          <p:cNvPr id="10" name="Shape 7"/>
          <p:cNvSpPr/>
          <p:nvPr/>
        </p:nvSpPr>
        <p:spPr>
          <a:xfrm>
            <a:off x="502920" y="1325879"/>
            <a:ext cx="2761488" cy="3017521"/>
          </a:xfrm>
          <a:prstGeom prst="roundRect">
            <a:avLst>
              <a:gd name="adj" fmla="val 2857"/>
            </a:avLst>
          </a:prstGeom>
          <a:solidFill>
            <a:srgbClr val="FFFFFF"/>
          </a:solidFill>
          <a:ln w="12700">
            <a:solidFill>
              <a:srgbClr val="DCDCD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777240" y="1536192"/>
            <a:ext cx="457200" cy="457200"/>
          </a:xfrm>
          <a:prstGeom prst="rect">
            <a:avLst/>
          </a:prstGeom>
        </p:spPr>
      </p:pic>
      <p:sp>
        <p:nvSpPr>
          <p:cNvPr id="12" name="Text 8"/>
          <p:cNvSpPr txBox="1"/>
          <p:nvPr/>
        </p:nvSpPr>
        <p:spPr>
          <a:xfrm>
            <a:off x="777240" y="2066544"/>
            <a:ext cx="2212848" cy="32004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GO FAIR</a:t>
            </a:r>
            <a:endParaRPr lang="en-US" sz="1500" dirty="0"/>
          </a:p>
        </p:txBody>
      </p:sp>
      <p:sp>
        <p:nvSpPr>
          <p:cNvPr id="13" name="Text 9"/>
          <p:cNvSpPr txBox="1"/>
          <p:nvPr/>
        </p:nvSpPr>
        <p:spPr>
          <a:xfrm>
            <a:off x="777240" y="2395728"/>
            <a:ext cx="2212848" cy="457200"/>
          </a:xfrm>
          <a:prstGeom prst="rect">
            <a:avLst/>
          </a:prstGeom>
          <a:noFill/>
          <a:ln/>
        </p:spPr>
        <p:txBody>
          <a:bodyPr wrap="square" lIns="0" tIns="0" rIns="0" bIns="0" rtlCol="0" anchor="t"/>
          <a:lstStyle/>
          <a:p>
            <a:pPr marL="0" indent="0">
              <a:buNone/>
            </a:pPr>
            <a:r>
              <a:rPr lang="en-US" sz="1200" dirty="0">
                <a:solidFill>
                  <a:srgbClr val="8A0000"/>
                </a:solidFill>
                <a:latin typeface="Calibri" pitchFamily="34" charset="0"/>
                <a:ea typeface="Calibri" pitchFamily="34" charset="-122"/>
                <a:cs typeface="Calibri" pitchFamily="34" charset="-120"/>
              </a:rPr>
              <a:t>go-fair.org/fair-principles</a:t>
            </a:r>
            <a:endParaRPr lang="en-US" sz="1200" dirty="0"/>
          </a:p>
        </p:txBody>
      </p:sp>
      <p:sp>
        <p:nvSpPr>
          <p:cNvPr id="14" name="Text 10"/>
          <p:cNvSpPr txBox="1"/>
          <p:nvPr/>
        </p:nvSpPr>
        <p:spPr>
          <a:xfrm>
            <a:off x="777240" y="2907792"/>
            <a:ext cx="2212848" cy="86868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The fifteen principles sitting behind the four questions, each one explained in a paragraph.</a:t>
            </a:r>
            <a:endParaRPr lang="en-US" sz="1400" dirty="0"/>
          </a:p>
        </p:txBody>
      </p:sp>
      <p:sp>
        <p:nvSpPr>
          <p:cNvPr id="15" name="Shape 11"/>
          <p:cNvSpPr/>
          <p:nvPr/>
        </p:nvSpPr>
        <p:spPr>
          <a:xfrm>
            <a:off x="3310128" y="1325879"/>
            <a:ext cx="2761488" cy="3017521"/>
          </a:xfrm>
          <a:prstGeom prst="roundRect">
            <a:avLst>
              <a:gd name="adj" fmla="val 2857"/>
            </a:avLst>
          </a:prstGeom>
          <a:solidFill>
            <a:srgbClr val="FFFFFF"/>
          </a:solidFill>
          <a:ln w="12700">
            <a:solidFill>
              <a:srgbClr val="DCDCD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584448" y="1536192"/>
            <a:ext cx="457200" cy="457200"/>
          </a:xfrm>
          <a:prstGeom prst="rect">
            <a:avLst/>
          </a:prstGeom>
        </p:spPr>
      </p:pic>
      <p:sp>
        <p:nvSpPr>
          <p:cNvPr id="17" name="Text 12"/>
          <p:cNvSpPr txBox="1"/>
          <p:nvPr/>
        </p:nvSpPr>
        <p:spPr>
          <a:xfrm>
            <a:off x="3584448" y="2066544"/>
            <a:ext cx="2212848" cy="32004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FAIRsharing</a:t>
            </a:r>
            <a:endParaRPr lang="en-US" sz="1500" dirty="0"/>
          </a:p>
        </p:txBody>
      </p:sp>
      <p:sp>
        <p:nvSpPr>
          <p:cNvPr id="18" name="Text 13"/>
          <p:cNvSpPr txBox="1"/>
          <p:nvPr/>
        </p:nvSpPr>
        <p:spPr>
          <a:xfrm>
            <a:off x="3584448" y="2395728"/>
            <a:ext cx="2212848" cy="457200"/>
          </a:xfrm>
          <a:prstGeom prst="rect">
            <a:avLst/>
          </a:prstGeom>
          <a:noFill/>
          <a:ln/>
        </p:spPr>
        <p:txBody>
          <a:bodyPr wrap="square" lIns="0" tIns="0" rIns="0" bIns="0" rtlCol="0" anchor="t"/>
          <a:lstStyle/>
          <a:p>
            <a:pPr marL="0" indent="0">
              <a:buNone/>
            </a:pPr>
            <a:r>
              <a:rPr lang="en-US" sz="1200" dirty="0">
                <a:solidFill>
                  <a:srgbClr val="8A0000"/>
                </a:solidFill>
                <a:latin typeface="Calibri" pitchFamily="34" charset="0"/>
                <a:ea typeface="Calibri" pitchFamily="34" charset="-122"/>
                <a:cs typeface="Calibri" pitchFamily="34" charset="-120"/>
              </a:rPr>
              <a:t>fairsharing.org</a:t>
            </a:r>
            <a:endParaRPr lang="en-US" sz="1200" dirty="0"/>
          </a:p>
        </p:txBody>
      </p:sp>
      <p:sp>
        <p:nvSpPr>
          <p:cNvPr id="19" name="Text 14"/>
          <p:cNvSpPr txBox="1"/>
          <p:nvPr/>
        </p:nvSpPr>
        <p:spPr>
          <a:xfrm>
            <a:off x="3584448" y="2907792"/>
            <a:ext cx="2212848" cy="86868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A curated registry of standards, databases and funder or journal data policies. Search it before you invent a format of your own.</a:t>
            </a:r>
            <a:endParaRPr lang="en-US" sz="1400" dirty="0"/>
          </a:p>
        </p:txBody>
      </p:sp>
      <p:sp>
        <p:nvSpPr>
          <p:cNvPr id="20" name="Shape 15"/>
          <p:cNvSpPr/>
          <p:nvPr/>
        </p:nvSpPr>
        <p:spPr>
          <a:xfrm>
            <a:off x="6117336" y="1325880"/>
            <a:ext cx="2761488" cy="3017520"/>
          </a:xfrm>
          <a:prstGeom prst="roundRect">
            <a:avLst>
              <a:gd name="adj" fmla="val 2857"/>
            </a:avLst>
          </a:prstGeom>
          <a:solidFill>
            <a:srgbClr val="FFFFFF"/>
          </a:solidFill>
          <a:ln w="12700">
            <a:solidFill>
              <a:srgbClr val="DCDCDC"/>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391656" y="1536192"/>
            <a:ext cx="457200" cy="457200"/>
          </a:xfrm>
          <a:prstGeom prst="rect">
            <a:avLst/>
          </a:prstGeom>
        </p:spPr>
      </p:pic>
      <p:sp>
        <p:nvSpPr>
          <p:cNvPr id="22" name="Text 16"/>
          <p:cNvSpPr txBox="1"/>
          <p:nvPr/>
        </p:nvSpPr>
        <p:spPr>
          <a:xfrm>
            <a:off x="6391656" y="2066544"/>
            <a:ext cx="2212848" cy="32004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MIxS</a:t>
            </a:r>
            <a:endParaRPr lang="en-US" sz="1500" dirty="0"/>
          </a:p>
        </p:txBody>
      </p:sp>
      <p:sp>
        <p:nvSpPr>
          <p:cNvPr id="23" name="Text 17"/>
          <p:cNvSpPr txBox="1"/>
          <p:nvPr/>
        </p:nvSpPr>
        <p:spPr>
          <a:xfrm>
            <a:off x="6391656" y="2395728"/>
            <a:ext cx="2212848" cy="457200"/>
          </a:xfrm>
          <a:prstGeom prst="rect">
            <a:avLst/>
          </a:prstGeom>
          <a:noFill/>
          <a:ln/>
        </p:spPr>
        <p:txBody>
          <a:bodyPr wrap="square" lIns="0" tIns="0" rIns="0" bIns="0" rtlCol="0" anchor="t"/>
          <a:lstStyle/>
          <a:p>
            <a:pPr marL="0" indent="0">
              <a:buNone/>
            </a:pPr>
            <a:r>
              <a:rPr lang="en-US" sz="1200" dirty="0">
                <a:solidFill>
                  <a:srgbClr val="8A0000"/>
                </a:solidFill>
                <a:latin typeface="Calibri" pitchFamily="34" charset="0"/>
                <a:ea typeface="Calibri" pitchFamily="34" charset="-122"/>
                <a:cs typeface="Calibri" pitchFamily="34" charset="-120"/>
              </a:rPr>
              <a:t>gensc.org/mixs</a:t>
            </a:r>
            <a:endParaRPr lang="en-US" sz="1200" dirty="0"/>
          </a:p>
        </p:txBody>
      </p:sp>
      <p:sp>
        <p:nvSpPr>
          <p:cNvPr id="24" name="Text 18"/>
          <p:cNvSpPr txBox="1"/>
          <p:nvPr/>
        </p:nvSpPr>
        <p:spPr>
          <a:xfrm>
            <a:off x="6391656" y="2907792"/>
            <a:ext cx="2212848" cy="86868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The Genomic Standards Consortium checklists and environmental packages for sequence metadata.</a:t>
            </a:r>
            <a:endParaRPr lang="en-US" sz="1400" dirty="0"/>
          </a:p>
        </p:txBody>
      </p:sp>
      <p:sp>
        <p:nvSpPr>
          <p:cNvPr id="25" name="Shape 19"/>
          <p:cNvSpPr/>
          <p:nvPr/>
        </p:nvSpPr>
        <p:spPr>
          <a:xfrm>
            <a:off x="8924544" y="1325880"/>
            <a:ext cx="2761488" cy="3017520"/>
          </a:xfrm>
          <a:prstGeom prst="roundRect">
            <a:avLst>
              <a:gd name="adj" fmla="val 2857"/>
            </a:avLst>
          </a:prstGeom>
          <a:solidFill>
            <a:srgbClr val="FFFFFF"/>
          </a:solidFill>
          <a:ln w="12700">
            <a:solidFill>
              <a:srgbClr val="DCDCDC"/>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9198864" y="1536192"/>
            <a:ext cx="457200" cy="457200"/>
          </a:xfrm>
          <a:prstGeom prst="rect">
            <a:avLst/>
          </a:prstGeom>
        </p:spPr>
      </p:pic>
      <p:sp>
        <p:nvSpPr>
          <p:cNvPr id="27" name="Text 20"/>
          <p:cNvSpPr txBox="1"/>
          <p:nvPr/>
        </p:nvSpPr>
        <p:spPr>
          <a:xfrm>
            <a:off x="9198864" y="2066544"/>
            <a:ext cx="2212848" cy="320040"/>
          </a:xfrm>
          <a:prstGeom prst="rect">
            <a:avLst/>
          </a:prstGeom>
          <a:noFill/>
          <a:ln/>
        </p:spPr>
        <p:txBody>
          <a:bodyPr wrap="square" lIns="0" tIns="0" rIns="0" bIns="0" rtlCol="0" anchor="ctr"/>
          <a:lstStyle/>
          <a:p>
            <a:pPr marL="0" indent="0">
              <a:buNone/>
            </a:pPr>
            <a:r>
              <a:rPr lang="en-US" sz="1500" dirty="0">
                <a:solidFill>
                  <a:srgbClr val="C00000"/>
                </a:solidFill>
                <a:latin typeface="Tahoma" pitchFamily="34" charset="0"/>
                <a:ea typeface="Tahoma" pitchFamily="34" charset="-122"/>
                <a:cs typeface="Tahoma" pitchFamily="34" charset="-120"/>
              </a:rPr>
              <a:t>STREAMS</a:t>
            </a:r>
            <a:endParaRPr lang="en-US" sz="1500" dirty="0"/>
          </a:p>
        </p:txBody>
      </p:sp>
      <p:sp>
        <p:nvSpPr>
          <p:cNvPr id="28" name="Text 21"/>
          <p:cNvSpPr txBox="1"/>
          <p:nvPr/>
        </p:nvSpPr>
        <p:spPr>
          <a:xfrm>
            <a:off x="9198864" y="2395728"/>
            <a:ext cx="2212848" cy="457200"/>
          </a:xfrm>
          <a:prstGeom prst="rect">
            <a:avLst/>
          </a:prstGeom>
          <a:noFill/>
          <a:ln/>
        </p:spPr>
        <p:txBody>
          <a:bodyPr wrap="square" lIns="0" tIns="0" rIns="0" bIns="0" rtlCol="0" anchor="t"/>
          <a:lstStyle/>
          <a:p>
            <a:pPr marL="0" indent="0">
              <a:buNone/>
            </a:pPr>
            <a:r>
              <a:rPr lang="en-US" sz="1200" dirty="0">
                <a:solidFill>
                  <a:srgbClr val="8A0000"/>
                </a:solidFill>
                <a:latin typeface="Calibri" pitchFamily="34" charset="0"/>
                <a:ea typeface="Calibri" pitchFamily="34" charset="-122"/>
                <a:cs typeface="Calibri" pitchFamily="34" charset="-120"/>
              </a:rPr>
              <a:t>doi.org/10.1038/s41564-025-02186-2</a:t>
            </a:r>
            <a:endParaRPr lang="en-US" sz="1200" dirty="0"/>
          </a:p>
        </p:txBody>
      </p:sp>
      <p:sp>
        <p:nvSpPr>
          <p:cNvPr id="29" name="Text 22"/>
          <p:cNvSpPr txBox="1"/>
          <p:nvPr/>
        </p:nvSpPr>
        <p:spPr>
          <a:xfrm>
            <a:off x="9198864" y="2907792"/>
            <a:ext cx="2212848" cy="868680"/>
          </a:xfrm>
          <a:prstGeom prst="rect">
            <a:avLst/>
          </a:prstGeom>
          <a:noFill/>
          <a:ln/>
        </p:spPr>
        <p:txBody>
          <a:bodyPr wrap="square" lIns="0" tIns="0" rIns="0" bIns="0" rtlCol="0" anchor="t"/>
          <a:lstStyle/>
          <a:p>
            <a:pPr marL="0" indent="0">
              <a:lnSpc>
                <a:spcPct val="115000"/>
              </a:lnSpc>
              <a:buNone/>
            </a:pPr>
            <a:r>
              <a:rPr lang="en-US" sz="1400" dirty="0">
                <a:solidFill>
                  <a:srgbClr val="262626"/>
                </a:solidFill>
                <a:latin typeface="Calibri" pitchFamily="34" charset="0"/>
                <a:ea typeface="Calibri" pitchFamily="34" charset="-122"/>
                <a:cs typeface="Calibri" pitchFamily="34" charset="-120"/>
              </a:rPr>
              <a:t>The 67-item reporting checklist for environmental, synthetic and non-human host-associated microbiome studies.</a:t>
            </a:r>
            <a:endParaRPr lang="en-US" sz="1400" dirty="0"/>
          </a:p>
        </p:txBody>
      </p:sp>
      <p:sp>
        <p:nvSpPr>
          <p:cNvPr id="34" name="Text 26"/>
          <p:cNvSpPr txBox="1"/>
          <p:nvPr/>
        </p:nvSpPr>
        <p:spPr>
          <a:xfrm>
            <a:off x="539496" y="4718304"/>
            <a:ext cx="11183112" cy="365760"/>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And the research data team at your own institution or attached to the university libraries...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1414</TotalTime>
  <Words>4912</Words>
  <Application>Microsoft Macintosh PowerPoint</Application>
  <PresentationFormat>Widescreen</PresentationFormat>
  <Paragraphs>732</Paragraphs>
  <Slides>42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Aptos</vt:lpstr>
      <vt:lpstr>Aptos Display</vt:lpstr>
      <vt:lpstr>Arial</vt:lpstr>
      <vt:lpstr>Calibri</vt:lpstr>
      <vt:lpstr>Courier New</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Ponsero, Alise</dc:creator>
  <cp:lastModifiedBy>Ponsero, Alise</cp:lastModifiedBy>
  <cp:revision>17</cp:revision>
  <dcterms:created xsi:type="dcterms:W3CDTF">2026-09-20T15:20:01Z</dcterms:created>
  <dcterms:modified xsi:type="dcterms:W3CDTF">2026-09-30T06:07:00Z</dcterms:modified>
</cp:coreProperties>
</file>